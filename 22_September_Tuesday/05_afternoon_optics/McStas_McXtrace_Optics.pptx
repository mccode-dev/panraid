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67"/>
    <p:restoredTop sz="94610"/>
  </p:normalViewPr>
  <p:slideViewPr>
    <p:cSldViewPr snapToGrid="0" snapToObjects="1">
      <p:cViewPr>
        <p:scale>
          <a:sx n="135" d="100"/>
          <a:sy n="135" d="100"/>
        </p:scale>
        <p:origin x="144" y="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8655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tif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8.tif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jpeg"/><Relationship Id="rId4" Type="http://schemas.openxmlformats.org/officeDocument/2006/relationships/image" Target="../media/image19.t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gif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" name="Shape 1"/>
          <p:cNvSpPr/>
          <p:nvPr/>
        </p:nvSpPr>
        <p:spPr>
          <a:xfrm>
            <a:off x="-1828800" y="4206240"/>
            <a:ext cx="4206240" cy="420624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pic>
        <p:nvPicPr>
          <p:cNvPr id="4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57200"/>
            <a:ext cx="1397203" cy="7168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NEUTRON &amp; X-RAY OPTICS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201168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Shaping, focusing,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timing the beam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703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Mirrors, lenses, crystals, multilayers and choppers in McStas &amp; McXtrace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448056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822960" y="448056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— neutrons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377440" y="448056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Text 8"/>
          <p:cNvSpPr/>
          <p:nvPr/>
        </p:nvSpPr>
        <p:spPr>
          <a:xfrm>
            <a:off x="2377440" y="448056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McXtrace — X-rays</a:t>
            </a:r>
            <a:endParaRPr lang="en-US" sz="1100" dirty="0"/>
          </a:p>
        </p:txBody>
      </p:sp>
      <p:pic>
        <p:nvPicPr>
          <p:cNvPr id="12" name="Image 1" descr="/home/claude/work/assets/mcstas_mcxtrace_lock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598" y="4018788"/>
            <a:ext cx="3150108" cy="97932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22960" y="5806440"/>
            <a:ext cx="2926080" cy="0"/>
          </a:xfrm>
          <a:prstGeom prst="line">
            <a:avLst/>
          </a:prstGeom>
          <a:noFill/>
          <a:ln w="12700">
            <a:solidFill>
              <a:srgbClr val="3C4A8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4" name="Text 10"/>
          <p:cNvSpPr/>
          <p:nvPr/>
        </p:nvSpPr>
        <p:spPr>
          <a:xfrm>
            <a:off x="822960" y="58978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A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Willendrup   ·   DTU Physics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822960" y="61722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PaNRAID School  ·  supported by PEPR DIADEM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between source and sample that reshapes the beam in space, direction, energy or time.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76272"/>
            <a:ext cx="329184" cy="329184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548640" y="21762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24128" y="2112264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ways to shape a beam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24128" y="2423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map of the optics families we'll cover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55080" y="2176272"/>
            <a:ext cx="329184" cy="329184"/>
          </a:xfrm>
          <a:prstGeom prst="ellipse">
            <a:avLst/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Text 8"/>
          <p:cNvSpPr/>
          <p:nvPr/>
        </p:nvSpPr>
        <p:spPr>
          <a:xfrm>
            <a:off x="6355080" y="21762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30568" y="2112264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&amp; directional shaping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830568" y="2423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Slits, apertures and collimators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200400"/>
            <a:ext cx="329184" cy="329184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5" name="Text 12"/>
          <p:cNvSpPr/>
          <p:nvPr/>
        </p:nvSpPr>
        <p:spPr>
          <a:xfrm>
            <a:off x="548640" y="3200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24128" y="313639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Grazing-incidence reflection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024128" y="34472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physics behind guides and mirrors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355080" y="3200400"/>
            <a:ext cx="329184" cy="329184"/>
          </a:xfrm>
          <a:prstGeom prst="ellipse">
            <a:avLst/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9" name="Text 16"/>
          <p:cNvSpPr/>
          <p:nvPr/>
        </p:nvSpPr>
        <p:spPr>
          <a:xfrm>
            <a:off x="6355080" y="3200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830568" y="313639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&amp; mirrors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6830568" y="34472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Channelling neutrons vs. focusing X-rays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4224528"/>
            <a:ext cx="329184" cy="329184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3" name="Text 20"/>
          <p:cNvSpPr/>
          <p:nvPr/>
        </p:nvSpPr>
        <p:spPr>
          <a:xfrm>
            <a:off x="548640" y="4224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24128" y="416052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Refractive lenses (CRLs)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024128" y="447141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X-ray and neutron lenses must be stacked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355080" y="4224528"/>
            <a:ext cx="329184" cy="329184"/>
          </a:xfrm>
          <a:prstGeom prst="ellipse">
            <a:avLst/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7" name="Text 24"/>
          <p:cNvSpPr/>
          <p:nvPr/>
        </p:nvSpPr>
        <p:spPr>
          <a:xfrm>
            <a:off x="6355080" y="4224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830568" y="416052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monochromators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6830568" y="447141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Bragg's law, mosaicity, and geometry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48640" y="5248656"/>
            <a:ext cx="329184" cy="329184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1" name="Text 28"/>
          <p:cNvSpPr/>
          <p:nvPr/>
        </p:nvSpPr>
        <p:spPr>
          <a:xfrm>
            <a:off x="548640" y="52486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024128" y="5184648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Multilayers</a:t>
            </a:r>
            <a:endParaRPr lang="en-US" sz="1450" dirty="0"/>
          </a:p>
        </p:txBody>
      </p:sp>
      <p:sp>
        <p:nvSpPr>
          <p:cNvPr id="33" name="Text 30"/>
          <p:cNvSpPr/>
          <p:nvPr/>
        </p:nvSpPr>
        <p:spPr>
          <a:xfrm>
            <a:off x="1024128" y="549554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interference effect, two very different jobs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355080" y="5248656"/>
            <a:ext cx="329184" cy="329184"/>
          </a:xfrm>
          <a:prstGeom prst="ellipse">
            <a:avLst/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5" name="Text 32"/>
          <p:cNvSpPr/>
          <p:nvPr/>
        </p:nvSpPr>
        <p:spPr>
          <a:xfrm>
            <a:off x="6355080" y="52486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830568" y="5184648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shaping</a:t>
            </a:r>
            <a:endParaRPr lang="en-US" sz="1450" dirty="0"/>
          </a:p>
        </p:txBody>
      </p:sp>
      <p:sp>
        <p:nvSpPr>
          <p:cNvPr id="37" name="Text 34"/>
          <p:cNvSpPr/>
          <p:nvPr/>
        </p:nvSpPr>
        <p:spPr>
          <a:xfrm>
            <a:off x="6830568" y="549554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Choppers, velocity selectors, and why neutrons are special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ways to shape a beam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optical component in either code falls into one of these families.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2084832" cy="3291840"/>
          </a:xfrm>
          <a:prstGeom prst="roundRect">
            <a:avLst>
              <a:gd name="adj" fmla="val 3947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2084832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8" name="Text 5"/>
          <p:cNvSpPr/>
          <p:nvPr/>
        </p:nvSpPr>
        <p:spPr>
          <a:xfrm>
            <a:off x="548640" y="210312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58368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13232" y="3246120"/>
            <a:ext cx="17556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Pinholes, slits, apertures, collimators — define where the beam is allowed to be.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798064" y="2103120"/>
            <a:ext cx="2084832" cy="3291840"/>
          </a:xfrm>
          <a:prstGeom prst="roundRect">
            <a:avLst>
              <a:gd name="adj" fmla="val 3947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2" name="Shape 9"/>
          <p:cNvSpPr/>
          <p:nvPr/>
        </p:nvSpPr>
        <p:spPr>
          <a:xfrm>
            <a:off x="2798064" y="2103120"/>
            <a:ext cx="2084832" cy="457200"/>
          </a:xfrm>
          <a:prstGeom prst="rect">
            <a:avLst/>
          </a:prstGeom>
          <a:solidFill>
            <a:srgbClr val="D97A2B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3" name="Text 10"/>
          <p:cNvSpPr/>
          <p:nvPr/>
        </p:nvSpPr>
        <p:spPr>
          <a:xfrm>
            <a:off x="2798064" y="210312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Reflective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2907792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962656" y="3246120"/>
            <a:ext cx="17556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&amp; guides — steer or focus at grazing incidence.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47488" y="2103120"/>
            <a:ext cx="2084832" cy="3291840"/>
          </a:xfrm>
          <a:prstGeom prst="roundRect">
            <a:avLst>
              <a:gd name="adj" fmla="val 3947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7" name="Shape 14"/>
          <p:cNvSpPr/>
          <p:nvPr/>
        </p:nvSpPr>
        <p:spPr>
          <a:xfrm>
            <a:off x="5047488" y="2103120"/>
            <a:ext cx="2084832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8" name="Text 15"/>
          <p:cNvSpPr/>
          <p:nvPr/>
        </p:nvSpPr>
        <p:spPr>
          <a:xfrm>
            <a:off x="5047488" y="210312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Refractive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5157216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212080" y="3246120"/>
            <a:ext cx="17556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lenses (CRLs) — bend the beam like an ordinary lens, just barely.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296912" y="2103120"/>
            <a:ext cx="2084832" cy="3291840"/>
          </a:xfrm>
          <a:prstGeom prst="roundRect">
            <a:avLst>
              <a:gd name="adj" fmla="val 3947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2" name="Shape 19"/>
          <p:cNvSpPr/>
          <p:nvPr/>
        </p:nvSpPr>
        <p:spPr>
          <a:xfrm>
            <a:off x="7296912" y="2103120"/>
            <a:ext cx="2084832" cy="457200"/>
          </a:xfrm>
          <a:prstGeom prst="rect">
            <a:avLst/>
          </a:prstGeom>
          <a:solidFill>
            <a:srgbClr val="D97A2B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3" name="Text 20"/>
          <p:cNvSpPr/>
          <p:nvPr/>
        </p:nvSpPr>
        <p:spPr>
          <a:xfrm>
            <a:off x="7296912" y="210312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Diffractive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7406640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7461504" y="3246120"/>
            <a:ext cx="17556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Crystals &amp; multilayers — select wavelength/energy via interference.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9546336" y="2103120"/>
            <a:ext cx="2084832" cy="3291840"/>
          </a:xfrm>
          <a:prstGeom prst="roundRect">
            <a:avLst>
              <a:gd name="adj" fmla="val 3947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7" name="Shape 24"/>
          <p:cNvSpPr/>
          <p:nvPr/>
        </p:nvSpPr>
        <p:spPr>
          <a:xfrm>
            <a:off x="9546336" y="2103120"/>
            <a:ext cx="2084832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8" name="Text 25"/>
          <p:cNvSpPr/>
          <p:nvPr/>
        </p:nvSpPr>
        <p:spPr>
          <a:xfrm>
            <a:off x="9546336" y="210312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9656064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9710928" y="3246120"/>
            <a:ext cx="17556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Choppers &amp; selectors — shape the beam in time, not space.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move roughly in this order — spatial first, temporal last — flagging where neutrons and X-rays share a component and where they don't.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CONCEPT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 &amp; directional shaping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Text 3"/>
          <p:cNvSpPr/>
          <p:nvPr/>
        </p:nvSpPr>
        <p:spPr>
          <a:xfrm>
            <a:off x="868680" y="19202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Spatial: pinholes, slits, apertures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68680" y="2606040"/>
            <a:ext cx="4617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 or adjustable “hole” in absorbing material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beam's spatial footprint downstream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component idea in both codes: Slit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72200" y="169164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6492240" y="19202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Directional: collimators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492240" y="2606040"/>
            <a:ext cx="4617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slits (or a channel array) define an accepted divergence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Absorbing walls create parallel “channels” through the collimator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static, but rotating radial collimators exist — e.g. to reject sample-environment scattering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594360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2" name="Text 9"/>
          <p:cNvSpPr/>
          <p:nvPr/>
        </p:nvSpPr>
        <p:spPr>
          <a:xfrm>
            <a:off x="822960" y="59436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shared:  </a:t>
            </a: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geometric, energy-independent devices — the same component names and logic apply whether the beam is neutrons or photons.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15" name="IB_C80_AIR.png" descr="IB_C80_AIR.png">
            <a:extLst>
              <a:ext uri="{FF2B5EF4-FFF2-40B4-BE49-F238E27FC236}">
                <a16:creationId xmlns:a16="http://schemas.microsoft.com/office/drawing/2014/main" id="{ECF2B56F-6AD4-DA08-9C7D-08E93514B5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9160" y="2557205"/>
            <a:ext cx="1057910" cy="10239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8" name="droppedImage.png" descr="droppedImage.png">
            <a:extLst>
              <a:ext uri="{FF2B5EF4-FFF2-40B4-BE49-F238E27FC236}">
                <a16:creationId xmlns:a16="http://schemas.microsoft.com/office/drawing/2014/main" id="{711B8079-778F-15D6-19C4-681674A392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5408" y="1974735"/>
            <a:ext cx="1803251" cy="1466643"/>
          </a:xfrm>
          <a:prstGeom prst="rect">
            <a:avLst/>
          </a:prstGeom>
          <a:ln w="12700">
            <a:miter lim="400000"/>
          </a:ln>
        </p:spPr>
      </p:pic>
      <p:pic>
        <p:nvPicPr>
          <p:cNvPr id="19" name="Apr2011_radial_collimator.png" descr="Apr2011_radial_collimator.png">
            <a:extLst>
              <a:ext uri="{FF2B5EF4-FFF2-40B4-BE49-F238E27FC236}">
                <a16:creationId xmlns:a16="http://schemas.microsoft.com/office/drawing/2014/main" id="{0A5EB431-952E-E81D-83F4-CF707491F1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5945" y="4546770"/>
            <a:ext cx="2022176" cy="106627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PHYSICS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Grazing-incidence reflection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56692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both neutrons and X-rays, matter's refractive index is just below 1: n = 1 − δ (+ iβ for absorption).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from vacuum (n=1) into a medium with n&lt;1 mirrors the classic total-internal-reflection picture — here it's called total external reflection.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a small critical angle θc, a ray hitting a smooth, flat surface reflects almost perfectly — no coating chemistry required, just the right angle.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effect underlies both neutron guides and X-ray mirrors — what differs is how it's exploited.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92240" y="1691640"/>
            <a:ext cx="5166360" cy="4114800"/>
          </a:xfrm>
          <a:prstGeom prst="roundRect">
            <a:avLst>
              <a:gd name="adj" fmla="val 2222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6475386" y="2165756"/>
            <a:ext cx="5166360" cy="2644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θc: total reflection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58000" y="484632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θc is tiny — typically a fraction of a degree — for both probes, which is why guides and mirrors are long, shallow, and need to be extremely flat/smooth.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0C65448-FECA-5741-592C-5507A4498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8739" y="2446834"/>
            <a:ext cx="4959654" cy="2147212"/>
          </a:xfrm>
          <a:prstGeom prst="rect">
            <a:avLst/>
          </a:prstGeom>
        </p:spPr>
      </p:pic>
      <p:pic>
        <p:nvPicPr>
          <p:cNvPr id="21" name="Image" descr="Image">
            <a:extLst>
              <a:ext uri="{FF2B5EF4-FFF2-40B4-BE49-F238E27FC236}">
                <a16:creationId xmlns:a16="http://schemas.microsoft.com/office/drawing/2014/main" id="{BA587A85-D816-838A-8091-1B3314A53D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0447" y="5525752"/>
            <a:ext cx="2865665" cy="890561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68258FD-1017-BD96-4373-4C8B8AB6711F}"/>
              </a:ext>
            </a:extLst>
          </p:cNvPr>
          <p:cNvSpPr txBox="1"/>
          <p:nvPr/>
        </p:nvSpPr>
        <p:spPr>
          <a:xfrm>
            <a:off x="2406054" y="4969443"/>
            <a:ext cx="1954450" cy="396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1000" dirty="0"/>
              <a:t>Visible light – water/air interface:</a:t>
            </a:r>
            <a:br>
              <a:rPr lang="en-DK" sz="1000" dirty="0"/>
            </a:br>
            <a:r>
              <a:rPr lang="en-DK" sz="1000" dirty="0"/>
              <a:t>Total </a:t>
            </a:r>
            <a:r>
              <a:rPr lang="en-DK" sz="1000" b="1" i="1" dirty="0"/>
              <a:t>internal</a:t>
            </a:r>
            <a:r>
              <a:rPr lang="en-DK" sz="1000" i="1" dirty="0"/>
              <a:t> </a:t>
            </a:r>
            <a:r>
              <a:rPr lang="en-DK" sz="1000" dirty="0"/>
              <a:t>reflection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6BCDDB-D2A8-11F6-652B-8D14206C5439}"/>
              </a:ext>
            </a:extLst>
          </p:cNvPr>
          <p:cNvSpPr txBox="1"/>
          <p:nvPr/>
        </p:nvSpPr>
        <p:spPr>
          <a:xfrm>
            <a:off x="7863840" y="1691640"/>
            <a:ext cx="2832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K" sz="1000" dirty="0"/>
              <a:t>Neutrons and X-rays – vaccum/matter interface:</a:t>
            </a:r>
            <a:br>
              <a:rPr lang="en-DK" sz="1000" dirty="0"/>
            </a:br>
            <a:r>
              <a:rPr lang="en-DK" sz="1000" dirty="0"/>
              <a:t>Total </a:t>
            </a:r>
            <a:r>
              <a:rPr lang="en-DK" sz="1000" b="1" i="1" dirty="0"/>
              <a:t>external</a:t>
            </a:r>
            <a:r>
              <a:rPr lang="en-DK" sz="1000" i="1" dirty="0"/>
              <a:t> </a:t>
            </a:r>
            <a:r>
              <a:rPr lang="en-DK" sz="1000" dirty="0"/>
              <a:t>reflection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PHYSICS, DIFFERENT USE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Guides &amp; mirrors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critical-angle physics, but neutron beamlines and X-ray beamlines put it to work differently.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5257800" cy="3794760"/>
          </a:xfrm>
          <a:prstGeom prst="roundRect">
            <a:avLst>
              <a:gd name="adj" fmla="val 2410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868680" y="216712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McStas · neutron guides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4617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Guide, Guide_channeled, Guide_gravity: long supermirror-coated channels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shallow bounces over metres — preserves intensity over long transport distances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Coating quality set by an “m-value” — multiples of the natural-Ni critical angle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965960"/>
            <a:ext cx="5257800" cy="3794760"/>
          </a:xfrm>
          <a:prstGeom prst="roundRect">
            <a:avLst>
              <a:gd name="adj" fmla="val 2410"/>
            </a:avLst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0" name="Text 7"/>
          <p:cNvSpPr/>
          <p:nvPr/>
        </p:nvSpPr>
        <p:spPr>
          <a:xfrm>
            <a:off x="6492240" y="216712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5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McXtrace · X-ray mirrors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2651760"/>
            <a:ext cx="4617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Mirror_curved, TwinKB_ML: one or two large, single-bounce focusing mirrors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one bounce per axis (e.g. a Kirkpatrick-Baez pair) rather than a many-bounce channel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Reflectivity data files (measured or computed) describe the coating's angle/energy response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955675" y="5989320"/>
            <a:ext cx="62122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difference? Neutron sources are weak per-neutron, so long guides trade length for preserved flux; X-ray sources are so bright that a couple of well-figured mirrors are enough to focus or steer the beam.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675E260-7DF1-199A-1167-896E01E7B7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6791" y="2026886"/>
            <a:ext cx="3242489" cy="1402114"/>
          </a:xfrm>
          <a:prstGeom prst="rect">
            <a:avLst/>
          </a:prstGeom>
        </p:spPr>
      </p:pic>
      <p:pic>
        <p:nvPicPr>
          <p:cNvPr id="17" name="Image" descr="Image">
            <a:extLst>
              <a:ext uri="{FF2B5EF4-FFF2-40B4-BE49-F238E27FC236}">
                <a16:creationId xmlns:a16="http://schemas.microsoft.com/office/drawing/2014/main" id="{F80E2088-7236-6940-55DC-F982049F0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2195" y="4852977"/>
            <a:ext cx="2965461" cy="193435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MCXTRACE — X-RAYS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KB mirrors, in practice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Kirkpatrick-Baez (KB) pair: two perpendicular curved mirrors, one per focusing axis.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920240"/>
            <a:ext cx="5760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(meridional) mirror focuses one axis; a glancing angle θ redirects the beam by 2θ.</a:t>
            </a:r>
            <a:endParaRPr lang="en-US" sz="12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Arm component re-establishes the optical axis after each reflection — it does nothing physically, it just carries a rotated coordinate frame forward.</a:t>
            </a:r>
            <a:endParaRPr lang="en-US" sz="12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mirror sits on an Arm rotated 90° around the beam axis, so it focuses the perpendicular direction.</a:t>
            </a:r>
            <a:endParaRPr lang="en-US" sz="12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lengths follow directly from the glancing angle and radius of curvature R: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5029200"/>
            <a:ext cx="576072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8" name="Text 5"/>
          <p:cNvSpPr/>
          <p:nvPr/>
        </p:nvSpPr>
        <p:spPr>
          <a:xfrm>
            <a:off x="822960" y="5193792"/>
            <a:ext cx="521208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f_m = R · sin(θ/2)     </a:t>
            </a:r>
            <a:r>
              <a:rPr lang="en-US" sz="1250" dirty="0">
                <a:solidFill>
                  <a:srgbClr val="AAB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(meridional / 1st mirror)
</a:t>
            </a: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f_s = R/2 · sin(θ)     </a:t>
            </a:r>
            <a:r>
              <a:rPr lang="en-US" sz="1250" dirty="0">
                <a:solidFill>
                  <a:srgbClr val="AAB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(sagittal / 2nd mirror)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583680" y="1920240"/>
            <a:ext cx="5074920" cy="4343400"/>
          </a:xfrm>
          <a:prstGeom prst="roundRect">
            <a:avLst>
              <a:gd name="adj" fmla="val 2105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0" name="Text 7"/>
          <p:cNvSpPr/>
          <p:nvPr/>
        </p:nvSpPr>
        <p:spPr>
          <a:xfrm>
            <a:off x="6583680" y="210312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→ mirror 1 → mirror 2 → focus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903720" y="5394960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is typically only a few mrad — chosen from the material's critical angle at the working energy.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EC39C46-ABC1-7E65-3A7C-A492151371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5705" y="2696109"/>
            <a:ext cx="3082066" cy="25159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PHYSICS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Refractive lenses (CRLs)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codes offer compound refractive lenses — and both need them for the same reason.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5257800" cy="3246120"/>
          </a:xfrm>
          <a:prstGeom prst="roundRect">
            <a:avLst>
              <a:gd name="adj" fmla="val 2817"/>
            </a:avLst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868680" y="21214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5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X-ray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5786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δ_Xray = f(Z, λ)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063240"/>
            <a:ext cx="4617720" cy="70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with electron density — higher atomic number Z means more refraction, but also more absorption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Low-Z, low-absorption materials preferred: Be, Al, polymers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72200" y="1920240"/>
            <a:ext cx="5257800" cy="3246120"/>
          </a:xfrm>
          <a:prstGeom prst="roundRect">
            <a:avLst>
              <a:gd name="adj" fmla="val 2817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Text 8"/>
          <p:cNvSpPr/>
          <p:nvPr/>
        </p:nvSpPr>
        <p:spPr>
          <a:xfrm>
            <a:off x="6492240" y="21214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Neutron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92240" y="25786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1 − δ_neutron = f(b, B)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92240" y="3063240"/>
            <a:ext cx="4617720" cy="707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by coherent scattering length b, plus a magnetic term B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magnetic (spin-dependent) lensing effect is small in practice — hence ordinary CRLs are still the practical choice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5" name="Text 12"/>
          <p:cNvSpPr/>
          <p:nvPr/>
        </p:nvSpPr>
        <p:spPr>
          <a:xfrm>
            <a:off x="822960" y="53492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“compound”:  </a:t>
            </a:r>
            <a:r>
              <a:rPr lang="en-US" sz="12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both regimes the index is barely below 1, so a single lens bends the beam almost imperceptibly. Stacking many (parabolic) lenses in series — a compound refractive lens — adds up to a usable focal length.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18" name="image16.png" descr="image16.png">
            <a:extLst>
              <a:ext uri="{FF2B5EF4-FFF2-40B4-BE49-F238E27FC236}">
                <a16:creationId xmlns:a16="http://schemas.microsoft.com/office/drawing/2014/main" id="{97B976E2-D450-E929-0DE9-DE3E382B39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3161" y="4076489"/>
            <a:ext cx="3093280" cy="10898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" name="image19.png" descr="image19.png">
            <a:extLst>
              <a:ext uri="{FF2B5EF4-FFF2-40B4-BE49-F238E27FC236}">
                <a16:creationId xmlns:a16="http://schemas.microsoft.com/office/drawing/2014/main" id="{04CA35DD-CF83-F153-CB0B-11B1BABB7F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424" y="4142664"/>
            <a:ext cx="2372136" cy="9575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MCXTRACE — WORKED EXAMPLE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CRL beamline, worked example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16459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5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(tip)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5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5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5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Thickness (tip)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59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µm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µm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µm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µm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33375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 </a:t>
            </a:r>
            <a:r>
              <a:rPr lang="en-US" sz="12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Source_gaussian at E0=23.32 keV (dE=1 keV), CRL stack 31.5 m downstream, focused to a spot 10 m further on. A 2D + energy monitor at the stack checks the incoming footprint and spectrum; another monitor is scanned in z to find the true focus.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48640" y="429768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sampling (focus_xw, focus_yh, dist on the source) concentrates statistics on the aperture that matters, without biasing intensity.</a:t>
            </a:r>
            <a:endParaRPr lang="en-US" sz="11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together with a slit, the CRL's achromatic focusing can double as a crude, high-throughput monochromator.</a:t>
            </a:r>
            <a:endParaRPr lang="en-US" sz="11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mxdisplay (“Trace” mode) lets you visually follow rays through the lens stack — useful for sanity-checking alignment.</a:t>
            </a:r>
            <a:endParaRPr lang="en-US" sz="11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Be ↔ Al lets you compare absorption vs. refraction trade-offs directly.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PHYSICS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Crystal monochromators: Bragg's law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Text 3"/>
          <p:cNvSpPr/>
          <p:nvPr/>
        </p:nvSpPr>
        <p:spPr>
          <a:xfrm>
            <a:off x="822960" y="1719072"/>
            <a:ext cx="1051560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λ = 2 d sin(θ)          — exactly the same equation, in both codes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771543"/>
              </p:ext>
            </p:extLst>
          </p:nvPr>
        </p:nvGraphicFramePr>
        <p:xfrm>
          <a:off x="548640" y="2514600"/>
          <a:ext cx="11064240" cy="31089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X-ray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5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crystal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Perfect single crystal: Si, Ge,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Mosaic crystal: pyrolytic graphite, deformed Cu, 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Mosaicity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high (multi-crystal, focusing arrays)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Laue (transmission) or Bragg (reflection)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Almost always Bragg (reflection)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Resulting beam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Narrow, low divergence 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divergence 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9" name="Text 5"/>
          <p:cNvSpPr/>
          <p:nvPr/>
        </p:nvSpPr>
        <p:spPr>
          <a:xfrm>
            <a:off x="822960" y="55321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both codes:  </a:t>
            </a:r>
            <a:r>
              <a:rPr lang="en-US" sz="11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Bragg_crystal (McXtrace) and Monochromator_flat / Monochromator_curved / Single_crystal (McStas) all rotate to satisfy Bragg's law — the rotation angle is a natural scan parameter for a rocking curve.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7" name="Text 7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13" name="37744f0177.png" descr="37744f0177.png">
            <a:extLst>
              <a:ext uri="{FF2B5EF4-FFF2-40B4-BE49-F238E27FC236}">
                <a16:creationId xmlns:a16="http://schemas.microsoft.com/office/drawing/2014/main" id="{8C400BB0-FF5B-C686-9992-7B3F268E8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43380" y="10074862"/>
            <a:ext cx="1447915" cy="16148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37744f0177.png" descr="37744f0177.png">
            <a:extLst>
              <a:ext uri="{FF2B5EF4-FFF2-40B4-BE49-F238E27FC236}">
                <a16:creationId xmlns:a16="http://schemas.microsoft.com/office/drawing/2014/main" id="{FCFFFBA5-AE94-3257-8588-31EDC1F367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8287" y="3620089"/>
            <a:ext cx="1652883" cy="18434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Image" descr="Image">
            <a:extLst>
              <a:ext uri="{FF2B5EF4-FFF2-40B4-BE49-F238E27FC236}">
                <a16:creationId xmlns:a16="http://schemas.microsoft.com/office/drawing/2014/main" id="{E4588838-A86E-2601-6CEC-67FA2D6EB6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9555" y="5058665"/>
            <a:ext cx="944527" cy="42933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" name="Image" descr="Image">
            <a:extLst>
              <a:ext uri="{FF2B5EF4-FFF2-40B4-BE49-F238E27FC236}">
                <a16:creationId xmlns:a16="http://schemas.microsoft.com/office/drawing/2014/main" id="{5A1C959D-3254-8904-40DC-F36843E8C6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5100" y="5041863"/>
            <a:ext cx="845623" cy="462933"/>
          </a:xfrm>
          <a:prstGeom prst="rect">
            <a:avLst/>
          </a:prstGeom>
          <a:ln w="12700">
            <a:miter lim="400000"/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6E1BD1F-BD8E-3B9D-213D-E208EFD4A2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4082" y="3214241"/>
            <a:ext cx="1459672" cy="22835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MCXTRACE — DEEP DIVE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Bent crystals &amp; double-crystal monochromators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65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Bending a crystal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48640" y="2011680"/>
            <a:ext cx="5394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radius of curvature on the crystal (Bragg_crystal_bent) is a simple way to model a heat-bump — thermal distortion from absorbed beam power.</a:t>
            </a:r>
            <a:endParaRPr lang="en-US" sz="11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 Divergence_monitor before/after bending to see the extra divergence introduced.</a:t>
            </a:r>
            <a:endParaRPr lang="en-US" sz="11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rocking curve (scanning θ) shows the peak shape change directly.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263640" y="160020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65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Double-crystal monochromators (DCM)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263640" y="2011680"/>
            <a:ext cx="5349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crystal, rotated by the negative of the first angle, brings the beam back parallel to the incoming direction</a:t>
            </a:r>
            <a:endParaRPr lang="en-US" sz="11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 track the beam axis between crystals; the pair can share a single rotation stage, as in a real DCM</a:t>
            </a:r>
            <a:endParaRPr lang="en-US" sz="11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Laue_crystal_BC swaps reflection for transmission geometry — useful for higher-energy or higher-heat-load beamlines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452628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0" name="Text 7"/>
          <p:cNvSpPr/>
          <p:nvPr/>
        </p:nvSpPr>
        <p:spPr>
          <a:xfrm>
            <a:off x="822960" y="4690872"/>
            <a:ext cx="10515600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AB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crystal 2, mirrored relative to crystal 1's Arm
</a:t>
            </a:r>
            <a:r>
              <a:rPr lang="en-US" sz="1250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xtal2 = Bragg_crystal(...)
</a:t>
            </a: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(0,0,0) RELATIVE arm_after_xtal1
ROTATED (-MONO_ANGLE, 0, 0) RELATIVE arm_after_xtal1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PHYSICS, DIFFERENT NAMES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Multilayers: one concept, two jobs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of thin alternating layers reflects by interference — like Bragg's law, but for a synthetic superperiod.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5257800" cy="3657600"/>
          </a:xfrm>
          <a:prstGeom prst="roundRect">
            <a:avLst>
              <a:gd name="adj" fmla="val 2500"/>
            </a:avLst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868680" y="219456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65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X-ray: a broadband monochromator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614618"/>
            <a:ext cx="4617720" cy="1057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a monochromator with a much broader bandpass — and higher flux — than a perfect crystal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of the first “side peaks” on the reflectivity curve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Curved multilayers combine monochromation with focusing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965960"/>
            <a:ext cx="5257800" cy="3657600"/>
          </a:xfrm>
          <a:prstGeom prst="roundRect">
            <a:avLst>
              <a:gd name="adj" fmla="val 2500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0" name="Text 7"/>
          <p:cNvSpPr/>
          <p:nvPr/>
        </p:nvSpPr>
        <p:spPr>
          <a:xfrm>
            <a:off x="6492240" y="219456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Neutron: a “supermirror” coating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92240" y="2572197"/>
            <a:ext cx="4617720" cy="11420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Bragg-like reflections extend the total-external-reflection range well beyond a single critical angle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Ideally a wide, flat reflectivity vs. Q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coat neutron guides — effectively an “optical fibre” for neutrons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underlying phase-interference physics in both codes — only the intended job (monochromate vs. transport) differs.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15" name="image20.png" descr="image20.png">
            <a:extLst>
              <a:ext uri="{FF2B5EF4-FFF2-40B4-BE49-F238E27FC236}">
                <a16:creationId xmlns:a16="http://schemas.microsoft.com/office/drawing/2014/main" id="{30BCB95B-31B9-E987-16BB-6A400E20A4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98" y="3782666"/>
            <a:ext cx="2367942" cy="1623154"/>
          </a:xfrm>
          <a:prstGeom prst="rect">
            <a:avLst/>
          </a:prstGeom>
          <a:ln w="12700">
            <a:miter lim="400000"/>
          </a:ln>
        </p:spPr>
      </p:pic>
      <p:pic>
        <p:nvPicPr>
          <p:cNvPr id="16" name="Image" descr="Image">
            <a:extLst>
              <a:ext uri="{FF2B5EF4-FFF2-40B4-BE49-F238E27FC236}">
                <a16:creationId xmlns:a16="http://schemas.microsoft.com/office/drawing/2014/main" id="{B8B7B820-DFA3-A8D9-824B-13871AF745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9900" y="3782666"/>
            <a:ext cx="1704819" cy="1622569"/>
          </a:xfrm>
          <a:prstGeom prst="rect">
            <a:avLst/>
          </a:prstGeom>
          <a:ln w="12700">
            <a:miter lim="400000"/>
          </a:ln>
        </p:spPr>
      </p:pic>
      <p:pic>
        <p:nvPicPr>
          <p:cNvPr id="17" name="Image" descr="Image">
            <a:extLst>
              <a:ext uri="{FF2B5EF4-FFF2-40B4-BE49-F238E27FC236}">
                <a16:creationId xmlns:a16="http://schemas.microsoft.com/office/drawing/2014/main" id="{413E9C25-984D-3199-020D-423FAA09B3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7738" y="3622768"/>
            <a:ext cx="2814982" cy="18362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CONCEPT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shaping: choppers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rotating absorbing disk with one or more slits cuts a continuous beam into pulses in time.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X-ray and neutron beamlines use a disk-chopper-like component to define or measure time structure — e.g. for time-of-flight (TOF) measurements.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picture is identical: a slit sweeps across the beam at a set frequency, and only rays arriving within the open window get through.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3794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822960" y="379476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65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stops being shared:  </a:t>
            </a: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neutrons are slow enough that a mechanical rotor can also act as an energy filter. An X-ray chopper shapes time only — it can't pick out an energy band the way a neutron velocity selector or Fermi chopper can.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next: two neutron-only rotating devices that filter on speed, not just on time.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93A219F9-80D6-62DC-7841-BFFA31BED0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8453" y="155539"/>
            <a:ext cx="2998158" cy="2245447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r&amp;d2-2.jpg" descr="r&amp;d2-2.jpg">
            <a:extLst>
              <a:ext uri="{FF2B5EF4-FFF2-40B4-BE49-F238E27FC236}">
                <a16:creationId xmlns:a16="http://schemas.microsoft.com/office/drawing/2014/main" id="{60BBDC4E-0B8A-EA0E-4CDF-D8DD58C9E6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8453" y="4424305"/>
            <a:ext cx="2755418" cy="206656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— NEUTRONS ONLY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Velocity selectors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rotating drum of twisted, absorbing blades — only a narrow velocity (wavelength) band makes it straight through.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6400800" cy="36576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xwidth, yheight [m]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aperture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zdepth [m]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housing length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length, d [m]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blade length / thickness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alpha [deg]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blade twisting angle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radius [m]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rotation axis → aperture-centre distance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 [Hz]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rotation speed (counterclockwise)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nslit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blades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223760" y="2011680"/>
            <a:ext cx="4434840" cy="4434840"/>
          </a:xfrm>
          <a:prstGeom prst="roundRect">
            <a:avLst>
              <a:gd name="adj" fmla="val 2597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8" name="Text 4"/>
          <p:cNvSpPr/>
          <p:nvPr/>
        </p:nvSpPr>
        <p:spPr>
          <a:xfrm>
            <a:off x="7223760" y="219456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twisted absorbing blades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223760" y="3670988"/>
            <a:ext cx="4434840" cy="4912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monochromatization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δλ/λ ≈ 10%</a:t>
            </a:r>
            <a:endParaRPr lang="en-US" sz="1100" dirty="0"/>
          </a:p>
        </p:txBody>
      </p:sp>
      <p:sp>
        <p:nvSpPr>
          <p:cNvPr id="6" name="Text 1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17" name="Picture 1" descr="Picture 1">
            <a:extLst>
              <a:ext uri="{FF2B5EF4-FFF2-40B4-BE49-F238E27FC236}">
                <a16:creationId xmlns:a16="http://schemas.microsoft.com/office/drawing/2014/main" id="{D76B5E0F-3F13-E886-3585-E6219A5FF0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2399" y="2548565"/>
            <a:ext cx="4257561" cy="111123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" name="Picture 11" descr="Picture 11">
            <a:extLst>
              <a:ext uri="{FF2B5EF4-FFF2-40B4-BE49-F238E27FC236}">
                <a16:creationId xmlns:a16="http://schemas.microsoft.com/office/drawing/2014/main" id="{3C43A44D-7409-4CE6-D62F-3F884A36179F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7587951" y="4158846"/>
            <a:ext cx="3688337" cy="207469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38FF1101-B4FF-2BD3-7E0D-D0AF2D21D769}"/>
              </a:ext>
            </a:extLst>
          </p:cNvPr>
          <p:cNvGrpSpPr/>
          <p:nvPr/>
        </p:nvGrpSpPr>
        <p:grpSpPr>
          <a:xfrm>
            <a:off x="8686672" y="1217312"/>
            <a:ext cx="3017648" cy="857215"/>
            <a:chOff x="1880423" y="4273450"/>
            <a:chExt cx="3017648" cy="1497409"/>
          </a:xfrm>
        </p:grpSpPr>
        <p:sp>
          <p:nvSpPr>
            <p:cNvPr id="19" name="Rounded Rectangle 2">
              <a:extLst>
                <a:ext uri="{FF2B5EF4-FFF2-40B4-BE49-F238E27FC236}">
                  <a16:creationId xmlns:a16="http://schemas.microsoft.com/office/drawing/2014/main" id="{C667FC68-665B-1302-4D8F-14D43622EE96}"/>
                </a:ext>
              </a:extLst>
            </p:cNvPr>
            <p:cNvSpPr/>
            <p:nvPr/>
          </p:nvSpPr>
          <p:spPr>
            <a:xfrm>
              <a:off x="1880423" y="4724171"/>
              <a:ext cx="1343146" cy="518619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A603AB"/>
                </a:gs>
                <a:gs pos="21001">
                  <a:srgbClr val="0819FB"/>
                </a:gs>
                <a:gs pos="35001">
                  <a:srgbClr val="1A8D48"/>
                </a:gs>
                <a:gs pos="52000">
                  <a:srgbClr val="FFFF00"/>
                </a:gs>
                <a:gs pos="73000">
                  <a:srgbClr val="EE3F17"/>
                </a:gs>
                <a:gs pos="88000">
                  <a:srgbClr val="E81766"/>
                </a:gs>
                <a:gs pos="100000">
                  <a:srgbClr val="A603AB"/>
                </a:gs>
              </a:gsLst>
              <a:lin ang="5400000"/>
            </a:gradFill>
            <a:ln w="12700">
              <a:miter lim="400000"/>
            </a:ln>
          </p:spPr>
          <p:txBody>
            <a:bodyPr lIns="46799" tIns="46799" rIns="46799" bIns="46799" anchor="ctr"/>
            <a:lstStyle/>
            <a:p>
              <a:pPr>
                <a:defRPr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endParaRPr/>
            </a:p>
          </p:txBody>
        </p:sp>
        <p:sp>
          <p:nvSpPr>
            <p:cNvPr id="20" name="Rounded Rectangle 3">
              <a:extLst>
                <a:ext uri="{FF2B5EF4-FFF2-40B4-BE49-F238E27FC236}">
                  <a16:creationId xmlns:a16="http://schemas.microsoft.com/office/drawing/2014/main" id="{6797B6CD-C11F-D2C7-D36D-72895734FFEC}"/>
                </a:ext>
              </a:extLst>
            </p:cNvPr>
            <p:cNvSpPr/>
            <p:nvPr/>
          </p:nvSpPr>
          <p:spPr>
            <a:xfrm>
              <a:off x="3517971" y="4724171"/>
              <a:ext cx="1380100" cy="518619"/>
            </a:xfrm>
            <a:prstGeom prst="roundRect">
              <a:avLst>
                <a:gd name="adj" fmla="val 16667"/>
              </a:avLst>
            </a:prstGeom>
            <a:solidFill>
              <a:srgbClr val="E41962"/>
            </a:solidFill>
            <a:ln w="12700">
              <a:miter lim="400000"/>
            </a:ln>
          </p:spPr>
          <p:txBody>
            <a:bodyPr lIns="46799" tIns="46799" rIns="46799" bIns="46799" anchor="ctr"/>
            <a:lstStyle/>
            <a:p>
              <a:pPr>
                <a:defRPr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endParaRPr dirty="0"/>
            </a:p>
          </p:txBody>
        </p:sp>
        <p:sp>
          <p:nvSpPr>
            <p:cNvPr id="21" name="Rectangle 6">
              <a:extLst>
                <a:ext uri="{FF2B5EF4-FFF2-40B4-BE49-F238E27FC236}">
                  <a16:creationId xmlns:a16="http://schemas.microsoft.com/office/drawing/2014/main" id="{E5D9EE66-CDE3-0927-707B-31890BA4EBAD}"/>
                </a:ext>
              </a:extLst>
            </p:cNvPr>
            <p:cNvSpPr/>
            <p:nvPr/>
          </p:nvSpPr>
          <p:spPr>
            <a:xfrm flipH="1">
              <a:off x="3379320" y="4273450"/>
              <a:ext cx="45719" cy="1497409"/>
            </a:xfrm>
            <a:prstGeom prst="rect">
              <a:avLst/>
            </a:prstGeom>
            <a:solidFill>
              <a:srgbClr val="000000"/>
            </a:solidFill>
            <a:ln w="3175">
              <a:solidFill>
                <a:srgbClr val="000000"/>
              </a:solidFill>
            </a:ln>
            <a:effectLst>
              <a:outerShdw blurRad="25400" dist="12700" dir="5400000" rotWithShape="0">
                <a:srgbClr val="000000">
                  <a:alpha val="35000"/>
                </a:srgbClr>
              </a:outerShdw>
            </a:effectLst>
          </p:spPr>
          <p:txBody>
            <a:bodyPr lIns="46799" tIns="46799" rIns="46799" bIns="46799" anchor="ctr"/>
            <a:lstStyle/>
            <a:p>
              <a:pPr>
                <a:defRPr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— NEUTRONS ONLY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Disk &amp; Fermi choppers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DiskChopper</a:t>
            </a:r>
            <a:endParaRPr lang="en-US" sz="14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5394960" cy="29718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nu, theta_0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frequency; angular slit width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radius, yheight, xwidth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disk geometry / slit opening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jitter, delay, phase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timing: random jitter, fixed delay, or angular phase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isfirst, npulse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 the first chopper; pulses to generate if 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263640" y="160020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Fermi chopper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263640" y="2011680"/>
            <a:ext cx="5349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drum of curved slit packages, spinning fast, sitting directly in the beam — a “rotating collimator”.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neutrons with the right speed can cross the curved channel before it rotates shut — so it acts as a combined fast time-gate and coarse energy filter.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right next to the sample, where a disk chopper's timing alone is no longer selective enough.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48640" y="4937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0" name="Text 6"/>
          <p:cNvSpPr/>
          <p:nvPr/>
        </p:nvSpPr>
        <p:spPr>
          <a:xfrm>
            <a:off x="822960" y="49377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McStas-only:  </a:t>
            </a: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X-ray analogue — the mechanical rotation speeds needed would be absurd at the speed of light. X-ray timing instead comes from the accelerator's bunch structure itself.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AD2F1E-5AFA-11A8-D6F2-2233E5247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2198" y="-25460"/>
            <a:ext cx="2970542" cy="30135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optics toolkit, two beams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Text 3"/>
          <p:cNvSpPr/>
          <p:nvPr/>
        </p:nvSpPr>
        <p:spPr>
          <a:xfrm>
            <a:off x="868680" y="192024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shared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4617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shaping: slits &amp; collimators, same logic either way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Grazing-incidence total external reflection (n&lt;1, critical angle)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Bragg's law, and the idea of rotating a crystal to tune it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Refractive-index-just-below-1 logic behind compound lenses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Multilayer interference physics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chopper concept for defining time structure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72200" y="169164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6492240" y="192024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5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differs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92240" y="2423160"/>
            <a:ext cx="4617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Many-bounce guides (neutron) vs. one/two-bounce focusing mirrors (X-ray)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choice: near-perfect low-mosaicity vs. mosaic/multi-crystal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Multilayer role: X-ray monochromator vs. neutron guide coating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selectors &amp; Fermi choppers exist only for neutrons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timing comes from the accelerator, not a mechanical rotor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" name="Shape 1"/>
          <p:cNvSpPr/>
          <p:nvPr/>
        </p:nvSpPr>
        <p:spPr>
          <a:xfrm>
            <a:off x="-1828800" y="4206240"/>
            <a:ext cx="4206240" cy="420624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go deeper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5120640" cy="2880360"/>
          </a:xfrm>
          <a:prstGeom prst="roundRect">
            <a:avLst>
              <a:gd name="adj" fmla="val 3175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Text 4"/>
          <p:cNvSpPr/>
          <p:nvPr/>
        </p:nvSpPr>
        <p:spPr>
          <a:xfrm>
            <a:off x="1143000" y="25146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E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McStas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30632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mcdoc optics  /  mcdoc -c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43000" y="359359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Guide, Guide_channeled, Monochromator_flat/curved, DiskChopper, FermiChopper, V_selector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43000" y="412394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 err="1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mcstas.org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286000"/>
            <a:ext cx="5120640" cy="2880360"/>
          </a:xfrm>
          <a:prstGeom prst="roundRect">
            <a:avLst>
              <a:gd name="adj" fmla="val 3175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Text 9"/>
          <p:cNvSpPr/>
          <p:nvPr/>
        </p:nvSpPr>
        <p:spPr>
          <a:xfrm>
            <a:off x="6629400" y="25146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McXtrace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30632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mxdoc optics  /  mxdoc -c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629400" y="359359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exercises: CRLs, KB mirrors, monochromators — pick two of the three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629400" y="412394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mcxtrace.org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5440680"/>
            <a:ext cx="2926080" cy="0"/>
          </a:xfrm>
          <a:prstGeom prst="line">
            <a:avLst/>
          </a:prstGeom>
          <a:noFill/>
          <a:ln w="12700">
            <a:solidFill>
              <a:srgbClr val="3C4A8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6" name="Text 14"/>
          <p:cNvSpPr/>
          <p:nvPr/>
        </p:nvSpPr>
        <p:spPr>
          <a:xfrm>
            <a:off x="822960" y="5532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Willendrup   ·   pkwi@fysik.dtu.dk   ·   DTU Physics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2427</Words>
  <Application>Microsoft Macintosh PowerPoint</Application>
  <PresentationFormat>Widescreen</PresentationFormat>
  <Paragraphs>296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Peter Willendrup</cp:lastModifiedBy>
  <cp:revision>25</cp:revision>
  <dcterms:created xsi:type="dcterms:W3CDTF">2026-08-21T12:59:43Z</dcterms:created>
  <dcterms:modified xsi:type="dcterms:W3CDTF">2026-09-12T19:32:18Z</dcterms:modified>
</cp:coreProperties>
</file>