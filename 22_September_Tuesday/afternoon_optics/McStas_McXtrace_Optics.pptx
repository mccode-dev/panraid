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38655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141A47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3" name="Shape 1"/>
          <p:cNvSpPr/>
          <p:nvPr/>
        </p:nvSpPr>
        <p:spPr>
          <a:xfrm>
            <a:off x="-1828800" y="4206240"/>
            <a:ext cx="4206240" cy="4206240"/>
          </a:xfrm>
          <a:prstGeom prst="ellipse">
            <a:avLst/>
          </a:prstGeom>
          <a:solidFill>
            <a:srgbClr val="141A47"/>
          </a:solidFill>
          <a:ln/>
        </p:spPr>
        <p:txBody>
          <a:bodyPr/>
          <a:lstStyle/>
          <a:p>
            <a:endParaRPr lang="en-DK"/>
          </a:p>
        </p:txBody>
      </p:sp>
      <p:pic>
        <p:nvPicPr>
          <p:cNvPr id="4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57200"/>
            <a:ext cx="1397203" cy="7168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600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NEUTRON &amp; X-RAY OPTICS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77240" y="201168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Shaping, focusing,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timing the beam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" y="3703320"/>
            <a:ext cx="8961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7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Mirrors, lenses, crystals, multilayers and choppers in McStas &amp; McXtrace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822960" y="448056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9" name="Text 6"/>
          <p:cNvSpPr/>
          <p:nvPr/>
        </p:nvSpPr>
        <p:spPr>
          <a:xfrm>
            <a:off x="822960" y="448056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— neutrons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377440" y="448056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1" name="Text 8"/>
          <p:cNvSpPr/>
          <p:nvPr/>
        </p:nvSpPr>
        <p:spPr>
          <a:xfrm>
            <a:off x="2377440" y="4480560"/>
            <a:ext cx="1417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McXtrace — X-rays</a:t>
            </a:r>
            <a:endParaRPr lang="en-US" sz="1100" dirty="0"/>
          </a:p>
        </p:txBody>
      </p:sp>
      <p:pic>
        <p:nvPicPr>
          <p:cNvPr id="12" name="Image 1" descr="/home/claude/work/assets/mcstas_mcxtrace_lock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59598" y="4018788"/>
            <a:ext cx="3150108" cy="97932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822960" y="5806440"/>
            <a:ext cx="2926080" cy="0"/>
          </a:xfrm>
          <a:prstGeom prst="line">
            <a:avLst/>
          </a:prstGeom>
          <a:noFill/>
          <a:ln w="12700">
            <a:solidFill>
              <a:srgbClr val="3C4A8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4" name="Text 10"/>
          <p:cNvSpPr/>
          <p:nvPr/>
        </p:nvSpPr>
        <p:spPr>
          <a:xfrm>
            <a:off x="822960" y="589788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A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Willendrup   ·   DTU Physics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822960" y="6172200"/>
            <a:ext cx="6400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8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PaNRAID School  ·  supported by PEPR DIADEM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between source and sample that reshapes the beam in space, direction, energy or time.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2176272"/>
            <a:ext cx="329184" cy="329184"/>
          </a:xfrm>
          <a:prstGeom prst="ellipse">
            <a:avLst/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7" name="Text 4"/>
          <p:cNvSpPr/>
          <p:nvPr/>
        </p:nvSpPr>
        <p:spPr>
          <a:xfrm>
            <a:off x="548640" y="21762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24128" y="2112264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ways to shape a beam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024128" y="24231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map of the optics families we'll cover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355080" y="2176272"/>
            <a:ext cx="329184" cy="329184"/>
          </a:xfrm>
          <a:prstGeom prst="ellipse">
            <a:avLst/>
          </a:prstGeom>
          <a:solidFill>
            <a:srgbClr val="FBEBD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1" name="Text 8"/>
          <p:cNvSpPr/>
          <p:nvPr/>
        </p:nvSpPr>
        <p:spPr>
          <a:xfrm>
            <a:off x="6355080" y="217627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830568" y="2112264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&amp; directional shaping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830568" y="24231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Slits, apertures and collimators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3200400"/>
            <a:ext cx="329184" cy="329184"/>
          </a:xfrm>
          <a:prstGeom prst="ellipse">
            <a:avLst/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5" name="Text 12"/>
          <p:cNvSpPr/>
          <p:nvPr/>
        </p:nvSpPr>
        <p:spPr>
          <a:xfrm>
            <a:off x="548640" y="32004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024128" y="3136392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Grazing-incidence reflection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1024128" y="344728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shared physics behind guides and mirrors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355080" y="3200400"/>
            <a:ext cx="329184" cy="329184"/>
          </a:xfrm>
          <a:prstGeom prst="ellipse">
            <a:avLst/>
          </a:prstGeom>
          <a:solidFill>
            <a:srgbClr val="FBEBD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9" name="Text 16"/>
          <p:cNvSpPr/>
          <p:nvPr/>
        </p:nvSpPr>
        <p:spPr>
          <a:xfrm>
            <a:off x="6355080" y="32004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830568" y="3136392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&amp; mirrors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6830568" y="344728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Channelling neutrons vs. focusing X-rays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48640" y="4224528"/>
            <a:ext cx="329184" cy="329184"/>
          </a:xfrm>
          <a:prstGeom prst="ellipse">
            <a:avLst/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23" name="Text 20"/>
          <p:cNvSpPr/>
          <p:nvPr/>
        </p:nvSpPr>
        <p:spPr>
          <a:xfrm>
            <a:off x="548640" y="42245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024128" y="4160520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Refractive lenses (CRLs)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1024128" y="447141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X-ray and neutron lenses must be stacked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355080" y="4224528"/>
            <a:ext cx="329184" cy="329184"/>
          </a:xfrm>
          <a:prstGeom prst="ellipse">
            <a:avLst/>
          </a:prstGeom>
          <a:solidFill>
            <a:srgbClr val="FBEBD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27" name="Text 24"/>
          <p:cNvSpPr/>
          <p:nvPr/>
        </p:nvSpPr>
        <p:spPr>
          <a:xfrm>
            <a:off x="6355080" y="42245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830568" y="4160520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 monochromators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6830568" y="447141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Bragg's law, mosaicity, and geometry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48640" y="5248656"/>
            <a:ext cx="329184" cy="329184"/>
          </a:xfrm>
          <a:prstGeom prst="ellipse">
            <a:avLst/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31" name="Text 28"/>
          <p:cNvSpPr/>
          <p:nvPr/>
        </p:nvSpPr>
        <p:spPr>
          <a:xfrm>
            <a:off x="548640" y="52486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1024128" y="5184648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Multilayers</a:t>
            </a:r>
            <a:endParaRPr lang="en-US" sz="1450" dirty="0"/>
          </a:p>
        </p:txBody>
      </p:sp>
      <p:sp>
        <p:nvSpPr>
          <p:cNvPr id="33" name="Text 30"/>
          <p:cNvSpPr/>
          <p:nvPr/>
        </p:nvSpPr>
        <p:spPr>
          <a:xfrm>
            <a:off x="1024128" y="5495544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interference effect, two very different jobs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355080" y="5248656"/>
            <a:ext cx="329184" cy="329184"/>
          </a:xfrm>
          <a:prstGeom prst="ellipse">
            <a:avLst/>
          </a:prstGeom>
          <a:solidFill>
            <a:srgbClr val="FBEBD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35" name="Text 32"/>
          <p:cNvSpPr/>
          <p:nvPr/>
        </p:nvSpPr>
        <p:spPr>
          <a:xfrm>
            <a:off x="6355080" y="52486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6830568" y="5184648"/>
            <a:ext cx="4846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shaping</a:t>
            </a:r>
            <a:endParaRPr lang="en-US" sz="1450" dirty="0"/>
          </a:p>
        </p:txBody>
      </p:sp>
      <p:sp>
        <p:nvSpPr>
          <p:cNvPr id="37" name="Text 34"/>
          <p:cNvSpPr/>
          <p:nvPr/>
        </p:nvSpPr>
        <p:spPr>
          <a:xfrm>
            <a:off x="6830568" y="5495544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Choppers, velocity selectors, and why neutrons are special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Neutron &amp; X-ray Optics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ways to shape a beam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optical component in either code falls into one of these families.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2103120"/>
            <a:ext cx="2084832" cy="3291840"/>
          </a:xfrm>
          <a:prstGeom prst="roundRect">
            <a:avLst>
              <a:gd name="adj" fmla="val 3947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7" name="Shape 4"/>
          <p:cNvSpPr/>
          <p:nvPr/>
        </p:nvSpPr>
        <p:spPr>
          <a:xfrm>
            <a:off x="548640" y="2103120"/>
            <a:ext cx="2084832" cy="4572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8" name="Text 5"/>
          <p:cNvSpPr/>
          <p:nvPr/>
        </p:nvSpPr>
        <p:spPr>
          <a:xfrm>
            <a:off x="548640" y="210312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Spatial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58368" y="2670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13232" y="3246120"/>
            <a:ext cx="175564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Pinholes, slits, apertures, collimators — define where the beam is allowed to be.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798064" y="2103120"/>
            <a:ext cx="2084832" cy="3291840"/>
          </a:xfrm>
          <a:prstGeom prst="roundRect">
            <a:avLst>
              <a:gd name="adj" fmla="val 3947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2" name="Shape 9"/>
          <p:cNvSpPr/>
          <p:nvPr/>
        </p:nvSpPr>
        <p:spPr>
          <a:xfrm>
            <a:off x="2798064" y="2103120"/>
            <a:ext cx="2084832" cy="457200"/>
          </a:xfrm>
          <a:prstGeom prst="rect">
            <a:avLst/>
          </a:prstGeom>
          <a:solidFill>
            <a:srgbClr val="D97A2B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3" name="Text 10"/>
          <p:cNvSpPr/>
          <p:nvPr/>
        </p:nvSpPr>
        <p:spPr>
          <a:xfrm>
            <a:off x="2798064" y="210312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Reflective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2907792" y="2670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2962656" y="3246120"/>
            <a:ext cx="175564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&amp; guides — steer or focus at grazing incidence.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047488" y="2103120"/>
            <a:ext cx="2084832" cy="3291840"/>
          </a:xfrm>
          <a:prstGeom prst="roundRect">
            <a:avLst>
              <a:gd name="adj" fmla="val 3947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7" name="Shape 14"/>
          <p:cNvSpPr/>
          <p:nvPr/>
        </p:nvSpPr>
        <p:spPr>
          <a:xfrm>
            <a:off x="5047488" y="2103120"/>
            <a:ext cx="2084832" cy="4572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8" name="Text 15"/>
          <p:cNvSpPr/>
          <p:nvPr/>
        </p:nvSpPr>
        <p:spPr>
          <a:xfrm>
            <a:off x="5047488" y="210312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Refractive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5157216" y="2670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5212080" y="3246120"/>
            <a:ext cx="175564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lenses (CRLs) — bend the beam like an ordinary lens, just barely.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296912" y="2103120"/>
            <a:ext cx="2084832" cy="3291840"/>
          </a:xfrm>
          <a:prstGeom prst="roundRect">
            <a:avLst>
              <a:gd name="adj" fmla="val 3947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22" name="Shape 19"/>
          <p:cNvSpPr/>
          <p:nvPr/>
        </p:nvSpPr>
        <p:spPr>
          <a:xfrm>
            <a:off x="7296912" y="2103120"/>
            <a:ext cx="2084832" cy="457200"/>
          </a:xfrm>
          <a:prstGeom prst="rect">
            <a:avLst/>
          </a:prstGeom>
          <a:solidFill>
            <a:srgbClr val="D97A2B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23" name="Text 20"/>
          <p:cNvSpPr/>
          <p:nvPr/>
        </p:nvSpPr>
        <p:spPr>
          <a:xfrm>
            <a:off x="7296912" y="210312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Diffractive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7406640" y="2670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7A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7461504" y="3246120"/>
            <a:ext cx="175564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Crystals &amp; multilayers — select wavelength/energy via interference.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9546336" y="2103120"/>
            <a:ext cx="2084832" cy="3291840"/>
          </a:xfrm>
          <a:prstGeom prst="roundRect">
            <a:avLst>
              <a:gd name="adj" fmla="val 3947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27" name="Shape 24"/>
          <p:cNvSpPr/>
          <p:nvPr/>
        </p:nvSpPr>
        <p:spPr>
          <a:xfrm>
            <a:off x="9546336" y="2103120"/>
            <a:ext cx="2084832" cy="4572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28" name="Text 25"/>
          <p:cNvSpPr/>
          <p:nvPr/>
        </p:nvSpPr>
        <p:spPr>
          <a:xfrm>
            <a:off x="9546336" y="210312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Temporal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9656064" y="26700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9710928" y="3246120"/>
            <a:ext cx="1755648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Choppers &amp; selectors — shape the beam in time, not space.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We'll move roughly in this order — spatial first, temporal last — flagging where neutrons and X-rays share a component and where they don't.</a:t>
            </a:r>
            <a:endParaRPr lang="en-US" sz="1150" dirty="0"/>
          </a:p>
        </p:txBody>
      </p:sp>
      <p:sp>
        <p:nvSpPr>
          <p:cNvPr id="32" name="Text 29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Neutron &amp; X-ray Optics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CONCEPT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Spatial &amp; directional shaping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5257800" cy="4114800"/>
          </a:xfrm>
          <a:prstGeom prst="roundRect">
            <a:avLst>
              <a:gd name="adj" fmla="val 2222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6" name="Text 3"/>
          <p:cNvSpPr/>
          <p:nvPr/>
        </p:nvSpPr>
        <p:spPr>
          <a:xfrm>
            <a:off x="868680" y="192024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Spatial: pinholes, slits, apertures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68680" y="2606040"/>
            <a:ext cx="46177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static or adjustable “hole” in absorbing material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the beam's spatial footprint downstream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component idea in both codes: Slit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72200" y="1691640"/>
            <a:ext cx="5257800" cy="4114800"/>
          </a:xfrm>
          <a:prstGeom prst="roundRect">
            <a:avLst>
              <a:gd name="adj" fmla="val 2222"/>
            </a:avLst>
          </a:prstGeom>
          <a:solidFill>
            <a:srgbClr val="F7F8F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9" name="Text 6"/>
          <p:cNvSpPr/>
          <p:nvPr/>
        </p:nvSpPr>
        <p:spPr>
          <a:xfrm>
            <a:off x="6492240" y="1920240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Directional: collimators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6492240" y="2606040"/>
            <a:ext cx="461772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or more slits (or a channel array) define an accepted divergence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Absorbing walls create parallel “channels” through the collimator</a:t>
            </a:r>
            <a:endParaRPr lang="en-US" sz="12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Usually static, but rotating radial collimators exist — e.g. to reject sample-environment scattering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594360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2" name="Text 9"/>
          <p:cNvSpPr/>
          <p:nvPr/>
        </p:nvSpPr>
        <p:spPr>
          <a:xfrm>
            <a:off x="822960" y="59436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shared:  </a:t>
            </a: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geometric, energy-independent devices — the same component names and logic apply whether the beam is neutrons or photons.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Neutron &amp; X-ray Optics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PHYSICS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Grazing-incidence reflection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600200"/>
            <a:ext cx="566928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both neutrons and X-rays, matter's refractive index is just below 1: n = 1 − δ (+ iβ for absorption).</a:t>
            </a:r>
            <a:endParaRPr lang="en-US" sz="12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from vacuum (n=1) into a medium with n&lt;1 mirrors the classic total-internal-reflection picture — here it's called total external reflection.</a:t>
            </a:r>
            <a:endParaRPr lang="en-US" sz="12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a small critical angle θc, a ray hitting a smooth, flat surface reflects almost perfectly — no coating chemistry required, just the right angle.</a:t>
            </a:r>
            <a:endParaRPr lang="en-US" sz="125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single effect underlies both neutron guides and X-ray mirrors — what differs is how it's exploited.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6492240" y="1691640"/>
            <a:ext cx="5166360" cy="4114800"/>
          </a:xfrm>
          <a:prstGeom prst="roundRect">
            <a:avLst>
              <a:gd name="adj" fmla="val 2222"/>
            </a:avLst>
          </a:prstGeom>
          <a:solidFill>
            <a:srgbClr val="F7F8FA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7" name="Text 4"/>
          <p:cNvSpPr/>
          <p:nvPr/>
        </p:nvSpPr>
        <p:spPr>
          <a:xfrm>
            <a:off x="6492240" y="1874520"/>
            <a:ext cx="5166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θc: total external reflection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040880" y="4069080"/>
            <a:ext cx="4069080" cy="1188720"/>
          </a:xfrm>
          <a:prstGeom prst="rect">
            <a:avLst/>
          </a:prstGeom>
          <a:solidFill>
            <a:srgbClr val="E7EC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9" name="Text 6"/>
          <p:cNvSpPr/>
          <p:nvPr/>
        </p:nvSpPr>
        <p:spPr>
          <a:xfrm>
            <a:off x="7040880" y="448056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medium, n = 1 − δ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040880" y="4069080"/>
            <a:ext cx="4069080" cy="0"/>
          </a:xfrm>
          <a:prstGeom prst="line">
            <a:avLst/>
          </a:prstGeom>
          <a:noFill/>
          <a:ln w="19050">
            <a:solidFill>
              <a:srgbClr val="20242B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1" name="Shape 8"/>
          <p:cNvSpPr/>
          <p:nvPr/>
        </p:nvSpPr>
        <p:spPr>
          <a:xfrm>
            <a:off x="7612380" y="2788920"/>
            <a:ext cx="1463040" cy="128016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2" name="Shape 9"/>
          <p:cNvSpPr/>
          <p:nvPr/>
        </p:nvSpPr>
        <p:spPr>
          <a:xfrm>
            <a:off x="9075420" y="4069080"/>
            <a:ext cx="146304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en-DK"/>
          </a:p>
        </p:txBody>
      </p:sp>
      <p:sp>
        <p:nvSpPr>
          <p:cNvPr id="13" name="Shape 10"/>
          <p:cNvSpPr/>
          <p:nvPr/>
        </p:nvSpPr>
        <p:spPr>
          <a:xfrm>
            <a:off x="9075420" y="3246120"/>
            <a:ext cx="0" cy="822960"/>
          </a:xfrm>
          <a:prstGeom prst="line">
            <a:avLst/>
          </a:prstGeom>
          <a:noFill/>
          <a:ln w="12700">
            <a:solidFill>
              <a:srgbClr val="6E7580"/>
            </a:solidFill>
            <a:prstDash val="dash"/>
          </a:ln>
        </p:spPr>
        <p:txBody>
          <a:bodyPr/>
          <a:lstStyle/>
          <a:p>
            <a:endParaRPr lang="en-DK"/>
          </a:p>
        </p:txBody>
      </p:sp>
      <p:sp>
        <p:nvSpPr>
          <p:cNvPr id="14" name="Text 11"/>
          <p:cNvSpPr/>
          <p:nvPr/>
        </p:nvSpPr>
        <p:spPr>
          <a:xfrm>
            <a:off x="8389620" y="329184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5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θc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858000" y="4846320"/>
            <a:ext cx="4434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θc is tiny — typically a fraction of a degree — for both probes, which is why guides and mirrors are long, shallow, and need to be extremely flat/smooth.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Neutron &amp; X-ray Optics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PHYSICS, DIFFERENT USE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Guides &amp; mirrors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critical-angle physics, but neutron beamlines and X-ray beamlines put it to work differently.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5257800" cy="3794760"/>
          </a:xfrm>
          <a:prstGeom prst="roundRect">
            <a:avLst>
              <a:gd name="adj" fmla="val 2410"/>
            </a:avLst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7" name="Text 4"/>
          <p:cNvSpPr/>
          <p:nvPr/>
        </p:nvSpPr>
        <p:spPr>
          <a:xfrm>
            <a:off x="868680" y="216712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5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McStas · neutron guides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651760"/>
            <a:ext cx="46177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Guide, Guide_channeled, Guide_gravity: long supermirror-coated channels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shallow bounces over metres — preserves intensity over long transport distances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Coating quality set by an “m-value” — multiples of the natural-Ni critical angle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72200" y="1965960"/>
            <a:ext cx="5257800" cy="3794760"/>
          </a:xfrm>
          <a:prstGeom prst="roundRect">
            <a:avLst>
              <a:gd name="adj" fmla="val 2410"/>
            </a:avLst>
          </a:prstGeom>
          <a:solidFill>
            <a:srgbClr val="FBEBD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0" name="Text 7"/>
          <p:cNvSpPr/>
          <p:nvPr/>
        </p:nvSpPr>
        <p:spPr>
          <a:xfrm>
            <a:off x="6492240" y="216712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65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McXtrace · X-ray mirrors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92240" y="2651760"/>
            <a:ext cx="46177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Mirror_curved, TwinKB_ML: one or two large, single-bounce focusing mirrors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Typically one bounce per axis (e.g. a Kirkpatrick-Baez pair) rather than a many-bounce channel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Reflectivity data files (measured or computed) describe the coating's angle/energy response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48640" y="594360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difference? Neutron sources are weak per-neutron, so long guides trade length for preserved flux; X-ray sources are so bright that a couple of well-figured mirrors are enough to focus or steer the beam.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Neutron &amp; X-ray Optics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MCXTRACE — X-RAYS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KB mirrors, in practice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Kirkpatrick-Baez (KB) pair: two perpendicular curved mirrors, one per focusing axis.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1920240"/>
            <a:ext cx="5760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(meridional) mirror focuses one axis; a glancing angle θ redirects the beam by 2θ.</a:t>
            </a:r>
            <a:endParaRPr lang="en-US" sz="12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Arm component re-establishes the optical axis after each reflection — it does nothing physically, it just carries a rotated coordinate frame forward.</a:t>
            </a:r>
            <a:endParaRPr lang="en-US" sz="12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second mirror sits on an Arm rotated 90° around the beam axis, so it focuses the perpendicular direction.</a:t>
            </a:r>
            <a:endParaRPr lang="en-US" sz="1200" dirty="0"/>
          </a:p>
          <a:p>
            <a:pPr marL="203200" indent="-203200">
              <a:spcAft>
                <a:spcPts val="1100"/>
              </a:spcAft>
              <a:buSzPct val="100000"/>
              <a:buChar char="•"/>
            </a:pP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lengths follow directly from the glancing angle and radius of curvature R: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5029200"/>
            <a:ext cx="5760720" cy="1234440"/>
          </a:xfrm>
          <a:prstGeom prst="roundRect">
            <a:avLst>
              <a:gd name="adj" fmla="val 5926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8" name="Text 5"/>
          <p:cNvSpPr/>
          <p:nvPr/>
        </p:nvSpPr>
        <p:spPr>
          <a:xfrm>
            <a:off x="822960" y="5193792"/>
            <a:ext cx="5212080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8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f_m = R · sin(θ/2)     </a:t>
            </a:r>
            <a:r>
              <a:rPr lang="en-US" sz="1250" dirty="0">
                <a:solidFill>
                  <a:srgbClr val="AAB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(meridional / 1st mirror)
</a:t>
            </a:r>
            <a:r>
              <a:rPr lang="en-US" sz="1250" dirty="0">
                <a:solidFill>
                  <a:srgbClr val="FFD7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f_s = R/2 · sin(θ)     </a:t>
            </a:r>
            <a:r>
              <a:rPr lang="en-US" sz="1250" dirty="0">
                <a:solidFill>
                  <a:srgbClr val="AAB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(sagittal / 2nd mirror)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583680" y="1920240"/>
            <a:ext cx="5074920" cy="4343400"/>
          </a:xfrm>
          <a:prstGeom prst="roundRect">
            <a:avLst>
              <a:gd name="adj" fmla="val 2105"/>
            </a:avLst>
          </a:prstGeom>
          <a:solidFill>
            <a:srgbClr val="F7F8FA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0" name="Text 7"/>
          <p:cNvSpPr/>
          <p:nvPr/>
        </p:nvSpPr>
        <p:spPr>
          <a:xfrm>
            <a:off x="6583680" y="210312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→ mirror 1 → mirror 2 → focus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040880" y="3200400"/>
            <a:ext cx="1645920" cy="0"/>
          </a:xfrm>
          <a:prstGeom prst="line">
            <a:avLst/>
          </a:prstGeom>
          <a:noFill/>
          <a:ln w="25400">
            <a:solidFill>
              <a:srgbClr val="D97A2B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2" name="Shape 9"/>
          <p:cNvSpPr/>
          <p:nvPr/>
        </p:nvSpPr>
        <p:spPr>
          <a:xfrm>
            <a:off x="8686800" y="2834640"/>
            <a:ext cx="1371600" cy="1371600"/>
          </a:xfrm>
          <a:prstGeom prst="line">
            <a:avLst/>
          </a:prstGeom>
          <a:noFill/>
          <a:ln w="25400">
            <a:solidFill>
              <a:srgbClr val="D97A2B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3" name="Shape 10"/>
          <p:cNvSpPr/>
          <p:nvPr/>
        </p:nvSpPr>
        <p:spPr>
          <a:xfrm>
            <a:off x="10058400" y="4206240"/>
            <a:ext cx="1005840" cy="1005840"/>
          </a:xfrm>
          <a:prstGeom prst="line">
            <a:avLst/>
          </a:prstGeom>
          <a:noFill/>
          <a:ln w="25400">
            <a:solidFill>
              <a:srgbClr val="D97A2B"/>
            </a:solidFill>
            <a:prstDash val="solid"/>
            <a:tailEnd type="triangle"/>
          </a:ln>
        </p:spPr>
        <p:txBody>
          <a:bodyPr/>
          <a:lstStyle/>
          <a:p>
            <a:endParaRPr lang="en-DK"/>
          </a:p>
        </p:txBody>
      </p:sp>
      <p:sp>
        <p:nvSpPr>
          <p:cNvPr id="14" name="Shape 11"/>
          <p:cNvSpPr/>
          <p:nvPr/>
        </p:nvSpPr>
        <p:spPr>
          <a:xfrm rot="1200000">
            <a:off x="8631936" y="2514600"/>
            <a:ext cx="109728" cy="6400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5" name="Shape 12"/>
          <p:cNvSpPr/>
          <p:nvPr/>
        </p:nvSpPr>
        <p:spPr>
          <a:xfrm rot="-4200000">
            <a:off x="10003536" y="3886200"/>
            <a:ext cx="109728" cy="6400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6" name="Text 13"/>
          <p:cNvSpPr/>
          <p:nvPr/>
        </p:nvSpPr>
        <p:spPr>
          <a:xfrm>
            <a:off x="8138160" y="3017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1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9875520" y="45262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 2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0607040" y="5303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903720" y="5394960"/>
            <a:ext cx="4434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is typically only a few mrad — chosen from the material's critical angle at the working energy.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Neutron &amp; X-ray Optics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PHYSICS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Refractive lenses (CRLs)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codes offer compound refractive lenses — and both need them for the same reason.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920240"/>
            <a:ext cx="5257800" cy="3246120"/>
          </a:xfrm>
          <a:prstGeom prst="roundRect">
            <a:avLst>
              <a:gd name="adj" fmla="val 2817"/>
            </a:avLst>
          </a:prstGeom>
          <a:solidFill>
            <a:srgbClr val="FBEBD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7" name="Text 4"/>
          <p:cNvSpPr/>
          <p:nvPr/>
        </p:nvSpPr>
        <p:spPr>
          <a:xfrm>
            <a:off x="868680" y="212140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65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X-ray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57860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δ_Xray = f(Z, λ)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3063240"/>
            <a:ext cx="4617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with electron density — higher atomic number Z means more refraction, but also more absorption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Low-Z, low-absorption materials preferred: Be, Al, polymers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172200" y="1920240"/>
            <a:ext cx="5257800" cy="3246120"/>
          </a:xfrm>
          <a:prstGeom prst="roundRect">
            <a:avLst>
              <a:gd name="adj" fmla="val 2817"/>
            </a:avLst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1" name="Text 8"/>
          <p:cNvSpPr/>
          <p:nvPr/>
        </p:nvSpPr>
        <p:spPr>
          <a:xfrm>
            <a:off x="6492240" y="212140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5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Neutron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492240" y="2578608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024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1 − δ_neutron = f(b, B)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492240" y="3063240"/>
            <a:ext cx="4617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by coherent scattering length b, plus a magnetic term B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magnetic (spin-dependent) lensing effect is small in practice — hence ordinary CRLs are still the practical choice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48640" y="53492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7F8FA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5" name="Text 12"/>
          <p:cNvSpPr/>
          <p:nvPr/>
        </p:nvSpPr>
        <p:spPr>
          <a:xfrm>
            <a:off x="822960" y="534924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“compound”:  </a:t>
            </a:r>
            <a:r>
              <a:rPr lang="en-US" sz="12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both regimes the index is barely below 1, so a single lens bends the beam almost imperceptibly. Stacking many (parabolic) lenses in series — a compound refractive lens — adds up to a usable focal length.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Neutron &amp; X-ray Optics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MCXTRACE — WORKED EXAMPLE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CRL beamline, worked example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164592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024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Material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59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(tip)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59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59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Diameter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59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Thickness (tip)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59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µm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µm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Stack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µm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µm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548640" y="333756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 </a:t>
            </a:r>
            <a:r>
              <a:rPr lang="en-US" sz="12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Source_gaussian at E0=23.32 keV (dE=1 keV), CRL stack 31.5 m downstream, focused to a spot 10 m further on. A 2D + energy monitor at the stack checks the incoming footprint and spectrum; another monitor is scanned in z to find the true focus.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548640" y="4297680"/>
            <a:ext cx="11064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sampling (focus_xw, focus_yh, dist on the source) concentrates statistics on the aperture that matters, without biasing intensity.</a:t>
            </a:r>
            <a:endParaRPr lang="en-US" sz="11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together with a slit, the CRL's achromatic focusing can double as a crude, high-throughput monochromator.</a:t>
            </a:r>
            <a:endParaRPr lang="en-US" sz="11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mxdisplay (“Trace” mode) lets you visually follow rays through the lens stack — useful for sanity-checking alignment.</a:t>
            </a:r>
            <a:endParaRPr lang="en-US" sz="11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Swapping Be ↔ Al lets you compare absorption vs. refraction trade-offs directly.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Neutron &amp; X-ray Optics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PHYSICS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Crystal monochromators: Bragg's law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6" name="Text 3"/>
          <p:cNvSpPr/>
          <p:nvPr/>
        </p:nvSpPr>
        <p:spPr>
          <a:xfrm>
            <a:off x="822960" y="1719072"/>
            <a:ext cx="1051560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D7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λ = 2 d sin(θ)          — exactly the same equation, in both codes</a:t>
            </a:r>
            <a:endParaRPr lang="en-US" sz="12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14600"/>
          <a:ext cx="11064240" cy="310896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X-ray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659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Neutron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crystal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Perfect single crystal: Si, Ge, 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Mosaic crystal: pyrolytic graphite, deformed Cu, 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Mosaicity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low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Often high (multi-crystal, focusing arrays)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Geometry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Laue (transmission) or Bragg (reflection)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Almost always Bragg (reflection)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Resulting beam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Narrow, low divergence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0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 divergence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53212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7F8FA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9" name="Text 5"/>
          <p:cNvSpPr/>
          <p:nvPr/>
        </p:nvSpPr>
        <p:spPr>
          <a:xfrm>
            <a:off x="822960" y="553212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both codes:  </a:t>
            </a:r>
            <a:r>
              <a:rPr lang="en-US" sz="115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Bragg_crystal (McXtrace) and Monochromator_flat / Monochromator_curved / Single_crystal (McStas) all rotate to satisfy Bragg's law — the rotation angle is a natural scan parameter for a rocking curve.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Neutron &amp; X-ray Optics</a:t>
            </a:r>
            <a:endParaRPr lang="en-US" sz="900" dirty="0"/>
          </a:p>
        </p:txBody>
      </p:sp>
      <p:sp>
        <p:nvSpPr>
          <p:cNvPr id="7" name="Text 7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7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MCXTRACE — DEEP DIVE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Bent crystals &amp; double-crystal monochromators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6002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A65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Bending a crystal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48640" y="2011680"/>
            <a:ext cx="5394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radius of curvature on the crystal (Bragg_crystal_bent) is a simple way to model a heat-bump — thermal distortion from absorbed beam power.</a:t>
            </a:r>
            <a:endParaRPr lang="en-US" sz="11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 Divergence_monitor before/after bending to see the extra divergence introduced.</a:t>
            </a:r>
            <a:endParaRPr lang="en-US" sz="11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rocking curve (scanning θ) shows the peak shape change directly.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263640" y="160020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A65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Double-crystal monochromators (DCM)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263640" y="2011680"/>
            <a:ext cx="53492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crystal, rotated by the negative of the first angle, brings the beam back parallel to the incoming direction</a:t>
            </a:r>
            <a:endParaRPr lang="en-US" sz="11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Arms track the beam axis between crystals; the pair can share a single rotation stage, as in a real DCM</a:t>
            </a:r>
            <a:endParaRPr lang="en-US" sz="11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Laue_crystal_BC swaps reflection for transmission geometry — useful for higher-energy or higher-heat-load beamlines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452628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0" name="Text 7"/>
          <p:cNvSpPr/>
          <p:nvPr/>
        </p:nvSpPr>
        <p:spPr>
          <a:xfrm>
            <a:off x="822960" y="4690872"/>
            <a:ext cx="10515600" cy="996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AAB6D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crystal 2, mirrored relative to crystal 1's Arm
</a:t>
            </a:r>
            <a:r>
              <a:rPr lang="en-US" sz="1250" dirty="0">
                <a:solidFill>
                  <a:srgbClr val="8F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 xtal2 = Bragg_crystal(...)
</a:t>
            </a:r>
            <a:r>
              <a:rPr lang="en-US" sz="1250" dirty="0">
                <a:solidFill>
                  <a:srgbClr val="FFD7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(0,0,0) RELATIVE arm_after_xtal1
ROTATED (-MONO_ANGLE, 0, 0) RELATIVE arm_after_xtal1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Neutron &amp; X-ray Optics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PHYSICS, DIFFERENT NAMES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Multilayers: one concept, two jobs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stack of thin alternating layers reflects by interference — like Bragg's law, but for a synthetic superperiod.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5257800" cy="3657600"/>
          </a:xfrm>
          <a:prstGeom prst="roundRect">
            <a:avLst>
              <a:gd name="adj" fmla="val 2500"/>
            </a:avLst>
          </a:prstGeom>
          <a:solidFill>
            <a:srgbClr val="FBEBD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7" name="Text 4"/>
          <p:cNvSpPr/>
          <p:nvPr/>
        </p:nvSpPr>
        <p:spPr>
          <a:xfrm>
            <a:off x="868680" y="219456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65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X-ray: a broadband monochromator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2788920"/>
            <a:ext cx="46177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as a monochromator with a much broader bandpass — and higher flux — than a perfect crystal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one of the first “side peaks” on the reflectivity curve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Curved multilayers combine monochromation with focusing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72200" y="1965960"/>
            <a:ext cx="5257800" cy="3657600"/>
          </a:xfrm>
          <a:prstGeom prst="roundRect">
            <a:avLst>
              <a:gd name="adj" fmla="val 2500"/>
            </a:avLst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0" name="Text 7"/>
          <p:cNvSpPr/>
          <p:nvPr/>
        </p:nvSpPr>
        <p:spPr>
          <a:xfrm>
            <a:off x="6492240" y="2194560"/>
            <a:ext cx="4617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25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Neutron: a “supermirror” coating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92240" y="2788920"/>
            <a:ext cx="46177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Bragg-like reflections extend the total-external-reflection range well beyond a single critical angle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Ideally a wide, flat reflectivity vs. Q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coat neutron guides — effectively an “optical fibre” for neutrons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underlying phase-interference physics in both codes — only the intended job (monochromate vs. transport) differs.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Neutron &amp; X-ray Optics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CONCEPT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Temporal shaping: choppers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691640"/>
            <a:ext cx="10881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rotating absorbing disk with one or more slits cuts a continuous beam into pulses in time.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X-ray and neutron beamlines use a disk-chopper-like component to define or measure time structure — e.g. for time-of-flight (TOF) measurements.</a:t>
            </a:r>
            <a:endParaRPr lang="en-US" sz="13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physical picture is identical: a slit sweeps across the beam at a set frequency, and only rays arriving within the open window get through.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37947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BEBD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7" name="Text 4"/>
          <p:cNvSpPr/>
          <p:nvPr/>
        </p:nvSpPr>
        <p:spPr>
          <a:xfrm>
            <a:off x="822960" y="379476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659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stops being shared:  </a:t>
            </a:r>
            <a:r>
              <a:rPr lang="en-US" sz="12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neutrons are slow enough that a mechanical rotor can also act as an energy filter. An X-ray chopper shapes time only — it can't pick out an energy band the way a neutron velocity selector or Fermi chopper can.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48640" y="50749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next: two neutron-only rotating devices that filter on speed, not just on time.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Neutron &amp; X-ray Optics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— NEUTRONS ONLY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Velocity selectors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rotating drum of twisted, absorbing blades — only a narrow velocity (wavelength) band makes it straight through.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6400800" cy="365760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xwidth, yheight [m]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6E7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 aperture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zdepth [m]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6E7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housing length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length, d [m]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6E7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blade length / thickness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alpha [deg]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6E7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blade twisting angle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radius [m]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6E7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rotation axis → aperture-centre distance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 [Hz]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6E7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rotation speed (counterclockwise)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nslit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6E7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blades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7223760" y="2011680"/>
            <a:ext cx="4434840" cy="3520440"/>
          </a:xfrm>
          <a:prstGeom prst="roundRect">
            <a:avLst>
              <a:gd name="adj" fmla="val 2597"/>
            </a:avLst>
          </a:prstGeom>
          <a:solidFill>
            <a:srgbClr val="F7F8FA"/>
          </a:solidFill>
          <a:ln w="9525">
            <a:solidFill>
              <a:srgbClr val="DDE1E6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8" name="Text 4"/>
          <p:cNvSpPr/>
          <p:nvPr/>
        </p:nvSpPr>
        <p:spPr>
          <a:xfrm>
            <a:off x="7223760" y="219456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twisted absorbing blades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 rot="-720000">
            <a:off x="8801100" y="2834640"/>
            <a:ext cx="137160" cy="1828800"/>
          </a:xfrm>
          <a:prstGeom prst="line">
            <a:avLst/>
          </a:prstGeom>
          <a:noFill/>
          <a:ln w="508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0" name="Shape 6"/>
          <p:cNvSpPr/>
          <p:nvPr/>
        </p:nvSpPr>
        <p:spPr>
          <a:xfrm rot="-360000">
            <a:off x="9121140" y="2834640"/>
            <a:ext cx="137160" cy="1828800"/>
          </a:xfrm>
          <a:prstGeom prst="line">
            <a:avLst/>
          </a:prstGeom>
          <a:noFill/>
          <a:ln w="508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1" name="Shape 7"/>
          <p:cNvSpPr/>
          <p:nvPr/>
        </p:nvSpPr>
        <p:spPr>
          <a:xfrm>
            <a:off x="9441180" y="2834640"/>
            <a:ext cx="137160" cy="1828800"/>
          </a:xfrm>
          <a:prstGeom prst="line">
            <a:avLst/>
          </a:prstGeom>
          <a:noFill/>
          <a:ln w="508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2" name="Shape 8"/>
          <p:cNvSpPr/>
          <p:nvPr/>
        </p:nvSpPr>
        <p:spPr>
          <a:xfrm rot="360000">
            <a:off x="9761220" y="2834640"/>
            <a:ext cx="137160" cy="1828800"/>
          </a:xfrm>
          <a:prstGeom prst="line">
            <a:avLst/>
          </a:prstGeom>
          <a:noFill/>
          <a:ln w="508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3" name="Shape 9"/>
          <p:cNvSpPr/>
          <p:nvPr/>
        </p:nvSpPr>
        <p:spPr>
          <a:xfrm rot="720000">
            <a:off x="10081260" y="2834640"/>
            <a:ext cx="137160" cy="1828800"/>
          </a:xfrm>
          <a:prstGeom prst="line">
            <a:avLst/>
          </a:prstGeom>
          <a:noFill/>
          <a:ln w="508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4" name="Text 10"/>
          <p:cNvSpPr/>
          <p:nvPr/>
        </p:nvSpPr>
        <p:spPr>
          <a:xfrm>
            <a:off x="7223760" y="4754880"/>
            <a:ext cx="4434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monochromatization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δλ/λ ≈ 10%</a:t>
            </a:r>
            <a:endParaRPr lang="en-US" sz="1100" dirty="0"/>
          </a:p>
        </p:txBody>
      </p:sp>
      <p:sp>
        <p:nvSpPr>
          <p:cNvPr id="6" name="Text 1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Neutron &amp; X-ray Optics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— NEUTRONS ONLY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Disk &amp; Fermi choppers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48640" y="16002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DiskChopper</a:t>
            </a:r>
            <a:endParaRPr lang="en-US" sz="14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5394960" cy="29718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50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nu, theta_0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E7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frequency; angular slit width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radius, yheight, xwidth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E7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disk geometry / slit opening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jitter, delay, phase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E7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timing: random jitter, fixed delay, or angular phase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0242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isfirst, npulse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6E75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marks the first chopper; pulses to generate if so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1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263640" y="1600200"/>
            <a:ext cx="5349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Fermi chopper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6263640" y="2011680"/>
            <a:ext cx="53492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drum of curved slit packages, spinning fast, sitting directly in the beam — a “rotating collimator”.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neutrons with the right speed can cross the curved channel before it rotates shut — so it acts as a combined fast time-gate and coarse energy filter.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right next to the sample, where a disk chopper's timing alone is no longer selective enough.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548640" y="4937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0" name="Text 6"/>
          <p:cNvSpPr/>
          <p:nvPr/>
        </p:nvSpPr>
        <p:spPr>
          <a:xfrm>
            <a:off x="822960" y="493776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McStas-only:  </a:t>
            </a:r>
            <a:r>
              <a:rPr lang="en-US" sz="120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 X-ray analogue — the mechanical rotation speeds needed would be absurd at the speed of light. X-ray timing instead comes from the accelerator's bunch structure itself.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Neutron &amp; X-ray Optics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assets/panraid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611" y="355702"/>
            <a:ext cx="1270102" cy="6515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024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optics toolkit, two beams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691640"/>
            <a:ext cx="5257800" cy="4206240"/>
          </a:xfrm>
          <a:prstGeom prst="roundRect">
            <a:avLst>
              <a:gd name="adj" fmla="val 2174"/>
            </a:avLst>
          </a:prstGeom>
          <a:solidFill>
            <a:srgbClr val="E3EEF2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6" name="Text 3"/>
          <p:cNvSpPr/>
          <p:nvPr/>
        </p:nvSpPr>
        <p:spPr>
          <a:xfrm>
            <a:off x="868680" y="192024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5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shared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2423160"/>
            <a:ext cx="4617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shaping: slits &amp; collimators, same logic either way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Grazing-incidence total external reflection (n&lt;1, critical angle)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Bragg's law, and the idea of rotating a crystal to tune it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Refractive-index-just-below-1 logic behind compound lenses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Multilayer interference physics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chopper concept for defining time structure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172200" y="1691640"/>
            <a:ext cx="5257800" cy="4206240"/>
          </a:xfrm>
          <a:prstGeom prst="roundRect">
            <a:avLst>
              <a:gd name="adj" fmla="val 2174"/>
            </a:avLst>
          </a:prstGeom>
          <a:solidFill>
            <a:srgbClr val="FBEBDA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9" name="Text 6"/>
          <p:cNvSpPr/>
          <p:nvPr/>
        </p:nvSpPr>
        <p:spPr>
          <a:xfrm>
            <a:off x="6492240" y="1920240"/>
            <a:ext cx="4617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659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differs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92240" y="2423160"/>
            <a:ext cx="46177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Many-bounce guides (neutron) vs. one/two-bounce focusing mirrors (X-ray)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Crystal choice: near-perfect low-mosaicity vs. mosaic/multi-crystal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Multilayer role: X-ray monochromator vs. neutron guide coating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selectors &amp; Fermi choppers exist only for neutrons</a:t>
            </a:r>
            <a:endParaRPr lang="en-US" sz="11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20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X-ray timing comes from the accelerator, not a mechanical rotor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Neutron &amp; X-ray Optics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141A47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3" name="Shape 1"/>
          <p:cNvSpPr/>
          <p:nvPr/>
        </p:nvSpPr>
        <p:spPr>
          <a:xfrm>
            <a:off x="-1828800" y="4206240"/>
            <a:ext cx="4206240" cy="4206240"/>
          </a:xfrm>
          <a:prstGeom prst="ellipse">
            <a:avLst/>
          </a:prstGeom>
          <a:solidFill>
            <a:srgbClr val="141A47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go deeper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5120640" cy="2880360"/>
          </a:xfrm>
          <a:prstGeom prst="roundRect">
            <a:avLst>
              <a:gd name="adj" fmla="val 3175"/>
            </a:avLst>
          </a:prstGeom>
          <a:solidFill>
            <a:srgbClr val="141A47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6" name="Text 4"/>
          <p:cNvSpPr/>
          <p:nvPr/>
        </p:nvSpPr>
        <p:spPr>
          <a:xfrm>
            <a:off x="1143000" y="25146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FE3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McStas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306324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mcdoc optics  /  mcdoc -c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143000" y="3593592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Guide, Guide_channeled, Monochromator_flat/curved, DiskChopper, FermiChopper, V_selector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143000" y="4123944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mcstas.org/download/components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2286000"/>
            <a:ext cx="5120640" cy="2880360"/>
          </a:xfrm>
          <a:prstGeom prst="roundRect">
            <a:avLst>
              <a:gd name="adj" fmla="val 3175"/>
            </a:avLst>
          </a:prstGeom>
          <a:solidFill>
            <a:srgbClr val="141A47"/>
          </a:solidFill>
          <a:ln/>
        </p:spPr>
        <p:txBody>
          <a:bodyPr/>
          <a:lstStyle/>
          <a:p>
            <a:endParaRPr lang="en-DK"/>
          </a:p>
        </p:txBody>
      </p:sp>
      <p:sp>
        <p:nvSpPr>
          <p:cNvPr id="11" name="Text 9"/>
          <p:cNvSpPr/>
          <p:nvPr/>
        </p:nvSpPr>
        <p:spPr>
          <a:xfrm>
            <a:off x="6629400" y="25146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D7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McXtrace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29400" y="306324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mxdoc optics  /  mxdoc -c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629400" y="3593592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exercises: CRLs, KB mirrors, monochromators — pick two of the three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629400" y="4123944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6E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mcxtrace.org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5440680"/>
            <a:ext cx="2926080" cy="0"/>
          </a:xfrm>
          <a:prstGeom prst="line">
            <a:avLst/>
          </a:prstGeom>
          <a:noFill/>
          <a:ln w="12700">
            <a:solidFill>
              <a:srgbClr val="3C4A8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6" name="Text 14"/>
          <p:cNvSpPr/>
          <p:nvPr/>
        </p:nvSpPr>
        <p:spPr>
          <a:xfrm>
            <a:off x="822960" y="5532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A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Willendrup   ·   pkwi@fysik.dtu.dk   ·   DTU Physics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McStas &amp; McXtrace  ·  Neutron &amp; X-ray Optics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5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2418</Words>
  <Application>Microsoft Macintosh PowerPoint</Application>
  <PresentationFormat>Widescreen</PresentationFormat>
  <Paragraphs>299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Peter Willendrup</cp:lastModifiedBy>
  <cp:revision>2</cp:revision>
  <dcterms:created xsi:type="dcterms:W3CDTF">2026-08-21T12:59:43Z</dcterms:created>
  <dcterms:modified xsi:type="dcterms:W3CDTF">2026-08-21T13:03:54Z</dcterms:modified>
</cp:coreProperties>
</file>