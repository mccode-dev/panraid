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27796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pic>
        <p:nvPicPr>
          <p:cNvPr id="4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57200"/>
            <a:ext cx="1397203" cy="71689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1600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9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MONITORS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77240" y="2011680"/>
            <a:ext cx="96012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rays are born,</a:t>
            </a:r>
            <a:endParaRPr lang="en-US" sz="4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how they're recorded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703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7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closer look at source and monitor components in McStas &amp; McXtrace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44805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822960" y="448056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— neutrons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377440" y="448056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8"/>
          <p:cNvSpPr/>
          <p:nvPr/>
        </p:nvSpPr>
        <p:spPr>
          <a:xfrm>
            <a:off x="2377440" y="4480560"/>
            <a:ext cx="1417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— X-rays</a:t>
            </a:r>
            <a:endParaRPr lang="en-US" sz="1100" dirty="0"/>
          </a:p>
        </p:txBody>
      </p:sp>
      <p:pic>
        <p:nvPicPr>
          <p:cNvPr id="12" name="Image 1" descr="/home/claude/work/assets/mcstas_mcxtrace_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9598" y="4018788"/>
            <a:ext cx="3150108" cy="979322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22960" y="5806440"/>
            <a:ext cx="2926080" cy="0"/>
          </a:xfrm>
          <a:prstGeom prst="line">
            <a:avLst/>
          </a:prstGeom>
          <a:noFill/>
          <a:ln w="12700">
            <a:solidFill>
              <a:srgbClr val="3C4A8C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4" name="Text 10"/>
          <p:cNvSpPr/>
          <p:nvPr/>
        </p:nvSpPr>
        <p:spPr>
          <a:xfrm>
            <a:off x="822960" y="58978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AA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Willendrup   ·   DTU Physics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822960" y="617220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A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PaNRAID School  ·  supported by PEPR DIADEM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9509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on the Common Introduction — now with a closer look at two component families every instrument needs.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76272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548640" y="2176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24128" y="2112264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source does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024128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ray state at the start of the beamline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55080" y="2176272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8"/>
          <p:cNvSpPr/>
          <p:nvPr/>
        </p:nvSpPr>
        <p:spPr>
          <a:xfrm>
            <a:off x="6355080" y="217627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30568" y="2112264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docs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mcdoc &amp; mxdoc, and how to read a component's parameters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8640" y="3200400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Text 12"/>
          <p:cNvSpPr/>
          <p:nvPr/>
        </p:nvSpPr>
        <p:spPr>
          <a:xfrm>
            <a:off x="548640" y="32004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24128" y="3136392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simple source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024128" y="344728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direction, and spectrum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55080" y="3200400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9" name="Text 16"/>
          <p:cNvSpPr/>
          <p:nvPr/>
        </p:nvSpPr>
        <p:spPr>
          <a:xfrm>
            <a:off x="6355080" y="320040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30568" y="3136392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 landscapes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830568" y="3447288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Mathematical, reactor/pulsed, and accelerator-based sources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48640" y="4224528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3" name="Text 20"/>
          <p:cNvSpPr/>
          <p:nvPr/>
        </p:nvSpPr>
        <p:spPr>
          <a:xfrm>
            <a:off x="548640" y="4224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024128" y="4160520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source physics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024128" y="447141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angle, ncount, and statistical weight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355080" y="4224528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7" name="Text 24"/>
          <p:cNvSpPr/>
          <p:nvPr/>
        </p:nvSpPr>
        <p:spPr>
          <a:xfrm>
            <a:off x="6355080" y="422452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830568" y="4160520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MCPL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6830568" y="4471416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Coupling simulations together via particle lists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48640" y="5248656"/>
            <a:ext cx="329184" cy="329184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1" name="Text 28"/>
          <p:cNvSpPr/>
          <p:nvPr/>
        </p:nvSpPr>
        <p:spPr>
          <a:xfrm>
            <a:off x="548640" y="5248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1024128" y="5184648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vs. detectors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1024128" y="549554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Probing the beam without disturbing it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355080" y="5248656"/>
            <a:ext cx="329184" cy="329184"/>
          </a:xfrm>
          <a:prstGeom prst="ellipse">
            <a:avLst/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5" name="Text 32"/>
          <p:cNvSpPr/>
          <p:nvPr/>
        </p:nvSpPr>
        <p:spPr>
          <a:xfrm>
            <a:off x="6355080" y="52486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830568" y="5184648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monitor library</a:t>
            </a:r>
            <a:endParaRPr lang="en-US" sz="1450" dirty="0"/>
          </a:p>
        </p:txBody>
      </p:sp>
      <p:sp>
        <p:nvSpPr>
          <p:cNvPr id="37" name="Text 34"/>
          <p:cNvSpPr/>
          <p:nvPr/>
        </p:nvSpPr>
        <p:spPr>
          <a:xfrm>
            <a:off x="6830568" y="5495544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1D, 2D and nD monitors — and how they compute statistics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CONCEPT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source component does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57607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generates rays — in McStas terms, it sets the ray state to something representative of the source being modelled.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practice: draw values for the ray's state vector from chosen distributions — not from a single fixed value.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rays of uniformly distributed wavelength, emerging from a circular aperture, aimed at a region of interest.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component downstream only ever sees a ray in this state — it doesn't know or care how the source produced it.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675120" y="1600200"/>
            <a:ext cx="4983480" cy="4206240"/>
          </a:xfrm>
          <a:prstGeom prst="roundRect">
            <a:avLst>
              <a:gd name="adj" fmla="val 2174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6675120" y="17830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— the ray state vector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995160" y="2286000"/>
            <a:ext cx="4343400" cy="1554480"/>
          </a:xfrm>
          <a:prstGeom prst="roundRect">
            <a:avLst>
              <a:gd name="adj" fmla="val 4706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7223760" y="24231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· neutron ray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223760" y="2770632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x, y, z,  vx, vy, vz,  t,  sx, sy, sz,  p }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223760" y="320040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· velocity · time · spin · weight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95160" y="4023360"/>
            <a:ext cx="4343400" cy="1554480"/>
          </a:xfrm>
          <a:prstGeom prst="roundRect">
            <a:avLst>
              <a:gd name="adj" fmla="val 4706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0"/>
          <p:cNvSpPr/>
          <p:nvPr/>
        </p:nvSpPr>
        <p:spPr>
          <a:xfrm>
            <a:off x="7223760" y="416052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A65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· photon ray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223760" y="4507992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x, y, z,  kx, ky, kz,  Ex, Ey, Ez,  φ,  t,  p }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223760" y="4937760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· wave vector · polarisation · phase · time · weight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WORKFLOW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the docs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component's parameters, defaults and physics are documented — and the two codes use the same pattern to reach them.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want…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4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McStas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50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McXtrace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59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Overview documentation page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mcdoc   (or “Docs” in mcgui)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mxdoc   (or “Docs” in mxgui)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full PDF component manual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mcdoc -c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mxdoc -c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024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 for one specific component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mcdoc &lt;component_name&gt;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024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mxdoc &lt;component_name&gt;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98348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8" name="Text 4"/>
          <p:cNvSpPr/>
          <p:nvPr/>
        </p:nvSpPr>
        <p:spPr>
          <a:xfrm>
            <a:off x="822960" y="4983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 </a:t>
            </a: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copies of the manuals exist (mcstas.org / mcxtrace.org) but may not match your installed version exactly — the local mcdoc / mxdoc is always authoritative.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CONCEPT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simple source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every source answers — identically in shape, whichever code you're in.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Shape 4"/>
          <p:cNvSpPr/>
          <p:nvPr/>
        </p:nvSpPr>
        <p:spPr>
          <a:xfrm>
            <a:off x="804672" y="2377440"/>
            <a:ext cx="457200" cy="457200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804672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417320" y="2423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Where?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22960" y="301752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start point on the source surface — e.g. uniform on a disc of radius 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114800" y="3063240"/>
            <a:ext cx="18288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2" name="Shape 9"/>
          <p:cNvSpPr/>
          <p:nvPr/>
        </p:nvSpPr>
        <p:spPr>
          <a:xfrm>
            <a:off x="4343400" y="21488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Shape 10"/>
          <p:cNvSpPr/>
          <p:nvPr/>
        </p:nvSpPr>
        <p:spPr>
          <a:xfrm>
            <a:off x="4599432" y="2377440"/>
            <a:ext cx="457200" cy="457200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Text 11"/>
          <p:cNvSpPr/>
          <p:nvPr/>
        </p:nvSpPr>
        <p:spPr>
          <a:xfrm>
            <a:off x="4599432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5212080" y="2423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way?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617720" y="301752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toward a region of interest: a target of size focus_xw × focus_yh at distance dist.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909560" y="3063240"/>
            <a:ext cx="182880" cy="0"/>
          </a:xfrm>
          <a:prstGeom prst="line">
            <a:avLst/>
          </a:prstGeom>
          <a:noFill/>
          <a:ln w="19050">
            <a:solidFill>
              <a:srgbClr val="6E7580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18" name="Shape 15"/>
          <p:cNvSpPr/>
          <p:nvPr/>
        </p:nvSpPr>
        <p:spPr>
          <a:xfrm>
            <a:off x="8138160" y="2148840"/>
            <a:ext cx="3520440" cy="1828800"/>
          </a:xfrm>
          <a:prstGeom prst="roundRect">
            <a:avLst>
              <a:gd name="adj" fmla="val 4500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9" name="Shape 16"/>
          <p:cNvSpPr/>
          <p:nvPr/>
        </p:nvSpPr>
        <p:spPr>
          <a:xfrm>
            <a:off x="8394192" y="2377440"/>
            <a:ext cx="457200" cy="457200"/>
          </a:xfrm>
          <a:prstGeom prst="ellipse">
            <a:avLst/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0" name="Text 17"/>
          <p:cNvSpPr/>
          <p:nvPr/>
        </p:nvSpPr>
        <p:spPr>
          <a:xfrm>
            <a:off x="8394192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9006840" y="2423160"/>
            <a:ext cx="2423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spectrum?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412480" y="301752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wavelength / energy from a chosen distribution — uniform, Gaussian, Maxwellian…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4343400"/>
            <a:ext cx="11064240" cy="1600200"/>
          </a:xfrm>
          <a:prstGeom prst="roundRect">
            <a:avLst>
              <a:gd name="adj" fmla="val 5714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24" name="Shape 21"/>
          <p:cNvSpPr/>
          <p:nvPr/>
        </p:nvSpPr>
        <p:spPr>
          <a:xfrm>
            <a:off x="1783080" y="482346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5" name="Text 22"/>
          <p:cNvSpPr/>
          <p:nvPr/>
        </p:nvSpPr>
        <p:spPr>
          <a:xfrm>
            <a:off x="1280160" y="5527548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(radius R)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2423160" y="4640580"/>
            <a:ext cx="6355080" cy="50292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  <p:txBody>
          <a:bodyPr/>
          <a:lstStyle/>
          <a:p>
            <a:endParaRPr lang="en-DK"/>
          </a:p>
        </p:txBody>
      </p:sp>
      <p:sp>
        <p:nvSpPr>
          <p:cNvPr id="27" name="Shape 24"/>
          <p:cNvSpPr/>
          <p:nvPr/>
        </p:nvSpPr>
        <p:spPr>
          <a:xfrm>
            <a:off x="2423160" y="5646420"/>
            <a:ext cx="63550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  <p:txBody>
          <a:bodyPr/>
          <a:lstStyle/>
          <a:p>
            <a:endParaRPr lang="en-DK"/>
          </a:p>
        </p:txBody>
      </p:sp>
      <p:sp>
        <p:nvSpPr>
          <p:cNvPr id="28" name="Shape 25"/>
          <p:cNvSpPr/>
          <p:nvPr/>
        </p:nvSpPr>
        <p:spPr>
          <a:xfrm>
            <a:off x="2423160" y="5143500"/>
            <a:ext cx="635508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  <p:txBody>
          <a:bodyPr/>
          <a:lstStyle/>
          <a:p>
            <a:endParaRPr lang="en-DK"/>
          </a:p>
        </p:txBody>
      </p:sp>
      <p:sp>
        <p:nvSpPr>
          <p:cNvPr id="29" name="Shape 26"/>
          <p:cNvSpPr/>
          <p:nvPr/>
        </p:nvSpPr>
        <p:spPr>
          <a:xfrm>
            <a:off x="8778240" y="4594860"/>
            <a:ext cx="201168" cy="1097280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0" name="Text 27"/>
          <p:cNvSpPr/>
          <p:nvPr/>
        </p:nvSpPr>
        <p:spPr>
          <a:xfrm>
            <a:off x="8275320" y="5765292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focus_xw × focus_yh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983480" y="42291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144000" y="4572000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emitted ray points from the source at some (x,y,z) toward a randomly chosen point inside this target — concentrating statistics where they matter.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NAME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minimal source, in both codes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/>
          <p:nvPr/>
        </p:nvSpPr>
        <p:spPr>
          <a:xfrm>
            <a:off x="822960" y="1856232"/>
            <a:ext cx="4846320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src = Source_simple(
</a:t>
            </a: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radius=0.05, lambda0=2.5, dlambda=1.5,
  focus_xw=0.1, focus_yh=0.1, dist=5)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(0,0,0) RELATIVE origin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48640" y="40690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 ·  Source_simple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169164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6537960" y="1856232"/>
            <a:ext cx="4846320" cy="1956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src = Source_flat(
</a:t>
            </a: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radius=0.05, lambda0=2.5, dlambda=1.5,
  focus_xw=0.1, focus_yh=0.1, dist=5)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(0,0,0) RELATIVE origin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263640" y="40690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A65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McXtrace  ·  Source_flat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47091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Text 9"/>
          <p:cNvSpPr/>
          <p:nvPr/>
        </p:nvSpPr>
        <p:spPr>
          <a:xfrm>
            <a:off x="822960" y="47091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parameter names, same units:  </a:t>
            </a: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radius, lambda0/dlambda, focus_xw, focus_yh and dist mean the same thing in both instrument files — only the wavelength range and physical scale differ between neutrons and X-rays.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THEY DIVERGE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source landscapes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the two libraries look most different — shaped by very different facilities.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868680" y="21214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 · neutron sources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633472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68680" y="2907792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Source_simple, Source_div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3438144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REACTOR / CONTINUOUS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8680" y="3712464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Source_Maxwell_3, Source_gen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8680" y="4242816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PULSED (SPALLATION)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68680" y="4517136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ESS_butterfly, Moderator, SNS_source, ISIS_moderator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68680" y="5047488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PARTICLE-LIST I/O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68680" y="5321808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MCPL_input / MCPL_output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72200" y="192024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4"/>
          <p:cNvSpPr/>
          <p:nvPr/>
        </p:nvSpPr>
        <p:spPr>
          <a:xfrm>
            <a:off x="6492240" y="21214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McXtrace · X-ray sources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492240" y="2633472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92240" y="2907792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Source_flat, Source_div, Source_pt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92240" y="3438144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INSERTION DEVICES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92240" y="3712464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Bending_magnet, Wiggler, Undulator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92240" y="5047488"/>
            <a:ext cx="4617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D97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PARTICLE-LIST I/O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492240" y="5321808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MCPL_input / MCPL_output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48640" y="6108192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Neutron sources mirror facility diversity (reactor vs. spallation); X-ray sources mirror accelerator physics (magnet type). Both share simple analytic sources and the same MCPL format.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PHYSICS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angle, ncount, and ray weight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55778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source emits into the full 4π steradian — but a simulation only needs the solid angle Ω subtended by the beamline's first aperture.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emission integrated over Ω, wavelength and time gives a physical intensity (rays / second).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intensity is partitioned over a finite number of simulated rays: ncount (default 1e6, set with -n / --ncount).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ray carries a statistical weight p, chosen so the sum of weights over all rays reproduces the physical intensity.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400800" y="169164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Shape 4"/>
          <p:cNvSpPr/>
          <p:nvPr/>
        </p:nvSpPr>
        <p:spPr>
          <a:xfrm>
            <a:off x="7141464" y="3666744"/>
            <a:ext cx="164592" cy="164592"/>
          </a:xfrm>
          <a:prstGeom prst="ellipse">
            <a:avLst/>
          </a:prstGeom>
          <a:solidFill>
            <a:srgbClr val="2024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6675120" y="3913632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223760" y="3749040"/>
            <a:ext cx="352044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0" name="Shape 7"/>
          <p:cNvSpPr/>
          <p:nvPr/>
        </p:nvSpPr>
        <p:spPr>
          <a:xfrm>
            <a:off x="7223760" y="3749040"/>
            <a:ext cx="3520440" cy="100584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1" name="Shape 8"/>
          <p:cNvSpPr/>
          <p:nvPr/>
        </p:nvSpPr>
        <p:spPr>
          <a:xfrm>
            <a:off x="10744200" y="2743200"/>
            <a:ext cx="0" cy="2011680"/>
          </a:xfrm>
          <a:prstGeom prst="line">
            <a:avLst/>
          </a:prstGeom>
          <a:noFill/>
          <a:ln w="38100">
            <a:solidFill>
              <a:srgbClr val="D97A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2" name="Text 9"/>
          <p:cNvSpPr/>
          <p:nvPr/>
        </p:nvSpPr>
        <p:spPr>
          <a:xfrm>
            <a:off x="8709660" y="30632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250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Ω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0195560" y="4846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766560" y="4754880"/>
            <a:ext cx="4526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low-weight rays, or fewer high-weight rays — the physical result comes out the same, but statistics (and runtime) differ.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ECOSYSTEM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MCPL: coupling simulations together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1250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MCPL_output </a:t>
            </a: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the full ray state to a portable, code-agnostic file at any point in an instrument.
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A659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MCPL_input </a:t>
            </a:r>
            <a:r>
              <a:rPr lang="en-US" sz="13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those rays back in as a source — in the same code, or a different one entirely (McStas ↔ McXtrace ↔ MCNP ↔ Geant4…).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2926080"/>
            <a:ext cx="1106424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822960" y="3090672"/>
            <a:ext cx="10515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vout = MCPL_output(filename="v.mcpl", doubleprec=1, polarisationuse=1)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(Xout,Yout,Zout) RELATIVE PREVIOUS
</a:t>
            </a: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vin = MCPL_input(filename="v.mcpl", polarisationuse=1)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(Xin,Yin,Zin) RELATIVE PREVIOUS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travel with the rays:  </a:t>
            </a:r>
            <a:r>
              <a:rPr lang="en-US" sz="125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MCPL stores an implicit translation/rotation, so a ray written out at one orientation is placed correctly when read into an instrument with a different local frame.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— NEUTRONS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Pulsed neutron sources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Reactors run continuously; spallation sources are pulsed. McStas offers a spectrum of ways to model that.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9202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trick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233172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continuous source, and force an infinitely short pulse: t = 0 for every ray, added via an </a:t>
            </a:r>
            <a:r>
              <a:rPr lang="en-US" sz="1200" b="1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</a:t>
            </a: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block — or use a chopper to carve pulses out of a continuous beam.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337560"/>
            <a:ext cx="5394960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822960" y="3502152"/>
            <a:ext cx="4846320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src = Source_simple(...)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(0,0,0) RELATIVE origin
</a:t>
            </a: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 %{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 = 0;
</a:t>
            </a: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%}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6263640" y="1920240"/>
            <a:ext cx="5349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pulsed-source components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263640" y="233172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Moderator  </a:t>
            </a: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pulsed source, uniform energy spectrum, energy-dependent pulse shape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263640" y="310896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ESS_butterfly  </a:t>
            </a: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ESS's characteristic “butterfly” moderator brightness model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263640" y="388620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SNS_source / SNS_source_analytic  </a:t>
            </a: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MCNP target+moderator tallies (or fast Padé fits); also used for J-PARC, CSNS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663440"/>
            <a:ext cx="5349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ViewModISIS / ISIS_moderator  </a:t>
            </a:r>
            <a:r>
              <a:rPr lang="en-US" sz="11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tallies supplied per beamport at ISIS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CONCEPT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Monitors vs. detectors, in general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codes draw exactly the same line — and let you program either behaviour when you need to.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5257800" cy="2834640"/>
          </a:xfrm>
          <a:prstGeom prst="roundRect">
            <a:avLst>
              <a:gd name="adj" fmla="val 322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868680" y="21945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697480"/>
            <a:ext cx="4617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intensity probe of the beam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be transparent to rays — efficiency ≪ 1% (neutrons) / low efficiency (X-rays)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meaningfully perturb what happens downstream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72200" y="1965960"/>
            <a:ext cx="5257800" cy="2834640"/>
          </a:xfrm>
          <a:prstGeom prst="roundRect">
            <a:avLst>
              <a:gd name="adj" fmla="val 3226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7"/>
          <p:cNvSpPr/>
          <p:nvPr/>
        </p:nvSpPr>
        <p:spPr>
          <a:xfrm>
            <a:off x="6492240" y="219456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2697480"/>
            <a:ext cx="4617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detect (almost) every ray — efficiency as high as possible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models a real He3 tube via PSD_Detector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Otherwise: both codes let a monitor be given any efficiency/transparency you specify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50749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0"/>
          <p:cNvSpPr/>
          <p:nvPr/>
        </p:nvSpPr>
        <p:spPr>
          <a:xfrm>
            <a:off x="822960" y="50749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5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philosophy in both codes:  </a:t>
            </a: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refer to both indistinguishably as monitors” — the component is the same, only the parameters you give it change its role.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SYNTAX, BOTH CODES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monitors to a beamline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source component and the rest reads identically in McStas or McXtrace.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11064240" cy="3749040"/>
          </a:xfrm>
          <a:prstGeom prst="roundRect">
            <a:avLst>
              <a:gd name="adj" fmla="val 195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822960" y="2084832"/>
            <a:ext cx="10515600" cy="34198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origin = Progress_bar()   AT (0,0,0) ABSOLUTE
</a:t>
            </a: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src = Source_simple(radius=0.05, lambda0=2.5, dlambda=1.5,
                               focus_xw=0.1, focus_yh=0.1, dist=5)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(0,0,0) RELATIVE origin
</a:t>
            </a: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psd = PSD_monitor(xwidth=0.2, yheight=0.2, filename="psd.dat")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(0,0,5) RELATIVE src
</a:t>
            </a: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lm = L_monitor(xwidth=0.2, yheight=0.2, filename="lm.dat", Lmin=0, Lmax=8)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(0,0,5.01) RELATIVE src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659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McXtrace:  </a:t>
            </a:r>
            <a:r>
              <a:rPr lang="en-US" sz="12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Source_simple with Source_flat — PSD_monitor and L_monitor are called exactly the same way.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LIBRARY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shared monitor library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monitors exist under the same name and parameter conventions in both codes.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3520440" cy="5029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8" name="Text 5"/>
          <p:cNvSpPr/>
          <p:nvPr/>
        </p:nvSpPr>
        <p:spPr>
          <a:xfrm>
            <a:off x="548640" y="196596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1D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22960" y="26974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L_monitor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31546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TOF_monitor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36118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Hdiv_monitor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4069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E_monitor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MeanPolLambda *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43400" y="196596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Shape 12"/>
          <p:cNvSpPr/>
          <p:nvPr/>
        </p:nvSpPr>
        <p:spPr>
          <a:xfrm>
            <a:off x="4343400" y="1965960"/>
            <a:ext cx="3520440" cy="502920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3"/>
          <p:cNvSpPr/>
          <p:nvPr/>
        </p:nvSpPr>
        <p:spPr>
          <a:xfrm>
            <a:off x="4343400" y="196596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2D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617720" y="26974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PSD_monitor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17720" y="31546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PSD_monitor_4PI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617720" y="36118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Divergence_monitor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617720" y="4069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DivPos_monitor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PolLambda_monitor *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38160" y="1965960"/>
            <a:ext cx="3520440" cy="3566160"/>
          </a:xfrm>
          <a:prstGeom prst="roundRect">
            <a:avLst>
              <a:gd name="adj" fmla="val 2338"/>
            </a:avLst>
          </a:prstGeom>
          <a:solidFill>
            <a:srgbClr val="F7F8F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3" name="Shape 20"/>
          <p:cNvSpPr/>
          <p:nvPr/>
        </p:nvSpPr>
        <p:spPr>
          <a:xfrm>
            <a:off x="8138160" y="1965960"/>
            <a:ext cx="3520440" cy="502920"/>
          </a:xfrm>
          <a:prstGeom prst="rect">
            <a:avLst/>
          </a:prstGeom>
          <a:solidFill>
            <a:srgbClr val="2024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4" name="Text 21"/>
          <p:cNvSpPr/>
          <p:nvPr/>
        </p:nvSpPr>
        <p:spPr>
          <a:xfrm>
            <a:off x="8138160" y="196596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412480" y="26974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Monitor_nD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412480" y="31546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records almost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36118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 requested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40690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quantity, any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 small number of monitors are probe-specific — polarisation monitors exist for neutrons, not X-rays. Look up the full, current list with mcdoc monitor / mxdoc monitor.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STATISTICS ENGINE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monitor computes its statistics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57607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bin (pixel) accumulates a running sum of ray weight as the simulation proceeds — not a per-ray record.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end of the run, each bin reports three numbers: intensity I, its estimated RMS error E, and an effective event count N.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is the weighted sum of rays landing in that bin; E follows from the sum of squared weights — the Monte Carlo estimate of statistical uncertainty.</a:t>
            </a:r>
            <a:endParaRPr lang="en-US" sz="1250" dirty="0"/>
          </a:p>
          <a:p>
            <a:pPr marL="203200" indent="-2032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estimator runs underneath every monitor, in both codes — from a single L_monitor to the full Monitor_nD.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537960" y="1691640"/>
            <a:ext cx="5120640" cy="4114800"/>
          </a:xfrm>
          <a:prstGeom prst="roundRect">
            <a:avLst>
              <a:gd name="adj" fmla="val 2222"/>
            </a:avLst>
          </a:prstGeom>
          <a:solidFill>
            <a:srgbClr val="F7F8FA"/>
          </a:solidFill>
          <a:ln w="9525">
            <a:solidFill>
              <a:srgbClr val="DDE1E6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6537960" y="18745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I(λ): intensity per bin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040880" y="4275557"/>
            <a:ext cx="502920" cy="707923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Shape 6"/>
          <p:cNvSpPr/>
          <p:nvPr/>
        </p:nvSpPr>
        <p:spPr>
          <a:xfrm>
            <a:off x="7680960" y="3850804"/>
            <a:ext cx="502920" cy="1132676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Shape 7"/>
          <p:cNvSpPr/>
          <p:nvPr/>
        </p:nvSpPr>
        <p:spPr>
          <a:xfrm>
            <a:off x="8321040" y="3284466"/>
            <a:ext cx="502920" cy="1699014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Shape 8"/>
          <p:cNvSpPr/>
          <p:nvPr/>
        </p:nvSpPr>
        <p:spPr>
          <a:xfrm>
            <a:off x="8961120" y="2788920"/>
            <a:ext cx="502920" cy="2194560"/>
          </a:xfrm>
          <a:prstGeom prst="rect">
            <a:avLst/>
          </a:prstGeom>
          <a:solidFill>
            <a:srgbClr val="D97A2B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Shape 9"/>
          <p:cNvSpPr/>
          <p:nvPr/>
        </p:nvSpPr>
        <p:spPr>
          <a:xfrm>
            <a:off x="9601200" y="3426050"/>
            <a:ext cx="502920" cy="155743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Shape 10"/>
          <p:cNvSpPr/>
          <p:nvPr/>
        </p:nvSpPr>
        <p:spPr>
          <a:xfrm>
            <a:off x="10241280" y="4063181"/>
            <a:ext cx="502920" cy="920299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4" name="Shape 11"/>
          <p:cNvSpPr/>
          <p:nvPr/>
        </p:nvSpPr>
        <p:spPr>
          <a:xfrm>
            <a:off x="10881360" y="4487934"/>
            <a:ext cx="502920" cy="495546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5" name="Shape 12"/>
          <p:cNvSpPr/>
          <p:nvPr/>
        </p:nvSpPr>
        <p:spPr>
          <a:xfrm>
            <a:off x="6903720" y="4983480"/>
            <a:ext cx="4480560" cy="0"/>
          </a:xfrm>
          <a:prstGeom prst="line">
            <a:avLst/>
          </a:prstGeom>
          <a:noFill/>
          <a:ln w="12700">
            <a:solidFill>
              <a:srgbClr val="20242B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6" name="Text 13"/>
          <p:cNvSpPr/>
          <p:nvPr/>
        </p:nvSpPr>
        <p:spPr>
          <a:xfrm>
            <a:off x="8366760" y="5074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 i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903720" y="2286000"/>
            <a:ext cx="4389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</a:t>
            </a: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Σ pⱼ   (summed weight)
</a:t>
            </a:r>
            <a:r>
              <a:rPr lang="en-US" sz="13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</a:t>
            </a: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≈ √(Σ pⱼ²)   (RMS error)
</a:t>
            </a:r>
            <a:r>
              <a:rPr lang="en-US" sz="13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</a:t>
            </a:r>
            <a:r>
              <a:rPr lang="en-US" sz="110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ray count in bin i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COMPONENT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Monitor_nD: the swiss-army-knife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141732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 0D / 1D / 2D recorder — almost any shape, recording almost any requested quantity — same options grammar in both codes.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4"/>
          <p:cNvSpPr/>
          <p:nvPr/>
        </p:nvSpPr>
        <p:spPr>
          <a:xfrm>
            <a:off x="822960" y="2359152"/>
            <a:ext cx="10515600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E3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 MyMon = Monitor_nD(xwidth=0.1, yheight=0.1, zdepth=0,
</a:t>
            </a: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options="intensity per cm2 angle, limits=[-5 5], bins=10, with borders, file=mon1")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37490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822960" y="3913632"/>
            <a:ext cx="10515600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options = "banana, theta limits=[10,130], bins=120, y"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493776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8"/>
          <p:cNvSpPr/>
          <p:nvPr/>
        </p:nvSpPr>
        <p:spPr>
          <a:xfrm>
            <a:off x="822960" y="5102352"/>
            <a:ext cx="10515600" cy="7223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D7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options = "user1, auto"</a:t>
            </a:r>
            <a:r>
              <a:rPr lang="en-US" sz="1250" dirty="0">
                <a:solidFill>
                  <a:srgbClr val="AAB6D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→ with user1="age", username1="Age of the Captain [years]" — monitor just about anything.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panraid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611" y="355702"/>
            <a:ext cx="1270102" cy="6515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658368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024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differ; monitors mostly don't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E3EEF2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3"/>
          <p:cNvSpPr/>
          <p:nvPr/>
        </p:nvSpPr>
        <p:spPr>
          <a:xfrm>
            <a:off x="868680" y="19202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50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shared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68680" y="2423160"/>
            <a:ext cx="4617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source's role: set the ray state from chosen distributions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solid-angle / ncount / weight formalism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analytic sources: Source_simple ↔ Source_flat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monitor library, naming, and statistics engine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Monitor_nD and its options syntax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MCPL for coupling simulations together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mcdoc / mxdoc as the doc-access pattern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172200" y="1691640"/>
            <a:ext cx="5257800" cy="4114800"/>
          </a:xfrm>
          <a:prstGeom prst="roundRect">
            <a:avLst>
              <a:gd name="adj" fmla="val 2222"/>
            </a:avLst>
          </a:prstGeom>
          <a:solidFill>
            <a:srgbClr val="FBEBD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9" name="Text 6"/>
          <p:cNvSpPr/>
          <p:nvPr/>
        </p:nvSpPr>
        <p:spPr>
          <a:xfrm>
            <a:off x="6492240" y="19202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659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differs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92240" y="2423160"/>
            <a:ext cx="4617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families: pulsed/reactor moderators vs. accelerator insertion devices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 fields: velocity &amp; spin vs. wave vector, phase &amp; E-field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scale of the emitted spectrum: meV vs. keV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probe-specific monitors (e.g. polarisation, neutron-only)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202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Facility-specific source components (ISIS, SNS, ESS … have no X-ray analogue)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" name="Shape 1"/>
          <p:cNvSpPr/>
          <p:nvPr/>
        </p:nvSpPr>
        <p:spPr>
          <a:xfrm>
            <a:off x="-1828800" y="4206240"/>
            <a:ext cx="4206240" cy="4206240"/>
          </a:xfrm>
          <a:prstGeom prst="ellipse">
            <a:avLst/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deeper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822960" y="2651760"/>
            <a:ext cx="5120640" cy="2377440"/>
          </a:xfrm>
          <a:prstGeom prst="roundRect">
            <a:avLst>
              <a:gd name="adj" fmla="val 3846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Text 4"/>
          <p:cNvSpPr/>
          <p:nvPr/>
        </p:nvSpPr>
        <p:spPr>
          <a:xfrm>
            <a:off x="1143000" y="28803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McStas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43000" y="3429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mcdoc  /  mcdoc -c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143000" y="38862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mcstas.org/download/components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43000" y="43434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mcstas-users@mcstas.org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5120640" cy="2377440"/>
          </a:xfrm>
          <a:prstGeom prst="roundRect">
            <a:avLst>
              <a:gd name="adj" fmla="val 3846"/>
            </a:avLst>
          </a:prstGeom>
          <a:solidFill>
            <a:srgbClr val="141A47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6629400" y="28803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D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McXtrace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29400" y="3429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mxdoc  /  mxdoc -c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629400" y="38862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mcxtrace.org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629400" y="43434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9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mcxtrace-users@mcxtrace.org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34924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C7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exercises on sources and monitors will be provided during the school session.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" y="6035040"/>
            <a:ext cx="2926080" cy="0"/>
          </a:xfrm>
          <a:prstGeom prst="line">
            <a:avLst/>
          </a:prstGeom>
          <a:noFill/>
          <a:ln w="12700">
            <a:solidFill>
              <a:srgbClr val="3C4A8C"/>
            </a:solidFill>
            <a:prstDash val="solid"/>
          </a:ln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822960" y="6126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AB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Willendrup   ·   pkwi@fysik.dtu.dk   ·   DTU Physics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McStas &amp; McXtrace  ·  Sources &amp; Monitors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7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2359</Words>
  <Application>Microsoft Macintosh PowerPoint</Application>
  <PresentationFormat>Widescreen</PresentationFormat>
  <Paragraphs>266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Peter Willendrup</cp:lastModifiedBy>
  <cp:revision>2</cp:revision>
  <dcterms:created xsi:type="dcterms:W3CDTF">2026-08-07T08:03:24Z</dcterms:created>
  <dcterms:modified xsi:type="dcterms:W3CDTF">2026-08-07T08:22:00Z</dcterms:modified>
</cp:coreProperties>
</file>