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  <p:sldId id="271" r:id="rId3"/>
    <p:sldId id="272" r:id="rId4"/>
    <p:sldId id="273" r:id="rId5"/>
    <p:sldId id="274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9" r:id="rId16"/>
    <p:sldId id="300" r:id="rId17"/>
    <p:sldId id="301" r:id="rId18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t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925B-AE5F-C9BC-760C-9239BBEC20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D952D5-89AC-6A85-4560-5B35EC92E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C65E4-C253-B6A2-2549-0FB6BA96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C42DC-D526-335A-C007-49FA5AC88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3C0D8C-7843-2A89-3CD4-AB550E27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1532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FDE6-BE3C-D6CF-40B3-C863411E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5FE0-B427-C3DA-E758-C845C9AFD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9626E-CBE3-B129-1F33-380C5B67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DF693-501F-9985-719F-7383FF38F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3DF84-0C88-B6DA-6A86-D36CA0A38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4250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AC2A-7B55-5044-83FB-163FE039D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C1A84-9CE2-2F1B-50B9-82DDE4990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42D1C-A321-24E9-F306-CD3A7D7E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3D7C8-5BC5-AFE4-FFA4-AA716F6E7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2F2A5-8E33-0855-D552-6EA8F6D7E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06679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3A7CB-55C9-9777-6033-B02B1C92A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CAAC-A9B7-C80C-4AE5-185C5C8C0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B55E5-853E-D173-0113-E915FCC0D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48D74-2F42-1EBF-F754-36568046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7DE92-8840-8C22-7B30-BC16BE3A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53D1F-8590-BF3A-1746-0F266A74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61317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7F0C-5B3F-0F68-0A9D-5AA3E96E7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3B925F-F5D5-6F3E-7921-9C65AA4A0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6E9AF-9B42-8998-1CFA-FD2C3816D3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A6BC5-7B4D-0EA3-A5DE-703D90E7E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F4275-A2AD-01F0-F356-77AF0D4353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2CD264-3C30-AAD1-D59A-414E5E80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8ED388-B92A-0686-5B72-ECEC00A32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6B30A-458C-6AC7-47F4-3D2048CC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864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628CE-D6C7-C791-DD59-971A3B10D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7EC06-83D4-ACCC-938A-45607A805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15509-1C20-F421-53A8-CC9FF29A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03C2D-4B71-7F8E-F02F-8EC1502CD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5462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CE25F1-B049-3B6D-7027-4071F9E3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8401F6-2D18-2258-FA14-88441480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BC546-B797-3786-4878-384A55E03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0539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8A9DE-CF11-782B-8A78-304F98135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471E6-0A17-2F3E-8F3D-823C4DD89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61D00-634A-3AEE-061D-C7446BAA5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42C28B-E6DD-6A13-6615-B5EF31E6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D15D8-D57A-E5FC-4DFF-9A38876BD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0A9CC-17F8-61AF-F9DB-1CB235AB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84564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8A6B-2340-C430-A87C-BCCF95659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22BE16-39FB-CD6D-BC3D-1E5048370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9D9230-F84C-05B3-B3A1-9D5FEE4497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CF583-C998-A9D6-4084-D4A69B5C3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EC456-9470-84D4-215F-D31DE604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DD7FF-B519-F562-751D-7EE46CB4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00979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31FB9-1AA4-415B-732C-A552BAFB9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F2628-BBD3-E94C-4FDB-D6346245F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353BA-4B96-741B-D88C-16FE5F44C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8CDE3-C2EE-4614-73A0-5BF58767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95F5B-42BF-E73C-BC5F-8BB908511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638511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55D3FB-18CA-AF51-0FBE-51AB24E810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5A1117-85BA-3514-27D1-1B36DD1C7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0F21A-906E-1F76-94F8-87040519F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A4627-D441-3DC5-4CC2-EAB7A4DE2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E6929-D22A-CD2B-9CD6-4A93B135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24524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image1.pdf" descr="image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2" y="32673"/>
            <a:ext cx="435813" cy="4574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image2.pdf" descr="image2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616" y="25158"/>
            <a:ext cx="1528835" cy="6282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image4.pdf" descr="image4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439" y="0"/>
            <a:ext cx="450196" cy="457413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1743252" y="-34633"/>
            <a:ext cx="7147342" cy="49204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idx="1"/>
          </p:nvPr>
        </p:nvSpPr>
        <p:spPr>
          <a:xfrm>
            <a:off x="610139" y="1605516"/>
            <a:ext cx="10982062" cy="3979157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57" name="Group"/>
          <p:cNvGrpSpPr/>
          <p:nvPr/>
        </p:nvGrpSpPr>
        <p:grpSpPr>
          <a:xfrm>
            <a:off x="43580" y="-1"/>
            <a:ext cx="1989055" cy="497600"/>
            <a:chOff x="0" y="0"/>
            <a:chExt cx="1643039" cy="548279"/>
          </a:xfrm>
        </p:grpSpPr>
        <p:pic>
          <p:nvPicPr>
            <p:cNvPr id="52" name="image1.pdf" descr="image1.pdf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6000"/>
              <a:ext cx="360000" cy="504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3" name="image4.pdf" descr="image4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71160" y="0"/>
              <a:ext cx="371880" cy="504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4" name="aulogo_uk_var2_blue.png" descr="aulogo_uk_var2_blue.png"/>
            <p:cNvPicPr>
              <a:picLocks noChangeAspect="1"/>
            </p:cNvPicPr>
            <p:nvPr/>
          </p:nvPicPr>
          <p:blipFill>
            <a:blip r:embed="rId5"/>
            <a:srcRect r="59236"/>
            <a:stretch>
              <a:fillRect/>
            </a:stretch>
          </p:blipFill>
          <p:spPr>
            <a:xfrm>
              <a:off x="372865" y="22407"/>
              <a:ext cx="885376" cy="45929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Logo color"/>
            <p:cNvSpPr/>
            <p:nvPr/>
          </p:nvSpPr>
          <p:spPr>
            <a:xfrm>
              <a:off x="7219" y="35999"/>
              <a:ext cx="345562" cy="5040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4597" y="18293"/>
                  </a:moveTo>
                  <a:cubicBezTo>
                    <a:pt x="10549" y="19881"/>
                    <a:pt x="11051" y="19881"/>
                    <a:pt x="17003" y="18293"/>
                  </a:cubicBezTo>
                  <a:cubicBezTo>
                    <a:pt x="17003" y="18293"/>
                    <a:pt x="17003" y="18293"/>
                    <a:pt x="21600" y="19949"/>
                  </a:cubicBezTo>
                  <a:cubicBezTo>
                    <a:pt x="21600" y="19949"/>
                    <a:pt x="21600" y="19949"/>
                    <a:pt x="17003" y="21600"/>
                  </a:cubicBezTo>
                  <a:cubicBezTo>
                    <a:pt x="11051" y="20016"/>
                    <a:pt x="10549" y="20016"/>
                    <a:pt x="4597" y="21600"/>
                  </a:cubicBezTo>
                  <a:cubicBezTo>
                    <a:pt x="4597" y="21600"/>
                    <a:pt x="4597" y="21600"/>
                    <a:pt x="0" y="19949"/>
                  </a:cubicBezTo>
                  <a:cubicBezTo>
                    <a:pt x="0" y="19949"/>
                    <a:pt x="0" y="19949"/>
                    <a:pt x="4597" y="18293"/>
                  </a:cubicBezTo>
                  <a:close/>
                  <a:moveTo>
                    <a:pt x="4597" y="14200"/>
                  </a:moveTo>
                  <a:cubicBezTo>
                    <a:pt x="10549" y="15790"/>
                    <a:pt x="11051" y="15790"/>
                    <a:pt x="17003" y="14200"/>
                  </a:cubicBezTo>
                  <a:cubicBezTo>
                    <a:pt x="17003" y="14200"/>
                    <a:pt x="17003" y="14200"/>
                    <a:pt x="21600" y="15858"/>
                  </a:cubicBezTo>
                  <a:cubicBezTo>
                    <a:pt x="21600" y="15858"/>
                    <a:pt x="21600" y="15858"/>
                    <a:pt x="17003" y="17512"/>
                  </a:cubicBezTo>
                  <a:cubicBezTo>
                    <a:pt x="11051" y="15925"/>
                    <a:pt x="10549" y="15925"/>
                    <a:pt x="4597" y="17512"/>
                  </a:cubicBezTo>
                  <a:cubicBezTo>
                    <a:pt x="4597" y="17512"/>
                    <a:pt x="4597" y="17512"/>
                    <a:pt x="0" y="15858"/>
                  </a:cubicBezTo>
                  <a:cubicBezTo>
                    <a:pt x="0" y="15858"/>
                    <a:pt x="0" y="15858"/>
                    <a:pt x="4597" y="14200"/>
                  </a:cubicBezTo>
                  <a:close/>
                  <a:moveTo>
                    <a:pt x="4597" y="10111"/>
                  </a:moveTo>
                  <a:cubicBezTo>
                    <a:pt x="10549" y="11702"/>
                    <a:pt x="11051" y="11702"/>
                    <a:pt x="17003" y="10111"/>
                  </a:cubicBezTo>
                  <a:cubicBezTo>
                    <a:pt x="17003" y="10111"/>
                    <a:pt x="17003" y="10111"/>
                    <a:pt x="21600" y="11769"/>
                  </a:cubicBezTo>
                  <a:cubicBezTo>
                    <a:pt x="21600" y="11769"/>
                    <a:pt x="21600" y="11769"/>
                    <a:pt x="17003" y="13423"/>
                  </a:cubicBezTo>
                  <a:cubicBezTo>
                    <a:pt x="11051" y="11837"/>
                    <a:pt x="10549" y="11837"/>
                    <a:pt x="4597" y="13423"/>
                  </a:cubicBezTo>
                  <a:cubicBezTo>
                    <a:pt x="4597" y="13423"/>
                    <a:pt x="4597" y="13423"/>
                    <a:pt x="0" y="11769"/>
                  </a:cubicBezTo>
                  <a:cubicBezTo>
                    <a:pt x="0" y="11769"/>
                    <a:pt x="0" y="11769"/>
                    <a:pt x="4597" y="10111"/>
                  </a:cubicBezTo>
                  <a:close/>
                  <a:moveTo>
                    <a:pt x="2971" y="918"/>
                  </a:moveTo>
                  <a:lnTo>
                    <a:pt x="2971" y="6926"/>
                  </a:lnTo>
                  <a:cubicBezTo>
                    <a:pt x="2971" y="6926"/>
                    <a:pt x="2971" y="6926"/>
                    <a:pt x="3980" y="6926"/>
                  </a:cubicBezTo>
                  <a:cubicBezTo>
                    <a:pt x="4430" y="6926"/>
                    <a:pt x="4695" y="6878"/>
                    <a:pt x="4903" y="6708"/>
                  </a:cubicBezTo>
                  <a:cubicBezTo>
                    <a:pt x="5220" y="6447"/>
                    <a:pt x="5249" y="5917"/>
                    <a:pt x="5249" y="4849"/>
                  </a:cubicBezTo>
                  <a:cubicBezTo>
                    <a:pt x="5249" y="4849"/>
                    <a:pt x="5249" y="4849"/>
                    <a:pt x="5249" y="2990"/>
                  </a:cubicBezTo>
                  <a:cubicBezTo>
                    <a:pt x="5249" y="1926"/>
                    <a:pt x="5220" y="1396"/>
                    <a:pt x="4903" y="1135"/>
                  </a:cubicBezTo>
                  <a:cubicBezTo>
                    <a:pt x="4695" y="965"/>
                    <a:pt x="4430" y="918"/>
                    <a:pt x="3980" y="918"/>
                  </a:cubicBezTo>
                  <a:cubicBezTo>
                    <a:pt x="3980" y="918"/>
                    <a:pt x="3980" y="918"/>
                    <a:pt x="2971" y="918"/>
                  </a:cubicBezTo>
                  <a:close/>
                  <a:moveTo>
                    <a:pt x="8068" y="0"/>
                  </a:moveTo>
                  <a:cubicBezTo>
                    <a:pt x="8068" y="0"/>
                    <a:pt x="8068" y="0"/>
                    <a:pt x="13456" y="0"/>
                  </a:cubicBezTo>
                  <a:cubicBezTo>
                    <a:pt x="13542" y="0"/>
                    <a:pt x="13594" y="16"/>
                    <a:pt x="13635" y="44"/>
                  </a:cubicBezTo>
                  <a:cubicBezTo>
                    <a:pt x="13669" y="67"/>
                    <a:pt x="13698" y="103"/>
                    <a:pt x="13698" y="162"/>
                  </a:cubicBezTo>
                  <a:cubicBezTo>
                    <a:pt x="13698" y="162"/>
                    <a:pt x="13698" y="162"/>
                    <a:pt x="13698" y="827"/>
                  </a:cubicBezTo>
                  <a:cubicBezTo>
                    <a:pt x="13698" y="886"/>
                    <a:pt x="13669" y="922"/>
                    <a:pt x="13635" y="945"/>
                  </a:cubicBezTo>
                  <a:cubicBezTo>
                    <a:pt x="13594" y="973"/>
                    <a:pt x="13542" y="989"/>
                    <a:pt x="13456" y="989"/>
                  </a:cubicBezTo>
                  <a:cubicBezTo>
                    <a:pt x="13456" y="989"/>
                    <a:pt x="13456" y="989"/>
                    <a:pt x="11731" y="989"/>
                  </a:cubicBezTo>
                  <a:cubicBezTo>
                    <a:pt x="11731" y="989"/>
                    <a:pt x="11731" y="989"/>
                    <a:pt x="11731" y="7681"/>
                  </a:cubicBezTo>
                  <a:cubicBezTo>
                    <a:pt x="11731" y="7740"/>
                    <a:pt x="11708" y="7776"/>
                    <a:pt x="11667" y="7800"/>
                  </a:cubicBezTo>
                  <a:cubicBezTo>
                    <a:pt x="11633" y="7827"/>
                    <a:pt x="11581" y="7843"/>
                    <a:pt x="11494" y="7843"/>
                  </a:cubicBezTo>
                  <a:cubicBezTo>
                    <a:pt x="11494" y="7843"/>
                    <a:pt x="11494" y="7843"/>
                    <a:pt x="10029" y="7843"/>
                  </a:cubicBezTo>
                  <a:cubicBezTo>
                    <a:pt x="9943" y="7843"/>
                    <a:pt x="9891" y="7827"/>
                    <a:pt x="9850" y="7800"/>
                  </a:cubicBezTo>
                  <a:cubicBezTo>
                    <a:pt x="9810" y="7776"/>
                    <a:pt x="9787" y="7740"/>
                    <a:pt x="9787" y="7681"/>
                  </a:cubicBezTo>
                  <a:cubicBezTo>
                    <a:pt x="9787" y="7681"/>
                    <a:pt x="9787" y="7681"/>
                    <a:pt x="9787" y="989"/>
                  </a:cubicBezTo>
                  <a:cubicBezTo>
                    <a:pt x="9787" y="989"/>
                    <a:pt x="9787" y="989"/>
                    <a:pt x="8068" y="989"/>
                  </a:cubicBezTo>
                  <a:cubicBezTo>
                    <a:pt x="7981" y="989"/>
                    <a:pt x="7929" y="973"/>
                    <a:pt x="7889" y="945"/>
                  </a:cubicBezTo>
                  <a:cubicBezTo>
                    <a:pt x="7849" y="922"/>
                    <a:pt x="7825" y="886"/>
                    <a:pt x="7825" y="827"/>
                  </a:cubicBezTo>
                  <a:cubicBezTo>
                    <a:pt x="7825" y="827"/>
                    <a:pt x="7825" y="827"/>
                    <a:pt x="7825" y="162"/>
                  </a:cubicBezTo>
                  <a:cubicBezTo>
                    <a:pt x="7825" y="103"/>
                    <a:pt x="7849" y="67"/>
                    <a:pt x="7889" y="44"/>
                  </a:cubicBezTo>
                  <a:cubicBezTo>
                    <a:pt x="7929" y="16"/>
                    <a:pt x="7981" y="0"/>
                    <a:pt x="8068" y="0"/>
                  </a:cubicBezTo>
                  <a:close/>
                  <a:moveTo>
                    <a:pt x="1390" y="0"/>
                  </a:moveTo>
                  <a:cubicBezTo>
                    <a:pt x="1390" y="0"/>
                    <a:pt x="1390" y="0"/>
                    <a:pt x="4257" y="0"/>
                  </a:cubicBezTo>
                  <a:cubicBezTo>
                    <a:pt x="5370" y="0"/>
                    <a:pt x="6051" y="174"/>
                    <a:pt x="6466" y="538"/>
                  </a:cubicBezTo>
                  <a:cubicBezTo>
                    <a:pt x="7072" y="1036"/>
                    <a:pt x="7089" y="1843"/>
                    <a:pt x="7089" y="3077"/>
                  </a:cubicBezTo>
                  <a:cubicBezTo>
                    <a:pt x="7089" y="3077"/>
                    <a:pt x="7089" y="3077"/>
                    <a:pt x="7089" y="4766"/>
                  </a:cubicBezTo>
                  <a:cubicBezTo>
                    <a:pt x="7089" y="6000"/>
                    <a:pt x="7072" y="6807"/>
                    <a:pt x="6466" y="7305"/>
                  </a:cubicBezTo>
                  <a:cubicBezTo>
                    <a:pt x="6051" y="7669"/>
                    <a:pt x="5370" y="7843"/>
                    <a:pt x="4257" y="7843"/>
                  </a:cubicBezTo>
                  <a:cubicBezTo>
                    <a:pt x="4257" y="7843"/>
                    <a:pt x="4257" y="7843"/>
                    <a:pt x="1390" y="7843"/>
                  </a:cubicBezTo>
                  <a:cubicBezTo>
                    <a:pt x="1304" y="7843"/>
                    <a:pt x="1252" y="7827"/>
                    <a:pt x="1217" y="7800"/>
                  </a:cubicBezTo>
                  <a:cubicBezTo>
                    <a:pt x="1177" y="7776"/>
                    <a:pt x="1154" y="7740"/>
                    <a:pt x="1154" y="7681"/>
                  </a:cubicBezTo>
                  <a:cubicBezTo>
                    <a:pt x="1154" y="7681"/>
                    <a:pt x="1154" y="7681"/>
                    <a:pt x="1154" y="162"/>
                  </a:cubicBezTo>
                  <a:cubicBezTo>
                    <a:pt x="1154" y="103"/>
                    <a:pt x="1177" y="67"/>
                    <a:pt x="1217" y="44"/>
                  </a:cubicBezTo>
                  <a:cubicBezTo>
                    <a:pt x="1252" y="16"/>
                    <a:pt x="1304" y="0"/>
                    <a:pt x="1390" y="0"/>
                  </a:cubicBezTo>
                  <a:close/>
                  <a:moveTo>
                    <a:pt x="14706" y="0"/>
                  </a:moveTo>
                  <a:cubicBezTo>
                    <a:pt x="14706" y="0"/>
                    <a:pt x="14706" y="0"/>
                    <a:pt x="16045" y="0"/>
                  </a:cubicBezTo>
                  <a:cubicBezTo>
                    <a:pt x="16131" y="0"/>
                    <a:pt x="16183" y="16"/>
                    <a:pt x="16224" y="44"/>
                  </a:cubicBezTo>
                  <a:cubicBezTo>
                    <a:pt x="16264" y="67"/>
                    <a:pt x="16287" y="103"/>
                    <a:pt x="16287" y="162"/>
                  </a:cubicBezTo>
                  <a:cubicBezTo>
                    <a:pt x="16287" y="162"/>
                    <a:pt x="16287" y="162"/>
                    <a:pt x="16287" y="5712"/>
                  </a:cubicBezTo>
                  <a:cubicBezTo>
                    <a:pt x="16287" y="6314"/>
                    <a:pt x="16368" y="6646"/>
                    <a:pt x="16627" y="6844"/>
                  </a:cubicBezTo>
                  <a:cubicBezTo>
                    <a:pt x="16818" y="6990"/>
                    <a:pt x="17072" y="7053"/>
                    <a:pt x="17406" y="7053"/>
                  </a:cubicBezTo>
                  <a:cubicBezTo>
                    <a:pt x="17776" y="7053"/>
                    <a:pt x="18041" y="6982"/>
                    <a:pt x="18226" y="6844"/>
                  </a:cubicBezTo>
                  <a:cubicBezTo>
                    <a:pt x="18503" y="6638"/>
                    <a:pt x="18566" y="6294"/>
                    <a:pt x="18566" y="5712"/>
                  </a:cubicBezTo>
                  <a:cubicBezTo>
                    <a:pt x="18566" y="5712"/>
                    <a:pt x="18566" y="5712"/>
                    <a:pt x="18566" y="162"/>
                  </a:cubicBezTo>
                  <a:cubicBezTo>
                    <a:pt x="18566" y="103"/>
                    <a:pt x="18589" y="67"/>
                    <a:pt x="18630" y="44"/>
                  </a:cubicBezTo>
                  <a:cubicBezTo>
                    <a:pt x="18664" y="16"/>
                    <a:pt x="18722" y="0"/>
                    <a:pt x="18803" y="0"/>
                  </a:cubicBezTo>
                  <a:cubicBezTo>
                    <a:pt x="18803" y="0"/>
                    <a:pt x="18803" y="0"/>
                    <a:pt x="20147" y="0"/>
                  </a:cubicBezTo>
                  <a:cubicBezTo>
                    <a:pt x="20234" y="0"/>
                    <a:pt x="20286" y="16"/>
                    <a:pt x="20320" y="44"/>
                  </a:cubicBezTo>
                  <a:cubicBezTo>
                    <a:pt x="20361" y="67"/>
                    <a:pt x="20384" y="103"/>
                    <a:pt x="20384" y="162"/>
                  </a:cubicBezTo>
                  <a:cubicBezTo>
                    <a:pt x="20384" y="162"/>
                    <a:pt x="20384" y="162"/>
                    <a:pt x="20384" y="5716"/>
                  </a:cubicBezTo>
                  <a:cubicBezTo>
                    <a:pt x="20384" y="6464"/>
                    <a:pt x="20257" y="6962"/>
                    <a:pt x="19732" y="7382"/>
                  </a:cubicBezTo>
                  <a:cubicBezTo>
                    <a:pt x="19287" y="7738"/>
                    <a:pt x="18560" y="7943"/>
                    <a:pt x="17430" y="7943"/>
                  </a:cubicBezTo>
                  <a:cubicBezTo>
                    <a:pt x="16316" y="7943"/>
                    <a:pt x="15583" y="7750"/>
                    <a:pt x="15093" y="7382"/>
                  </a:cubicBezTo>
                  <a:cubicBezTo>
                    <a:pt x="14625" y="7030"/>
                    <a:pt x="14469" y="6523"/>
                    <a:pt x="14469" y="5716"/>
                  </a:cubicBezTo>
                  <a:cubicBezTo>
                    <a:pt x="14469" y="5716"/>
                    <a:pt x="14469" y="5716"/>
                    <a:pt x="14469" y="162"/>
                  </a:cubicBezTo>
                  <a:cubicBezTo>
                    <a:pt x="14469" y="103"/>
                    <a:pt x="14493" y="67"/>
                    <a:pt x="14527" y="44"/>
                  </a:cubicBezTo>
                  <a:cubicBezTo>
                    <a:pt x="14568" y="16"/>
                    <a:pt x="14620" y="0"/>
                    <a:pt x="14706" y="0"/>
                  </a:cubicBezTo>
                  <a:close/>
                </a:path>
              </a:pathLst>
            </a:custGeom>
            <a:solidFill>
              <a:srgbClr val="990000"/>
            </a:solidFill>
            <a:ln w="12700" cap="flat">
              <a:noFill/>
              <a:miter lim="400000"/>
            </a:ln>
            <a:effectLst/>
          </p:spPr>
          <p:txBody>
            <a:bodyPr wrap="square" lIns="46799" tIns="46799" rIns="46799" bIns="46799" numCol="1" anchor="t">
              <a:noAutofit/>
            </a:bodyPr>
            <a:lstStyle/>
            <a:p>
              <a:pPr>
                <a:spcBef>
                  <a:spcPts val="817"/>
                </a:spcBef>
                <a:defRPr sz="1600">
                  <a:latin typeface="Verdana"/>
                  <a:ea typeface="Verdana"/>
                  <a:cs typeface="Verdana"/>
                  <a:sym typeface="Verdana"/>
                </a:defRPr>
              </a:pPr>
              <a:endParaRPr sz="1452"/>
            </a:p>
          </p:txBody>
        </p:sp>
        <p:pic>
          <p:nvPicPr>
            <p:cNvPr id="56" name="ku-logo.pdf" descr="ku-logo.pdf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02340" y="27720"/>
              <a:ext cx="383134" cy="5205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8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9653" y="58833"/>
            <a:ext cx="1371261" cy="699250"/>
          </a:xfrm>
          <a:prstGeom prst="rect">
            <a:avLst/>
          </a:prstGeom>
          <a:ln w="12700">
            <a:miter lim="400000"/>
          </a:ln>
        </p:spPr>
      </p:pic>
      <p:sp>
        <p:nvSpPr>
          <p:cNvPr id="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274427" y="6432104"/>
            <a:ext cx="2844802" cy="36883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0" name="soleil-logo.png" descr="soleil-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58308" y="700732"/>
            <a:ext cx="1373951" cy="4976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3347048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421040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EE393-B437-EDBD-BF8C-767697D83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F68A4-AA82-EEA7-B567-62133EB79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61F6E-2254-7CFA-FC93-6AD88CF78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A8E86-CEF1-A048-A21D-CE5925FC82C6}" type="datetimeFigureOut">
              <a:rPr lang="en-DK" smtClean="0"/>
              <a:t>07/08/2026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E4813-26ED-B975-32AF-08B3DADE35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ECA26-797C-37A7-D4BF-F300CA4A3C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3CC28-C8BF-7340-9E0D-92A26A176691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88967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if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675" name="Shape"/>
          <p:cNvSpPr/>
          <p:nvPr/>
        </p:nvSpPr>
        <p:spPr>
          <a:xfrm rot="16198665">
            <a:off x="3261986" y="2893376"/>
            <a:ext cx="1376825" cy="835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2">
                <a:satOff val="-4966"/>
                <a:lumOff val="-10549"/>
              </a:schemeClr>
            </a:solidFill>
          </a:ln>
        </p:spPr>
        <p:txBody>
          <a:bodyPr lIns="0" tIns="0" rIns="0" bIns="0"/>
          <a:lstStyle/>
          <a:p>
            <a:endParaRPr sz="1634"/>
          </a:p>
        </p:txBody>
      </p:sp>
      <p:sp>
        <p:nvSpPr>
          <p:cNvPr id="676" name="To first order emit uniformly into       steradian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 first order emit uniformly into       steradian</a:t>
            </a:r>
          </a:p>
        </p:txBody>
      </p:sp>
      <p:sp>
        <p:nvSpPr>
          <p:cNvPr id="677" name="Sources, e.g. rotating an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Sources, e.g. rotating anode</a:t>
            </a:r>
          </a:p>
        </p:txBody>
      </p:sp>
      <p:sp>
        <p:nvSpPr>
          <p:cNvPr id="678" name="Line"/>
          <p:cNvSpPr/>
          <p:nvPr/>
        </p:nvSpPr>
        <p:spPr>
          <a:xfrm flipV="1">
            <a:off x="4123098" y="2897084"/>
            <a:ext cx="916838" cy="331066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79" name="Line"/>
          <p:cNvSpPr/>
          <p:nvPr/>
        </p:nvSpPr>
        <p:spPr>
          <a:xfrm>
            <a:off x="4018258" y="3464143"/>
            <a:ext cx="757716" cy="209109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80" name="Line"/>
          <p:cNvSpPr/>
          <p:nvPr/>
        </p:nvSpPr>
        <p:spPr>
          <a:xfrm>
            <a:off x="4022358" y="3613937"/>
            <a:ext cx="137651" cy="635997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81" name="Line"/>
          <p:cNvSpPr/>
          <p:nvPr/>
        </p:nvSpPr>
        <p:spPr>
          <a:xfrm flipH="1">
            <a:off x="3104716" y="3249319"/>
            <a:ext cx="754408" cy="553793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82" name="Line"/>
          <p:cNvSpPr/>
          <p:nvPr/>
        </p:nvSpPr>
        <p:spPr>
          <a:xfrm flipH="1" flipV="1">
            <a:off x="3345419" y="2734108"/>
            <a:ext cx="559897" cy="434411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83" name="Line"/>
          <p:cNvSpPr/>
          <p:nvPr/>
        </p:nvSpPr>
        <p:spPr>
          <a:xfrm flipV="1">
            <a:off x="4009676" y="2307334"/>
            <a:ext cx="632998" cy="745877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84" name="Line"/>
          <p:cNvSpPr/>
          <p:nvPr/>
        </p:nvSpPr>
        <p:spPr>
          <a:xfrm flipH="1">
            <a:off x="3600766" y="3311021"/>
            <a:ext cx="328286" cy="708075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pic>
        <p:nvPicPr>
          <p:cNvPr id="685" name="4_pi.pdf" descr="4_pi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595" y="1696287"/>
            <a:ext cx="337505" cy="2309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688" name="Shape"/>
          <p:cNvSpPr/>
          <p:nvPr/>
        </p:nvSpPr>
        <p:spPr>
          <a:xfrm rot="16198665">
            <a:off x="3261986" y="2893376"/>
            <a:ext cx="1376825" cy="835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2">
                <a:satOff val="-4966"/>
                <a:lumOff val="-10549"/>
              </a:schemeClr>
            </a:solidFill>
          </a:ln>
        </p:spPr>
        <p:txBody>
          <a:bodyPr lIns="0" tIns="0" rIns="0" bIns="0"/>
          <a:lstStyle/>
          <a:p>
            <a:endParaRPr sz="1634"/>
          </a:p>
        </p:txBody>
      </p:sp>
      <p:sp>
        <p:nvSpPr>
          <p:cNvPr id="689" name="Generally we are intersted in sending the input to an aperture, characterised by a certain solid angle    , often corresponding to a rectangle       x       at a distance         from the source"/>
          <p:cNvSpPr txBox="1"/>
          <p:nvPr/>
        </p:nvSpPr>
        <p:spPr>
          <a:xfrm>
            <a:off x="1979457" y="2448873"/>
            <a:ext cx="8233087" cy="3979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marL="329349" indent="-247012" defTabSz="697123">
              <a:spcBef>
                <a:spcPts val="998"/>
              </a:spcBef>
              <a:buClr>
                <a:srgbClr val="000000"/>
              </a:buClr>
              <a:buSzPct val="45000"/>
              <a:buChar char="●"/>
              <a:defRPr sz="2688" spc="0"/>
            </a:pPr>
            <a:endParaRPr sz="2440"/>
          </a:p>
          <a:p>
            <a:pPr marL="329349" indent="-247012" defTabSz="697123">
              <a:spcBef>
                <a:spcPts val="998"/>
              </a:spcBef>
              <a:buClr>
                <a:srgbClr val="000000"/>
              </a:buClr>
              <a:buSzPct val="45000"/>
              <a:buChar char="●"/>
              <a:defRPr sz="2688" spc="0"/>
            </a:pPr>
            <a:endParaRPr sz="2440"/>
          </a:p>
          <a:p>
            <a:pPr marL="329349" indent="-247012" defTabSz="697123">
              <a:spcBef>
                <a:spcPts val="998"/>
              </a:spcBef>
              <a:buClr>
                <a:srgbClr val="000000"/>
              </a:buClr>
              <a:buSzPct val="45000"/>
              <a:buChar char="●"/>
              <a:defRPr sz="2688" spc="0"/>
            </a:pPr>
            <a:endParaRPr sz="2440"/>
          </a:p>
          <a:p>
            <a:pPr marL="329349" indent="-247012" defTabSz="697123">
              <a:spcBef>
                <a:spcPts val="998"/>
              </a:spcBef>
              <a:buClr>
                <a:srgbClr val="000000"/>
              </a:buClr>
              <a:buSzPct val="45000"/>
              <a:buChar char="●"/>
              <a:defRPr sz="2688" spc="0"/>
            </a:pPr>
            <a:endParaRPr sz="2440"/>
          </a:p>
          <a:p>
            <a:pPr marL="329349" indent="-247012" defTabSz="697123">
              <a:spcBef>
                <a:spcPts val="998"/>
              </a:spcBef>
              <a:buClr>
                <a:srgbClr val="000000"/>
              </a:buClr>
              <a:buSzPct val="45000"/>
              <a:buChar char="●"/>
              <a:defRPr sz="2688" spc="0"/>
            </a:pPr>
            <a:endParaRPr sz="2440"/>
          </a:p>
          <a:p>
            <a:pPr marL="329349" indent="-247012" defTabSz="697123">
              <a:spcBef>
                <a:spcPts val="998"/>
              </a:spcBef>
              <a:buClr>
                <a:srgbClr val="000000"/>
              </a:buClr>
              <a:buSzPct val="45000"/>
              <a:buChar char="●"/>
              <a:defRPr sz="2688" spc="0"/>
            </a:pPr>
            <a:r>
              <a:rPr sz="2440"/>
              <a:t>Generally we are intersted in sending the input to an aperture, characterised by a certain solid angle    , often corresponding to a rectangle       x       at a distance         from the source</a:t>
            </a:r>
          </a:p>
        </p:txBody>
      </p:sp>
      <p:sp>
        <p:nvSpPr>
          <p:cNvPr id="690" name="To first order emit uniformly into       steradian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 first order emit uniformly into       steradian</a:t>
            </a:r>
          </a:p>
        </p:txBody>
      </p:sp>
      <p:sp>
        <p:nvSpPr>
          <p:cNvPr id="691" name="Sources, e.g. rotating an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Sources, e.g. rotating anode</a:t>
            </a:r>
          </a:p>
        </p:txBody>
      </p:sp>
      <p:sp>
        <p:nvSpPr>
          <p:cNvPr id="692" name="Line"/>
          <p:cNvSpPr/>
          <p:nvPr/>
        </p:nvSpPr>
        <p:spPr>
          <a:xfrm flipV="1">
            <a:off x="4123098" y="2897084"/>
            <a:ext cx="916838" cy="331066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93" name="Line"/>
          <p:cNvSpPr/>
          <p:nvPr/>
        </p:nvSpPr>
        <p:spPr>
          <a:xfrm>
            <a:off x="4018258" y="3464143"/>
            <a:ext cx="757716" cy="209109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94" name="Line"/>
          <p:cNvSpPr/>
          <p:nvPr/>
        </p:nvSpPr>
        <p:spPr>
          <a:xfrm>
            <a:off x="4022358" y="3613937"/>
            <a:ext cx="137651" cy="635997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95" name="Line"/>
          <p:cNvSpPr/>
          <p:nvPr/>
        </p:nvSpPr>
        <p:spPr>
          <a:xfrm flipH="1">
            <a:off x="3104716" y="3249319"/>
            <a:ext cx="754408" cy="553793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96" name="Line"/>
          <p:cNvSpPr/>
          <p:nvPr/>
        </p:nvSpPr>
        <p:spPr>
          <a:xfrm flipH="1" flipV="1">
            <a:off x="3345419" y="2734108"/>
            <a:ext cx="559897" cy="434411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97" name="Line"/>
          <p:cNvSpPr/>
          <p:nvPr/>
        </p:nvSpPr>
        <p:spPr>
          <a:xfrm flipV="1">
            <a:off x="4009676" y="2307334"/>
            <a:ext cx="632998" cy="745877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698" name="Line"/>
          <p:cNvSpPr/>
          <p:nvPr/>
        </p:nvSpPr>
        <p:spPr>
          <a:xfrm flipH="1">
            <a:off x="3600766" y="3311021"/>
            <a:ext cx="328286" cy="708075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pic>
        <p:nvPicPr>
          <p:cNvPr id="699" name="4_pi.pdf" descr="4_pi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595" y="1696287"/>
            <a:ext cx="337505" cy="23092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04" name="Group"/>
          <p:cNvGrpSpPr/>
          <p:nvPr/>
        </p:nvGrpSpPr>
        <p:grpSpPr>
          <a:xfrm>
            <a:off x="9662407" y="2872513"/>
            <a:ext cx="232349" cy="875264"/>
            <a:chOff x="0" y="0"/>
            <a:chExt cx="256013" cy="964409"/>
          </a:xfrm>
        </p:grpSpPr>
        <p:sp>
          <p:nvSpPr>
            <p:cNvPr id="700" name="Line"/>
            <p:cNvSpPr/>
            <p:nvPr/>
          </p:nvSpPr>
          <p:spPr>
            <a:xfrm flipV="1">
              <a:off x="10436" y="0"/>
              <a:ext cx="1" cy="741687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701" name="Line"/>
            <p:cNvSpPr/>
            <p:nvPr/>
          </p:nvSpPr>
          <p:spPr>
            <a:xfrm flipV="1">
              <a:off x="250474" y="222723"/>
              <a:ext cx="1" cy="741687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702" name="Line"/>
            <p:cNvSpPr/>
            <p:nvPr/>
          </p:nvSpPr>
          <p:spPr>
            <a:xfrm flipH="1" flipV="1">
              <a:off x="-1" y="-1"/>
              <a:ext cx="245578" cy="227864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703" name="Line"/>
            <p:cNvSpPr/>
            <p:nvPr/>
          </p:nvSpPr>
          <p:spPr>
            <a:xfrm flipH="1" flipV="1">
              <a:off x="10436" y="735955"/>
              <a:ext cx="245578" cy="227863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</p:grpSp>
      <p:pic>
        <p:nvPicPr>
          <p:cNvPr id="705" name="xw.pdf" descr="xw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893" y="3748318"/>
            <a:ext cx="224265" cy="84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706" name="yh.pdf" descr="yh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5389" y="3233154"/>
            <a:ext cx="176693" cy="153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7" name="dist.pdf" descr="dist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556415">
            <a:off x="6686170" y="3595273"/>
            <a:ext cx="311222" cy="137148"/>
          </a:xfrm>
          <a:prstGeom prst="rect">
            <a:avLst/>
          </a:prstGeom>
          <a:ln w="12700">
            <a:miter lim="400000"/>
          </a:ln>
        </p:spPr>
      </p:pic>
      <p:pic>
        <p:nvPicPr>
          <p:cNvPr id="708" name="latex-image.pdf" descr="latex-image.pdf"/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 rot="5438934">
            <a:off x="6759475" y="410725"/>
            <a:ext cx="296173" cy="6036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9" name="Omega.pdf" descr="Omega.pd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1777" y="3082236"/>
            <a:ext cx="136396" cy="153445"/>
          </a:xfrm>
          <a:prstGeom prst="rect">
            <a:avLst/>
          </a:prstGeom>
          <a:ln w="12700">
            <a:miter lim="400000"/>
          </a:ln>
        </p:spPr>
      </p:pic>
      <p:sp>
        <p:nvSpPr>
          <p:cNvPr id="710" name="Line"/>
          <p:cNvSpPr/>
          <p:nvPr/>
        </p:nvSpPr>
        <p:spPr>
          <a:xfrm>
            <a:off x="8383613" y="3158957"/>
            <a:ext cx="382093" cy="1"/>
          </a:xfrm>
          <a:prstGeom prst="line">
            <a:avLst/>
          </a:prstGeom>
          <a:ln w="12700">
            <a:solidFill>
              <a:srgbClr val="990000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pic>
        <p:nvPicPr>
          <p:cNvPr id="711" name="Omega.pdf" descr="Omega.pd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5395" y="5324193"/>
            <a:ext cx="205229" cy="2308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12" name="xw.pdf" descr="xw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729" y="5745216"/>
            <a:ext cx="367336" cy="138773"/>
          </a:xfrm>
          <a:prstGeom prst="rect">
            <a:avLst/>
          </a:prstGeom>
          <a:ln w="12700">
            <a:miter lim="400000"/>
          </a:ln>
        </p:spPr>
      </p:pic>
      <p:pic>
        <p:nvPicPr>
          <p:cNvPr id="713" name="yh.pdf" descr="yh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3274" y="5699162"/>
            <a:ext cx="265864" cy="2308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14" name="dist.pdf" descr="dist.pd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0978" y="5730413"/>
            <a:ext cx="382093" cy="1683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sp>
        <p:nvSpPr>
          <p:cNvPr id="717" name="Shape"/>
          <p:cNvSpPr/>
          <p:nvPr/>
        </p:nvSpPr>
        <p:spPr>
          <a:xfrm rot="16198665">
            <a:off x="3261986" y="2893376"/>
            <a:ext cx="1376825" cy="835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2">
                <a:satOff val="-4966"/>
                <a:lumOff val="-10549"/>
              </a:schemeClr>
            </a:solidFill>
          </a:ln>
        </p:spPr>
        <p:txBody>
          <a:bodyPr lIns="0" tIns="0" rIns="0" bIns="0"/>
          <a:lstStyle/>
          <a:p>
            <a:endParaRPr sz="1634"/>
          </a:p>
        </p:txBody>
      </p:sp>
      <p:sp>
        <p:nvSpPr>
          <p:cNvPr id="718" name="The emmission intensity into our chosen solid angle     can be a function of wavelength, time (pulsed sources) and possibly point of origin on the source surface (e.g. for partially coherent descriptions).…"/>
          <p:cNvSpPr txBox="1">
            <a:spLocks noGrp="1"/>
          </p:cNvSpPr>
          <p:nvPr>
            <p:ph type="body" idx="1"/>
          </p:nvPr>
        </p:nvSpPr>
        <p:spPr>
          <a:xfrm>
            <a:off x="1983333" y="1455677"/>
            <a:ext cx="8233086" cy="4513533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258774" indent="-194080" defTabSz="547740">
              <a:spcBef>
                <a:spcPts val="817"/>
              </a:spcBef>
              <a:defRPr sz="2112" spc="0"/>
            </a:pPr>
            <a:r>
              <a:t>The emmission intensity into our chosen solid angle     can be a function of wavelength, time (pulsed sources) and possibly point of origin on the source surface (e.g. for partially coherent descriptions).</a:t>
            </a:r>
          </a:p>
          <a:p>
            <a:pPr marL="258774" indent="-194080" defTabSz="547740">
              <a:spcBef>
                <a:spcPts val="817"/>
              </a:spcBef>
              <a:defRPr sz="2112" spc="0"/>
            </a:pPr>
            <a:endParaRPr/>
          </a:p>
          <a:p>
            <a:pPr marL="258774" indent="-194080" defTabSz="547740">
              <a:spcBef>
                <a:spcPts val="817"/>
              </a:spcBef>
              <a:defRPr sz="2112" spc="0"/>
            </a:pPr>
            <a:endParaRPr/>
          </a:p>
          <a:p>
            <a:pPr marL="258774" indent="-194080" defTabSz="547740">
              <a:spcBef>
                <a:spcPts val="817"/>
              </a:spcBef>
              <a:defRPr sz="2112" spc="0"/>
            </a:pPr>
            <a:endParaRPr/>
          </a:p>
          <a:p>
            <a:pPr marL="258774" indent="-194080" defTabSz="547740">
              <a:spcBef>
                <a:spcPts val="817"/>
              </a:spcBef>
              <a:defRPr sz="2112" spc="0"/>
            </a:pPr>
            <a:endParaRPr/>
          </a:p>
          <a:p>
            <a:pPr marL="258774" indent="-194080" defTabSz="547740">
              <a:spcBef>
                <a:spcPts val="817"/>
              </a:spcBef>
              <a:defRPr sz="2112" spc="0"/>
            </a:pPr>
            <a:endParaRPr/>
          </a:p>
          <a:p>
            <a:pPr marL="258774" indent="-194080" defTabSz="547740">
              <a:spcBef>
                <a:spcPts val="817"/>
              </a:spcBef>
              <a:defRPr sz="2112" spc="0"/>
            </a:pPr>
            <a:r>
              <a:t>The emission of particles into the solid angle     is in fact an </a:t>
            </a:r>
            <a:br/>
            <a:r>
              <a:t>integration and leads to a simulated “intensity” of               . </a:t>
            </a:r>
          </a:p>
          <a:p>
            <a:pPr marL="258774" indent="-194080" defTabSz="547740">
              <a:spcBef>
                <a:spcPts val="817"/>
              </a:spcBef>
              <a:defRPr sz="2112" spc="0"/>
            </a:pPr>
            <a:r>
              <a:t>In McXtrace, that integrated intensity is partitioned over a given set of particle </a:t>
            </a:r>
            <a:r>
              <a:rPr i="1"/>
              <a:t>rays</a:t>
            </a:r>
            <a:r>
              <a:t> referred to as </a:t>
            </a:r>
            <a:r>
              <a:rPr b="1"/>
              <a:t>ncount</a:t>
            </a:r>
            <a:r>
              <a:t>, -</a:t>
            </a:r>
            <a:r>
              <a:rPr b="1"/>
              <a:t>n</a:t>
            </a:r>
            <a:r>
              <a:t> or </a:t>
            </a:r>
            <a:r>
              <a:rPr b="1"/>
              <a:t>--ncount</a:t>
            </a:r>
          </a:p>
          <a:p>
            <a:pPr marL="258774" indent="-194080" defTabSz="547740">
              <a:spcBef>
                <a:spcPts val="817"/>
              </a:spcBef>
              <a:defRPr sz="2112" spc="0"/>
            </a:pPr>
            <a:r>
              <a:t>The default </a:t>
            </a:r>
            <a:r>
              <a:rPr b="1"/>
              <a:t>ncount</a:t>
            </a:r>
            <a:r>
              <a:t> is 1e6 rays</a:t>
            </a:r>
          </a:p>
        </p:txBody>
      </p:sp>
      <p:sp>
        <p:nvSpPr>
          <p:cNvPr id="719" name="Sources, e.g. rotating an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Sources, e.g. rotating anode</a:t>
            </a:r>
          </a:p>
        </p:txBody>
      </p:sp>
      <p:sp>
        <p:nvSpPr>
          <p:cNvPr id="720" name="Line"/>
          <p:cNvSpPr/>
          <p:nvPr/>
        </p:nvSpPr>
        <p:spPr>
          <a:xfrm flipV="1">
            <a:off x="4123098" y="2897084"/>
            <a:ext cx="916838" cy="331066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21" name="Line"/>
          <p:cNvSpPr/>
          <p:nvPr/>
        </p:nvSpPr>
        <p:spPr>
          <a:xfrm>
            <a:off x="4018258" y="3464143"/>
            <a:ext cx="757716" cy="209109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22" name="Line"/>
          <p:cNvSpPr/>
          <p:nvPr/>
        </p:nvSpPr>
        <p:spPr>
          <a:xfrm>
            <a:off x="4022358" y="3613937"/>
            <a:ext cx="137651" cy="635997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23" name="Line"/>
          <p:cNvSpPr/>
          <p:nvPr/>
        </p:nvSpPr>
        <p:spPr>
          <a:xfrm flipH="1">
            <a:off x="3104716" y="3249319"/>
            <a:ext cx="754408" cy="553793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24" name="Line"/>
          <p:cNvSpPr/>
          <p:nvPr/>
        </p:nvSpPr>
        <p:spPr>
          <a:xfrm flipH="1" flipV="1">
            <a:off x="3345419" y="2734108"/>
            <a:ext cx="559897" cy="434411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25" name="Line"/>
          <p:cNvSpPr/>
          <p:nvPr/>
        </p:nvSpPr>
        <p:spPr>
          <a:xfrm flipV="1">
            <a:off x="4009676" y="2307334"/>
            <a:ext cx="632998" cy="745877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26" name="Line"/>
          <p:cNvSpPr/>
          <p:nvPr/>
        </p:nvSpPr>
        <p:spPr>
          <a:xfrm flipH="1">
            <a:off x="3600766" y="3311021"/>
            <a:ext cx="328286" cy="708075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grpSp>
        <p:nvGrpSpPr>
          <p:cNvPr id="731" name="Group"/>
          <p:cNvGrpSpPr/>
          <p:nvPr/>
        </p:nvGrpSpPr>
        <p:grpSpPr>
          <a:xfrm>
            <a:off x="9662407" y="2872513"/>
            <a:ext cx="232349" cy="875264"/>
            <a:chOff x="0" y="0"/>
            <a:chExt cx="256013" cy="964409"/>
          </a:xfrm>
        </p:grpSpPr>
        <p:sp>
          <p:nvSpPr>
            <p:cNvPr id="727" name="Line"/>
            <p:cNvSpPr/>
            <p:nvPr/>
          </p:nvSpPr>
          <p:spPr>
            <a:xfrm flipV="1">
              <a:off x="10436" y="0"/>
              <a:ext cx="1" cy="741687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728" name="Line"/>
            <p:cNvSpPr/>
            <p:nvPr/>
          </p:nvSpPr>
          <p:spPr>
            <a:xfrm flipV="1">
              <a:off x="250474" y="222723"/>
              <a:ext cx="1" cy="741687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729" name="Line"/>
            <p:cNvSpPr/>
            <p:nvPr/>
          </p:nvSpPr>
          <p:spPr>
            <a:xfrm flipH="1" flipV="1">
              <a:off x="-1" y="-1"/>
              <a:ext cx="245578" cy="227864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730" name="Line"/>
            <p:cNvSpPr/>
            <p:nvPr/>
          </p:nvSpPr>
          <p:spPr>
            <a:xfrm flipH="1" flipV="1">
              <a:off x="10436" y="735955"/>
              <a:ext cx="245578" cy="227863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</p:grpSp>
      <p:pic>
        <p:nvPicPr>
          <p:cNvPr id="732" name="xw.pdf" descr="xw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893" y="3748318"/>
            <a:ext cx="224265" cy="84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733" name="yh.pdf" descr="yh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389" y="3233154"/>
            <a:ext cx="176693" cy="153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34" name="dist.pdf" descr="dist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56415">
            <a:off x="6686170" y="3595273"/>
            <a:ext cx="311222" cy="137148"/>
          </a:xfrm>
          <a:prstGeom prst="rect">
            <a:avLst/>
          </a:prstGeom>
          <a:ln w="12700">
            <a:miter lim="400000"/>
          </a:ln>
        </p:spPr>
      </p:pic>
      <p:pic>
        <p:nvPicPr>
          <p:cNvPr id="735" name="latex-image.pdf" descr="latex-image.pdf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38934">
            <a:off x="6759475" y="410725"/>
            <a:ext cx="296173" cy="6036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6" name="Omega.pdf" descr="Omega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777" y="3082236"/>
            <a:ext cx="136396" cy="153445"/>
          </a:xfrm>
          <a:prstGeom prst="rect">
            <a:avLst/>
          </a:prstGeom>
          <a:ln w="12700">
            <a:miter lim="400000"/>
          </a:ln>
        </p:spPr>
      </p:pic>
      <p:sp>
        <p:nvSpPr>
          <p:cNvPr id="737" name="Line"/>
          <p:cNvSpPr/>
          <p:nvPr/>
        </p:nvSpPr>
        <p:spPr>
          <a:xfrm>
            <a:off x="8383613" y="3158957"/>
            <a:ext cx="382093" cy="1"/>
          </a:xfrm>
          <a:prstGeom prst="line">
            <a:avLst/>
          </a:prstGeom>
          <a:ln w="12700">
            <a:solidFill>
              <a:srgbClr val="990000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pic>
        <p:nvPicPr>
          <p:cNvPr id="738" name="Omega.pdf" descr="Omega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4725" y="1469053"/>
            <a:ext cx="205228" cy="2308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39" name="Omega.pdf" descr="Omega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7901" y="4315988"/>
            <a:ext cx="205228" cy="230882"/>
          </a:xfrm>
          <a:prstGeom prst="rect">
            <a:avLst/>
          </a:prstGeom>
          <a:ln w="12700">
            <a:miter lim="400000"/>
          </a:ln>
        </p:spPr>
      </p:pic>
      <p:pic>
        <p:nvPicPr>
          <p:cNvPr id="740" name="I(_lambda)_&amp;&amp;_n∕.pdf" descr="I(_lambda)_&amp;&amp;_n∕.pdf"/>
          <p:cNvPicPr>
            <a:picLocks noChangeAspect="1"/>
          </p:cNvPicPr>
          <p:nvPr/>
        </p:nvPicPr>
        <p:blipFill>
          <a:blip r:embed="rId7"/>
          <a:srcRect r="75014"/>
          <a:stretch>
            <a:fillRect/>
          </a:stretch>
        </p:blipFill>
        <p:spPr>
          <a:xfrm>
            <a:off x="8400685" y="5692465"/>
            <a:ext cx="708405" cy="699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41" name="I_Omega_n∕s.pdf" descr="I_Omega_n∕s.pd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36245" y="4596555"/>
            <a:ext cx="760971" cy="230787"/>
          </a:xfrm>
          <a:prstGeom prst="rect">
            <a:avLst/>
          </a:prstGeom>
          <a:ln w="12700">
            <a:miter lim="400000"/>
          </a:ln>
        </p:spPr>
      </p:pic>
      <p:pic>
        <p:nvPicPr>
          <p:cNvPr id="742" name="I(_lambda)_&amp;&amp;_n∕.pdf" descr="I(_lambda)_&amp;&amp;_n∕.pdf"/>
          <p:cNvPicPr>
            <a:picLocks noChangeAspect="1"/>
          </p:cNvPicPr>
          <p:nvPr/>
        </p:nvPicPr>
        <p:blipFill>
          <a:blip r:embed="rId7"/>
          <a:srcRect l="72305"/>
          <a:stretch>
            <a:fillRect/>
          </a:stretch>
        </p:blipFill>
        <p:spPr>
          <a:xfrm>
            <a:off x="8992828" y="5692465"/>
            <a:ext cx="785196" cy="6991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745" name="Our rays are emitted randomly, sampling     and all variables of the source “spectrum”, i.e. wavelength, time and area…"/>
          <p:cNvSpPr txBox="1">
            <a:spLocks noGrp="1"/>
          </p:cNvSpPr>
          <p:nvPr>
            <p:ph type="body" idx="1"/>
          </p:nvPr>
        </p:nvSpPr>
        <p:spPr>
          <a:xfrm>
            <a:off x="1911419" y="1425053"/>
            <a:ext cx="8233086" cy="397915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17586" indent="-238190" defTabSz="672226">
              <a:spcBef>
                <a:spcPts val="998"/>
              </a:spcBef>
              <a:defRPr sz="2592" spc="0"/>
            </a:pPr>
            <a:r>
              <a:t>Our rays are emitted randomly, sampling     and all variables of the source “spectrum”, i.e. wavelength, time and area</a:t>
            </a:r>
          </a:p>
          <a:p>
            <a:pPr marL="317586" indent="-238190" defTabSz="672226">
              <a:spcBef>
                <a:spcPts val="998"/>
              </a:spcBef>
              <a:defRPr sz="2592" spc="0"/>
            </a:pPr>
            <a:endParaRPr/>
          </a:p>
          <a:p>
            <a:pPr marL="317586" indent="-238190" defTabSz="672226">
              <a:spcBef>
                <a:spcPts val="998"/>
              </a:spcBef>
              <a:defRPr sz="2592" spc="0"/>
            </a:pPr>
            <a:endParaRPr/>
          </a:p>
          <a:p>
            <a:pPr marL="317586" indent="-238190" defTabSz="672226">
              <a:spcBef>
                <a:spcPts val="998"/>
              </a:spcBef>
              <a:defRPr sz="2592" spc="0"/>
            </a:pPr>
            <a:endParaRPr/>
          </a:p>
          <a:p>
            <a:pPr marL="317586" indent="-238190" defTabSz="672226">
              <a:spcBef>
                <a:spcPts val="998"/>
              </a:spcBef>
              <a:defRPr sz="2592" spc="0"/>
            </a:pPr>
            <a:endParaRPr/>
          </a:p>
          <a:p>
            <a:pPr marL="317586" indent="-238190" defTabSz="672226">
              <a:spcBef>
                <a:spcPts val="998"/>
              </a:spcBef>
              <a:defRPr sz="2592" spc="0"/>
            </a:pPr>
            <a:endParaRPr/>
          </a:p>
          <a:p>
            <a:pPr marL="317586" indent="-238190" defTabSz="672226">
              <a:spcBef>
                <a:spcPts val="998"/>
              </a:spcBef>
              <a:defRPr sz="2592" spc="0"/>
            </a:pPr>
            <a:r>
              <a:t>assigning ray weights       such that</a:t>
            </a:r>
          </a:p>
        </p:txBody>
      </p:sp>
      <p:sp>
        <p:nvSpPr>
          <p:cNvPr id="746" name="Shape"/>
          <p:cNvSpPr/>
          <p:nvPr/>
        </p:nvSpPr>
        <p:spPr>
          <a:xfrm rot="16198665">
            <a:off x="3261986" y="2893376"/>
            <a:ext cx="1376825" cy="8352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21600" extrusionOk="0">
                <a:moveTo>
                  <a:pt x="9839" y="0"/>
                </a:moveTo>
                <a:cubicBezTo>
                  <a:pt x="7321" y="0"/>
                  <a:pt x="4803" y="241"/>
                  <a:pt x="2882" y="724"/>
                </a:cubicBezTo>
                <a:cubicBezTo>
                  <a:pt x="-961" y="1689"/>
                  <a:pt x="-961" y="3255"/>
                  <a:pt x="2882" y="4221"/>
                </a:cubicBezTo>
                <a:cubicBezTo>
                  <a:pt x="6724" y="5186"/>
                  <a:pt x="12954" y="5186"/>
                  <a:pt x="16796" y="4221"/>
                </a:cubicBezTo>
                <a:cubicBezTo>
                  <a:pt x="20639" y="3255"/>
                  <a:pt x="20639" y="1689"/>
                  <a:pt x="16796" y="724"/>
                </a:cubicBezTo>
                <a:cubicBezTo>
                  <a:pt x="14875" y="241"/>
                  <a:pt x="12357" y="0"/>
                  <a:pt x="9839" y="0"/>
                </a:cubicBezTo>
                <a:close/>
                <a:moveTo>
                  <a:pt x="0" y="3593"/>
                </a:moveTo>
                <a:lnTo>
                  <a:pt x="0" y="18993"/>
                </a:lnTo>
                <a:cubicBezTo>
                  <a:pt x="0" y="20356"/>
                  <a:pt x="4405" y="21600"/>
                  <a:pt x="9839" y="21600"/>
                </a:cubicBezTo>
                <a:cubicBezTo>
                  <a:pt x="15273" y="21600"/>
                  <a:pt x="19678" y="20356"/>
                  <a:pt x="19678" y="18993"/>
                </a:cubicBezTo>
                <a:lnTo>
                  <a:pt x="19678" y="3593"/>
                </a:lnTo>
                <a:cubicBezTo>
                  <a:pt x="18279" y="4621"/>
                  <a:pt x="14401" y="5357"/>
                  <a:pt x="9839" y="5357"/>
                </a:cubicBezTo>
                <a:cubicBezTo>
                  <a:pt x="5277" y="5357"/>
                  <a:pt x="1399" y="4621"/>
                  <a:pt x="0" y="3593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chemeClr val="accent2">
                <a:satOff val="-4966"/>
                <a:lumOff val="-10549"/>
              </a:schemeClr>
            </a:solidFill>
          </a:ln>
        </p:spPr>
        <p:txBody>
          <a:bodyPr lIns="0" tIns="0" rIns="0" bIns="0"/>
          <a:lstStyle/>
          <a:p>
            <a:endParaRPr sz="1634"/>
          </a:p>
        </p:txBody>
      </p:sp>
      <p:sp>
        <p:nvSpPr>
          <p:cNvPr id="747" name="Sources, e.g. rotating anod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Sources, e.g. rotating anode</a:t>
            </a:r>
          </a:p>
        </p:txBody>
      </p:sp>
      <p:sp>
        <p:nvSpPr>
          <p:cNvPr id="748" name="Line"/>
          <p:cNvSpPr/>
          <p:nvPr/>
        </p:nvSpPr>
        <p:spPr>
          <a:xfrm flipV="1">
            <a:off x="4123098" y="2897084"/>
            <a:ext cx="916838" cy="331066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49" name="Line"/>
          <p:cNvSpPr/>
          <p:nvPr/>
        </p:nvSpPr>
        <p:spPr>
          <a:xfrm>
            <a:off x="4018258" y="3464143"/>
            <a:ext cx="757716" cy="209109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50" name="Line"/>
          <p:cNvSpPr/>
          <p:nvPr/>
        </p:nvSpPr>
        <p:spPr>
          <a:xfrm>
            <a:off x="4022358" y="3613937"/>
            <a:ext cx="137651" cy="635997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51" name="Line"/>
          <p:cNvSpPr/>
          <p:nvPr/>
        </p:nvSpPr>
        <p:spPr>
          <a:xfrm flipH="1">
            <a:off x="3104716" y="3249319"/>
            <a:ext cx="754408" cy="553793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52" name="Line"/>
          <p:cNvSpPr/>
          <p:nvPr/>
        </p:nvSpPr>
        <p:spPr>
          <a:xfrm flipH="1" flipV="1">
            <a:off x="3345419" y="2734108"/>
            <a:ext cx="559897" cy="434411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53" name="Line"/>
          <p:cNvSpPr/>
          <p:nvPr/>
        </p:nvSpPr>
        <p:spPr>
          <a:xfrm flipV="1">
            <a:off x="4009676" y="2307334"/>
            <a:ext cx="632998" cy="745877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754" name="Line"/>
          <p:cNvSpPr/>
          <p:nvPr/>
        </p:nvSpPr>
        <p:spPr>
          <a:xfrm flipH="1">
            <a:off x="3600766" y="3311021"/>
            <a:ext cx="328286" cy="708075"/>
          </a:xfrm>
          <a:prstGeom prst="line">
            <a:avLst/>
          </a:prstGeom>
          <a:ln w="12700">
            <a:solidFill>
              <a:srgbClr val="636EEF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grpSp>
        <p:nvGrpSpPr>
          <p:cNvPr id="759" name="Group"/>
          <p:cNvGrpSpPr/>
          <p:nvPr/>
        </p:nvGrpSpPr>
        <p:grpSpPr>
          <a:xfrm>
            <a:off x="9662407" y="2872513"/>
            <a:ext cx="232349" cy="875264"/>
            <a:chOff x="0" y="0"/>
            <a:chExt cx="256013" cy="964409"/>
          </a:xfrm>
        </p:grpSpPr>
        <p:sp>
          <p:nvSpPr>
            <p:cNvPr id="755" name="Line"/>
            <p:cNvSpPr/>
            <p:nvPr/>
          </p:nvSpPr>
          <p:spPr>
            <a:xfrm flipV="1">
              <a:off x="10436" y="0"/>
              <a:ext cx="1" cy="741687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756" name="Line"/>
            <p:cNvSpPr/>
            <p:nvPr/>
          </p:nvSpPr>
          <p:spPr>
            <a:xfrm flipV="1">
              <a:off x="250474" y="222723"/>
              <a:ext cx="1" cy="741687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757" name="Line"/>
            <p:cNvSpPr/>
            <p:nvPr/>
          </p:nvSpPr>
          <p:spPr>
            <a:xfrm flipH="1" flipV="1">
              <a:off x="-1" y="-1"/>
              <a:ext cx="245578" cy="227864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758" name="Line"/>
            <p:cNvSpPr/>
            <p:nvPr/>
          </p:nvSpPr>
          <p:spPr>
            <a:xfrm flipH="1" flipV="1">
              <a:off x="10436" y="735955"/>
              <a:ext cx="245578" cy="227863"/>
            </a:xfrm>
            <a:prstGeom prst="line">
              <a:avLst/>
            </a:prstGeom>
            <a:noFill/>
            <a:ln w="12700" cap="flat">
              <a:solidFill>
                <a:srgbClr val="990000"/>
              </a:solidFill>
              <a:prstDash val="solid"/>
              <a:round/>
            </a:ln>
            <a:effectLst>
              <a:outerShdw blurRad="25400" dist="127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</p:grpSp>
      <p:pic>
        <p:nvPicPr>
          <p:cNvPr id="760" name="xw.pdf" descr="xw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893" y="3748318"/>
            <a:ext cx="224265" cy="84723"/>
          </a:xfrm>
          <a:prstGeom prst="rect">
            <a:avLst/>
          </a:prstGeom>
          <a:ln w="12700">
            <a:miter lim="400000"/>
          </a:ln>
        </p:spPr>
      </p:pic>
      <p:pic>
        <p:nvPicPr>
          <p:cNvPr id="761" name="yh.pdf" descr="yh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5389" y="3233154"/>
            <a:ext cx="176693" cy="1534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2" name="dist.pdf" descr="dist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56415">
            <a:off x="6686170" y="3595273"/>
            <a:ext cx="311222" cy="137148"/>
          </a:xfrm>
          <a:prstGeom prst="rect">
            <a:avLst/>
          </a:prstGeom>
          <a:ln w="12700">
            <a:miter lim="400000"/>
          </a:ln>
        </p:spPr>
      </p:pic>
      <p:pic>
        <p:nvPicPr>
          <p:cNvPr id="763" name="latex-image.pdf" descr="latex-image.pdf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5438934">
            <a:off x="6759475" y="410725"/>
            <a:ext cx="296173" cy="6036550"/>
          </a:xfrm>
          <a:prstGeom prst="rect">
            <a:avLst/>
          </a:prstGeom>
          <a:ln w="12700">
            <a:miter lim="400000"/>
          </a:ln>
        </p:spPr>
      </p:pic>
      <p:pic>
        <p:nvPicPr>
          <p:cNvPr id="764" name="Omega.pdf" descr="Omega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777" y="3082236"/>
            <a:ext cx="136396" cy="153445"/>
          </a:xfrm>
          <a:prstGeom prst="rect">
            <a:avLst/>
          </a:prstGeom>
          <a:ln w="12700">
            <a:miter lim="400000"/>
          </a:ln>
        </p:spPr>
      </p:pic>
      <p:sp>
        <p:nvSpPr>
          <p:cNvPr id="765" name="Line"/>
          <p:cNvSpPr/>
          <p:nvPr/>
        </p:nvSpPr>
        <p:spPr>
          <a:xfrm>
            <a:off x="8383613" y="3158957"/>
            <a:ext cx="382093" cy="1"/>
          </a:xfrm>
          <a:prstGeom prst="line">
            <a:avLst/>
          </a:prstGeom>
          <a:ln w="12700">
            <a:solidFill>
              <a:srgbClr val="990000"/>
            </a:solidFill>
            <a:tailEnd type="triangle"/>
          </a:ln>
          <a:effectLst>
            <a:outerShdw blurRad="25400" dist="12700" dir="5400000" rotWithShape="0">
              <a:srgbClr val="000000">
                <a:alpha val="38000"/>
              </a:srgbClr>
            </a:outerShdw>
          </a:effectLst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pic>
        <p:nvPicPr>
          <p:cNvPr id="766" name="Omega.pdf" descr="Omega.pd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4716" y="1447832"/>
            <a:ext cx="224265" cy="2522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67" name="p.pdf" descr="p.pdf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2626" y="4967665"/>
            <a:ext cx="176693" cy="212032"/>
          </a:xfrm>
          <a:prstGeom prst="rect">
            <a:avLst/>
          </a:prstGeom>
          <a:ln w="12700">
            <a:miter lim="400000"/>
          </a:ln>
        </p:spPr>
      </p:pic>
      <p:pic>
        <p:nvPicPr>
          <p:cNvPr id="768" name="sum_j=1^textrm_n.pdf" descr="sum_j=1^textrm_n.pdf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3250" y="5328372"/>
            <a:ext cx="2870159" cy="698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9" name="I_Omega_(_lambda.pdf" descr="I_Omega_(_lambda.pd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2682" y="2299422"/>
            <a:ext cx="1949032" cy="3095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772" name="The starting point on the surface, i.e.     (in the code variables x,y,z)…"/>
          <p:cNvSpPr txBox="1">
            <a:spLocks noGrp="1"/>
          </p:cNvSpPr>
          <p:nvPr>
            <p:ph type="body" idx="1"/>
          </p:nvPr>
        </p:nvSpPr>
        <p:spPr>
          <a:xfrm>
            <a:off x="1983333" y="1605516"/>
            <a:ext cx="8233086" cy="4310482"/>
          </a:xfrm>
          <a:prstGeom prst="rect">
            <a:avLst/>
          </a:prstGeom>
        </p:spPr>
        <p:txBody>
          <a:bodyPr/>
          <a:lstStyle/>
          <a:p>
            <a:pPr marL="215646" indent="-161733" defTabSz="456450">
              <a:spcBef>
                <a:spcPts val="635"/>
              </a:spcBef>
              <a:defRPr sz="1760" spc="0"/>
            </a:pPr>
            <a:endParaRPr/>
          </a:p>
          <a:p>
            <a:pPr marL="215646" indent="-161733" defTabSz="456450">
              <a:spcBef>
                <a:spcPts val="635"/>
              </a:spcBef>
              <a:defRPr sz="1760" spc="0"/>
            </a:pPr>
            <a:endParaRPr/>
          </a:p>
          <a:p>
            <a:pPr marL="215646" indent="-161733" defTabSz="456450">
              <a:spcBef>
                <a:spcPts val="635"/>
              </a:spcBef>
              <a:defRPr sz="1760" spc="0"/>
            </a:pPr>
            <a:r>
              <a:t>The </a:t>
            </a:r>
            <a:r>
              <a:rPr b="1"/>
              <a:t>starting point</a:t>
            </a:r>
            <a:r>
              <a:t> on the surface, i.e.     (in the code variables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x,y,z</a:t>
            </a:r>
            <a:r>
              <a:t>)</a:t>
            </a:r>
          </a:p>
          <a:p>
            <a:pPr marL="215646" indent="-161733" defTabSz="456450">
              <a:spcBef>
                <a:spcPts val="635"/>
              </a:spcBef>
              <a:defRPr sz="1760" spc="0"/>
            </a:pPr>
            <a:endParaRPr/>
          </a:p>
          <a:p>
            <a:pPr marL="215646" indent="-161733" defTabSz="456450">
              <a:spcBef>
                <a:spcPts val="635"/>
              </a:spcBef>
              <a:defRPr sz="1760" spc="0"/>
            </a:pPr>
            <a:r>
              <a:t>The </a:t>
            </a:r>
            <a:r>
              <a:rPr b="1"/>
              <a:t>direction</a:t>
            </a:r>
            <a:r>
              <a:t> into     and our    / k   (in the code variables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kx,ky,kz</a:t>
            </a:r>
            <a:r>
              <a:t>)</a:t>
            </a:r>
          </a:p>
          <a:p>
            <a:pPr marL="215646" indent="-161733" defTabSz="456450">
              <a:spcBef>
                <a:spcPts val="635"/>
              </a:spcBef>
              <a:defRPr sz="1760" spc="0"/>
            </a:pPr>
            <a:endParaRPr/>
          </a:p>
          <a:p>
            <a:pPr marL="215646" indent="-161733" defTabSz="456450">
              <a:spcBef>
                <a:spcPts val="635"/>
              </a:spcBef>
              <a:defRPr sz="1760" spc="0"/>
            </a:pPr>
            <a:r>
              <a:t>The </a:t>
            </a:r>
            <a:r>
              <a:rPr b="1"/>
              <a:t>starting time</a:t>
            </a:r>
            <a:r>
              <a:t> (in the code the variable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t</a:t>
            </a:r>
            <a:r>
              <a:t>)</a:t>
            </a:r>
          </a:p>
          <a:p>
            <a:pPr marL="215646" indent="-161733" defTabSz="456450">
              <a:spcBef>
                <a:spcPts val="635"/>
              </a:spcBef>
              <a:defRPr sz="1760" spc="0"/>
            </a:pPr>
            <a:endParaRPr/>
          </a:p>
          <a:p>
            <a:pPr marL="215646" indent="-161733" defTabSz="456450">
              <a:spcBef>
                <a:spcPts val="635"/>
              </a:spcBef>
              <a:defRPr sz="1760" spc="0"/>
            </a:pPr>
            <a:r>
              <a:t>The initial </a:t>
            </a:r>
            <a:r>
              <a:rPr b="1"/>
              <a:t>intensity</a:t>
            </a:r>
            <a:r>
              <a:t> / weight of the X-ray ray (in the code the variable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p</a:t>
            </a:r>
            <a:r>
              <a:t>)</a:t>
            </a:r>
          </a:p>
          <a:p>
            <a:pPr marL="215646" indent="-161733" defTabSz="456450">
              <a:spcBef>
                <a:spcPts val="635"/>
              </a:spcBef>
              <a:defRPr sz="1760" spc="0"/>
            </a:pPr>
            <a:endParaRPr/>
          </a:p>
          <a:p>
            <a:pPr marL="215646" indent="-161733" defTabSz="456450">
              <a:spcBef>
                <a:spcPts val="635"/>
              </a:spcBef>
              <a:defRPr sz="1760" spc="0"/>
            </a:pPr>
            <a:r>
              <a:t>If needed the initial </a:t>
            </a:r>
          </a:p>
          <a:p>
            <a:pPr marL="431292" lvl="1" indent="-161733" defTabSz="456450">
              <a:spcBef>
                <a:spcPts val="635"/>
              </a:spcBef>
              <a:buSzPct val="45000"/>
              <a:buFontTx/>
              <a:buChar char="●"/>
              <a:defRPr sz="1760" spc="0"/>
            </a:pPr>
            <a:r>
              <a:rPr b="1"/>
              <a:t>Electric field polarisation</a:t>
            </a:r>
            <a:r>
              <a:t> (in the code the variables </a:t>
            </a:r>
            <a:r>
              <a:rPr>
                <a:latin typeface="Courier"/>
                <a:ea typeface="Courier"/>
                <a:cs typeface="Courier"/>
                <a:sym typeface="Courier"/>
              </a:rPr>
              <a:t>Ex,Ey,Ez</a:t>
            </a:r>
            <a:r>
              <a:t>)</a:t>
            </a:r>
          </a:p>
          <a:p>
            <a:pPr marL="431292" lvl="1" indent="-161733" defTabSz="456450">
              <a:spcBef>
                <a:spcPts val="635"/>
              </a:spcBef>
              <a:buSzPct val="45000"/>
              <a:buFontTx/>
              <a:buChar char="●"/>
              <a:defRPr sz="1760" spc="0"/>
            </a:pPr>
            <a:r>
              <a:t>X-ray phase (in the code the variable phi)</a:t>
            </a:r>
          </a:p>
        </p:txBody>
      </p:sp>
      <p:sp>
        <p:nvSpPr>
          <p:cNvPr id="773" name="X-ray (rays) in McXtrace - what are they?"/>
          <p:cNvSpPr txBox="1">
            <a:spLocks noGrp="1"/>
          </p:cNvSpPr>
          <p:nvPr>
            <p:ph type="title"/>
          </p:nvPr>
        </p:nvSpPr>
        <p:spPr>
          <a:xfrm>
            <a:off x="3205457" y="15356"/>
            <a:ext cx="5358254" cy="49204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t>X-ray (rays) in McXtrace - what are they?</a:t>
            </a:r>
          </a:p>
        </p:txBody>
      </p:sp>
      <p:pic>
        <p:nvPicPr>
          <p:cNvPr id="774" name="vec_r.pdf" descr="vec_r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377" y="2300364"/>
            <a:ext cx="136396" cy="167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775" name="Omega.pdf" descr="Omega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3658" y="2970871"/>
            <a:ext cx="136395" cy="153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76" name="lambda.pdf" descr="lambda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839" y="2977409"/>
            <a:ext cx="102575" cy="140366"/>
          </a:xfrm>
          <a:prstGeom prst="rect">
            <a:avLst/>
          </a:prstGeom>
          <a:ln w="12700">
            <a:miter lim="400000"/>
          </a:ln>
        </p:spPr>
      </p:pic>
      <p:sp>
        <p:nvSpPr>
          <p:cNvPr id="777" name="Defining the ray starting conditions imply setting:"/>
          <p:cNvSpPr txBox="1"/>
          <p:nvPr/>
        </p:nvSpPr>
        <p:spPr>
          <a:xfrm>
            <a:off x="1998925" y="1077139"/>
            <a:ext cx="4580613" cy="2514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marL="198000" indent="-198000" defTabSz="1007533">
              <a:spcBef>
                <a:spcPts val="400"/>
              </a:spcBef>
              <a:buSzPct val="100000"/>
              <a:buChar char="•"/>
            </a:lvl1pPr>
          </a:lstStyle>
          <a:p>
            <a:r>
              <a:rPr sz="1634"/>
              <a:t>Defining the ray starting conditions imply setting:</a:t>
            </a:r>
          </a:p>
        </p:txBody>
      </p:sp>
      <p:sp>
        <p:nvSpPr>
          <p:cNvPr id="778" name="X-ray package:…"/>
          <p:cNvSpPr txBox="1"/>
          <p:nvPr/>
        </p:nvSpPr>
        <p:spPr>
          <a:xfrm>
            <a:off x="7670718" y="513962"/>
            <a:ext cx="2888297" cy="1657639"/>
          </a:xfrm>
          <a:prstGeom prst="rect">
            <a:avLst/>
          </a:prstGeom>
          <a:solidFill>
            <a:srgbClr val="FFFFFF"/>
          </a:solidFill>
          <a:ln w="63500">
            <a:solidFill>
              <a:srgbClr val="FF3700"/>
            </a:solidFill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6104" tIns="46104" rIns="46104" bIns="46104" anchor="ctr">
            <a:spAutoFit/>
          </a:bodyPr>
          <a:lstStyle/>
          <a:p>
            <a:pPr defTabSz="783803">
              <a:defRPr sz="1400">
                <a:latin typeface="Gill Sans"/>
                <a:ea typeface="Gill Sans"/>
                <a:cs typeface="Gill Sans"/>
                <a:sym typeface="Gill Sans"/>
              </a:defRPr>
            </a:pPr>
            <a:r>
              <a:rPr sz="1271"/>
              <a:t>X-ray package:</a:t>
            </a:r>
          </a:p>
          <a:p>
            <a:pPr defTabSz="783803">
              <a:defRPr sz="1400">
                <a:latin typeface="Gill Sans"/>
                <a:ea typeface="Gill Sans"/>
                <a:cs typeface="Gill Sans"/>
                <a:sym typeface="Gill Sans"/>
              </a:defRPr>
            </a:pPr>
            <a:endParaRPr sz="1271"/>
          </a:p>
          <a:p>
            <a:pPr defTabSz="783803">
              <a:defRPr sz="1400">
                <a:latin typeface="Gill Sans"/>
                <a:ea typeface="Gill Sans"/>
                <a:cs typeface="Gill Sans"/>
                <a:sym typeface="Gill Sans"/>
              </a:defRPr>
            </a:pPr>
            <a:r>
              <a:rPr sz="1271"/>
              <a:t>Weight (p), # photons (left) in the package</a:t>
            </a:r>
          </a:p>
          <a:p>
            <a:pPr defTabSz="783803">
              <a:defRPr sz="1400">
                <a:latin typeface="Gill Sans"/>
                <a:ea typeface="Gill Sans"/>
                <a:cs typeface="Gill Sans"/>
                <a:sym typeface="Gill Sans"/>
              </a:defRPr>
            </a:pPr>
            <a:r>
              <a:rPr sz="1271"/>
              <a:t>Coordinates (x,y,z)</a:t>
            </a:r>
          </a:p>
          <a:p>
            <a:pPr defTabSz="783803">
              <a:defRPr sz="1400">
                <a:latin typeface="Gill Sans"/>
                <a:ea typeface="Gill Sans"/>
                <a:cs typeface="Gill Sans"/>
                <a:sym typeface="Gill Sans"/>
              </a:defRPr>
            </a:pPr>
            <a:r>
              <a:rPr sz="1271"/>
              <a:t>Wavevector (k</a:t>
            </a:r>
            <a:r>
              <a:rPr sz="1271" baseline="-5999"/>
              <a:t>x</a:t>
            </a:r>
            <a:r>
              <a:rPr sz="1271"/>
              <a:t>,k</a:t>
            </a:r>
            <a:r>
              <a:rPr sz="1271" baseline="-5999"/>
              <a:t>y</a:t>
            </a:r>
            <a:r>
              <a:rPr sz="1271"/>
              <a:t>,k</a:t>
            </a:r>
            <a:r>
              <a:rPr sz="1271" baseline="-5999"/>
              <a:t>z</a:t>
            </a:r>
            <a:r>
              <a:rPr sz="1271"/>
              <a:t>)</a:t>
            </a:r>
          </a:p>
          <a:p>
            <a:pPr defTabSz="783803">
              <a:defRPr sz="1400">
                <a:latin typeface="Gill Sans"/>
                <a:ea typeface="Gill Sans"/>
                <a:cs typeface="Gill Sans"/>
                <a:sym typeface="Gill Sans"/>
              </a:defRPr>
            </a:pPr>
            <a:r>
              <a:rPr sz="1271"/>
              <a:t>Polarization (E</a:t>
            </a:r>
            <a:r>
              <a:rPr sz="1271" baseline="-5999"/>
              <a:t>x</a:t>
            </a:r>
            <a:r>
              <a:rPr sz="1271"/>
              <a:t>,E</a:t>
            </a:r>
            <a:r>
              <a:rPr sz="1271" baseline="-5999"/>
              <a:t>y</a:t>
            </a:r>
            <a:r>
              <a:rPr sz="1271"/>
              <a:t>,E</a:t>
            </a:r>
            <a:r>
              <a:rPr sz="1271" baseline="-5999"/>
              <a:t>z</a:t>
            </a:r>
            <a:r>
              <a:rPr sz="1271"/>
              <a:t>)</a:t>
            </a:r>
          </a:p>
          <a:p>
            <a:pPr defTabSz="783803">
              <a:defRPr sz="1400">
                <a:latin typeface="Gill Sans"/>
                <a:ea typeface="Gill Sans"/>
                <a:cs typeface="Gill Sans"/>
                <a:sym typeface="Gill Sans"/>
              </a:defRPr>
            </a:pPr>
            <a:r>
              <a:rPr sz="1271"/>
              <a:t>Phase ()</a:t>
            </a:r>
          </a:p>
          <a:p>
            <a:pPr defTabSz="783803">
              <a:defRPr sz="1400">
                <a:latin typeface="Gill Sans"/>
                <a:ea typeface="Gill Sans"/>
                <a:cs typeface="Gill Sans"/>
                <a:sym typeface="Gill Sans"/>
              </a:defRPr>
            </a:pPr>
            <a:r>
              <a:rPr sz="1271"/>
              <a:t>Time(t)</a:t>
            </a:r>
          </a:p>
        </p:txBody>
      </p:sp>
      <p:pic>
        <p:nvPicPr>
          <p:cNvPr id="77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718" y="519163"/>
            <a:ext cx="102593" cy="16927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Monitors: in general"/>
          <p:cNvSpPr txBox="1"/>
          <p:nvPr/>
        </p:nvSpPr>
        <p:spPr>
          <a:xfrm>
            <a:off x="2857849" y="1540391"/>
            <a:ext cx="6988437" cy="22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1600" spc="-1"/>
            </a:lvl1pPr>
          </a:lstStyle>
          <a:p>
            <a:r>
              <a:rPr sz="1452"/>
              <a:t>Monitors: in general</a:t>
            </a:r>
          </a:p>
        </p:txBody>
      </p:sp>
      <p:sp>
        <p:nvSpPr>
          <p:cNvPr id="1039" name="REALITY:…"/>
          <p:cNvSpPr txBox="1"/>
          <p:nvPr/>
        </p:nvSpPr>
        <p:spPr>
          <a:xfrm>
            <a:off x="2846852" y="2012015"/>
            <a:ext cx="3714812" cy="2548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1600" spc="0"/>
            </a:pPr>
            <a:r>
              <a:rPr sz="1452"/>
              <a:t>REALITY:</a:t>
            </a:r>
          </a:p>
          <a:p>
            <a:pPr defTabSz="914437">
              <a:spcBef>
                <a:spcPts val="908"/>
              </a:spcBef>
              <a:defRPr sz="1600" spc="0"/>
            </a:pPr>
            <a:endParaRPr sz="1452"/>
          </a:p>
          <a:p>
            <a:pPr defTabSz="914437">
              <a:spcBef>
                <a:spcPts val="908"/>
              </a:spcBef>
              <a:defRPr sz="1600" spc="0"/>
            </a:pPr>
            <a:r>
              <a:rPr sz="1452"/>
              <a:t>Monitors:</a:t>
            </a:r>
          </a:p>
          <a:p>
            <a:pPr marL="174258" indent="-174258" defTabSz="914437">
              <a:spcBef>
                <a:spcPts val="908"/>
              </a:spcBef>
              <a:buClr>
                <a:srgbClr val="000000"/>
              </a:buClr>
              <a:buSzPct val="45000"/>
              <a:buChar char="➢"/>
              <a:defRPr sz="1600" spc="0"/>
            </a:pPr>
            <a:r>
              <a:rPr sz="1452"/>
              <a:t>Intensity probe of the beam</a:t>
            </a:r>
          </a:p>
          <a:p>
            <a:pPr marL="174258" indent="-174258" defTabSz="914437">
              <a:spcBef>
                <a:spcPts val="908"/>
              </a:spcBef>
              <a:buClr>
                <a:srgbClr val="000000"/>
              </a:buClr>
              <a:buSzPct val="45000"/>
              <a:buChar char="➢"/>
              <a:defRPr sz="1600" spc="0"/>
            </a:pPr>
            <a:r>
              <a:rPr sz="1452"/>
              <a:t>Semi-transparent to X-rays → Low Efficiency</a:t>
            </a:r>
          </a:p>
          <a:p>
            <a:pPr defTabSz="914437">
              <a:spcBef>
                <a:spcPts val="908"/>
              </a:spcBef>
              <a:defRPr sz="1600" spc="0"/>
            </a:pPr>
            <a:r>
              <a:rPr sz="1452"/>
              <a:t>Detectors:</a:t>
            </a:r>
          </a:p>
          <a:p>
            <a:pPr marL="174258" indent="-174258" defTabSz="914437">
              <a:spcBef>
                <a:spcPts val="908"/>
              </a:spcBef>
              <a:buClr>
                <a:srgbClr val="000000"/>
              </a:buClr>
              <a:buSzPct val="45000"/>
              <a:buChar char="➢"/>
              <a:defRPr sz="1600" spc="0"/>
            </a:pPr>
            <a:r>
              <a:rPr sz="1452"/>
              <a:t>Should detect </a:t>
            </a:r>
            <a:r>
              <a:rPr sz="1452" i="1"/>
              <a:t>all</a:t>
            </a:r>
            <a:r>
              <a:rPr sz="1452"/>
              <a:t> photons → Efficiency as high as possible</a:t>
            </a:r>
          </a:p>
        </p:txBody>
      </p:sp>
      <p:sp>
        <p:nvSpPr>
          <p:cNvPr id="1040" name="SIMULATIONS (McXtrace):…"/>
          <p:cNvSpPr txBox="1"/>
          <p:nvPr/>
        </p:nvSpPr>
        <p:spPr>
          <a:xfrm>
            <a:off x="6692884" y="1976847"/>
            <a:ext cx="3714811" cy="26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1600" spc="0"/>
            </a:pPr>
            <a:r>
              <a:rPr sz="1452"/>
              <a:t>SIMULATIONS (McXtrace):</a:t>
            </a:r>
          </a:p>
          <a:p>
            <a:pPr defTabSz="914437">
              <a:spcBef>
                <a:spcPts val="908"/>
              </a:spcBef>
              <a:defRPr sz="1600" spc="0"/>
            </a:pPr>
            <a:endParaRPr sz="1452"/>
          </a:p>
          <a:p>
            <a:pPr defTabSz="914437">
              <a:spcBef>
                <a:spcPts val="908"/>
              </a:spcBef>
              <a:defRPr sz="1600" spc="0"/>
            </a:pPr>
            <a:r>
              <a:rPr sz="1452"/>
              <a:t>In McXtrace:</a:t>
            </a:r>
          </a:p>
          <a:p>
            <a:pPr marL="174258" indent="-174258" defTabSz="914437">
              <a:spcBef>
                <a:spcPts val="908"/>
              </a:spcBef>
              <a:buClr>
                <a:srgbClr val="000000"/>
              </a:buClr>
              <a:buSzPct val="45000"/>
              <a:buChar char="➢"/>
              <a:defRPr sz="1600" spc="0"/>
            </a:pPr>
            <a:r>
              <a:rPr sz="1452"/>
              <a:t>We can program monitors and detectors to behave any way we like. We refer to both of those indistinguishably as ‘monitors’.</a:t>
            </a:r>
          </a:p>
          <a:p>
            <a:pPr marL="174258" indent="-174258" defTabSz="914437">
              <a:spcBef>
                <a:spcPts val="908"/>
              </a:spcBef>
              <a:buClr>
                <a:srgbClr val="000000"/>
              </a:buClr>
              <a:buSzPct val="45000"/>
              <a:buChar char="➢"/>
              <a:defRPr sz="1600" spc="0"/>
            </a:pPr>
            <a:r>
              <a:rPr sz="1452"/>
              <a:t>E.g. monitor with Efficiency =100% and Transparency=100%</a:t>
            </a:r>
          </a:p>
          <a:p>
            <a:pPr marL="174258" indent="-174258" defTabSz="914437">
              <a:spcBef>
                <a:spcPts val="908"/>
              </a:spcBef>
              <a:buClr>
                <a:srgbClr val="000000"/>
              </a:buClr>
              <a:buSzPct val="45000"/>
              <a:buChar char="➢"/>
              <a:defRPr sz="1600" spc="0"/>
            </a:pPr>
            <a:endParaRPr sz="1452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Monitors: Example PSD_monitor"/>
          <p:cNvSpPr txBox="1"/>
          <p:nvPr/>
        </p:nvSpPr>
        <p:spPr>
          <a:xfrm>
            <a:off x="2857849" y="1540391"/>
            <a:ext cx="6988437" cy="22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1600" spc="-1"/>
            </a:lvl1pPr>
          </a:lstStyle>
          <a:p>
            <a:r>
              <a:rPr sz="1452"/>
              <a:t>Monitors: Example PSD_monitor</a:t>
            </a:r>
          </a:p>
        </p:txBody>
      </p:sp>
      <p:sp>
        <p:nvSpPr>
          <p:cNvPr id="1043" name="Shape"/>
          <p:cNvSpPr/>
          <p:nvPr/>
        </p:nvSpPr>
        <p:spPr>
          <a:xfrm rot="5400000">
            <a:off x="5883730" y="3291754"/>
            <a:ext cx="2881883" cy="480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1" y="0"/>
                </a:moveTo>
                <a:lnTo>
                  <a:pt x="0" y="0"/>
                </a:lnTo>
                <a:lnTo>
                  <a:pt x="5402" y="21600"/>
                </a:lnTo>
                <a:lnTo>
                  <a:pt x="21600" y="21600"/>
                </a:lnTo>
                <a:lnTo>
                  <a:pt x="16201" y="0"/>
                </a:lnTo>
              </a:path>
            </a:pathLst>
          </a:custGeom>
          <a:solidFill>
            <a:srgbClr val="729FCF"/>
          </a:solidFill>
          <a:ln w="3175">
            <a:solidFill>
              <a:srgbClr val="3465A4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44" name="Line"/>
          <p:cNvSpPr/>
          <p:nvPr/>
        </p:nvSpPr>
        <p:spPr>
          <a:xfrm flipV="1">
            <a:off x="4335668" y="2422624"/>
            <a:ext cx="5673528" cy="1350840"/>
          </a:xfrm>
          <a:prstGeom prst="line">
            <a:avLst/>
          </a:prstGeom>
          <a:ln w="3175">
            <a:solidFill>
              <a:srgbClr val="3465A4"/>
            </a:solidFill>
            <a:tailEnd type="stealth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45" name="Line"/>
          <p:cNvSpPr/>
          <p:nvPr/>
        </p:nvSpPr>
        <p:spPr>
          <a:xfrm>
            <a:off x="5308273" y="3881532"/>
            <a:ext cx="4484789" cy="324202"/>
          </a:xfrm>
          <a:prstGeom prst="line">
            <a:avLst/>
          </a:prstGeom>
          <a:ln w="3175">
            <a:solidFill>
              <a:srgbClr val="3465A4"/>
            </a:solidFill>
            <a:tailEnd type="stealth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46" name="Line"/>
          <p:cNvSpPr/>
          <p:nvPr/>
        </p:nvSpPr>
        <p:spPr>
          <a:xfrm>
            <a:off x="4173567" y="2908926"/>
            <a:ext cx="5295294" cy="648403"/>
          </a:xfrm>
          <a:prstGeom prst="line">
            <a:avLst/>
          </a:prstGeom>
          <a:ln w="3175">
            <a:solidFill>
              <a:srgbClr val="3465A4"/>
            </a:solidFill>
            <a:tailEnd type="stealth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47" name="Shape"/>
          <p:cNvSpPr/>
          <p:nvPr/>
        </p:nvSpPr>
        <p:spPr>
          <a:xfrm>
            <a:off x="7278337" y="2987816"/>
            <a:ext cx="137246" cy="137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7" y="0"/>
                </a:moveTo>
                <a:lnTo>
                  <a:pt x="8278" y="8256"/>
                </a:lnTo>
                <a:lnTo>
                  <a:pt x="0" y="8256"/>
                </a:lnTo>
                <a:lnTo>
                  <a:pt x="6722" y="13405"/>
                </a:lnTo>
                <a:lnTo>
                  <a:pt x="4198" y="21600"/>
                </a:lnTo>
                <a:lnTo>
                  <a:pt x="10797" y="16580"/>
                </a:lnTo>
                <a:lnTo>
                  <a:pt x="17401" y="21600"/>
                </a:lnTo>
                <a:lnTo>
                  <a:pt x="14878" y="13405"/>
                </a:lnTo>
                <a:lnTo>
                  <a:pt x="21600" y="8256"/>
                </a:lnTo>
                <a:lnTo>
                  <a:pt x="13321" y="8256"/>
                </a:lnTo>
                <a:lnTo>
                  <a:pt x="10797" y="0"/>
                </a:lnTo>
                <a:close/>
              </a:path>
            </a:pathLst>
          </a:custGeom>
          <a:solidFill>
            <a:srgbClr val="FFFF00"/>
          </a:solidFill>
          <a:ln w="3175">
            <a:solidFill>
              <a:srgbClr val="3465A4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48" name="Shape"/>
          <p:cNvSpPr/>
          <p:nvPr/>
        </p:nvSpPr>
        <p:spPr>
          <a:xfrm>
            <a:off x="7307516" y="3233128"/>
            <a:ext cx="137246" cy="137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7" y="0"/>
                </a:moveTo>
                <a:lnTo>
                  <a:pt x="8278" y="8256"/>
                </a:lnTo>
                <a:lnTo>
                  <a:pt x="0" y="8256"/>
                </a:lnTo>
                <a:lnTo>
                  <a:pt x="6722" y="13405"/>
                </a:lnTo>
                <a:lnTo>
                  <a:pt x="4198" y="21600"/>
                </a:lnTo>
                <a:lnTo>
                  <a:pt x="10797" y="16580"/>
                </a:lnTo>
                <a:lnTo>
                  <a:pt x="17401" y="21600"/>
                </a:lnTo>
                <a:lnTo>
                  <a:pt x="14878" y="13405"/>
                </a:lnTo>
                <a:lnTo>
                  <a:pt x="21600" y="8256"/>
                </a:lnTo>
                <a:lnTo>
                  <a:pt x="13321" y="8256"/>
                </a:lnTo>
                <a:lnTo>
                  <a:pt x="10797" y="0"/>
                </a:lnTo>
                <a:close/>
              </a:path>
            </a:pathLst>
          </a:custGeom>
          <a:solidFill>
            <a:srgbClr val="FFFF00"/>
          </a:solidFill>
          <a:ln w="3175">
            <a:solidFill>
              <a:srgbClr val="3465A4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49" name="Shape"/>
          <p:cNvSpPr/>
          <p:nvPr/>
        </p:nvSpPr>
        <p:spPr>
          <a:xfrm>
            <a:off x="7116237" y="3960420"/>
            <a:ext cx="137246" cy="1372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7" y="0"/>
                </a:moveTo>
                <a:lnTo>
                  <a:pt x="8278" y="8256"/>
                </a:lnTo>
                <a:lnTo>
                  <a:pt x="0" y="8256"/>
                </a:lnTo>
                <a:lnTo>
                  <a:pt x="6722" y="13405"/>
                </a:lnTo>
                <a:lnTo>
                  <a:pt x="4198" y="21600"/>
                </a:lnTo>
                <a:lnTo>
                  <a:pt x="10797" y="16580"/>
                </a:lnTo>
                <a:lnTo>
                  <a:pt x="17401" y="21600"/>
                </a:lnTo>
                <a:lnTo>
                  <a:pt x="14878" y="13405"/>
                </a:lnTo>
                <a:lnTo>
                  <a:pt x="21600" y="8256"/>
                </a:lnTo>
                <a:lnTo>
                  <a:pt x="13321" y="8256"/>
                </a:lnTo>
                <a:lnTo>
                  <a:pt x="10797" y="0"/>
                </a:lnTo>
                <a:close/>
              </a:path>
            </a:pathLst>
          </a:custGeom>
          <a:solidFill>
            <a:srgbClr val="FFFF00"/>
          </a:solidFill>
          <a:ln w="3175">
            <a:solidFill>
              <a:srgbClr val="3465A4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50" name="Line"/>
          <p:cNvSpPr/>
          <p:nvPr/>
        </p:nvSpPr>
        <p:spPr>
          <a:xfrm flipV="1">
            <a:off x="7084357" y="2530692"/>
            <a:ext cx="480359" cy="648404"/>
          </a:xfrm>
          <a:prstGeom prst="line">
            <a:avLst/>
          </a:prstGeom>
          <a:ln w="3175">
            <a:solidFill>
              <a:srgbClr val="3465A4"/>
            </a:solidFill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51" name="Line"/>
          <p:cNvSpPr/>
          <p:nvPr/>
        </p:nvSpPr>
        <p:spPr>
          <a:xfrm flipV="1">
            <a:off x="7084357" y="2908927"/>
            <a:ext cx="480359" cy="648404"/>
          </a:xfrm>
          <a:prstGeom prst="line">
            <a:avLst/>
          </a:prstGeom>
          <a:ln w="3175">
            <a:solidFill>
              <a:srgbClr val="3465A4"/>
            </a:solidFill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52" name="Line"/>
          <p:cNvSpPr/>
          <p:nvPr/>
        </p:nvSpPr>
        <p:spPr>
          <a:xfrm flipV="1">
            <a:off x="7084357" y="3287162"/>
            <a:ext cx="480359" cy="648404"/>
          </a:xfrm>
          <a:prstGeom prst="line">
            <a:avLst/>
          </a:prstGeom>
          <a:ln w="3175">
            <a:solidFill>
              <a:srgbClr val="3465A4"/>
            </a:solidFill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53" name="Line"/>
          <p:cNvSpPr/>
          <p:nvPr/>
        </p:nvSpPr>
        <p:spPr>
          <a:xfrm flipV="1">
            <a:off x="7084357" y="3665397"/>
            <a:ext cx="480359" cy="648404"/>
          </a:xfrm>
          <a:prstGeom prst="line">
            <a:avLst/>
          </a:prstGeom>
          <a:ln w="3175">
            <a:solidFill>
              <a:srgbClr val="3465A4"/>
            </a:solidFill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54" name="Line"/>
          <p:cNvSpPr/>
          <p:nvPr/>
        </p:nvSpPr>
        <p:spPr>
          <a:xfrm flipV="1">
            <a:off x="7084357" y="3989598"/>
            <a:ext cx="480359" cy="648404"/>
          </a:xfrm>
          <a:prstGeom prst="line">
            <a:avLst/>
          </a:prstGeom>
          <a:ln w="3175">
            <a:solidFill>
              <a:srgbClr val="3465A4"/>
            </a:solidFill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55" name="Line"/>
          <p:cNvSpPr/>
          <p:nvPr/>
        </p:nvSpPr>
        <p:spPr>
          <a:xfrm>
            <a:off x="7226465" y="2090857"/>
            <a:ext cx="54034" cy="3033448"/>
          </a:xfrm>
          <a:prstGeom prst="line">
            <a:avLst/>
          </a:prstGeom>
          <a:ln w="3175">
            <a:solidFill>
              <a:srgbClr val="3465A4"/>
            </a:solidFill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56" name="Line"/>
          <p:cNvSpPr/>
          <p:nvPr/>
        </p:nvSpPr>
        <p:spPr>
          <a:xfrm>
            <a:off x="7415583" y="1828254"/>
            <a:ext cx="54034" cy="3033448"/>
          </a:xfrm>
          <a:prstGeom prst="line">
            <a:avLst/>
          </a:prstGeom>
          <a:ln w="3175">
            <a:solidFill>
              <a:srgbClr val="3465A4"/>
            </a:solidFill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Monitors: Example PSD_monitor"/>
          <p:cNvSpPr txBox="1"/>
          <p:nvPr/>
        </p:nvSpPr>
        <p:spPr>
          <a:xfrm>
            <a:off x="2857849" y="1540391"/>
            <a:ext cx="6988437" cy="22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1600" spc="-1"/>
            </a:lvl1pPr>
          </a:lstStyle>
          <a:p>
            <a:r>
              <a:rPr sz="1452"/>
              <a:t>Monitors: Example PSD_monitor</a:t>
            </a:r>
          </a:p>
        </p:txBody>
      </p:sp>
      <p:grpSp>
        <p:nvGrpSpPr>
          <p:cNvPr id="1073" name="Group"/>
          <p:cNvGrpSpPr/>
          <p:nvPr/>
        </p:nvGrpSpPr>
        <p:grpSpPr>
          <a:xfrm>
            <a:off x="2606593" y="2275922"/>
            <a:ext cx="3512185" cy="1983845"/>
            <a:chOff x="0" y="0"/>
            <a:chExt cx="3869906" cy="2185901"/>
          </a:xfrm>
        </p:grpSpPr>
        <p:sp>
          <p:nvSpPr>
            <p:cNvPr id="1059" name="Shape"/>
            <p:cNvSpPr/>
            <p:nvPr/>
          </p:nvSpPr>
          <p:spPr>
            <a:xfrm rot="5400000">
              <a:off x="1133882" y="970453"/>
              <a:ext cx="1911139" cy="3182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02" y="0"/>
                  </a:moveTo>
                  <a:lnTo>
                    <a:pt x="0" y="0"/>
                  </a:lnTo>
                  <a:lnTo>
                    <a:pt x="5402" y="21600"/>
                  </a:lnTo>
                  <a:lnTo>
                    <a:pt x="21600" y="21600"/>
                  </a:lnTo>
                  <a:lnTo>
                    <a:pt x="16202" y="0"/>
                  </a:lnTo>
                </a:path>
              </a:pathLst>
            </a:custGeom>
            <a:solidFill>
              <a:srgbClr val="729FCF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0" name="Line"/>
            <p:cNvSpPr/>
            <p:nvPr/>
          </p:nvSpPr>
          <p:spPr>
            <a:xfrm flipV="1">
              <a:off x="107464" y="394135"/>
              <a:ext cx="3762443" cy="895735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1" name="Line"/>
            <p:cNvSpPr/>
            <p:nvPr/>
          </p:nvSpPr>
          <p:spPr>
            <a:xfrm>
              <a:off x="752547" y="1361611"/>
              <a:ext cx="2974173" cy="214930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2" name="Line"/>
            <p:cNvSpPr/>
            <p:nvPr/>
          </p:nvSpPr>
          <p:spPr>
            <a:xfrm>
              <a:off x="-1" y="716825"/>
              <a:ext cx="3511495" cy="429858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3" name="Shape"/>
            <p:cNvSpPr/>
            <p:nvPr/>
          </p:nvSpPr>
          <p:spPr>
            <a:xfrm>
              <a:off x="2058790" y="769218"/>
              <a:ext cx="91092" cy="90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7" y="0"/>
                  </a:moveTo>
                  <a:lnTo>
                    <a:pt x="8278" y="8256"/>
                  </a:lnTo>
                  <a:lnTo>
                    <a:pt x="0" y="8256"/>
                  </a:lnTo>
                  <a:lnTo>
                    <a:pt x="6722" y="13405"/>
                  </a:lnTo>
                  <a:lnTo>
                    <a:pt x="4198" y="21600"/>
                  </a:lnTo>
                  <a:lnTo>
                    <a:pt x="10797" y="16580"/>
                  </a:lnTo>
                  <a:lnTo>
                    <a:pt x="17401" y="21600"/>
                  </a:lnTo>
                  <a:lnTo>
                    <a:pt x="14878" y="13405"/>
                  </a:lnTo>
                  <a:lnTo>
                    <a:pt x="21600" y="8256"/>
                  </a:lnTo>
                  <a:lnTo>
                    <a:pt x="13321" y="8256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FFFF00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4" name="Shape"/>
            <p:cNvSpPr/>
            <p:nvPr/>
          </p:nvSpPr>
          <p:spPr>
            <a:xfrm>
              <a:off x="2078139" y="931754"/>
              <a:ext cx="91093" cy="910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7" y="0"/>
                  </a:moveTo>
                  <a:lnTo>
                    <a:pt x="8278" y="8256"/>
                  </a:lnTo>
                  <a:lnTo>
                    <a:pt x="0" y="8256"/>
                  </a:lnTo>
                  <a:lnTo>
                    <a:pt x="6722" y="13405"/>
                  </a:lnTo>
                  <a:lnTo>
                    <a:pt x="4198" y="21600"/>
                  </a:lnTo>
                  <a:lnTo>
                    <a:pt x="10797" y="16580"/>
                  </a:lnTo>
                  <a:lnTo>
                    <a:pt x="17401" y="21600"/>
                  </a:lnTo>
                  <a:lnTo>
                    <a:pt x="14878" y="13405"/>
                  </a:lnTo>
                  <a:lnTo>
                    <a:pt x="21600" y="8256"/>
                  </a:lnTo>
                  <a:lnTo>
                    <a:pt x="13321" y="8256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FFFF00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5" name="Shape"/>
            <p:cNvSpPr/>
            <p:nvPr/>
          </p:nvSpPr>
          <p:spPr>
            <a:xfrm>
              <a:off x="1951325" y="1414004"/>
              <a:ext cx="91093" cy="910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7" y="0"/>
                  </a:moveTo>
                  <a:lnTo>
                    <a:pt x="8278" y="8256"/>
                  </a:lnTo>
                  <a:lnTo>
                    <a:pt x="0" y="8256"/>
                  </a:lnTo>
                  <a:lnTo>
                    <a:pt x="6722" y="13405"/>
                  </a:lnTo>
                  <a:lnTo>
                    <a:pt x="4198" y="21600"/>
                  </a:lnTo>
                  <a:lnTo>
                    <a:pt x="10797" y="16580"/>
                  </a:lnTo>
                  <a:lnTo>
                    <a:pt x="17401" y="21600"/>
                  </a:lnTo>
                  <a:lnTo>
                    <a:pt x="14878" y="13405"/>
                  </a:lnTo>
                  <a:lnTo>
                    <a:pt x="21600" y="8256"/>
                  </a:lnTo>
                  <a:lnTo>
                    <a:pt x="13321" y="8256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FFFF00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6" name="Line"/>
            <p:cNvSpPr/>
            <p:nvPr/>
          </p:nvSpPr>
          <p:spPr>
            <a:xfrm flipV="1">
              <a:off x="1930190" y="465877"/>
              <a:ext cx="318524" cy="429858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7" name="Line"/>
            <p:cNvSpPr/>
            <p:nvPr/>
          </p:nvSpPr>
          <p:spPr>
            <a:xfrm flipV="1">
              <a:off x="1930190" y="716825"/>
              <a:ext cx="318524" cy="429859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8" name="Line"/>
            <p:cNvSpPr/>
            <p:nvPr/>
          </p:nvSpPr>
          <p:spPr>
            <a:xfrm flipV="1">
              <a:off x="1930190" y="967476"/>
              <a:ext cx="318524" cy="429858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69" name="Line"/>
            <p:cNvSpPr/>
            <p:nvPr/>
          </p:nvSpPr>
          <p:spPr>
            <a:xfrm flipV="1">
              <a:off x="1930190" y="1218425"/>
              <a:ext cx="318524" cy="429858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70" name="Line"/>
            <p:cNvSpPr/>
            <p:nvPr/>
          </p:nvSpPr>
          <p:spPr>
            <a:xfrm flipV="1">
              <a:off x="1930190" y="1433353"/>
              <a:ext cx="318524" cy="429858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71" name="Line"/>
            <p:cNvSpPr/>
            <p:nvPr/>
          </p:nvSpPr>
          <p:spPr>
            <a:xfrm>
              <a:off x="2024556" y="174145"/>
              <a:ext cx="35723" cy="201175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72" name="Line"/>
            <p:cNvSpPr/>
            <p:nvPr/>
          </p:nvSpPr>
          <p:spPr>
            <a:xfrm>
              <a:off x="2149881" y="0"/>
              <a:ext cx="35723" cy="2011756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</p:grpSp>
      <p:sp>
        <p:nvSpPr>
          <p:cNvPr id="1074" name="Line"/>
          <p:cNvSpPr/>
          <p:nvPr/>
        </p:nvSpPr>
        <p:spPr>
          <a:xfrm flipH="1">
            <a:off x="4557746" y="2692792"/>
            <a:ext cx="2263468" cy="281246"/>
          </a:xfrm>
          <a:prstGeom prst="line">
            <a:avLst/>
          </a:prstGeom>
          <a:ln w="25400">
            <a:solidFill>
              <a:srgbClr val="00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075" name="When the simulation has been completed, the detected intensity in pixel (i,j) is:"/>
          <p:cNvSpPr txBox="1"/>
          <p:nvPr/>
        </p:nvSpPr>
        <p:spPr>
          <a:xfrm>
            <a:off x="6909018" y="2206489"/>
            <a:ext cx="2958341" cy="738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spc="0"/>
            </a:lvl1pPr>
          </a:lstStyle>
          <a:p>
            <a:r>
              <a:rPr sz="1452"/>
              <a:t>When the simulation has been completed, the detected intensity in pixel (i,j) is: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6" name="Text"/>
              <p:cNvSpPr txBox="1"/>
              <p:nvPr/>
            </p:nvSpPr>
            <p:spPr>
              <a:xfrm>
                <a:off x="6976560" y="2865429"/>
                <a:ext cx="2690334" cy="73992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4311" tIns="34311" rIns="34311" bIns="34311">
                <a:spAutoFit/>
              </a:bodyPr>
              <a:lstStyle>
                <a:lvl1pPr defTabSz="1007533">
                  <a:spcBef>
                    <a:spcPts val="1000"/>
                  </a:spcBef>
                  <a:defRPr sz="1600"/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sz="122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sz="1225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1225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sz="1225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sz="1225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sz="122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sz="1225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sz="1225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sz="1225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sz="1225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𝑝𝑖𝑥𝑒𝑙</m:t>
                          </m:r>
                          <m:d>
                            <m:dPr>
                              <m:ctrlP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sz="1225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sz="122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sz="122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sz="122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122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𝑟𝑎𝑦𝑛𝑢𝑚𝑏𝑒𝑟</m:t>
                      </m:r>
                      <m:r>
                        <a:rPr sz="1225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sz="1452"/>
              </a:p>
            </p:txBody>
          </p:sp>
        </mc:Choice>
        <mc:Fallback>
          <p:sp>
            <p:nvSpPr>
              <p:cNvPr id="107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560" y="2865429"/>
                <a:ext cx="2690334" cy="739925"/>
              </a:xfrm>
              <a:prstGeom prst="rect">
                <a:avLst/>
              </a:prstGeom>
              <a:blipFill>
                <a:blip r:embed="rId2"/>
                <a:stretch>
                  <a:fillRect l="-939" t="-83051" b="-9152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7" name="… during simulation, the pixels are maintained as running sums."/>
          <p:cNvSpPr txBox="1"/>
          <p:nvPr/>
        </p:nvSpPr>
        <p:spPr>
          <a:xfrm>
            <a:off x="6963052" y="3557329"/>
            <a:ext cx="2634139" cy="738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spc="0"/>
            </a:lvl1pPr>
          </a:lstStyle>
          <a:p>
            <a:r>
              <a:rPr sz="1452"/>
              <a:t>… during simulation, the pixels are maintained as running sums.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Monitors:  Example PSD_monitor and L_monitor"/>
          <p:cNvSpPr txBox="1"/>
          <p:nvPr/>
        </p:nvSpPr>
        <p:spPr>
          <a:xfrm>
            <a:off x="2857849" y="1501415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914437">
              <a:spcBef>
                <a:spcPts val="908"/>
              </a:spcBef>
              <a:defRPr sz="1600" spc="-1"/>
            </a:pPr>
            <a:r>
              <a:rPr sz="1452"/>
              <a:t>Monitors: </a:t>
            </a:r>
            <a:br>
              <a:rPr sz="1452"/>
            </a:br>
            <a:r>
              <a:rPr sz="1452"/>
              <a:t>Example PSD_monitor and L_monitor</a:t>
            </a:r>
          </a:p>
        </p:txBody>
      </p:sp>
      <p:grpSp>
        <p:nvGrpSpPr>
          <p:cNvPr id="1094" name="Group"/>
          <p:cNvGrpSpPr/>
          <p:nvPr/>
        </p:nvGrpSpPr>
        <p:grpSpPr>
          <a:xfrm>
            <a:off x="2606593" y="2275922"/>
            <a:ext cx="2053278" cy="1159833"/>
            <a:chOff x="0" y="0"/>
            <a:chExt cx="2262406" cy="1277962"/>
          </a:xfrm>
        </p:grpSpPr>
        <p:sp>
          <p:nvSpPr>
            <p:cNvPr id="1080" name="Shape"/>
            <p:cNvSpPr/>
            <p:nvPr/>
          </p:nvSpPr>
          <p:spPr>
            <a:xfrm rot="5400000">
              <a:off x="658478" y="567387"/>
              <a:ext cx="1117214" cy="1857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04" y="0"/>
                  </a:moveTo>
                  <a:lnTo>
                    <a:pt x="0" y="0"/>
                  </a:lnTo>
                  <a:lnTo>
                    <a:pt x="5401" y="21600"/>
                  </a:lnTo>
                  <a:lnTo>
                    <a:pt x="21600" y="21600"/>
                  </a:lnTo>
                  <a:lnTo>
                    <a:pt x="16204" y="0"/>
                  </a:lnTo>
                </a:path>
              </a:pathLst>
            </a:custGeom>
            <a:solidFill>
              <a:srgbClr val="729FCF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81" name="Line"/>
            <p:cNvSpPr/>
            <p:nvPr/>
          </p:nvSpPr>
          <p:spPr>
            <a:xfrm flipV="1">
              <a:off x="62811" y="230408"/>
              <a:ext cx="2199596" cy="523629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82" name="Line"/>
            <p:cNvSpPr/>
            <p:nvPr/>
          </p:nvSpPr>
          <p:spPr>
            <a:xfrm>
              <a:off x="439978" y="796009"/>
              <a:ext cx="1738780" cy="125625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83" name="Line"/>
            <p:cNvSpPr/>
            <p:nvPr/>
          </p:nvSpPr>
          <p:spPr>
            <a:xfrm>
              <a:off x="-1" y="419140"/>
              <a:ext cx="2052838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84" name="Shape"/>
            <p:cNvSpPr/>
            <p:nvPr/>
          </p:nvSpPr>
          <p:spPr>
            <a:xfrm>
              <a:off x="1203540" y="449802"/>
              <a:ext cx="53287" cy="52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7" y="0"/>
                  </a:moveTo>
                  <a:lnTo>
                    <a:pt x="8278" y="8256"/>
                  </a:lnTo>
                  <a:lnTo>
                    <a:pt x="0" y="8256"/>
                  </a:lnTo>
                  <a:lnTo>
                    <a:pt x="6722" y="13405"/>
                  </a:lnTo>
                  <a:lnTo>
                    <a:pt x="4198" y="21600"/>
                  </a:lnTo>
                  <a:lnTo>
                    <a:pt x="10797" y="16580"/>
                  </a:lnTo>
                  <a:lnTo>
                    <a:pt x="17401" y="21600"/>
                  </a:lnTo>
                  <a:lnTo>
                    <a:pt x="14878" y="13405"/>
                  </a:lnTo>
                  <a:lnTo>
                    <a:pt x="21600" y="8256"/>
                  </a:lnTo>
                  <a:lnTo>
                    <a:pt x="13321" y="8256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FFFF00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85" name="Shape"/>
            <p:cNvSpPr/>
            <p:nvPr/>
          </p:nvSpPr>
          <p:spPr>
            <a:xfrm>
              <a:off x="1214852" y="544763"/>
              <a:ext cx="53287" cy="53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7" y="0"/>
                  </a:moveTo>
                  <a:lnTo>
                    <a:pt x="8278" y="8256"/>
                  </a:lnTo>
                  <a:lnTo>
                    <a:pt x="0" y="8256"/>
                  </a:lnTo>
                  <a:lnTo>
                    <a:pt x="6722" y="13405"/>
                  </a:lnTo>
                  <a:lnTo>
                    <a:pt x="4198" y="21600"/>
                  </a:lnTo>
                  <a:lnTo>
                    <a:pt x="10797" y="16580"/>
                  </a:lnTo>
                  <a:lnTo>
                    <a:pt x="17401" y="21600"/>
                  </a:lnTo>
                  <a:lnTo>
                    <a:pt x="14878" y="13405"/>
                  </a:lnTo>
                  <a:lnTo>
                    <a:pt x="21600" y="8256"/>
                  </a:lnTo>
                  <a:lnTo>
                    <a:pt x="13321" y="8256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FFFF00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86" name="Shape"/>
            <p:cNvSpPr/>
            <p:nvPr/>
          </p:nvSpPr>
          <p:spPr>
            <a:xfrm>
              <a:off x="1140729" y="826671"/>
              <a:ext cx="53286" cy="53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7" y="0"/>
                  </a:moveTo>
                  <a:lnTo>
                    <a:pt x="8278" y="8256"/>
                  </a:lnTo>
                  <a:lnTo>
                    <a:pt x="0" y="8256"/>
                  </a:lnTo>
                  <a:lnTo>
                    <a:pt x="6722" y="13405"/>
                  </a:lnTo>
                  <a:lnTo>
                    <a:pt x="4198" y="21600"/>
                  </a:lnTo>
                  <a:lnTo>
                    <a:pt x="10797" y="16580"/>
                  </a:lnTo>
                  <a:lnTo>
                    <a:pt x="17401" y="21600"/>
                  </a:lnTo>
                  <a:lnTo>
                    <a:pt x="14878" y="13405"/>
                  </a:lnTo>
                  <a:lnTo>
                    <a:pt x="21600" y="8256"/>
                  </a:lnTo>
                  <a:lnTo>
                    <a:pt x="13321" y="8256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FFFF00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87" name="Line"/>
            <p:cNvSpPr/>
            <p:nvPr/>
          </p:nvSpPr>
          <p:spPr>
            <a:xfrm flipV="1">
              <a:off x="1128524" y="272381"/>
              <a:ext cx="186352" cy="251248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88" name="Line"/>
            <p:cNvSpPr/>
            <p:nvPr/>
          </p:nvSpPr>
          <p:spPr>
            <a:xfrm flipV="1">
              <a:off x="1128524" y="419140"/>
              <a:ext cx="186352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89" name="Line"/>
            <p:cNvSpPr/>
            <p:nvPr/>
          </p:nvSpPr>
          <p:spPr>
            <a:xfrm flipV="1">
              <a:off x="1128524" y="565601"/>
              <a:ext cx="186352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90" name="Line"/>
            <p:cNvSpPr/>
            <p:nvPr/>
          </p:nvSpPr>
          <p:spPr>
            <a:xfrm flipV="1">
              <a:off x="1128524" y="712360"/>
              <a:ext cx="186352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91" name="Line"/>
            <p:cNvSpPr/>
            <p:nvPr/>
          </p:nvSpPr>
          <p:spPr>
            <a:xfrm flipV="1">
              <a:off x="1128524" y="837983"/>
              <a:ext cx="186352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92" name="Line"/>
            <p:cNvSpPr/>
            <p:nvPr/>
          </p:nvSpPr>
          <p:spPr>
            <a:xfrm>
              <a:off x="1183595" y="101808"/>
              <a:ext cx="20839" cy="1176155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093" name="Line"/>
            <p:cNvSpPr/>
            <p:nvPr/>
          </p:nvSpPr>
          <p:spPr>
            <a:xfrm>
              <a:off x="1256826" y="0"/>
              <a:ext cx="20839" cy="1176154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</p:grpSp>
      <p:sp>
        <p:nvSpPr>
          <p:cNvPr id="1095" name="...…"/>
          <p:cNvSpPr txBox="1"/>
          <p:nvPr/>
        </p:nvSpPr>
        <p:spPr>
          <a:xfrm>
            <a:off x="5581375" y="1104452"/>
            <a:ext cx="5010537" cy="5941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1400" b="1" spc="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...</a:t>
            </a:r>
          </a:p>
          <a:p>
            <a:pPr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TRACE</a:t>
            </a:r>
          </a:p>
          <a:p>
            <a:pPr defTabSz="914437">
              <a:spcBef>
                <a:spcPts val="908"/>
              </a:spcBef>
              <a:defRPr sz="1400" spc="0"/>
            </a:pPr>
            <a:endParaRPr sz="1271"/>
          </a:p>
          <a:p>
            <a:pPr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COMPONENT</a:t>
            </a:r>
            <a:r>
              <a:rPr sz="1271">
                <a:solidFill>
                  <a:srgbClr val="000000"/>
                </a:solidFill>
              </a:rPr>
              <a:t> origin = Progress_bar()</a:t>
            </a:r>
            <a:br>
              <a:rPr sz="1271">
                <a:solidFill>
                  <a:srgbClr val="000000"/>
                </a:solidFill>
              </a:rPr>
            </a:br>
            <a:r>
              <a:rPr sz="1271"/>
              <a:t>AT</a:t>
            </a:r>
            <a:r>
              <a:rPr sz="1271">
                <a:solidFill>
                  <a:srgbClr val="000000"/>
                </a:solidFill>
              </a:rPr>
              <a:t>(0,0,0) </a:t>
            </a:r>
            <a:r>
              <a:rPr sz="1271"/>
              <a:t>ABSOLUTE</a:t>
            </a:r>
          </a:p>
          <a:p>
            <a:pPr defTabSz="914437">
              <a:spcBef>
                <a:spcPts val="908"/>
              </a:spcBef>
              <a:defRPr sz="1400" spc="0"/>
            </a:pPr>
            <a:endParaRPr sz="1271"/>
          </a:p>
          <a:p>
            <a:pPr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COMPONENT</a:t>
            </a:r>
            <a:r>
              <a:rPr sz="1271">
                <a:solidFill>
                  <a:srgbClr val="000000"/>
                </a:solidFill>
              </a:rPr>
              <a:t> src = Source_flat(</a:t>
            </a:r>
          </a:p>
          <a:p>
            <a:pPr defTabSz="914437">
              <a:spcBef>
                <a:spcPts val="908"/>
              </a:spcBef>
              <a:defRPr sz="1400" b="1" spc="0"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	</a:t>
            </a:r>
            <a:r>
              <a:rPr sz="1271">
                <a:solidFill>
                  <a:srgbClr val="004F9E"/>
                </a:solidFill>
              </a:rPr>
              <a:t>radius=0.05, lambda0=2.5, dlambda=1.5,</a:t>
            </a:r>
          </a:p>
          <a:p>
            <a:pPr defTabSz="914437">
              <a:spcBef>
                <a:spcPts val="908"/>
              </a:spcBef>
              <a:defRPr sz="1400" b="1" spc="0">
                <a:solidFill>
                  <a:srgbClr val="004F9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	focus_xw=0.1, focus_yh=0.1, dist=5</a:t>
            </a:r>
            <a:r>
              <a:rPr sz="1271">
                <a:solidFill>
                  <a:srgbClr val="000000"/>
                </a:solidFill>
              </a:rPr>
              <a:t>)</a:t>
            </a:r>
          </a:p>
          <a:p>
            <a:pPr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AT</a:t>
            </a:r>
            <a:r>
              <a:rPr sz="1271">
                <a:solidFill>
                  <a:srgbClr val="000000"/>
                </a:solidFill>
              </a:rPr>
              <a:t>(0,0,0) </a:t>
            </a:r>
            <a:r>
              <a:rPr sz="1271"/>
              <a:t>RELATIVE</a:t>
            </a:r>
            <a:r>
              <a:rPr sz="1271">
                <a:solidFill>
                  <a:srgbClr val="000000"/>
                </a:solidFill>
              </a:rPr>
              <a:t> origin</a:t>
            </a:r>
          </a:p>
          <a:p>
            <a:pPr defTabSz="914437">
              <a:spcBef>
                <a:spcPts val="908"/>
              </a:spcBef>
              <a:defRPr sz="1400" spc="0"/>
            </a:pPr>
            <a:endParaRPr sz="1271">
              <a:solidFill>
                <a:srgbClr val="000000"/>
              </a:solidFill>
            </a:endParaRPr>
          </a:p>
          <a:p>
            <a:pPr lvl="2"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COMPONENT</a:t>
            </a:r>
            <a:r>
              <a:rPr sz="1271">
                <a:solidFill>
                  <a:srgbClr val="000000"/>
                </a:solidFill>
              </a:rPr>
              <a:t> psd = PSD_monitor(</a:t>
            </a:r>
            <a:r>
              <a:rPr sz="1271">
                <a:solidFill>
                  <a:srgbClr val="004F9E"/>
                </a:solidFill>
              </a:rPr>
              <a:t>xwidth=0.2, </a:t>
            </a:r>
          </a:p>
          <a:p>
            <a:pPr lvl="6"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>
                <a:solidFill>
                  <a:srgbClr val="004F9E"/>
                </a:solidFill>
              </a:rPr>
              <a:t>	yheight=0.2, filename=”psd.dat”</a:t>
            </a:r>
            <a:r>
              <a:rPr sz="1271"/>
              <a:t>)</a:t>
            </a:r>
          </a:p>
          <a:p>
            <a:pPr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AT</a:t>
            </a:r>
            <a:r>
              <a:rPr sz="1271">
                <a:solidFill>
                  <a:srgbClr val="000000"/>
                </a:solidFill>
              </a:rPr>
              <a:t> (0,0,5) </a:t>
            </a:r>
            <a:r>
              <a:rPr sz="1271"/>
              <a:t>RELATIVE</a:t>
            </a:r>
            <a:r>
              <a:rPr sz="1271">
                <a:solidFill>
                  <a:srgbClr val="000000"/>
                </a:solidFill>
              </a:rPr>
              <a:t> src</a:t>
            </a:r>
          </a:p>
          <a:p>
            <a:pPr defTabSz="914437">
              <a:spcBef>
                <a:spcPts val="908"/>
              </a:spcBef>
              <a:defRPr sz="1400" spc="0"/>
            </a:pPr>
            <a:endParaRPr sz="1271">
              <a:solidFill>
                <a:srgbClr val="000000"/>
              </a:solidFill>
            </a:endParaRPr>
          </a:p>
          <a:p>
            <a:pPr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COMPONENT</a:t>
            </a:r>
            <a:r>
              <a:rPr sz="1271">
                <a:solidFill>
                  <a:srgbClr val="000000"/>
                </a:solidFill>
              </a:rPr>
              <a:t> lm = L_monitor(</a:t>
            </a:r>
            <a:r>
              <a:rPr sz="1271">
                <a:solidFill>
                  <a:srgbClr val="004F9E"/>
                </a:solidFill>
              </a:rPr>
              <a:t>xwidth=0.2, yheight=0.2, </a:t>
            </a:r>
          </a:p>
          <a:p>
            <a:pPr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>
                <a:solidFill>
                  <a:srgbClr val="004F9E"/>
                </a:solidFill>
              </a:rPr>
              <a:t>	filename=”lm.dat”,</a:t>
            </a:r>
          </a:p>
          <a:p>
            <a:pPr defTabSz="914437">
              <a:spcBef>
                <a:spcPts val="908"/>
              </a:spcBef>
              <a:defRPr sz="1400" b="1" spc="0">
                <a:solidFill>
                  <a:srgbClr val="004F9E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	Lmin=0, Lmax=8</a:t>
            </a:r>
            <a:r>
              <a:rPr sz="1271">
                <a:solidFill>
                  <a:srgbClr val="000000"/>
                </a:solidFill>
              </a:rPr>
              <a:t>)</a:t>
            </a:r>
          </a:p>
          <a:p>
            <a:pPr defTabSz="914437">
              <a:spcBef>
                <a:spcPts val="908"/>
              </a:spcBef>
              <a:defRPr sz="1400" b="1" spc="0">
                <a:solidFill>
                  <a:srgbClr val="00B00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271"/>
              <a:t>AT</a:t>
            </a:r>
            <a:r>
              <a:rPr sz="1271">
                <a:solidFill>
                  <a:srgbClr val="000000"/>
                </a:solidFill>
              </a:rPr>
              <a:t> (0,0,5+0.01) </a:t>
            </a:r>
            <a:r>
              <a:rPr sz="1271"/>
              <a:t>RELATIVE</a:t>
            </a:r>
            <a:r>
              <a:rPr sz="1271">
                <a:solidFill>
                  <a:srgbClr val="000000"/>
                </a:solidFill>
              </a:rPr>
              <a:t> src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Monitors: what is available"/>
          <p:cNvSpPr txBox="1"/>
          <p:nvPr/>
        </p:nvSpPr>
        <p:spPr>
          <a:xfrm>
            <a:off x="3621694" y="132102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Monitors: what is available</a:t>
            </a:r>
          </a:p>
        </p:txBody>
      </p:sp>
      <p:sp>
        <p:nvSpPr>
          <p:cNvPr id="1098" name="mxdoc monitor from commandline"/>
          <p:cNvSpPr txBox="1"/>
          <p:nvPr/>
        </p:nvSpPr>
        <p:spPr>
          <a:xfrm>
            <a:off x="4413293" y="674089"/>
            <a:ext cx="3921760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spc="0"/>
            </a:lvl1pPr>
          </a:lstStyle>
          <a:p>
            <a:r>
              <a:rPr sz="1452"/>
              <a:t>mxdoc monitor from commandline</a:t>
            </a:r>
          </a:p>
        </p:txBody>
      </p:sp>
      <p:pic>
        <p:nvPicPr>
          <p:cNvPr id="1099" name="Screenshot 2022-03-10 at 08.41.23.png" descr="Screenshot 2022-03-10 at 08.41.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921" y="1153887"/>
            <a:ext cx="9140159" cy="57126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14" name="Group"/>
          <p:cNvGrpSpPr/>
          <p:nvPr/>
        </p:nvGrpSpPr>
        <p:grpSpPr>
          <a:xfrm>
            <a:off x="1610273" y="565575"/>
            <a:ext cx="2053278" cy="1159832"/>
            <a:chOff x="0" y="0"/>
            <a:chExt cx="2262406" cy="1277962"/>
          </a:xfrm>
        </p:grpSpPr>
        <p:sp>
          <p:nvSpPr>
            <p:cNvPr id="1100" name="Shape"/>
            <p:cNvSpPr/>
            <p:nvPr/>
          </p:nvSpPr>
          <p:spPr>
            <a:xfrm rot="5400000">
              <a:off x="658478" y="567387"/>
              <a:ext cx="1117214" cy="1857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6204" y="0"/>
                  </a:moveTo>
                  <a:lnTo>
                    <a:pt x="0" y="0"/>
                  </a:lnTo>
                  <a:lnTo>
                    <a:pt x="5401" y="21600"/>
                  </a:lnTo>
                  <a:lnTo>
                    <a:pt x="21600" y="21600"/>
                  </a:lnTo>
                  <a:lnTo>
                    <a:pt x="16204" y="0"/>
                  </a:lnTo>
                </a:path>
              </a:pathLst>
            </a:custGeom>
            <a:solidFill>
              <a:srgbClr val="729FCF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01" name="Line"/>
            <p:cNvSpPr/>
            <p:nvPr/>
          </p:nvSpPr>
          <p:spPr>
            <a:xfrm flipV="1">
              <a:off x="62811" y="230408"/>
              <a:ext cx="2199596" cy="523629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02" name="Line"/>
            <p:cNvSpPr/>
            <p:nvPr/>
          </p:nvSpPr>
          <p:spPr>
            <a:xfrm>
              <a:off x="439978" y="796009"/>
              <a:ext cx="1738780" cy="125625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03" name="Line"/>
            <p:cNvSpPr/>
            <p:nvPr/>
          </p:nvSpPr>
          <p:spPr>
            <a:xfrm>
              <a:off x="-1" y="419140"/>
              <a:ext cx="2052838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  <a:tailEnd type="stealth" w="med" len="med"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04" name="Shape"/>
            <p:cNvSpPr/>
            <p:nvPr/>
          </p:nvSpPr>
          <p:spPr>
            <a:xfrm>
              <a:off x="1203540" y="449802"/>
              <a:ext cx="53287" cy="529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7" y="0"/>
                  </a:moveTo>
                  <a:lnTo>
                    <a:pt x="8278" y="8256"/>
                  </a:lnTo>
                  <a:lnTo>
                    <a:pt x="0" y="8256"/>
                  </a:lnTo>
                  <a:lnTo>
                    <a:pt x="6722" y="13405"/>
                  </a:lnTo>
                  <a:lnTo>
                    <a:pt x="4198" y="21600"/>
                  </a:lnTo>
                  <a:lnTo>
                    <a:pt x="10797" y="16580"/>
                  </a:lnTo>
                  <a:lnTo>
                    <a:pt x="17401" y="21600"/>
                  </a:lnTo>
                  <a:lnTo>
                    <a:pt x="14878" y="13405"/>
                  </a:lnTo>
                  <a:lnTo>
                    <a:pt x="21600" y="8256"/>
                  </a:lnTo>
                  <a:lnTo>
                    <a:pt x="13321" y="8256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FFFF00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05" name="Shape"/>
            <p:cNvSpPr/>
            <p:nvPr/>
          </p:nvSpPr>
          <p:spPr>
            <a:xfrm>
              <a:off x="1214852" y="544763"/>
              <a:ext cx="53287" cy="53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7" y="0"/>
                  </a:moveTo>
                  <a:lnTo>
                    <a:pt x="8278" y="8256"/>
                  </a:lnTo>
                  <a:lnTo>
                    <a:pt x="0" y="8256"/>
                  </a:lnTo>
                  <a:lnTo>
                    <a:pt x="6722" y="13405"/>
                  </a:lnTo>
                  <a:lnTo>
                    <a:pt x="4198" y="21600"/>
                  </a:lnTo>
                  <a:lnTo>
                    <a:pt x="10797" y="16580"/>
                  </a:lnTo>
                  <a:lnTo>
                    <a:pt x="17401" y="21600"/>
                  </a:lnTo>
                  <a:lnTo>
                    <a:pt x="14878" y="13405"/>
                  </a:lnTo>
                  <a:lnTo>
                    <a:pt x="21600" y="8256"/>
                  </a:lnTo>
                  <a:lnTo>
                    <a:pt x="13321" y="8256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FFFF00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06" name="Shape"/>
            <p:cNvSpPr/>
            <p:nvPr/>
          </p:nvSpPr>
          <p:spPr>
            <a:xfrm>
              <a:off x="1140729" y="826671"/>
              <a:ext cx="53286" cy="53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797" y="0"/>
                  </a:moveTo>
                  <a:lnTo>
                    <a:pt x="8278" y="8256"/>
                  </a:lnTo>
                  <a:lnTo>
                    <a:pt x="0" y="8256"/>
                  </a:lnTo>
                  <a:lnTo>
                    <a:pt x="6722" y="13405"/>
                  </a:lnTo>
                  <a:lnTo>
                    <a:pt x="4198" y="21600"/>
                  </a:lnTo>
                  <a:lnTo>
                    <a:pt x="10797" y="16580"/>
                  </a:lnTo>
                  <a:lnTo>
                    <a:pt x="17401" y="21600"/>
                  </a:lnTo>
                  <a:lnTo>
                    <a:pt x="14878" y="13405"/>
                  </a:lnTo>
                  <a:lnTo>
                    <a:pt x="21600" y="8256"/>
                  </a:lnTo>
                  <a:lnTo>
                    <a:pt x="13321" y="8256"/>
                  </a:lnTo>
                  <a:lnTo>
                    <a:pt x="10797" y="0"/>
                  </a:lnTo>
                  <a:close/>
                </a:path>
              </a:pathLst>
            </a:custGeom>
            <a:solidFill>
              <a:srgbClr val="FFFF00"/>
            </a:solidFill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5122" tIns="35122" rIns="35122" bIns="35122" numCol="1" anchor="ctr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07" name="Line"/>
            <p:cNvSpPr/>
            <p:nvPr/>
          </p:nvSpPr>
          <p:spPr>
            <a:xfrm flipV="1">
              <a:off x="1128524" y="272381"/>
              <a:ext cx="186352" cy="251248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08" name="Line"/>
            <p:cNvSpPr/>
            <p:nvPr/>
          </p:nvSpPr>
          <p:spPr>
            <a:xfrm flipV="1">
              <a:off x="1128524" y="419140"/>
              <a:ext cx="186352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09" name="Line"/>
            <p:cNvSpPr/>
            <p:nvPr/>
          </p:nvSpPr>
          <p:spPr>
            <a:xfrm flipV="1">
              <a:off x="1128524" y="565601"/>
              <a:ext cx="186352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10" name="Line"/>
            <p:cNvSpPr/>
            <p:nvPr/>
          </p:nvSpPr>
          <p:spPr>
            <a:xfrm flipV="1">
              <a:off x="1128524" y="712360"/>
              <a:ext cx="186352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11" name="Line"/>
            <p:cNvSpPr/>
            <p:nvPr/>
          </p:nvSpPr>
          <p:spPr>
            <a:xfrm flipV="1">
              <a:off x="1128524" y="837983"/>
              <a:ext cx="186352" cy="251247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12" name="Line"/>
            <p:cNvSpPr/>
            <p:nvPr/>
          </p:nvSpPr>
          <p:spPr>
            <a:xfrm>
              <a:off x="1183595" y="101808"/>
              <a:ext cx="20839" cy="1176155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  <p:sp>
          <p:nvSpPr>
            <p:cNvPr id="1113" name="Line"/>
            <p:cNvSpPr/>
            <p:nvPr/>
          </p:nvSpPr>
          <p:spPr>
            <a:xfrm>
              <a:off x="1256826" y="0"/>
              <a:ext cx="20839" cy="1176154"/>
            </a:xfrm>
            <a:prstGeom prst="line">
              <a:avLst/>
            </a:prstGeom>
            <a:noFill/>
            <a:ln w="3175" cap="flat">
              <a:solidFill>
                <a:srgbClr val="3465A4"/>
              </a:solidFill>
              <a:prstDash val="solid"/>
              <a:round/>
            </a:ln>
            <a:effectLst/>
          </p:spPr>
          <p:txBody>
            <a:bodyPr wrap="square" lIns="34311" tIns="34311" rIns="34311" bIns="34311" numCol="1" anchor="t">
              <a:noAutofit/>
            </a:bodyPr>
            <a:lstStyle/>
            <a:p>
              <a:pPr defTabSz="914437">
                <a:spcBef>
                  <a:spcPts val="908"/>
                </a:spcBef>
                <a:defRPr sz="1600"/>
              </a:pPr>
              <a:endParaRPr sz="1452"/>
            </a:p>
          </p:txBody>
        </p:sp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Imagine a histogram, e.g. I(λ)…"/>
          <p:cNvSpPr txBox="1"/>
          <p:nvPr/>
        </p:nvSpPr>
        <p:spPr>
          <a:xfrm>
            <a:off x="2857849" y="2136246"/>
            <a:ext cx="6988437" cy="2421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145598" indent="-145598" defTabSz="914437">
              <a:spcBef>
                <a:spcPts val="363"/>
              </a:spcBef>
              <a:buSzPct val="100000"/>
              <a:buChar char="•"/>
              <a:defRPr sz="1600" spc="0">
                <a:latin typeface="Verdana"/>
                <a:ea typeface="Verdana"/>
                <a:cs typeface="Verdana"/>
                <a:sym typeface="Verdana"/>
              </a:defRPr>
            </a:pPr>
            <a:r>
              <a:rPr sz="1452"/>
              <a:t>Imagine a histogram, e.g. </a:t>
            </a:r>
            <a:r>
              <a:rPr sz="1452" b="1"/>
              <a:t>I</a:t>
            </a:r>
            <a:r>
              <a:rPr sz="1452"/>
              <a:t>(λ)</a:t>
            </a:r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marL="145598" indent="-145598" defTabSz="914437">
              <a:spcBef>
                <a:spcPts val="363"/>
              </a:spcBef>
              <a:buSzPct val="100000"/>
              <a:buChar char="•"/>
              <a:defRPr sz="1600" spc="0">
                <a:latin typeface="Verdana"/>
                <a:ea typeface="Verdana"/>
                <a:cs typeface="Verdana"/>
                <a:sym typeface="Verdana"/>
              </a:defRPr>
            </a:pPr>
            <a:r>
              <a:rPr sz="1452"/>
              <a:t>The RMS variance over that set becomes our statistical error bar </a:t>
            </a:r>
            <a:r>
              <a:rPr sz="1452" b="1" i="1"/>
              <a:t>E</a:t>
            </a:r>
          </a:p>
        </p:txBody>
      </p:sp>
      <p:sp>
        <p:nvSpPr>
          <p:cNvPr id="1117" name="In a histogram sense"/>
          <p:cNvSpPr txBox="1"/>
          <p:nvPr/>
        </p:nvSpPr>
        <p:spPr>
          <a:xfrm>
            <a:off x="2808839" y="1692789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In a histogram sense</a:t>
            </a:r>
          </a:p>
        </p:txBody>
      </p:sp>
      <p:sp>
        <p:nvSpPr>
          <p:cNvPr id="1118" name="Rectangle"/>
          <p:cNvSpPr/>
          <p:nvPr/>
        </p:nvSpPr>
        <p:spPr>
          <a:xfrm>
            <a:off x="4206797" y="2870562"/>
            <a:ext cx="1725295" cy="121847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19" name="Rectangle"/>
          <p:cNvSpPr/>
          <p:nvPr/>
        </p:nvSpPr>
        <p:spPr>
          <a:xfrm>
            <a:off x="4206797" y="2871103"/>
            <a:ext cx="104286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20" name="Rectangle"/>
          <p:cNvSpPr/>
          <p:nvPr/>
        </p:nvSpPr>
        <p:spPr>
          <a:xfrm>
            <a:off x="4310543" y="2871103"/>
            <a:ext cx="104285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21" name="Rectangle"/>
          <p:cNvSpPr/>
          <p:nvPr/>
        </p:nvSpPr>
        <p:spPr>
          <a:xfrm>
            <a:off x="4414556" y="2871103"/>
            <a:ext cx="104286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22" name="Rectangle"/>
          <p:cNvSpPr/>
          <p:nvPr/>
        </p:nvSpPr>
        <p:spPr>
          <a:xfrm>
            <a:off x="4979478" y="2871103"/>
            <a:ext cx="104285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23" name="Rectangle"/>
          <p:cNvSpPr/>
          <p:nvPr/>
        </p:nvSpPr>
        <p:spPr>
          <a:xfrm>
            <a:off x="5732976" y="2871103"/>
            <a:ext cx="104286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24" name="Rectangle"/>
          <p:cNvSpPr/>
          <p:nvPr/>
        </p:nvSpPr>
        <p:spPr>
          <a:xfrm>
            <a:off x="5836722" y="2871103"/>
            <a:ext cx="104285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25" name="…"/>
          <p:cNvSpPr txBox="1"/>
          <p:nvPr/>
        </p:nvSpPr>
        <p:spPr>
          <a:xfrm>
            <a:off x="5327454" y="2806803"/>
            <a:ext cx="132922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…</a:t>
            </a:r>
          </a:p>
        </p:txBody>
      </p:sp>
      <p:sp>
        <p:nvSpPr>
          <p:cNvPr id="1126" name="…"/>
          <p:cNvSpPr txBox="1"/>
          <p:nvPr/>
        </p:nvSpPr>
        <p:spPr>
          <a:xfrm>
            <a:off x="4665003" y="2806803"/>
            <a:ext cx="132922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…</a:t>
            </a:r>
          </a:p>
        </p:txBody>
      </p:sp>
      <p:sp>
        <p:nvSpPr>
          <p:cNvPr id="1127" name="Connection Line"/>
          <p:cNvSpPr/>
          <p:nvPr/>
        </p:nvSpPr>
        <p:spPr>
          <a:xfrm>
            <a:off x="5081061" y="3109662"/>
            <a:ext cx="1592911" cy="235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37" extrusionOk="0">
                <a:moveTo>
                  <a:pt x="21600" y="2963"/>
                </a:moveTo>
                <a:cubicBezTo>
                  <a:pt x="13103" y="21600"/>
                  <a:pt x="5903" y="20612"/>
                  <a:pt x="0" y="0"/>
                </a:cubicBezTo>
              </a:path>
            </a:pathLst>
          </a:custGeom>
          <a:ln w="3175">
            <a:solidFill>
              <a:srgbClr val="990000"/>
            </a:solidFill>
            <a:headEnd type="triangle"/>
          </a:ln>
          <a:effectLst>
            <a:outerShdw rotWithShape="0">
              <a:srgbClr val="000000">
                <a:alpha val="38000"/>
              </a:srgbClr>
            </a:outerShdw>
          </a:effectLst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28" name="In bin i, N events each carrying a fractional intensity pj so that"/>
          <p:cNvSpPr txBox="1"/>
          <p:nvPr/>
        </p:nvSpPr>
        <p:spPr>
          <a:xfrm>
            <a:off x="6874707" y="2781137"/>
            <a:ext cx="1678014" cy="1173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914437">
              <a:spcBef>
                <a:spcPts val="817"/>
              </a:spcBef>
              <a:defRPr sz="1400" spc="-1">
                <a:latin typeface="Verdana"/>
                <a:ea typeface="Verdana"/>
                <a:cs typeface="Verdana"/>
                <a:sym typeface="Verdana"/>
              </a:defRPr>
            </a:pPr>
            <a:r>
              <a:rPr sz="1271"/>
              <a:t>In bin </a:t>
            </a:r>
            <a:r>
              <a:rPr sz="1271" i="1"/>
              <a:t>i,</a:t>
            </a:r>
            <a:r>
              <a:rPr sz="1271"/>
              <a:t> </a:t>
            </a:r>
            <a:r>
              <a:rPr sz="1271" b="1" i="1"/>
              <a:t>N</a:t>
            </a:r>
            <a:r>
              <a:rPr sz="1271" i="1"/>
              <a:t> </a:t>
            </a:r>
            <a:r>
              <a:rPr sz="1271"/>
              <a:t>events each carrying a fractional intensity </a:t>
            </a:r>
            <a:r>
              <a:rPr sz="1271" i="1"/>
              <a:t>p</a:t>
            </a:r>
            <a:r>
              <a:rPr sz="1271" i="1" baseline="-5000"/>
              <a:t>j</a:t>
            </a:r>
            <a:r>
              <a:rPr sz="1271" i="1"/>
              <a:t> </a:t>
            </a:r>
            <a:r>
              <a:rPr sz="1271"/>
              <a:t>so that</a:t>
            </a:r>
            <a:br>
              <a:rPr sz="1271"/>
            </a:br>
            <a:br>
              <a:rPr sz="1271"/>
            </a:br>
            <a:endParaRPr sz="1271"/>
          </a:p>
        </p:txBody>
      </p:sp>
      <p:sp>
        <p:nvSpPr>
          <p:cNvPr id="1129" name="1"/>
          <p:cNvSpPr txBox="1"/>
          <p:nvPr/>
        </p:nvSpPr>
        <p:spPr>
          <a:xfrm>
            <a:off x="4209769" y="3001594"/>
            <a:ext cx="8643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1</a:t>
            </a:r>
          </a:p>
        </p:txBody>
      </p:sp>
      <p:sp>
        <p:nvSpPr>
          <p:cNvPr id="1130" name="2"/>
          <p:cNvSpPr txBox="1"/>
          <p:nvPr/>
        </p:nvSpPr>
        <p:spPr>
          <a:xfrm>
            <a:off x="4313784" y="3001594"/>
            <a:ext cx="8643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2</a:t>
            </a:r>
          </a:p>
        </p:txBody>
      </p:sp>
      <p:sp>
        <p:nvSpPr>
          <p:cNvPr id="1131" name="i"/>
          <p:cNvSpPr txBox="1"/>
          <p:nvPr/>
        </p:nvSpPr>
        <p:spPr>
          <a:xfrm>
            <a:off x="5017841" y="3001594"/>
            <a:ext cx="3834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i</a:t>
            </a:r>
          </a:p>
        </p:txBody>
      </p:sp>
      <p:sp>
        <p:nvSpPr>
          <p:cNvPr id="1132" name="k"/>
          <p:cNvSpPr txBox="1"/>
          <p:nvPr/>
        </p:nvSpPr>
        <p:spPr>
          <a:xfrm>
            <a:off x="5849690" y="3001594"/>
            <a:ext cx="78419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k</a:t>
            </a:r>
          </a:p>
        </p:txBody>
      </p:sp>
      <p:sp>
        <p:nvSpPr>
          <p:cNvPr id="1133" name="3"/>
          <p:cNvSpPr txBox="1"/>
          <p:nvPr/>
        </p:nvSpPr>
        <p:spPr>
          <a:xfrm>
            <a:off x="4424283" y="3001594"/>
            <a:ext cx="8643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3</a:t>
            </a:r>
          </a:p>
        </p:txBody>
      </p:sp>
      <p:pic>
        <p:nvPicPr>
          <p:cNvPr id="113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725" y="3414680"/>
            <a:ext cx="765928" cy="3903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Imagine a histogram, e.g. I(λ)…"/>
          <p:cNvSpPr txBox="1"/>
          <p:nvPr/>
        </p:nvSpPr>
        <p:spPr>
          <a:xfrm>
            <a:off x="2858659" y="2044389"/>
            <a:ext cx="6988437" cy="2421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159774" indent="-159446" defTabSz="914437">
              <a:spcBef>
                <a:spcPts val="363"/>
              </a:spcBef>
              <a:buClr>
                <a:srgbClr val="000000"/>
              </a:buClr>
              <a:buSzPct val="100000"/>
              <a:buChar char=""/>
              <a:defRPr sz="1600" spc="0">
                <a:latin typeface="Verdana"/>
                <a:ea typeface="Verdana"/>
                <a:cs typeface="Verdana"/>
                <a:sym typeface="Verdana"/>
              </a:defRPr>
            </a:pPr>
            <a:r>
              <a:rPr sz="1452"/>
              <a:t>Imagine a histogram, e.g. </a:t>
            </a:r>
            <a:r>
              <a:rPr sz="1452" b="1"/>
              <a:t>I</a:t>
            </a:r>
            <a:r>
              <a:rPr sz="1452"/>
              <a:t>(λ)</a:t>
            </a:r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marL="159774" indent="-159446" defTabSz="914437">
              <a:spcBef>
                <a:spcPts val="363"/>
              </a:spcBef>
              <a:buClr>
                <a:srgbClr val="000000"/>
              </a:buClr>
              <a:buSzPct val="100000"/>
              <a:buChar char=""/>
              <a:defRPr sz="1600" spc="0">
                <a:latin typeface="Verdana"/>
                <a:ea typeface="Verdana"/>
                <a:cs typeface="Verdana"/>
                <a:sym typeface="Verdana"/>
              </a:defRPr>
            </a:pPr>
            <a:r>
              <a:rPr sz="1452"/>
              <a:t>The RMS variance over that set becomes our statistical error bar </a:t>
            </a:r>
            <a:r>
              <a:rPr sz="1452" i="1"/>
              <a:t>E</a:t>
            </a:r>
          </a:p>
        </p:txBody>
      </p:sp>
      <p:sp>
        <p:nvSpPr>
          <p:cNvPr id="1137" name="In a histogram sense"/>
          <p:cNvSpPr txBox="1"/>
          <p:nvPr/>
        </p:nvSpPr>
        <p:spPr>
          <a:xfrm>
            <a:off x="2857849" y="1905251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In a histogram sense</a:t>
            </a:r>
          </a:p>
        </p:txBody>
      </p:sp>
      <p:sp>
        <p:nvSpPr>
          <p:cNvPr id="1138" name="Rectangle"/>
          <p:cNvSpPr/>
          <p:nvPr/>
        </p:nvSpPr>
        <p:spPr>
          <a:xfrm>
            <a:off x="4206797" y="2870562"/>
            <a:ext cx="1725295" cy="121847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39" name="Rectangle"/>
          <p:cNvSpPr/>
          <p:nvPr/>
        </p:nvSpPr>
        <p:spPr>
          <a:xfrm>
            <a:off x="4206797" y="2871103"/>
            <a:ext cx="104286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40" name="Rectangle"/>
          <p:cNvSpPr/>
          <p:nvPr/>
        </p:nvSpPr>
        <p:spPr>
          <a:xfrm>
            <a:off x="4310543" y="2871103"/>
            <a:ext cx="104285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41" name="Rectangle"/>
          <p:cNvSpPr/>
          <p:nvPr/>
        </p:nvSpPr>
        <p:spPr>
          <a:xfrm>
            <a:off x="4414556" y="2871103"/>
            <a:ext cx="104286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42" name="Rectangle"/>
          <p:cNvSpPr/>
          <p:nvPr/>
        </p:nvSpPr>
        <p:spPr>
          <a:xfrm>
            <a:off x="4979478" y="2871103"/>
            <a:ext cx="104285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43" name="Rectangle"/>
          <p:cNvSpPr/>
          <p:nvPr/>
        </p:nvSpPr>
        <p:spPr>
          <a:xfrm>
            <a:off x="5732976" y="2871103"/>
            <a:ext cx="104286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44" name="Rectangle"/>
          <p:cNvSpPr/>
          <p:nvPr/>
        </p:nvSpPr>
        <p:spPr>
          <a:xfrm>
            <a:off x="5836722" y="2871103"/>
            <a:ext cx="104285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45" name="…"/>
          <p:cNvSpPr txBox="1"/>
          <p:nvPr/>
        </p:nvSpPr>
        <p:spPr>
          <a:xfrm>
            <a:off x="5327454" y="2806803"/>
            <a:ext cx="132922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…</a:t>
            </a:r>
          </a:p>
        </p:txBody>
      </p:sp>
      <p:sp>
        <p:nvSpPr>
          <p:cNvPr id="1146" name="…"/>
          <p:cNvSpPr txBox="1"/>
          <p:nvPr/>
        </p:nvSpPr>
        <p:spPr>
          <a:xfrm>
            <a:off x="4665003" y="2806803"/>
            <a:ext cx="132922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…</a:t>
            </a:r>
          </a:p>
        </p:txBody>
      </p:sp>
      <p:sp>
        <p:nvSpPr>
          <p:cNvPr id="1147" name="Connection Line"/>
          <p:cNvSpPr/>
          <p:nvPr/>
        </p:nvSpPr>
        <p:spPr>
          <a:xfrm>
            <a:off x="5081061" y="3109662"/>
            <a:ext cx="1592911" cy="235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37" extrusionOk="0">
                <a:moveTo>
                  <a:pt x="21600" y="2963"/>
                </a:moveTo>
                <a:cubicBezTo>
                  <a:pt x="13103" y="21600"/>
                  <a:pt x="5903" y="20612"/>
                  <a:pt x="0" y="0"/>
                </a:cubicBezTo>
              </a:path>
            </a:pathLst>
          </a:custGeom>
          <a:ln w="3175">
            <a:solidFill>
              <a:srgbClr val="990000"/>
            </a:solidFill>
            <a:headEnd type="triangle"/>
          </a:ln>
          <a:effectLst>
            <a:outerShdw rotWithShape="0">
              <a:srgbClr val="000000">
                <a:alpha val="38000"/>
              </a:srgbClr>
            </a:outerShdw>
          </a:effectLst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48" name="In bin i, N events each carrying a fractional intensity pj so that"/>
          <p:cNvSpPr txBox="1"/>
          <p:nvPr/>
        </p:nvSpPr>
        <p:spPr>
          <a:xfrm>
            <a:off x="6874707" y="2781137"/>
            <a:ext cx="1678014" cy="1173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914437">
              <a:spcBef>
                <a:spcPts val="817"/>
              </a:spcBef>
              <a:defRPr sz="1400" spc="-1">
                <a:latin typeface="Verdana"/>
                <a:ea typeface="Verdana"/>
                <a:cs typeface="Verdana"/>
                <a:sym typeface="Verdana"/>
              </a:defRPr>
            </a:pPr>
            <a:r>
              <a:rPr sz="1271"/>
              <a:t>In bin </a:t>
            </a:r>
            <a:r>
              <a:rPr sz="1271" i="1"/>
              <a:t>i,</a:t>
            </a:r>
            <a:r>
              <a:rPr sz="1271"/>
              <a:t> </a:t>
            </a:r>
            <a:r>
              <a:rPr sz="1271" i="1"/>
              <a:t>N </a:t>
            </a:r>
            <a:r>
              <a:rPr sz="1271"/>
              <a:t>events each carrying a fractional intensity </a:t>
            </a:r>
            <a:r>
              <a:rPr sz="1271" i="1"/>
              <a:t>p</a:t>
            </a:r>
            <a:r>
              <a:rPr sz="1271" i="1" baseline="-5000"/>
              <a:t>j</a:t>
            </a:r>
            <a:r>
              <a:rPr sz="1271" i="1"/>
              <a:t> </a:t>
            </a:r>
            <a:r>
              <a:rPr sz="1271"/>
              <a:t>so that</a:t>
            </a:r>
            <a:br>
              <a:rPr sz="1271"/>
            </a:br>
            <a:br>
              <a:rPr sz="1271"/>
            </a:br>
            <a:endParaRPr sz="1271"/>
          </a:p>
        </p:txBody>
      </p:sp>
      <p:sp>
        <p:nvSpPr>
          <p:cNvPr id="1149" name="1"/>
          <p:cNvSpPr txBox="1"/>
          <p:nvPr/>
        </p:nvSpPr>
        <p:spPr>
          <a:xfrm>
            <a:off x="4209769" y="3001594"/>
            <a:ext cx="8643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1</a:t>
            </a:r>
          </a:p>
        </p:txBody>
      </p:sp>
      <p:sp>
        <p:nvSpPr>
          <p:cNvPr id="1150" name="2"/>
          <p:cNvSpPr txBox="1"/>
          <p:nvPr/>
        </p:nvSpPr>
        <p:spPr>
          <a:xfrm>
            <a:off x="4313784" y="3001594"/>
            <a:ext cx="8643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2</a:t>
            </a:r>
          </a:p>
        </p:txBody>
      </p:sp>
      <p:sp>
        <p:nvSpPr>
          <p:cNvPr id="1151" name="i"/>
          <p:cNvSpPr txBox="1"/>
          <p:nvPr/>
        </p:nvSpPr>
        <p:spPr>
          <a:xfrm>
            <a:off x="5017841" y="3001594"/>
            <a:ext cx="3834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i</a:t>
            </a:r>
          </a:p>
        </p:txBody>
      </p:sp>
      <p:sp>
        <p:nvSpPr>
          <p:cNvPr id="1152" name="k"/>
          <p:cNvSpPr txBox="1"/>
          <p:nvPr/>
        </p:nvSpPr>
        <p:spPr>
          <a:xfrm>
            <a:off x="5849690" y="3001594"/>
            <a:ext cx="78419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k</a:t>
            </a:r>
          </a:p>
        </p:txBody>
      </p:sp>
      <p:sp>
        <p:nvSpPr>
          <p:cNvPr id="1153" name="3"/>
          <p:cNvSpPr txBox="1"/>
          <p:nvPr/>
        </p:nvSpPr>
        <p:spPr>
          <a:xfrm>
            <a:off x="4424283" y="3001594"/>
            <a:ext cx="8643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3</a:t>
            </a:r>
          </a:p>
        </p:txBody>
      </p:sp>
      <p:sp>
        <p:nvSpPr>
          <p:cNvPr id="1154" name="I"/>
          <p:cNvSpPr txBox="1"/>
          <p:nvPr/>
        </p:nvSpPr>
        <p:spPr>
          <a:xfrm>
            <a:off x="6562122" y="2694413"/>
            <a:ext cx="68801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1271"/>
              <a:t>I</a:t>
            </a:r>
          </a:p>
        </p:txBody>
      </p:sp>
      <p:sp>
        <p:nvSpPr>
          <p:cNvPr id="1155" name="E"/>
          <p:cNvSpPr txBox="1"/>
          <p:nvPr/>
        </p:nvSpPr>
        <p:spPr>
          <a:xfrm>
            <a:off x="7196206" y="2694413"/>
            <a:ext cx="10246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1271"/>
              <a:t>E</a:t>
            </a:r>
          </a:p>
        </p:txBody>
      </p:sp>
      <p:sp>
        <p:nvSpPr>
          <p:cNvPr id="1156" name="N"/>
          <p:cNvSpPr txBox="1"/>
          <p:nvPr/>
        </p:nvSpPr>
        <p:spPr>
          <a:xfrm>
            <a:off x="7778418" y="2694413"/>
            <a:ext cx="121700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1271"/>
              <a:t>N</a:t>
            </a:r>
          </a:p>
        </p:txBody>
      </p:sp>
      <p:pic>
        <p:nvPicPr>
          <p:cNvPr id="115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725" y="3414680"/>
            <a:ext cx="765928" cy="390394"/>
          </a:xfrm>
          <a:prstGeom prst="rect">
            <a:avLst/>
          </a:prstGeom>
          <a:ln w="12700">
            <a:miter lim="400000"/>
          </a:ln>
        </p:spPr>
      </p:pic>
      <p:sp>
        <p:nvSpPr>
          <p:cNvPr id="1158" name="Title 4"/>
          <p:cNvSpPr txBox="1"/>
          <p:nvPr/>
        </p:nvSpPr>
        <p:spPr>
          <a:xfrm>
            <a:off x="2862982" y="1905522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Monitors: Quick examples</a:t>
            </a:r>
          </a:p>
        </p:txBody>
      </p:sp>
      <p:pic>
        <p:nvPicPr>
          <p:cNvPr id="1159" name="image180.png" descr="image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472" y="1004783"/>
            <a:ext cx="8860160" cy="5146431"/>
          </a:xfrm>
          <a:prstGeom prst="rect">
            <a:avLst/>
          </a:prstGeom>
          <a:ln w="12700">
            <a:miter lim="400000"/>
          </a:ln>
        </p:spPr>
      </p:pic>
      <p:sp>
        <p:nvSpPr>
          <p:cNvPr id="1160" name="Oval"/>
          <p:cNvSpPr/>
          <p:nvPr/>
        </p:nvSpPr>
        <p:spPr>
          <a:xfrm>
            <a:off x="4901669" y="1720457"/>
            <a:ext cx="5792133" cy="810505"/>
          </a:xfrm>
          <a:prstGeom prst="ellipse">
            <a:avLst/>
          </a:prstGeom>
          <a:ln w="50800">
            <a:solidFill>
              <a:srgbClr val="DC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61" name="Statistics computed on the fly"/>
          <p:cNvSpPr txBox="1"/>
          <p:nvPr/>
        </p:nvSpPr>
        <p:spPr>
          <a:xfrm>
            <a:off x="2591463" y="1234155"/>
            <a:ext cx="2509862" cy="515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CE181E"/>
                </a:solidFill>
              </a:defRPr>
            </a:lvl1pPr>
          </a:lstStyle>
          <a:p>
            <a:r>
              <a:rPr sz="1452"/>
              <a:t>Statistics computed on the fly</a:t>
            </a:r>
          </a:p>
        </p:txBody>
      </p:sp>
      <p:sp>
        <p:nvSpPr>
          <p:cNvPr id="1162" name="Intensity / n/s"/>
          <p:cNvSpPr txBox="1"/>
          <p:nvPr/>
        </p:nvSpPr>
        <p:spPr>
          <a:xfrm>
            <a:off x="5356363" y="3071297"/>
            <a:ext cx="1166045" cy="515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CE181E"/>
                </a:solidFill>
              </a:defRPr>
            </a:lvl1pPr>
          </a:lstStyle>
          <a:p>
            <a:r>
              <a:rPr sz="1452"/>
              <a:t>Intensity / n/s</a:t>
            </a:r>
          </a:p>
        </p:txBody>
      </p:sp>
      <p:sp>
        <p:nvSpPr>
          <p:cNvPr id="1163" name="Estimated RMS MC error"/>
          <p:cNvSpPr txBox="1"/>
          <p:nvPr/>
        </p:nvSpPr>
        <p:spPr>
          <a:xfrm>
            <a:off x="5269908" y="4043903"/>
            <a:ext cx="3089642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CE181E"/>
                </a:solidFill>
              </a:defRPr>
            </a:lvl1pPr>
          </a:lstStyle>
          <a:p>
            <a:r>
              <a:rPr sz="1452"/>
              <a:t>Estimated RMS MC error</a:t>
            </a:r>
          </a:p>
        </p:txBody>
      </p:sp>
      <p:sp>
        <p:nvSpPr>
          <p:cNvPr id="1164" name="# Events"/>
          <p:cNvSpPr txBox="1"/>
          <p:nvPr/>
        </p:nvSpPr>
        <p:spPr>
          <a:xfrm>
            <a:off x="7532836" y="3027529"/>
            <a:ext cx="772681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CE181E"/>
                </a:solidFill>
              </a:defRPr>
            </a:lvl1pPr>
          </a:lstStyle>
          <a:p>
            <a:r>
              <a:rPr sz="1452"/>
              <a:t># Events</a:t>
            </a:r>
          </a:p>
        </p:txBody>
      </p:sp>
      <p:sp>
        <p:nvSpPr>
          <p:cNvPr id="1165" name="1st and 2nd moments of data"/>
          <p:cNvSpPr txBox="1"/>
          <p:nvPr/>
        </p:nvSpPr>
        <p:spPr>
          <a:xfrm>
            <a:off x="8156925" y="3561382"/>
            <a:ext cx="2289134" cy="515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1600" b="1" spc="0">
                <a:solidFill>
                  <a:srgbClr val="CE181E"/>
                </a:solidFill>
              </a:defRPr>
            </a:pPr>
            <a:r>
              <a:rPr sz="1452"/>
              <a:t>1</a:t>
            </a:r>
            <a:r>
              <a:rPr sz="1452" baseline="15746000"/>
              <a:t>st</a:t>
            </a:r>
            <a:r>
              <a:rPr sz="1452"/>
              <a:t> and 2</a:t>
            </a:r>
            <a:r>
              <a:rPr sz="1452" baseline="15746000"/>
              <a:t>nd</a:t>
            </a:r>
            <a:r>
              <a:rPr sz="1452"/>
              <a:t> moments of data</a:t>
            </a:r>
          </a:p>
        </p:txBody>
      </p:sp>
      <p:sp>
        <p:nvSpPr>
          <p:cNvPr id="1166" name="Line"/>
          <p:cNvSpPr/>
          <p:nvPr/>
        </p:nvSpPr>
        <p:spPr>
          <a:xfrm flipV="1">
            <a:off x="5853742" y="2260793"/>
            <a:ext cx="1" cy="810505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67" name="Line"/>
          <p:cNvSpPr/>
          <p:nvPr/>
        </p:nvSpPr>
        <p:spPr>
          <a:xfrm flipV="1">
            <a:off x="7042481" y="2206760"/>
            <a:ext cx="1" cy="1729076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68" name="Line"/>
          <p:cNvSpPr/>
          <p:nvPr/>
        </p:nvSpPr>
        <p:spPr>
          <a:xfrm flipV="1">
            <a:off x="7907018" y="2206760"/>
            <a:ext cx="1" cy="820772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69" name="Line"/>
          <p:cNvSpPr/>
          <p:nvPr/>
        </p:nvSpPr>
        <p:spPr>
          <a:xfrm flipV="1">
            <a:off x="8393321" y="2260794"/>
            <a:ext cx="324202" cy="1242774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70" name="Line"/>
          <p:cNvSpPr/>
          <p:nvPr/>
        </p:nvSpPr>
        <p:spPr>
          <a:xfrm flipV="1">
            <a:off x="8879623" y="2206759"/>
            <a:ext cx="864538" cy="1296808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Imagine a histogram, e.g. I(λ)…"/>
          <p:cNvSpPr txBox="1"/>
          <p:nvPr/>
        </p:nvSpPr>
        <p:spPr>
          <a:xfrm>
            <a:off x="2858659" y="2044389"/>
            <a:ext cx="6988437" cy="2421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marL="159774" indent="-159446" defTabSz="914437">
              <a:spcBef>
                <a:spcPts val="363"/>
              </a:spcBef>
              <a:buClr>
                <a:srgbClr val="000000"/>
              </a:buClr>
              <a:buSzPct val="100000"/>
              <a:buChar char=""/>
              <a:defRPr sz="1600" spc="0">
                <a:latin typeface="Verdana"/>
                <a:ea typeface="Verdana"/>
                <a:cs typeface="Verdana"/>
                <a:sym typeface="Verdana"/>
              </a:defRPr>
            </a:pPr>
            <a:r>
              <a:rPr sz="1452"/>
              <a:t>Imagine a histogram, e.g. </a:t>
            </a:r>
            <a:r>
              <a:rPr sz="1452" b="1"/>
              <a:t>I</a:t>
            </a:r>
            <a:r>
              <a:rPr sz="1452"/>
              <a:t>(λ)</a:t>
            </a:r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defTabSz="914437">
              <a:spcBef>
                <a:spcPts val="363"/>
              </a:spcBef>
              <a:defRPr sz="1600" spc="0"/>
            </a:pPr>
            <a:endParaRPr sz="1452"/>
          </a:p>
          <a:p>
            <a:pPr marL="159774" indent="-159446" defTabSz="914437">
              <a:spcBef>
                <a:spcPts val="363"/>
              </a:spcBef>
              <a:buClr>
                <a:srgbClr val="000000"/>
              </a:buClr>
              <a:buSzPct val="100000"/>
              <a:buChar char=""/>
              <a:defRPr sz="1600" spc="0">
                <a:latin typeface="Verdana"/>
                <a:ea typeface="Verdana"/>
                <a:cs typeface="Verdana"/>
                <a:sym typeface="Verdana"/>
              </a:defRPr>
            </a:pPr>
            <a:r>
              <a:rPr sz="1452"/>
              <a:t>The RMS variance over that set becomes our statistical error bar </a:t>
            </a:r>
            <a:r>
              <a:rPr sz="1452" i="1"/>
              <a:t>E</a:t>
            </a:r>
          </a:p>
        </p:txBody>
      </p:sp>
      <p:sp>
        <p:nvSpPr>
          <p:cNvPr id="1173" name="In a histogram sense"/>
          <p:cNvSpPr txBox="1"/>
          <p:nvPr/>
        </p:nvSpPr>
        <p:spPr>
          <a:xfrm>
            <a:off x="2857849" y="1905251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In a histogram sense</a:t>
            </a:r>
          </a:p>
        </p:txBody>
      </p:sp>
      <p:sp>
        <p:nvSpPr>
          <p:cNvPr id="1174" name="Rectangle"/>
          <p:cNvSpPr/>
          <p:nvPr/>
        </p:nvSpPr>
        <p:spPr>
          <a:xfrm>
            <a:off x="4206797" y="2870562"/>
            <a:ext cx="1725295" cy="121847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75" name="Rectangle"/>
          <p:cNvSpPr/>
          <p:nvPr/>
        </p:nvSpPr>
        <p:spPr>
          <a:xfrm>
            <a:off x="4206797" y="2871103"/>
            <a:ext cx="104286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76" name="Rectangle"/>
          <p:cNvSpPr/>
          <p:nvPr/>
        </p:nvSpPr>
        <p:spPr>
          <a:xfrm>
            <a:off x="4310543" y="2871103"/>
            <a:ext cx="104285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77" name="Rectangle"/>
          <p:cNvSpPr/>
          <p:nvPr/>
        </p:nvSpPr>
        <p:spPr>
          <a:xfrm>
            <a:off x="4414556" y="2871103"/>
            <a:ext cx="104286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78" name="Rectangle"/>
          <p:cNvSpPr/>
          <p:nvPr/>
        </p:nvSpPr>
        <p:spPr>
          <a:xfrm>
            <a:off x="4979478" y="2871103"/>
            <a:ext cx="104285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79" name="Rectangle"/>
          <p:cNvSpPr/>
          <p:nvPr/>
        </p:nvSpPr>
        <p:spPr>
          <a:xfrm>
            <a:off x="5732976" y="2871103"/>
            <a:ext cx="104286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80" name="Rectangle"/>
          <p:cNvSpPr/>
          <p:nvPr/>
        </p:nvSpPr>
        <p:spPr>
          <a:xfrm>
            <a:off x="5836722" y="2871103"/>
            <a:ext cx="104285" cy="120766"/>
          </a:xfrm>
          <a:prstGeom prst="rect">
            <a:avLst/>
          </a:prstGeom>
          <a:solidFill>
            <a:srgbClr val="FFFFFF"/>
          </a:solidFill>
          <a:ln w="3175">
            <a:solidFill>
              <a:srgbClr val="99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81" name="…"/>
          <p:cNvSpPr txBox="1"/>
          <p:nvPr/>
        </p:nvSpPr>
        <p:spPr>
          <a:xfrm>
            <a:off x="5327454" y="2806803"/>
            <a:ext cx="132922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…</a:t>
            </a:r>
          </a:p>
        </p:txBody>
      </p:sp>
      <p:sp>
        <p:nvSpPr>
          <p:cNvPr id="1182" name="…"/>
          <p:cNvSpPr txBox="1"/>
          <p:nvPr/>
        </p:nvSpPr>
        <p:spPr>
          <a:xfrm>
            <a:off x="4665003" y="2806803"/>
            <a:ext cx="132922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…</a:t>
            </a:r>
          </a:p>
        </p:txBody>
      </p:sp>
      <p:sp>
        <p:nvSpPr>
          <p:cNvPr id="1183" name="Connection Line"/>
          <p:cNvSpPr/>
          <p:nvPr/>
        </p:nvSpPr>
        <p:spPr>
          <a:xfrm>
            <a:off x="5081061" y="3109662"/>
            <a:ext cx="1592911" cy="235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37" extrusionOk="0">
                <a:moveTo>
                  <a:pt x="21600" y="2963"/>
                </a:moveTo>
                <a:cubicBezTo>
                  <a:pt x="13103" y="21600"/>
                  <a:pt x="5903" y="20612"/>
                  <a:pt x="0" y="0"/>
                </a:cubicBezTo>
              </a:path>
            </a:pathLst>
          </a:custGeom>
          <a:ln w="3175">
            <a:solidFill>
              <a:srgbClr val="990000"/>
            </a:solidFill>
            <a:headEnd type="triangle"/>
          </a:ln>
          <a:effectLst>
            <a:outerShdw rotWithShape="0">
              <a:srgbClr val="000000">
                <a:alpha val="38000"/>
              </a:srgbClr>
            </a:outerShdw>
          </a:effectLst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84" name="In bin i, N events each carrying a fractional intensity pj so that"/>
          <p:cNvSpPr txBox="1"/>
          <p:nvPr/>
        </p:nvSpPr>
        <p:spPr>
          <a:xfrm>
            <a:off x="6874707" y="2781137"/>
            <a:ext cx="1678014" cy="1173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914437">
              <a:spcBef>
                <a:spcPts val="817"/>
              </a:spcBef>
              <a:defRPr sz="1400" spc="-1">
                <a:latin typeface="Verdana"/>
                <a:ea typeface="Verdana"/>
                <a:cs typeface="Verdana"/>
                <a:sym typeface="Verdana"/>
              </a:defRPr>
            </a:pPr>
            <a:r>
              <a:rPr sz="1271"/>
              <a:t>In bin </a:t>
            </a:r>
            <a:r>
              <a:rPr sz="1271" i="1"/>
              <a:t>i,</a:t>
            </a:r>
            <a:r>
              <a:rPr sz="1271"/>
              <a:t> </a:t>
            </a:r>
            <a:r>
              <a:rPr sz="1271" i="1"/>
              <a:t>N </a:t>
            </a:r>
            <a:r>
              <a:rPr sz="1271"/>
              <a:t>events each carrying a fractional intensity </a:t>
            </a:r>
            <a:r>
              <a:rPr sz="1271" i="1"/>
              <a:t>p</a:t>
            </a:r>
            <a:r>
              <a:rPr sz="1271" i="1" baseline="-5000"/>
              <a:t>j</a:t>
            </a:r>
            <a:r>
              <a:rPr sz="1271" i="1"/>
              <a:t> </a:t>
            </a:r>
            <a:r>
              <a:rPr sz="1271"/>
              <a:t>so that</a:t>
            </a:r>
            <a:br>
              <a:rPr sz="1271"/>
            </a:br>
            <a:br>
              <a:rPr sz="1271"/>
            </a:br>
            <a:endParaRPr sz="1271"/>
          </a:p>
        </p:txBody>
      </p:sp>
      <p:sp>
        <p:nvSpPr>
          <p:cNvPr id="1185" name="1"/>
          <p:cNvSpPr txBox="1"/>
          <p:nvPr/>
        </p:nvSpPr>
        <p:spPr>
          <a:xfrm>
            <a:off x="4209769" y="3001594"/>
            <a:ext cx="8643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1</a:t>
            </a:r>
          </a:p>
        </p:txBody>
      </p:sp>
      <p:sp>
        <p:nvSpPr>
          <p:cNvPr id="1186" name="2"/>
          <p:cNvSpPr txBox="1"/>
          <p:nvPr/>
        </p:nvSpPr>
        <p:spPr>
          <a:xfrm>
            <a:off x="4313784" y="3001594"/>
            <a:ext cx="8643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2</a:t>
            </a:r>
          </a:p>
        </p:txBody>
      </p:sp>
      <p:sp>
        <p:nvSpPr>
          <p:cNvPr id="1187" name="i"/>
          <p:cNvSpPr txBox="1"/>
          <p:nvPr/>
        </p:nvSpPr>
        <p:spPr>
          <a:xfrm>
            <a:off x="5017841" y="3001594"/>
            <a:ext cx="3834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i</a:t>
            </a:r>
          </a:p>
        </p:txBody>
      </p:sp>
      <p:sp>
        <p:nvSpPr>
          <p:cNvPr id="1188" name="k"/>
          <p:cNvSpPr txBox="1"/>
          <p:nvPr/>
        </p:nvSpPr>
        <p:spPr>
          <a:xfrm>
            <a:off x="5849690" y="3001594"/>
            <a:ext cx="78419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k</a:t>
            </a:r>
          </a:p>
        </p:txBody>
      </p:sp>
      <p:sp>
        <p:nvSpPr>
          <p:cNvPr id="1189" name="3"/>
          <p:cNvSpPr txBox="1"/>
          <p:nvPr/>
        </p:nvSpPr>
        <p:spPr>
          <a:xfrm>
            <a:off x="4424283" y="3001594"/>
            <a:ext cx="8643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/>
            </a:lvl1pPr>
          </a:lstStyle>
          <a:p>
            <a:r>
              <a:rPr sz="1271"/>
              <a:t>3</a:t>
            </a:r>
          </a:p>
        </p:txBody>
      </p:sp>
      <p:sp>
        <p:nvSpPr>
          <p:cNvPr id="1190" name="I"/>
          <p:cNvSpPr txBox="1"/>
          <p:nvPr/>
        </p:nvSpPr>
        <p:spPr>
          <a:xfrm>
            <a:off x="6562122" y="2694413"/>
            <a:ext cx="68801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1271"/>
              <a:t>I</a:t>
            </a:r>
          </a:p>
        </p:txBody>
      </p:sp>
      <p:sp>
        <p:nvSpPr>
          <p:cNvPr id="1191" name="E"/>
          <p:cNvSpPr txBox="1"/>
          <p:nvPr/>
        </p:nvSpPr>
        <p:spPr>
          <a:xfrm>
            <a:off x="7196206" y="2694413"/>
            <a:ext cx="102464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1271"/>
              <a:t>E</a:t>
            </a:r>
          </a:p>
        </p:txBody>
      </p:sp>
      <p:sp>
        <p:nvSpPr>
          <p:cNvPr id="1192" name="N"/>
          <p:cNvSpPr txBox="1"/>
          <p:nvPr/>
        </p:nvSpPr>
        <p:spPr>
          <a:xfrm>
            <a:off x="7778418" y="2694413"/>
            <a:ext cx="121700" cy="1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 defTabSz="1007533">
              <a:spcBef>
                <a:spcPts val="900"/>
              </a:spcBef>
              <a:defRPr sz="1400" spc="-1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r>
              <a:rPr sz="1271"/>
              <a:t>N</a:t>
            </a:r>
          </a:p>
        </p:txBody>
      </p:sp>
      <p:pic>
        <p:nvPicPr>
          <p:cNvPr id="119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0725" y="3414680"/>
            <a:ext cx="765928" cy="390394"/>
          </a:xfrm>
          <a:prstGeom prst="rect">
            <a:avLst/>
          </a:prstGeom>
          <a:ln w="12700">
            <a:miter lim="400000"/>
          </a:ln>
        </p:spPr>
      </p:pic>
      <p:sp>
        <p:nvSpPr>
          <p:cNvPr id="1194" name="Title 4"/>
          <p:cNvSpPr txBox="1"/>
          <p:nvPr/>
        </p:nvSpPr>
        <p:spPr>
          <a:xfrm>
            <a:off x="2862982" y="1905522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Monitors: Quick examples</a:t>
            </a:r>
          </a:p>
        </p:txBody>
      </p:sp>
      <p:pic>
        <p:nvPicPr>
          <p:cNvPr id="1195" name="image180.png" descr="image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472" y="1004783"/>
            <a:ext cx="8860160" cy="5146431"/>
          </a:xfrm>
          <a:prstGeom prst="rect">
            <a:avLst/>
          </a:prstGeom>
          <a:ln w="12700">
            <a:miter lim="400000"/>
          </a:ln>
        </p:spPr>
      </p:pic>
      <p:sp>
        <p:nvSpPr>
          <p:cNvPr id="1196" name="Oval"/>
          <p:cNvSpPr/>
          <p:nvPr/>
        </p:nvSpPr>
        <p:spPr>
          <a:xfrm>
            <a:off x="4901669" y="1720457"/>
            <a:ext cx="5792133" cy="810505"/>
          </a:xfrm>
          <a:prstGeom prst="ellipse">
            <a:avLst/>
          </a:prstGeom>
          <a:ln w="50800">
            <a:solidFill>
              <a:srgbClr val="DC0000"/>
            </a:solidFill>
          </a:ln>
        </p:spPr>
        <p:txBody>
          <a:bodyPr lIns="35122" tIns="35122" rIns="35122" bIns="35122" anchor="ctr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197" name="Statistics computed on the fly"/>
          <p:cNvSpPr txBox="1"/>
          <p:nvPr/>
        </p:nvSpPr>
        <p:spPr>
          <a:xfrm>
            <a:off x="2591463" y="1234155"/>
            <a:ext cx="2509862" cy="515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CE181E"/>
                </a:solidFill>
              </a:defRPr>
            </a:lvl1pPr>
          </a:lstStyle>
          <a:p>
            <a:r>
              <a:rPr sz="1452"/>
              <a:t>Statistics computed on the fly</a:t>
            </a:r>
          </a:p>
        </p:txBody>
      </p:sp>
      <p:sp>
        <p:nvSpPr>
          <p:cNvPr id="1198" name="Intensity / n/s"/>
          <p:cNvSpPr txBox="1"/>
          <p:nvPr/>
        </p:nvSpPr>
        <p:spPr>
          <a:xfrm>
            <a:off x="5356363" y="3071297"/>
            <a:ext cx="1166045" cy="515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CE181E"/>
                </a:solidFill>
              </a:defRPr>
            </a:lvl1pPr>
          </a:lstStyle>
          <a:p>
            <a:r>
              <a:rPr sz="1452"/>
              <a:t>Intensity / n/s</a:t>
            </a:r>
          </a:p>
        </p:txBody>
      </p:sp>
      <p:sp>
        <p:nvSpPr>
          <p:cNvPr id="1199" name="Estimated RMS MC error"/>
          <p:cNvSpPr txBox="1"/>
          <p:nvPr/>
        </p:nvSpPr>
        <p:spPr>
          <a:xfrm>
            <a:off x="5269908" y="4043903"/>
            <a:ext cx="3089642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CE181E"/>
                </a:solidFill>
              </a:defRPr>
            </a:lvl1pPr>
          </a:lstStyle>
          <a:p>
            <a:r>
              <a:rPr sz="1452"/>
              <a:t>Estimated RMS MC error</a:t>
            </a:r>
          </a:p>
        </p:txBody>
      </p:sp>
      <p:sp>
        <p:nvSpPr>
          <p:cNvPr id="1200" name="# Events"/>
          <p:cNvSpPr txBox="1"/>
          <p:nvPr/>
        </p:nvSpPr>
        <p:spPr>
          <a:xfrm>
            <a:off x="7532836" y="3027529"/>
            <a:ext cx="772681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CE181E"/>
                </a:solidFill>
              </a:defRPr>
            </a:lvl1pPr>
          </a:lstStyle>
          <a:p>
            <a:r>
              <a:rPr sz="1452"/>
              <a:t># Events</a:t>
            </a:r>
          </a:p>
        </p:txBody>
      </p:sp>
      <p:sp>
        <p:nvSpPr>
          <p:cNvPr id="1201" name="1st and 2nd moments of data"/>
          <p:cNvSpPr txBox="1"/>
          <p:nvPr/>
        </p:nvSpPr>
        <p:spPr>
          <a:xfrm>
            <a:off x="8156925" y="3561382"/>
            <a:ext cx="2289134" cy="515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1600" b="1" spc="0">
                <a:solidFill>
                  <a:srgbClr val="CE181E"/>
                </a:solidFill>
              </a:defRPr>
            </a:pPr>
            <a:r>
              <a:rPr sz="1452"/>
              <a:t>1</a:t>
            </a:r>
            <a:r>
              <a:rPr sz="1452" baseline="15746000"/>
              <a:t>st</a:t>
            </a:r>
            <a:r>
              <a:rPr sz="1452"/>
              <a:t> and 2</a:t>
            </a:r>
            <a:r>
              <a:rPr sz="1452" baseline="15746000"/>
              <a:t>nd</a:t>
            </a:r>
            <a:r>
              <a:rPr sz="1452"/>
              <a:t> moments of data</a:t>
            </a:r>
          </a:p>
        </p:txBody>
      </p:sp>
      <p:sp>
        <p:nvSpPr>
          <p:cNvPr id="1202" name="Line"/>
          <p:cNvSpPr/>
          <p:nvPr/>
        </p:nvSpPr>
        <p:spPr>
          <a:xfrm flipV="1">
            <a:off x="5853742" y="2260793"/>
            <a:ext cx="1" cy="810505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203" name="Line"/>
          <p:cNvSpPr/>
          <p:nvPr/>
        </p:nvSpPr>
        <p:spPr>
          <a:xfrm flipV="1">
            <a:off x="7042481" y="2206760"/>
            <a:ext cx="1" cy="1729076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204" name="Line"/>
          <p:cNvSpPr/>
          <p:nvPr/>
        </p:nvSpPr>
        <p:spPr>
          <a:xfrm flipV="1">
            <a:off x="7907018" y="2206760"/>
            <a:ext cx="1" cy="820772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205" name="Line"/>
          <p:cNvSpPr/>
          <p:nvPr/>
        </p:nvSpPr>
        <p:spPr>
          <a:xfrm flipV="1">
            <a:off x="8393321" y="2260794"/>
            <a:ext cx="324202" cy="1242774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206" name="Line"/>
          <p:cNvSpPr/>
          <p:nvPr/>
        </p:nvSpPr>
        <p:spPr>
          <a:xfrm flipV="1">
            <a:off x="8879623" y="2206759"/>
            <a:ext cx="864538" cy="1296808"/>
          </a:xfrm>
          <a:prstGeom prst="line">
            <a:avLst/>
          </a:prstGeom>
          <a:ln w="25400">
            <a:solidFill>
              <a:srgbClr val="DC00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207" name="Statistics also available per bin (inside data file)"/>
          <p:cNvSpPr txBox="1"/>
          <p:nvPr/>
        </p:nvSpPr>
        <p:spPr>
          <a:xfrm>
            <a:off x="2748431" y="4854136"/>
            <a:ext cx="5173718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008400"/>
                </a:solidFill>
              </a:defRPr>
            </a:lvl1pPr>
          </a:lstStyle>
          <a:p>
            <a:r>
              <a:rPr sz="1452"/>
              <a:t>Statistics also available per bin (inside data file) </a:t>
            </a:r>
          </a:p>
        </p:txBody>
      </p:sp>
      <p:sp>
        <p:nvSpPr>
          <p:cNvPr id="1208" name="Line"/>
          <p:cNvSpPr/>
          <p:nvPr/>
        </p:nvSpPr>
        <p:spPr>
          <a:xfrm flipH="1" flipV="1">
            <a:off x="2552559" y="2422624"/>
            <a:ext cx="1134706" cy="2377479"/>
          </a:xfrm>
          <a:prstGeom prst="line">
            <a:avLst/>
          </a:prstGeom>
          <a:ln w="25400">
            <a:solidFill>
              <a:srgbClr val="0084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Title 4"/>
          <p:cNvSpPr txBox="1"/>
          <p:nvPr/>
        </p:nvSpPr>
        <p:spPr>
          <a:xfrm>
            <a:off x="2857849" y="1905251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Monitors: Quick examples</a:t>
            </a:r>
          </a:p>
        </p:txBody>
      </p:sp>
      <p:pic>
        <p:nvPicPr>
          <p:cNvPr id="1211" name="image183.png" descr="image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988" y="971552"/>
            <a:ext cx="8860161" cy="4801155"/>
          </a:xfrm>
          <a:prstGeom prst="rect">
            <a:avLst/>
          </a:prstGeom>
          <a:ln w="12700">
            <a:miter lim="400000"/>
          </a:ln>
        </p:spPr>
      </p:pic>
      <p:sp>
        <p:nvSpPr>
          <p:cNvPr id="1212" name="In 2D"/>
          <p:cNvSpPr txBox="1"/>
          <p:nvPr/>
        </p:nvSpPr>
        <p:spPr>
          <a:xfrm>
            <a:off x="2494472" y="3567596"/>
            <a:ext cx="2509862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CE181E"/>
                </a:solidFill>
              </a:defRPr>
            </a:lvl1pPr>
          </a:lstStyle>
          <a:p>
            <a:r>
              <a:rPr sz="1452"/>
              <a:t>In 2D</a:t>
            </a:r>
          </a:p>
        </p:txBody>
      </p:sp>
      <p:sp>
        <p:nvSpPr>
          <p:cNvPr id="1213" name="1st and 2nd moments"/>
          <p:cNvSpPr txBox="1"/>
          <p:nvPr/>
        </p:nvSpPr>
        <p:spPr>
          <a:xfrm>
            <a:off x="8118560" y="3615145"/>
            <a:ext cx="2289134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1600" b="1" spc="0">
                <a:solidFill>
                  <a:srgbClr val="FFFFFE"/>
                </a:solidFill>
              </a:defRPr>
            </a:pPr>
            <a:r>
              <a:rPr sz="1452"/>
              <a:t>1</a:t>
            </a:r>
            <a:r>
              <a:rPr sz="1452" baseline="15746000"/>
              <a:t>st</a:t>
            </a:r>
            <a:r>
              <a:rPr sz="1452">
                <a:solidFill>
                  <a:srgbClr val="CE181E"/>
                </a:solidFill>
              </a:rPr>
              <a:t> and </a:t>
            </a:r>
            <a:r>
              <a:rPr sz="1452">
                <a:solidFill>
                  <a:srgbClr val="72E400"/>
                </a:solidFill>
              </a:rPr>
              <a:t>2</a:t>
            </a:r>
            <a:r>
              <a:rPr sz="1452" baseline="15746000">
                <a:solidFill>
                  <a:srgbClr val="72E400"/>
                </a:solidFill>
              </a:rPr>
              <a:t>nd</a:t>
            </a:r>
            <a:r>
              <a:rPr sz="1452">
                <a:solidFill>
                  <a:srgbClr val="72E400"/>
                </a:solidFill>
              </a:rPr>
              <a:t> </a:t>
            </a:r>
            <a:r>
              <a:rPr sz="1452">
                <a:solidFill>
                  <a:srgbClr val="CE181E"/>
                </a:solidFill>
              </a:rPr>
              <a:t>moments</a:t>
            </a:r>
          </a:p>
        </p:txBody>
      </p:sp>
      <p:sp>
        <p:nvSpPr>
          <p:cNvPr id="1214" name="Line"/>
          <p:cNvSpPr/>
          <p:nvPr/>
        </p:nvSpPr>
        <p:spPr>
          <a:xfrm flipV="1">
            <a:off x="8388188" y="2260523"/>
            <a:ext cx="324202" cy="1242774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215" name="Line"/>
          <p:cNvSpPr/>
          <p:nvPr/>
        </p:nvSpPr>
        <p:spPr>
          <a:xfrm flipV="1">
            <a:off x="8874490" y="2206490"/>
            <a:ext cx="486303" cy="1296807"/>
          </a:xfrm>
          <a:prstGeom prst="line">
            <a:avLst/>
          </a:prstGeom>
          <a:ln w="25400">
            <a:solidFill>
              <a:srgbClr val="72E4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216" name="Line"/>
          <p:cNvSpPr/>
          <p:nvPr/>
        </p:nvSpPr>
        <p:spPr>
          <a:xfrm flipH="1" flipV="1">
            <a:off x="6875246" y="2152457"/>
            <a:ext cx="1296808" cy="1404874"/>
          </a:xfrm>
          <a:prstGeom prst="line">
            <a:avLst/>
          </a:prstGeom>
          <a:ln w="25400">
            <a:solidFill>
              <a:srgbClr val="FFFFFF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  <p:sp>
        <p:nvSpPr>
          <p:cNvPr id="1217" name="Line"/>
          <p:cNvSpPr/>
          <p:nvPr/>
        </p:nvSpPr>
        <p:spPr>
          <a:xfrm flipH="1" flipV="1">
            <a:off x="7847851" y="2152456"/>
            <a:ext cx="864539" cy="1358135"/>
          </a:xfrm>
          <a:prstGeom prst="line">
            <a:avLst/>
          </a:prstGeom>
          <a:ln w="25400">
            <a:solidFill>
              <a:srgbClr val="72E400"/>
            </a:solidFill>
            <a:tailEnd type="triangle"/>
          </a:ln>
        </p:spPr>
        <p:txBody>
          <a:bodyPr lIns="34311" tIns="34311" rIns="34311" bIns="34311"/>
          <a:lstStyle/>
          <a:p>
            <a:pPr defTabSz="914437">
              <a:spcBef>
                <a:spcPts val="908"/>
              </a:spcBef>
              <a:defRPr sz="1600"/>
            </a:pPr>
            <a:endParaRPr sz="1452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Sketch of an algorithm…"/>
          <p:cNvSpPr txBox="1"/>
          <p:nvPr/>
        </p:nvSpPr>
        <p:spPr>
          <a:xfrm>
            <a:off x="2822727" y="1655347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Monitor_nD</a:t>
            </a:r>
          </a:p>
        </p:txBody>
      </p:sp>
      <p:sp>
        <p:nvSpPr>
          <p:cNvPr id="1236" name="CustomShape 5"/>
          <p:cNvSpPr/>
          <p:nvPr/>
        </p:nvSpPr>
        <p:spPr>
          <a:xfrm>
            <a:off x="7048766" y="1246392"/>
            <a:ext cx="3230476" cy="291659"/>
          </a:xfrm>
          <a:prstGeom prst="rect">
            <a:avLst/>
          </a:prstGeom>
          <a:solidFill>
            <a:srgbClr val="00F900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3770" tIns="33770" rIns="33770" bIns="33770" anchor="ctr">
            <a:spAutoFit/>
          </a:bodyPr>
          <a:lstStyle>
            <a:lvl1pPr defTabSz="1007533">
              <a:spcBef>
                <a:spcPts val="1000"/>
              </a:spcBef>
              <a:defRPr sz="1600" i="1" spc="0">
                <a:solidFill>
                  <a:srgbClr val="444444"/>
                </a:solidFill>
              </a:defRPr>
            </a:lvl1pPr>
          </a:lstStyle>
          <a:p>
            <a:r>
              <a:rPr sz="1452"/>
              <a:t>A general monitor for 0D/1D/2D records</a:t>
            </a:r>
          </a:p>
        </p:txBody>
      </p:sp>
      <p:sp>
        <p:nvSpPr>
          <p:cNvPr id="1237" name="CustomShape 6"/>
          <p:cNvSpPr txBox="1"/>
          <p:nvPr/>
        </p:nvSpPr>
        <p:spPr>
          <a:xfrm>
            <a:off x="3286065" y="2152456"/>
            <a:ext cx="6257907" cy="459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2800" i="1" spc="-1"/>
            </a:lvl1pPr>
          </a:lstStyle>
          <a:p>
            <a:r>
              <a:rPr sz="2541"/>
              <a:t>The all-in-one , swiss-army-knife of monitors</a:t>
            </a:r>
          </a:p>
        </p:txBody>
      </p:sp>
      <p:sp>
        <p:nvSpPr>
          <p:cNvPr id="1238" name="CustomShape 7"/>
          <p:cNvSpPr txBox="1"/>
          <p:nvPr/>
        </p:nvSpPr>
        <p:spPr>
          <a:xfrm>
            <a:off x="3270125" y="2589317"/>
            <a:ext cx="6840384" cy="1356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2800" b="1" i="1" spc="-1"/>
            </a:pPr>
            <a:r>
              <a:rPr sz="2541"/>
              <a:t>Monitor_nD can have almost any shape, and record </a:t>
            </a:r>
          </a:p>
          <a:p>
            <a:pPr defTabSz="914437">
              <a:spcBef>
                <a:spcPts val="908"/>
              </a:spcBef>
              <a:defRPr sz="2800" i="1" spc="-1"/>
            </a:pPr>
            <a:r>
              <a:rPr sz="2541"/>
              <a:t>any requested standard quantities</a:t>
            </a:r>
          </a:p>
        </p:txBody>
      </p:sp>
      <p:pic>
        <p:nvPicPr>
          <p:cNvPr id="123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147" y="3927837"/>
            <a:ext cx="2067596" cy="222024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Sketch of an algorithm…"/>
          <p:cNvSpPr txBox="1"/>
          <p:nvPr/>
        </p:nvSpPr>
        <p:spPr>
          <a:xfrm>
            <a:off x="2747579" y="1670905"/>
            <a:ext cx="6988436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Monitor_nD</a:t>
            </a:r>
          </a:p>
        </p:txBody>
      </p:sp>
      <p:sp>
        <p:nvSpPr>
          <p:cNvPr id="1242" name="CustomShape 4"/>
          <p:cNvSpPr/>
          <p:nvPr/>
        </p:nvSpPr>
        <p:spPr>
          <a:xfrm>
            <a:off x="7470156" y="1304191"/>
            <a:ext cx="3230476" cy="291659"/>
          </a:xfrm>
          <a:prstGeom prst="rect">
            <a:avLst/>
          </a:prstGeom>
          <a:solidFill>
            <a:srgbClr val="00F900"/>
          </a:solidFill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3770" tIns="33770" rIns="33770" bIns="33770" anchor="ctr">
            <a:spAutoFit/>
          </a:bodyPr>
          <a:lstStyle>
            <a:lvl1pPr defTabSz="1007533">
              <a:spcBef>
                <a:spcPts val="1000"/>
              </a:spcBef>
              <a:defRPr sz="1600" i="1" spc="0">
                <a:solidFill>
                  <a:srgbClr val="444444"/>
                </a:solidFill>
              </a:defRPr>
            </a:lvl1pPr>
          </a:lstStyle>
          <a:p>
            <a:r>
              <a:rPr sz="1452"/>
              <a:t>A general monitor for 0D/1D/2D records</a:t>
            </a:r>
          </a:p>
        </p:txBody>
      </p:sp>
      <p:sp>
        <p:nvSpPr>
          <p:cNvPr id="1243" name="CustomShape 5"/>
          <p:cNvSpPr txBox="1"/>
          <p:nvPr/>
        </p:nvSpPr>
        <p:spPr>
          <a:xfrm>
            <a:off x="3051657" y="2289874"/>
            <a:ext cx="6988167" cy="1531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1600" spc="0"/>
            </a:pPr>
            <a:endParaRPr sz="1452"/>
          </a:p>
          <a:p>
            <a:pPr defTabSz="914437">
              <a:spcBef>
                <a:spcPts val="908"/>
              </a:spcBef>
              <a:defRPr sz="1600" b="1" spc="-1">
                <a:solidFill>
                  <a:srgbClr val="38571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52"/>
              <a:t>COMPONENT </a:t>
            </a:r>
            <a:r>
              <a:rPr sz="1452">
                <a:solidFill>
                  <a:srgbClr val="000000"/>
                </a:solidFill>
              </a:rPr>
              <a:t>MyMon = </a:t>
            </a:r>
            <a:r>
              <a:rPr sz="1452"/>
              <a:t>Monitor_nD</a:t>
            </a:r>
            <a:r>
              <a:rPr sz="1452">
                <a:solidFill>
                  <a:srgbClr val="000000"/>
                </a:solidFill>
              </a:rPr>
              <a:t>( </a:t>
            </a:r>
            <a:r>
              <a:rPr sz="1452">
                <a:solidFill>
                  <a:srgbClr val="0061FF"/>
                </a:solidFill>
              </a:rPr>
              <a:t>xwidth = 0.1, yheight = 0.1,          </a:t>
            </a:r>
            <a:br>
              <a:rPr sz="1452">
                <a:solidFill>
                  <a:srgbClr val="0061FF"/>
                </a:solidFill>
              </a:rPr>
            </a:br>
            <a:r>
              <a:rPr sz="1452">
                <a:solidFill>
                  <a:srgbClr val="0061FF"/>
                </a:solidFill>
              </a:rPr>
              <a:t>      zdepth = 0,</a:t>
            </a:r>
          </a:p>
          <a:p>
            <a:pPr defTabSz="914437">
              <a:spcBef>
                <a:spcPts val="908"/>
              </a:spcBef>
              <a:defRPr sz="1600" b="1" spc="-1">
                <a:solidFill>
                  <a:srgbClr val="0061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52"/>
              <a:t>      </a:t>
            </a:r>
            <a:r>
              <a:rPr sz="1452" u="sng"/>
              <a:t>options = "intensity per cm2 angle,limits=[-5 5],</a:t>
            </a:r>
            <a:r>
              <a:rPr sz="1452"/>
              <a:t>       </a:t>
            </a:r>
          </a:p>
          <a:p>
            <a:pPr defTabSz="914437">
              <a:spcBef>
                <a:spcPts val="908"/>
              </a:spcBef>
              <a:defRPr sz="1600" b="1" spc="-1">
                <a:solidFill>
                  <a:srgbClr val="0061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52"/>
              <a:t>                  </a:t>
            </a:r>
            <a:r>
              <a:rPr sz="1452" u="sng"/>
              <a:t>bins=10,with borders, file = mon1"</a:t>
            </a:r>
            <a:r>
              <a:rPr sz="1452"/>
              <a:t>)</a:t>
            </a:r>
          </a:p>
        </p:txBody>
      </p:sp>
      <p:sp>
        <p:nvSpPr>
          <p:cNvPr id="1244" name="CustomShape 7"/>
          <p:cNvSpPr txBox="1"/>
          <p:nvPr/>
        </p:nvSpPr>
        <p:spPr>
          <a:xfrm>
            <a:off x="3262613" y="5716022"/>
            <a:ext cx="5666775" cy="515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1600" b="1" i="1" spc="-1">
                <a:solidFill>
                  <a:srgbClr val="0061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52"/>
              <a:t>  </a:t>
            </a:r>
            <a:r>
              <a:rPr sz="1452" u="sng"/>
              <a:t>options = "banana, theta limits=[10,130], bins=120, y"</a:t>
            </a:r>
          </a:p>
        </p:txBody>
      </p:sp>
      <p:sp>
        <p:nvSpPr>
          <p:cNvPr id="1245" name="CustomShape 9"/>
          <p:cNvSpPr txBox="1"/>
          <p:nvPr/>
        </p:nvSpPr>
        <p:spPr>
          <a:xfrm>
            <a:off x="3147702" y="4673355"/>
            <a:ext cx="6796076" cy="515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i="1" u="sng" spc="-1">
                <a:solidFill>
                  <a:srgbClr val="0061F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r>
              <a:rPr sz="1452"/>
              <a:t>options = "multiple kx ky kz, auto abs log t, and list all neutrons"</a:t>
            </a:r>
          </a:p>
        </p:txBody>
      </p:sp>
      <p:sp>
        <p:nvSpPr>
          <p:cNvPr id="1246" name="CustomShape 10"/>
          <p:cNvSpPr txBox="1"/>
          <p:nvPr/>
        </p:nvSpPr>
        <p:spPr>
          <a:xfrm>
            <a:off x="2769233" y="2152456"/>
            <a:ext cx="1843627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b="1" spc="0">
                <a:solidFill>
                  <a:srgbClr val="00A3D7"/>
                </a:solidFill>
              </a:defRPr>
            </a:lvl1pPr>
          </a:lstStyle>
          <a:p>
            <a:r>
              <a:rPr sz="1452"/>
              <a:t>Examples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Sketch of an algorithm…"/>
          <p:cNvSpPr txBox="1"/>
          <p:nvPr/>
        </p:nvSpPr>
        <p:spPr>
          <a:xfrm>
            <a:off x="2857849" y="1905251"/>
            <a:ext cx="6988437" cy="4469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1007533">
              <a:spcBef>
                <a:spcPts val="1000"/>
              </a:spcBef>
              <a:defRPr sz="3200" b="1" spc="-1"/>
            </a:lvl1pPr>
          </a:lstStyle>
          <a:p>
            <a:r>
              <a:rPr sz="2904"/>
              <a:t>Monitor_nD</a:t>
            </a:r>
          </a:p>
        </p:txBody>
      </p:sp>
      <p:sp>
        <p:nvSpPr>
          <p:cNvPr id="1249" name="CustomShape 8"/>
          <p:cNvSpPr txBox="1"/>
          <p:nvPr/>
        </p:nvSpPr>
        <p:spPr>
          <a:xfrm>
            <a:off x="2989151" y="3125061"/>
            <a:ext cx="6641269" cy="969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/>
          <a:p>
            <a:pPr defTabSz="914437">
              <a:spcBef>
                <a:spcPts val="908"/>
              </a:spcBef>
              <a:defRPr sz="1600" b="1" i="1" spc="-1">
                <a:solidFill>
                  <a:srgbClr val="38571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52"/>
              <a:t>COMPONENT</a:t>
            </a:r>
            <a:r>
              <a:rPr sz="1452">
                <a:solidFill>
                  <a:srgbClr val="000000"/>
                </a:solidFill>
              </a:rPr>
              <a:t> MyMon = </a:t>
            </a:r>
            <a:r>
              <a:rPr sz="1452"/>
              <a:t>Monitor_nD</a:t>
            </a:r>
            <a:r>
              <a:rPr sz="1452">
                <a:solidFill>
                  <a:srgbClr val="000000"/>
                </a:solidFill>
              </a:rPr>
              <a:t>(</a:t>
            </a:r>
            <a:r>
              <a:rPr sz="1452">
                <a:solidFill>
                  <a:srgbClr val="0061FF"/>
                </a:solidFill>
              </a:rPr>
              <a:t>xwidth = 0.1, yheight = 0.1,</a:t>
            </a:r>
          </a:p>
          <a:p>
            <a:pPr defTabSz="914437">
              <a:spcBef>
                <a:spcPts val="908"/>
              </a:spcBef>
              <a:defRPr sz="1600" b="1" i="1" spc="-1">
                <a:solidFill>
                  <a:srgbClr val="0061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52"/>
              <a:t>   user1=age, username1="Age of the Captain [years]",</a:t>
            </a:r>
          </a:p>
          <a:p>
            <a:pPr defTabSz="914437">
              <a:spcBef>
                <a:spcPts val="908"/>
              </a:spcBef>
              <a:defRPr sz="1600" b="1" i="1" spc="-1">
                <a:solidFill>
                  <a:srgbClr val="0061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rPr sz="1452"/>
              <a:t>   options="user1, auto")</a:t>
            </a:r>
          </a:p>
        </p:txBody>
      </p:sp>
      <p:sp>
        <p:nvSpPr>
          <p:cNvPr id="1250" name="… or monitor just about anything:"/>
          <p:cNvSpPr txBox="1"/>
          <p:nvPr/>
        </p:nvSpPr>
        <p:spPr>
          <a:xfrm>
            <a:off x="3180700" y="2314557"/>
            <a:ext cx="3714811" cy="29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770" tIns="33770" rIns="33770" bIns="33770">
            <a:spAutoFit/>
          </a:bodyPr>
          <a:lstStyle>
            <a:lvl1pPr defTabSz="1007533">
              <a:spcBef>
                <a:spcPts val="1000"/>
              </a:spcBef>
              <a:defRPr sz="1600" spc="0"/>
            </a:lvl1pPr>
          </a:lstStyle>
          <a:p>
            <a:r>
              <a:rPr sz="1452"/>
              <a:t>… or monitor just about anything: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1044</Words>
  <Application>Microsoft Macintosh PowerPoint</Application>
  <PresentationFormat>Widescreen</PresentationFormat>
  <Paragraphs>190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Courier</vt:lpstr>
      <vt:lpstr>Office Theme</vt:lpstr>
      <vt:lpstr>Sources, e.g. rotating anode</vt:lpstr>
      <vt:lpstr>Sources, e.g. rotating anode</vt:lpstr>
      <vt:lpstr>Sources, e.g. rotating anode</vt:lpstr>
      <vt:lpstr>Sources, e.g. rotating anode</vt:lpstr>
      <vt:lpstr>X-ray (rays) in McXtrace - what are they?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Willendrup</dc:creator>
  <cp:lastModifiedBy>Peter Willendrup</cp:lastModifiedBy>
  <cp:revision>1</cp:revision>
  <dcterms:created xsi:type="dcterms:W3CDTF">2026-08-07T07:48:32Z</dcterms:created>
  <dcterms:modified xsi:type="dcterms:W3CDTF">2026-08-07T07:50:33Z</dcterms:modified>
</cp:coreProperties>
</file>