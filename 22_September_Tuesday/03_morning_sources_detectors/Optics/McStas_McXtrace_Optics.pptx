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ptos"/>
      </a:defRPr>
    </a:lvl1pPr>
    <a:lvl2pPr indent="228600" latinLnBrk="0">
      <a:defRPr sz="1200">
        <a:latin typeface="+mn-lt"/>
        <a:ea typeface="+mn-ea"/>
        <a:cs typeface="+mn-cs"/>
        <a:sym typeface="Aptos"/>
      </a:defRPr>
    </a:lvl2pPr>
    <a:lvl3pPr indent="457200" latinLnBrk="0">
      <a:defRPr sz="1200">
        <a:latin typeface="+mn-lt"/>
        <a:ea typeface="+mn-ea"/>
        <a:cs typeface="+mn-cs"/>
        <a:sym typeface="Aptos"/>
      </a:defRPr>
    </a:lvl3pPr>
    <a:lvl4pPr indent="685800" latinLnBrk="0">
      <a:defRPr sz="1200">
        <a:latin typeface="+mn-lt"/>
        <a:ea typeface="+mn-ea"/>
        <a:cs typeface="+mn-cs"/>
        <a:sym typeface="Aptos"/>
      </a:defRPr>
    </a:lvl4pPr>
    <a:lvl5pPr indent="914400" latinLnBrk="0">
      <a:defRPr sz="1200">
        <a:latin typeface="+mn-lt"/>
        <a:ea typeface="+mn-ea"/>
        <a:cs typeface="+mn-cs"/>
        <a:sym typeface="Aptos"/>
      </a:defRPr>
    </a:lvl5pPr>
    <a:lvl6pPr indent="1143000" latinLnBrk="0">
      <a:defRPr sz="1200">
        <a:latin typeface="+mn-lt"/>
        <a:ea typeface="+mn-ea"/>
        <a:cs typeface="+mn-cs"/>
        <a:sym typeface="Aptos"/>
      </a:defRPr>
    </a:lvl6pPr>
    <a:lvl7pPr indent="1371600" latinLnBrk="0">
      <a:defRPr sz="1200">
        <a:latin typeface="+mn-lt"/>
        <a:ea typeface="+mn-ea"/>
        <a:cs typeface="+mn-cs"/>
        <a:sym typeface="Aptos"/>
      </a:defRPr>
    </a:lvl7pPr>
    <a:lvl8pPr indent="1600200" latinLnBrk="0">
      <a:defRPr sz="1200">
        <a:latin typeface="+mn-lt"/>
        <a:ea typeface="+mn-ea"/>
        <a:cs typeface="+mn-cs"/>
        <a:sym typeface="Aptos"/>
      </a:defRPr>
    </a:lvl8pPr>
    <a:lvl9pPr indent="18288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.tif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.gif"/><Relationship Id="rId8" Type="http://schemas.openxmlformats.org/officeDocument/2006/relationships/image" Target="../media/image5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.gif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.gif"/><Relationship Id="rId8" Type="http://schemas.openxmlformats.org/officeDocument/2006/relationships/image" Target="../media/image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1.gif"/><Relationship Id="rId10" Type="http://schemas.openxmlformats.org/officeDocument/2006/relationships/image" Target="../media/image5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.tif"/><Relationship Id="rId5" Type="http://schemas.openxmlformats.org/officeDocument/2006/relationships/image" Target="../media/image11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1.gif"/><Relationship Id="rId9" Type="http://schemas.openxmlformats.org/officeDocument/2006/relationships/image" Target="../media/image5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tif"/><Relationship Id="rId4" Type="http://schemas.openxmlformats.org/officeDocument/2006/relationships/image" Target="../media/image1.jpe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.gif"/><Relationship Id="rId8" Type="http://schemas.openxmlformats.org/officeDocument/2006/relationships/image" Target="../media/image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.gif"/><Relationship Id="rId5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5.png"/><Relationship Id="rId5" Type="http://schemas.openxmlformats.org/officeDocument/2006/relationships/image" Target="../media/image4.tif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9418319" y="-1463040"/>
            <a:ext cx="4754881" cy="4754880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>
            <a:off x="-1828801" y="4206240"/>
            <a:ext cx="4206242" cy="4206241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pic>
        <p:nvPicPr>
          <p:cNvPr id="2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22960" y="457200"/>
            <a:ext cx="1397204" cy="716891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Text 2"/>
          <p:cNvSpPr txBox="1"/>
          <p:nvPr/>
        </p:nvSpPr>
        <p:spPr>
          <a:xfrm>
            <a:off x="868680" y="1642680"/>
            <a:ext cx="8138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400">
                <a:solidFill>
                  <a:srgbClr val="9FB4E8"/>
                </a:solidFill>
              </a:defRPr>
            </a:lvl1pPr>
          </a:lstStyle>
          <a:p>
            <a:pPr/>
            <a:r>
              <a:t>NEUTRON &amp; X-RAY OPTICS</a:t>
            </a:r>
          </a:p>
        </p:txBody>
      </p:sp>
      <p:sp>
        <p:nvSpPr>
          <p:cNvPr id="24" name="Text 3"/>
          <p:cNvSpPr txBox="1"/>
          <p:nvPr/>
        </p:nvSpPr>
        <p:spPr>
          <a:xfrm>
            <a:off x="822960" y="2157729"/>
            <a:ext cx="9509761" cy="1445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04999"/>
              </a:lnSpc>
              <a:defRPr sz="4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Shaping, focusing,</a:t>
            </a:r>
          </a:p>
          <a:p>
            <a:pPr>
              <a:lnSpc>
                <a:spcPct val="104999"/>
              </a:lnSpc>
              <a:defRPr sz="4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and timing the beam</a:t>
            </a:r>
          </a:p>
        </p:txBody>
      </p:sp>
      <p:sp>
        <p:nvSpPr>
          <p:cNvPr id="25" name="Text 4"/>
          <p:cNvSpPr txBox="1"/>
          <p:nvPr/>
        </p:nvSpPr>
        <p:spPr>
          <a:xfrm>
            <a:off x="868680" y="3822394"/>
            <a:ext cx="886968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700">
                <a:solidFill>
                  <a:srgbClr val="C7D3F0"/>
                </a:solidFill>
              </a:defRPr>
            </a:lvl1pPr>
          </a:lstStyle>
          <a:p>
            <a:pPr/>
            <a:r>
              <a:t>Mirrors, lenses, crystals, multilayers and choppers in McStas &amp; McXtrace</a:t>
            </a:r>
          </a:p>
        </p:txBody>
      </p:sp>
      <p:sp>
        <p:nvSpPr>
          <p:cNvPr id="26" name="Shape 5"/>
          <p:cNvSpPr/>
          <p:nvPr/>
        </p:nvSpPr>
        <p:spPr>
          <a:xfrm>
            <a:off x="822960" y="4480559"/>
            <a:ext cx="1417321" cy="310897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" name="Text 6"/>
          <p:cNvSpPr txBox="1"/>
          <p:nvPr/>
        </p:nvSpPr>
        <p:spPr>
          <a:xfrm>
            <a:off x="868680" y="4523153"/>
            <a:ext cx="132588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1C7293"/>
                </a:solidFill>
              </a:defRPr>
            </a:lvl1pPr>
          </a:lstStyle>
          <a:p>
            <a:pPr/>
            <a:r>
              <a:t>McStas — neutrons</a:t>
            </a:r>
          </a:p>
        </p:txBody>
      </p:sp>
      <p:sp>
        <p:nvSpPr>
          <p:cNvPr id="28" name="Shape 7"/>
          <p:cNvSpPr/>
          <p:nvPr/>
        </p:nvSpPr>
        <p:spPr>
          <a:xfrm>
            <a:off x="2377439" y="4480559"/>
            <a:ext cx="1417321" cy="310897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8"/>
          <p:cNvSpPr txBox="1"/>
          <p:nvPr/>
        </p:nvSpPr>
        <p:spPr>
          <a:xfrm>
            <a:off x="2423159" y="4523153"/>
            <a:ext cx="132588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D97A2B"/>
                </a:solidFill>
              </a:defRPr>
            </a:lvl1pPr>
          </a:lstStyle>
          <a:p>
            <a:pPr/>
            <a:r>
              <a:t>McXtrace — X-rays</a:t>
            </a:r>
          </a:p>
        </p:txBody>
      </p:sp>
      <p:pic>
        <p:nvPicPr>
          <p:cNvPr id="30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759597" y="4018788"/>
            <a:ext cx="3150109" cy="979323"/>
          </a:xfrm>
          <a:prstGeom prst="rect">
            <a:avLst/>
          </a:prstGeom>
          <a:ln w="12700">
            <a:miter lim="400000"/>
          </a:ln>
        </p:spPr>
      </p:pic>
      <p:sp>
        <p:nvSpPr>
          <p:cNvPr id="31" name="Shape 9"/>
          <p:cNvSpPr/>
          <p:nvPr/>
        </p:nvSpPr>
        <p:spPr>
          <a:xfrm>
            <a:off x="822959" y="5806440"/>
            <a:ext cx="2926082" cy="1"/>
          </a:xfrm>
          <a:prstGeom prst="line">
            <a:avLst/>
          </a:prstGeom>
          <a:ln w="12700">
            <a:solidFill>
              <a:srgbClr val="3C4A8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" name="Text 10"/>
          <p:cNvSpPr txBox="1"/>
          <p:nvPr/>
        </p:nvSpPr>
        <p:spPr>
          <a:xfrm>
            <a:off x="868680" y="5920031"/>
            <a:ext cx="53949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AAB6DE"/>
                </a:solidFill>
              </a:defRPr>
            </a:lvl1pPr>
          </a:lstStyle>
          <a:p>
            <a:pPr/>
            <a:r>
              <a:t>Peter Willendrup   ·   DTU Physics</a:t>
            </a:r>
          </a:p>
        </p:txBody>
      </p:sp>
      <p:sp>
        <p:nvSpPr>
          <p:cNvPr id="33" name="Text 11"/>
          <p:cNvSpPr txBox="1"/>
          <p:nvPr/>
        </p:nvSpPr>
        <p:spPr>
          <a:xfrm>
            <a:off x="868680" y="6205650"/>
            <a:ext cx="63093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7D8AC0"/>
                </a:solidFill>
              </a:defRPr>
            </a:lvl1pPr>
          </a:lstStyle>
          <a:p>
            <a:pPr/>
            <a:r>
              <a:t>PaNRAID School  ·  supported by PEPR DIADEM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37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we'll cover</a:t>
            </a:r>
          </a:p>
        </p:txBody>
      </p:sp>
      <p:sp>
        <p:nvSpPr>
          <p:cNvPr id="38" name="Text 2"/>
          <p:cNvSpPr txBox="1"/>
          <p:nvPr/>
        </p:nvSpPr>
        <p:spPr>
          <a:xfrm>
            <a:off x="594359" y="1493959"/>
            <a:ext cx="960120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Everything between source and sample that reshapes the beam in space, direction, energy or time.</a:t>
            </a:r>
          </a:p>
        </p:txBody>
      </p:sp>
      <p:sp>
        <p:nvSpPr>
          <p:cNvPr id="39" name="Shape 3"/>
          <p:cNvSpPr/>
          <p:nvPr/>
        </p:nvSpPr>
        <p:spPr>
          <a:xfrm>
            <a:off x="548640" y="2176272"/>
            <a:ext cx="329185" cy="329185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Text 4"/>
          <p:cNvSpPr txBox="1"/>
          <p:nvPr/>
        </p:nvSpPr>
        <p:spPr>
          <a:xfrm>
            <a:off x="594360" y="2199894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41" name="Text 5"/>
          <p:cNvSpPr txBox="1"/>
          <p:nvPr/>
        </p:nvSpPr>
        <p:spPr>
          <a:xfrm>
            <a:off x="1069847" y="2136456"/>
            <a:ext cx="47548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Five ways to shape a beam</a:t>
            </a:r>
          </a:p>
        </p:txBody>
      </p:sp>
      <p:sp>
        <p:nvSpPr>
          <p:cNvPr id="42" name="Text 6"/>
          <p:cNvSpPr txBox="1"/>
          <p:nvPr/>
        </p:nvSpPr>
        <p:spPr>
          <a:xfrm>
            <a:off x="1069847" y="2538906"/>
            <a:ext cx="475488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A quick map of the optics families we'll cover</a:t>
            </a:r>
          </a:p>
        </p:txBody>
      </p:sp>
      <p:sp>
        <p:nvSpPr>
          <p:cNvPr id="43" name="Shape 7"/>
          <p:cNvSpPr/>
          <p:nvPr/>
        </p:nvSpPr>
        <p:spPr>
          <a:xfrm>
            <a:off x="6355079" y="2176272"/>
            <a:ext cx="329185" cy="329185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" name="Text 8"/>
          <p:cNvSpPr txBox="1"/>
          <p:nvPr/>
        </p:nvSpPr>
        <p:spPr>
          <a:xfrm>
            <a:off x="6400799" y="2199894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45" name="Text 9"/>
          <p:cNvSpPr txBox="1"/>
          <p:nvPr/>
        </p:nvSpPr>
        <p:spPr>
          <a:xfrm>
            <a:off x="6876288" y="2136456"/>
            <a:ext cx="4754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Spatial &amp; directional shaping</a:t>
            </a:r>
          </a:p>
        </p:txBody>
      </p:sp>
      <p:sp>
        <p:nvSpPr>
          <p:cNvPr id="46" name="Text 10"/>
          <p:cNvSpPr txBox="1"/>
          <p:nvPr/>
        </p:nvSpPr>
        <p:spPr>
          <a:xfrm>
            <a:off x="6876288" y="2538906"/>
            <a:ext cx="47548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Slits, apertures and collimators</a:t>
            </a:r>
          </a:p>
        </p:txBody>
      </p:sp>
      <p:sp>
        <p:nvSpPr>
          <p:cNvPr id="47" name="Shape 11"/>
          <p:cNvSpPr/>
          <p:nvPr/>
        </p:nvSpPr>
        <p:spPr>
          <a:xfrm>
            <a:off x="548640" y="3200399"/>
            <a:ext cx="329185" cy="329186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Text 12"/>
          <p:cNvSpPr txBox="1"/>
          <p:nvPr/>
        </p:nvSpPr>
        <p:spPr>
          <a:xfrm>
            <a:off x="594360" y="3224021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49" name="Text 13"/>
          <p:cNvSpPr txBox="1"/>
          <p:nvPr/>
        </p:nvSpPr>
        <p:spPr>
          <a:xfrm>
            <a:off x="1069847" y="3160584"/>
            <a:ext cx="47548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Grazing-incidence reflection</a:t>
            </a:r>
          </a:p>
        </p:txBody>
      </p:sp>
      <p:sp>
        <p:nvSpPr>
          <p:cNvPr id="50" name="Text 14"/>
          <p:cNvSpPr txBox="1"/>
          <p:nvPr/>
        </p:nvSpPr>
        <p:spPr>
          <a:xfrm>
            <a:off x="1069847" y="3563034"/>
            <a:ext cx="475488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The shared physics behind guides and mirrors</a:t>
            </a:r>
          </a:p>
        </p:txBody>
      </p:sp>
      <p:sp>
        <p:nvSpPr>
          <p:cNvPr id="51" name="Shape 15"/>
          <p:cNvSpPr/>
          <p:nvPr/>
        </p:nvSpPr>
        <p:spPr>
          <a:xfrm>
            <a:off x="6355079" y="3200399"/>
            <a:ext cx="329185" cy="329186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" name="Text 16"/>
          <p:cNvSpPr txBox="1"/>
          <p:nvPr/>
        </p:nvSpPr>
        <p:spPr>
          <a:xfrm>
            <a:off x="6400799" y="3224021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3" name="Text 17"/>
          <p:cNvSpPr txBox="1"/>
          <p:nvPr/>
        </p:nvSpPr>
        <p:spPr>
          <a:xfrm>
            <a:off x="6876288" y="3160584"/>
            <a:ext cx="4754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Guides &amp; mirrors</a:t>
            </a:r>
          </a:p>
        </p:txBody>
      </p:sp>
      <p:sp>
        <p:nvSpPr>
          <p:cNvPr id="54" name="Text 18"/>
          <p:cNvSpPr txBox="1"/>
          <p:nvPr/>
        </p:nvSpPr>
        <p:spPr>
          <a:xfrm>
            <a:off x="6876288" y="3563034"/>
            <a:ext cx="47548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Channelling neutrons vs. focusing X-rays</a:t>
            </a:r>
          </a:p>
        </p:txBody>
      </p:sp>
      <p:sp>
        <p:nvSpPr>
          <p:cNvPr id="55" name="Shape 19"/>
          <p:cNvSpPr/>
          <p:nvPr/>
        </p:nvSpPr>
        <p:spPr>
          <a:xfrm>
            <a:off x="548640" y="4224528"/>
            <a:ext cx="329185" cy="329185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6" name="Text 20"/>
          <p:cNvSpPr txBox="1"/>
          <p:nvPr/>
        </p:nvSpPr>
        <p:spPr>
          <a:xfrm>
            <a:off x="594360" y="4248150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7" name="Text 21"/>
          <p:cNvSpPr txBox="1"/>
          <p:nvPr/>
        </p:nvSpPr>
        <p:spPr>
          <a:xfrm>
            <a:off x="1069847" y="4184712"/>
            <a:ext cx="47548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Refractive lenses (CRLs)</a:t>
            </a:r>
          </a:p>
        </p:txBody>
      </p:sp>
      <p:sp>
        <p:nvSpPr>
          <p:cNvPr id="58" name="Text 22"/>
          <p:cNvSpPr txBox="1"/>
          <p:nvPr/>
        </p:nvSpPr>
        <p:spPr>
          <a:xfrm>
            <a:off x="1069847" y="4587161"/>
            <a:ext cx="475488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Why X-ray and neutron lenses must be stacked</a:t>
            </a:r>
          </a:p>
        </p:txBody>
      </p:sp>
      <p:sp>
        <p:nvSpPr>
          <p:cNvPr id="59" name="Shape 23"/>
          <p:cNvSpPr/>
          <p:nvPr/>
        </p:nvSpPr>
        <p:spPr>
          <a:xfrm>
            <a:off x="6355079" y="4224528"/>
            <a:ext cx="329185" cy="329185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" name="Text 24"/>
          <p:cNvSpPr txBox="1"/>
          <p:nvPr/>
        </p:nvSpPr>
        <p:spPr>
          <a:xfrm>
            <a:off x="6400799" y="4248150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61" name="Text 25"/>
          <p:cNvSpPr txBox="1"/>
          <p:nvPr/>
        </p:nvSpPr>
        <p:spPr>
          <a:xfrm>
            <a:off x="6876288" y="4184712"/>
            <a:ext cx="4754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Crystal monochromators</a:t>
            </a:r>
          </a:p>
        </p:txBody>
      </p:sp>
      <p:sp>
        <p:nvSpPr>
          <p:cNvPr id="62" name="Text 26"/>
          <p:cNvSpPr txBox="1"/>
          <p:nvPr/>
        </p:nvSpPr>
        <p:spPr>
          <a:xfrm>
            <a:off x="6876288" y="4587161"/>
            <a:ext cx="475488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Bragg's law, mosaicity, and geometry</a:t>
            </a:r>
          </a:p>
        </p:txBody>
      </p:sp>
      <p:sp>
        <p:nvSpPr>
          <p:cNvPr id="63" name="Shape 27"/>
          <p:cNvSpPr/>
          <p:nvPr/>
        </p:nvSpPr>
        <p:spPr>
          <a:xfrm>
            <a:off x="548640" y="5248655"/>
            <a:ext cx="329185" cy="329185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4" name="Text 28"/>
          <p:cNvSpPr txBox="1"/>
          <p:nvPr/>
        </p:nvSpPr>
        <p:spPr>
          <a:xfrm>
            <a:off x="594360" y="5272277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65" name="Text 29"/>
          <p:cNvSpPr txBox="1"/>
          <p:nvPr/>
        </p:nvSpPr>
        <p:spPr>
          <a:xfrm>
            <a:off x="1069847" y="5208840"/>
            <a:ext cx="47548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Multilayers</a:t>
            </a:r>
          </a:p>
        </p:txBody>
      </p:sp>
      <p:sp>
        <p:nvSpPr>
          <p:cNvPr id="66" name="Text 30"/>
          <p:cNvSpPr txBox="1"/>
          <p:nvPr/>
        </p:nvSpPr>
        <p:spPr>
          <a:xfrm>
            <a:off x="1069847" y="5611290"/>
            <a:ext cx="475488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One interference effect, two very different jobs</a:t>
            </a:r>
          </a:p>
        </p:txBody>
      </p:sp>
      <p:sp>
        <p:nvSpPr>
          <p:cNvPr id="67" name="Shape 31"/>
          <p:cNvSpPr/>
          <p:nvPr/>
        </p:nvSpPr>
        <p:spPr>
          <a:xfrm>
            <a:off x="6355079" y="5248655"/>
            <a:ext cx="329185" cy="329185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Text 32"/>
          <p:cNvSpPr txBox="1"/>
          <p:nvPr/>
        </p:nvSpPr>
        <p:spPr>
          <a:xfrm>
            <a:off x="6400799" y="5272277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69" name="Text 33"/>
          <p:cNvSpPr txBox="1"/>
          <p:nvPr/>
        </p:nvSpPr>
        <p:spPr>
          <a:xfrm>
            <a:off x="6876288" y="5208840"/>
            <a:ext cx="4754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Temporal shaping</a:t>
            </a:r>
          </a:p>
        </p:txBody>
      </p:sp>
      <p:sp>
        <p:nvSpPr>
          <p:cNvPr id="70" name="Text 34"/>
          <p:cNvSpPr txBox="1"/>
          <p:nvPr/>
        </p:nvSpPr>
        <p:spPr>
          <a:xfrm>
            <a:off x="6876288" y="5611290"/>
            <a:ext cx="47548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Choppers, velocity selectors, and why neutrons are special</a:t>
            </a:r>
          </a:p>
        </p:txBody>
      </p:sp>
      <p:sp>
        <p:nvSpPr>
          <p:cNvPr id="71" name="Text 35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72" name="Text 36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2</a:t>
            </a:r>
          </a:p>
        </p:txBody>
      </p:sp>
      <p:grpSp>
        <p:nvGrpSpPr>
          <p:cNvPr id="79" name="Group 39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77" name="Group 40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73" name="Picture 42" descr="Picture 4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76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74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75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78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FRAMING</a:t>
            </a:r>
          </a:p>
        </p:txBody>
      </p:sp>
      <p:sp>
        <p:nvSpPr>
          <p:cNvPr id="83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Five ways to shape a beam</a:t>
            </a:r>
          </a:p>
        </p:txBody>
      </p:sp>
      <p:sp>
        <p:nvSpPr>
          <p:cNvPr id="84" name="Text 2"/>
          <p:cNvSpPr txBox="1"/>
          <p:nvPr/>
        </p:nvSpPr>
        <p:spPr>
          <a:xfrm>
            <a:off x="594360" y="1471099"/>
            <a:ext cx="103327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Every optical component in either code falls into one of these families.</a:t>
            </a:r>
          </a:p>
        </p:txBody>
      </p:sp>
      <p:sp>
        <p:nvSpPr>
          <p:cNvPr id="85" name="Shape 3"/>
          <p:cNvSpPr/>
          <p:nvPr/>
        </p:nvSpPr>
        <p:spPr>
          <a:xfrm>
            <a:off x="548640" y="2103120"/>
            <a:ext cx="2084833" cy="3291841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6" name="Shape 4"/>
          <p:cNvSpPr/>
          <p:nvPr/>
        </p:nvSpPr>
        <p:spPr>
          <a:xfrm>
            <a:off x="548639" y="2103120"/>
            <a:ext cx="2084834" cy="457201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7" name="Text 5"/>
          <p:cNvSpPr txBox="1"/>
          <p:nvPr/>
        </p:nvSpPr>
        <p:spPr>
          <a:xfrm>
            <a:off x="594359" y="2184400"/>
            <a:ext cx="1993394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Spatial</a:t>
            </a:r>
          </a:p>
        </p:txBody>
      </p:sp>
      <p:sp>
        <p:nvSpPr>
          <p:cNvPr id="88" name="Text 6"/>
          <p:cNvSpPr txBox="1"/>
          <p:nvPr/>
        </p:nvSpPr>
        <p:spPr>
          <a:xfrm>
            <a:off x="704088" y="2706878"/>
            <a:ext cx="365761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0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89" name="Text 7"/>
          <p:cNvSpPr txBox="1"/>
          <p:nvPr/>
        </p:nvSpPr>
        <p:spPr>
          <a:xfrm>
            <a:off x="758952" y="3899470"/>
            <a:ext cx="1664208" cy="61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Pinholes, slits, apertures, collimators — define where the beam is allowed to be.</a:t>
            </a:r>
          </a:p>
        </p:txBody>
      </p:sp>
      <p:sp>
        <p:nvSpPr>
          <p:cNvPr id="90" name="Shape 8"/>
          <p:cNvSpPr/>
          <p:nvPr/>
        </p:nvSpPr>
        <p:spPr>
          <a:xfrm>
            <a:off x="2798064" y="2103120"/>
            <a:ext cx="2084833" cy="3291841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Shape 9"/>
          <p:cNvSpPr/>
          <p:nvPr/>
        </p:nvSpPr>
        <p:spPr>
          <a:xfrm>
            <a:off x="2798064" y="2103120"/>
            <a:ext cx="2084833" cy="457201"/>
          </a:xfrm>
          <a:prstGeom prst="rect">
            <a:avLst/>
          </a:prstGeom>
          <a:solidFill>
            <a:srgbClr val="D97A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2" name="Text 10"/>
          <p:cNvSpPr txBox="1"/>
          <p:nvPr/>
        </p:nvSpPr>
        <p:spPr>
          <a:xfrm>
            <a:off x="2843784" y="2184400"/>
            <a:ext cx="1993393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Reflective</a:t>
            </a:r>
          </a:p>
        </p:txBody>
      </p:sp>
      <p:sp>
        <p:nvSpPr>
          <p:cNvPr id="93" name="Text 11"/>
          <p:cNvSpPr txBox="1"/>
          <p:nvPr/>
        </p:nvSpPr>
        <p:spPr>
          <a:xfrm>
            <a:off x="2953512" y="2706878"/>
            <a:ext cx="365761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0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94" name="Text 12"/>
          <p:cNvSpPr txBox="1"/>
          <p:nvPr/>
        </p:nvSpPr>
        <p:spPr>
          <a:xfrm>
            <a:off x="3008376" y="3995727"/>
            <a:ext cx="1664208" cy="4210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Mirrors &amp; guides — steer or focus at grazing incidence.</a:t>
            </a:r>
          </a:p>
        </p:txBody>
      </p:sp>
      <p:sp>
        <p:nvSpPr>
          <p:cNvPr id="95" name="Shape 13"/>
          <p:cNvSpPr/>
          <p:nvPr/>
        </p:nvSpPr>
        <p:spPr>
          <a:xfrm>
            <a:off x="5047488" y="2103120"/>
            <a:ext cx="2084833" cy="3291841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6" name="Shape 14"/>
          <p:cNvSpPr/>
          <p:nvPr/>
        </p:nvSpPr>
        <p:spPr>
          <a:xfrm>
            <a:off x="5047488" y="2103120"/>
            <a:ext cx="2084833" cy="457201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Text 15"/>
          <p:cNvSpPr txBox="1"/>
          <p:nvPr/>
        </p:nvSpPr>
        <p:spPr>
          <a:xfrm>
            <a:off x="5093208" y="2184400"/>
            <a:ext cx="1993393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Refractive</a:t>
            </a:r>
          </a:p>
        </p:txBody>
      </p:sp>
      <p:sp>
        <p:nvSpPr>
          <p:cNvPr id="98" name="Text 16"/>
          <p:cNvSpPr txBox="1"/>
          <p:nvPr/>
        </p:nvSpPr>
        <p:spPr>
          <a:xfrm>
            <a:off x="5202935" y="2706878"/>
            <a:ext cx="365761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0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99" name="Text 17"/>
          <p:cNvSpPr txBox="1"/>
          <p:nvPr/>
        </p:nvSpPr>
        <p:spPr>
          <a:xfrm>
            <a:off x="5257799" y="3899470"/>
            <a:ext cx="1664209" cy="61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Compound lenses (CRLs) — bend the beam like an ordinary lens, just barely.</a:t>
            </a:r>
          </a:p>
        </p:txBody>
      </p:sp>
      <p:sp>
        <p:nvSpPr>
          <p:cNvPr id="100" name="Shape 18"/>
          <p:cNvSpPr/>
          <p:nvPr/>
        </p:nvSpPr>
        <p:spPr>
          <a:xfrm>
            <a:off x="7296911" y="2103120"/>
            <a:ext cx="2084834" cy="3291841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Shape 19"/>
          <p:cNvSpPr/>
          <p:nvPr/>
        </p:nvSpPr>
        <p:spPr>
          <a:xfrm>
            <a:off x="7296911" y="2103120"/>
            <a:ext cx="2084833" cy="457201"/>
          </a:xfrm>
          <a:prstGeom prst="rect">
            <a:avLst/>
          </a:prstGeom>
          <a:solidFill>
            <a:srgbClr val="D97A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2" name="Text 20"/>
          <p:cNvSpPr txBox="1"/>
          <p:nvPr/>
        </p:nvSpPr>
        <p:spPr>
          <a:xfrm>
            <a:off x="7342631" y="2184400"/>
            <a:ext cx="1993393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Diffractive</a:t>
            </a:r>
          </a:p>
        </p:txBody>
      </p:sp>
      <p:sp>
        <p:nvSpPr>
          <p:cNvPr id="103" name="Text 21"/>
          <p:cNvSpPr txBox="1"/>
          <p:nvPr/>
        </p:nvSpPr>
        <p:spPr>
          <a:xfrm>
            <a:off x="7452360" y="2706878"/>
            <a:ext cx="365761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0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04" name="Text 22"/>
          <p:cNvSpPr txBox="1"/>
          <p:nvPr/>
        </p:nvSpPr>
        <p:spPr>
          <a:xfrm>
            <a:off x="7507224" y="3899470"/>
            <a:ext cx="1664209" cy="61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Crystals &amp; multilayers — select wavelength/energy via interference.</a:t>
            </a:r>
          </a:p>
        </p:txBody>
      </p:sp>
      <p:sp>
        <p:nvSpPr>
          <p:cNvPr id="105" name="Shape 23"/>
          <p:cNvSpPr/>
          <p:nvPr/>
        </p:nvSpPr>
        <p:spPr>
          <a:xfrm>
            <a:off x="9546335" y="2103120"/>
            <a:ext cx="2084833" cy="3291841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6" name="Shape 24"/>
          <p:cNvSpPr/>
          <p:nvPr/>
        </p:nvSpPr>
        <p:spPr>
          <a:xfrm>
            <a:off x="9546335" y="2103120"/>
            <a:ext cx="2084833" cy="457201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Text 25"/>
          <p:cNvSpPr txBox="1"/>
          <p:nvPr/>
        </p:nvSpPr>
        <p:spPr>
          <a:xfrm>
            <a:off x="9592055" y="2184400"/>
            <a:ext cx="1993393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Temporal</a:t>
            </a:r>
          </a:p>
        </p:txBody>
      </p:sp>
      <p:sp>
        <p:nvSpPr>
          <p:cNvPr id="108" name="Text 26"/>
          <p:cNvSpPr txBox="1"/>
          <p:nvPr/>
        </p:nvSpPr>
        <p:spPr>
          <a:xfrm>
            <a:off x="9701784" y="2706878"/>
            <a:ext cx="365761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0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09" name="Text 27"/>
          <p:cNvSpPr txBox="1"/>
          <p:nvPr/>
        </p:nvSpPr>
        <p:spPr>
          <a:xfrm>
            <a:off x="9756648" y="3995727"/>
            <a:ext cx="1664209" cy="4210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Choppers &amp; selectors — shape the beam in time, not space.</a:t>
            </a:r>
          </a:p>
        </p:txBody>
      </p:sp>
      <p:sp>
        <p:nvSpPr>
          <p:cNvPr id="110" name="Text 28"/>
          <p:cNvSpPr txBox="1"/>
          <p:nvPr/>
        </p:nvSpPr>
        <p:spPr>
          <a:xfrm>
            <a:off x="594359" y="5739305"/>
            <a:ext cx="1097280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6E7580"/>
                </a:solidFill>
              </a:defRPr>
            </a:lvl1pPr>
          </a:lstStyle>
          <a:p>
            <a:pPr/>
            <a:r>
              <a:t>We'll move roughly in this order — spatial first, temporal last — flagging where neutrons and X-rays share a component and where they don't.</a:t>
            </a:r>
          </a:p>
        </p:txBody>
      </p:sp>
      <p:sp>
        <p:nvSpPr>
          <p:cNvPr id="111" name="Text 29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112" name="Text 30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115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SHARED CONCEPT</a:t>
            </a:r>
          </a:p>
        </p:txBody>
      </p:sp>
      <p:sp>
        <p:nvSpPr>
          <p:cNvPr id="116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Spatial &amp; directional shaping</a:t>
            </a:r>
          </a:p>
        </p:txBody>
      </p:sp>
      <p:sp>
        <p:nvSpPr>
          <p:cNvPr id="117" name="Shape 2"/>
          <p:cNvSpPr/>
          <p:nvPr/>
        </p:nvSpPr>
        <p:spPr>
          <a:xfrm>
            <a:off x="548640" y="1691639"/>
            <a:ext cx="5257801" cy="4114801"/>
          </a:xfrm>
          <a:prstGeom prst="roundRect">
            <a:avLst>
              <a:gd name="adj" fmla="val 2222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8" name="Text 3"/>
          <p:cNvSpPr txBox="1"/>
          <p:nvPr/>
        </p:nvSpPr>
        <p:spPr>
          <a:xfrm>
            <a:off x="914399" y="2040889"/>
            <a:ext cx="4526282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Spatial: pinholes, slits, apertures</a:t>
            </a:r>
          </a:p>
        </p:txBody>
      </p:sp>
      <p:sp>
        <p:nvSpPr>
          <p:cNvPr id="119" name="Text 4"/>
          <p:cNvSpPr txBox="1"/>
          <p:nvPr/>
        </p:nvSpPr>
        <p:spPr>
          <a:xfrm>
            <a:off x="914399" y="3673147"/>
            <a:ext cx="4526282" cy="883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10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A static or adjustable “hole” in absorbing material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Defines the beam's spatial footprint downstream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Same component idea in both codes: Slit</a:t>
            </a:r>
          </a:p>
        </p:txBody>
      </p:sp>
      <p:sp>
        <p:nvSpPr>
          <p:cNvPr id="120" name="Shape 5"/>
          <p:cNvSpPr/>
          <p:nvPr/>
        </p:nvSpPr>
        <p:spPr>
          <a:xfrm>
            <a:off x="6172200" y="1691639"/>
            <a:ext cx="5257800" cy="4114801"/>
          </a:xfrm>
          <a:prstGeom prst="roundRect">
            <a:avLst>
              <a:gd name="adj" fmla="val 2222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1" name="Text 6"/>
          <p:cNvSpPr txBox="1"/>
          <p:nvPr/>
        </p:nvSpPr>
        <p:spPr>
          <a:xfrm>
            <a:off x="6537960" y="2040889"/>
            <a:ext cx="452628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Directional: collimators</a:t>
            </a:r>
          </a:p>
        </p:txBody>
      </p:sp>
      <p:sp>
        <p:nvSpPr>
          <p:cNvPr id="122" name="Text 7"/>
          <p:cNvSpPr txBox="1"/>
          <p:nvPr/>
        </p:nvSpPr>
        <p:spPr>
          <a:xfrm>
            <a:off x="6537960" y="3577897"/>
            <a:ext cx="4526281" cy="1073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10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Two or more slits (or a channel array) define an accepted divergence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Absorbing walls create parallel “channels” through the collimator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Usually static, but rotating radial collimators exist — e.g. to reject sample-environment scattering</a:t>
            </a:r>
          </a:p>
        </p:txBody>
      </p:sp>
      <p:sp>
        <p:nvSpPr>
          <p:cNvPr id="123" name="Shape 8"/>
          <p:cNvSpPr/>
          <p:nvPr/>
        </p:nvSpPr>
        <p:spPr>
          <a:xfrm>
            <a:off x="548640" y="5943600"/>
            <a:ext cx="11064241" cy="594360"/>
          </a:xfrm>
          <a:prstGeom prst="roundRect">
            <a:avLst>
              <a:gd name="adj" fmla="val 12308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4" name="Text 9"/>
          <p:cNvSpPr txBox="1"/>
          <p:nvPr/>
        </p:nvSpPr>
        <p:spPr>
          <a:xfrm>
            <a:off x="868680" y="6116627"/>
            <a:ext cx="104241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200">
                <a:solidFill>
                  <a:srgbClr val="12506B"/>
                </a:solidFill>
              </a:defRPr>
            </a:pPr>
            <a:r>
              <a:t>Fully shared:  </a:t>
            </a:r>
            <a:r>
              <a:rPr b="0">
                <a:solidFill>
                  <a:srgbClr val="20242B"/>
                </a:solidFill>
              </a:rPr>
              <a:t>these are geometric, energy-independent devices — the same component names and logic apply whether the beam is neutrons or photons.</a:t>
            </a:r>
          </a:p>
        </p:txBody>
      </p:sp>
      <p:sp>
        <p:nvSpPr>
          <p:cNvPr id="125" name="Text 10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126" name="Text 11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4</a:t>
            </a:r>
          </a:p>
        </p:txBody>
      </p:sp>
      <p:pic>
        <p:nvPicPr>
          <p:cNvPr id="127" name="IB_C80_AIR.png" descr="IB_C80_AIR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89160" y="2557204"/>
            <a:ext cx="1057911" cy="102394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8" name="droppedImage.png" descr="droppedImag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095407" y="1974735"/>
            <a:ext cx="1803252" cy="146664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Apr2011_radial_collimator.png" descr="Apr2011_radial_collimator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985945" y="4546770"/>
            <a:ext cx="2022177" cy="106627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SHARED PHYSICS</a:t>
            </a:r>
          </a:p>
        </p:txBody>
      </p:sp>
      <p:sp>
        <p:nvSpPr>
          <p:cNvPr id="133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Grazing-incidence reflection</a:t>
            </a:r>
          </a:p>
        </p:txBody>
      </p:sp>
      <p:sp>
        <p:nvSpPr>
          <p:cNvPr id="134" name="Text 2"/>
          <p:cNvSpPr txBox="1"/>
          <p:nvPr/>
        </p:nvSpPr>
        <p:spPr>
          <a:xfrm>
            <a:off x="594360" y="2592377"/>
            <a:ext cx="5577840" cy="2039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For both neutrons and X-rays, matter's refractive index is just below 1: n = 1 − δ (+ iβ for absorption).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Going from vacuum (n=1) into a medium with n&lt;1 mirrors the classic total-internal-reflection picture — here it's called total external reflection.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Below a small critical angle θc, a ray hitting a smooth, flat surface reflects almost perfectly — no coating chemistry required, just the right angle.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This single effect underlies both neutron guides and X-ray mirrors — what differs is how it's exploited.</a:t>
            </a:r>
          </a:p>
        </p:txBody>
      </p:sp>
      <p:sp>
        <p:nvSpPr>
          <p:cNvPr id="135" name="Shape 3"/>
          <p:cNvSpPr/>
          <p:nvPr/>
        </p:nvSpPr>
        <p:spPr>
          <a:xfrm>
            <a:off x="6492240" y="1691639"/>
            <a:ext cx="5166360" cy="4114801"/>
          </a:xfrm>
          <a:prstGeom prst="roundRect">
            <a:avLst>
              <a:gd name="adj" fmla="val 2222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Text 4"/>
          <p:cNvSpPr txBox="1"/>
          <p:nvPr/>
        </p:nvSpPr>
        <p:spPr>
          <a:xfrm>
            <a:off x="6521106" y="2173851"/>
            <a:ext cx="5074921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6E7580"/>
                </a:solidFill>
              </a:defRPr>
            </a:lvl1pPr>
          </a:lstStyle>
          <a:p>
            <a:pPr/>
            <a:r>
              <a:t>Below θc: total reflection</a:t>
            </a:r>
          </a:p>
        </p:txBody>
      </p:sp>
      <p:sp>
        <p:nvSpPr>
          <p:cNvPr id="137" name="Text 12"/>
          <p:cNvSpPr txBox="1"/>
          <p:nvPr/>
        </p:nvSpPr>
        <p:spPr>
          <a:xfrm>
            <a:off x="6903719" y="5060994"/>
            <a:ext cx="4343402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i="1" sz="1000">
                <a:solidFill>
                  <a:srgbClr val="6E7580"/>
                </a:solidFill>
              </a:defRPr>
            </a:lvl1pPr>
          </a:lstStyle>
          <a:p>
            <a:pPr/>
            <a:r>
              <a:t>θc is tiny — typically a fraction of a degree — for both probes, which is why guides and mirrors are long, shallow, and need to be extremely flat/smooth.</a:t>
            </a:r>
          </a:p>
        </p:txBody>
      </p:sp>
      <p:sp>
        <p:nvSpPr>
          <p:cNvPr id="138" name="Text 13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139" name="Text 14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5</a:t>
            </a:r>
          </a:p>
        </p:txBody>
      </p:sp>
      <p:pic>
        <p:nvPicPr>
          <p:cNvPr id="140" name="Picture 19" descr="Picture 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78738" y="2446833"/>
            <a:ext cx="4959655" cy="2147213"/>
          </a:xfrm>
          <a:prstGeom prst="rect">
            <a:avLst/>
          </a:prstGeom>
          <a:ln w="12700">
            <a:miter lim="400000"/>
          </a:ln>
        </p:spPr>
      </p:pic>
      <p:pic>
        <p:nvPicPr>
          <p:cNvPr id="141" name="Image" descr="Imag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950447" y="5525751"/>
            <a:ext cx="2865666" cy="890562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xtBox 21"/>
          <p:cNvSpPr txBox="1"/>
          <p:nvPr/>
        </p:nvSpPr>
        <p:spPr>
          <a:xfrm>
            <a:off x="2451773" y="4969443"/>
            <a:ext cx="1863011" cy="3936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t>Visible light – water/air interface:</a:t>
            </a:r>
            <a:br/>
            <a:r>
              <a:t>Total </a:t>
            </a:r>
            <a:r>
              <a:rPr b="1" i="1"/>
              <a:t>internal</a:t>
            </a:r>
            <a:r>
              <a:rPr i="1"/>
              <a:t> </a:t>
            </a:r>
            <a:r>
              <a:t>reflection</a:t>
            </a:r>
          </a:p>
        </p:txBody>
      </p:sp>
      <p:sp>
        <p:nvSpPr>
          <p:cNvPr id="143" name="TextBox 23"/>
          <p:cNvSpPr txBox="1"/>
          <p:nvPr/>
        </p:nvSpPr>
        <p:spPr>
          <a:xfrm>
            <a:off x="7909560" y="1691639"/>
            <a:ext cx="2740814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t>Neutrons and X-rays – vaccum/matter interface:</a:t>
            </a:r>
            <a:br/>
            <a:r>
              <a:t>Total </a:t>
            </a:r>
            <a:r>
              <a:rPr b="1" i="1"/>
              <a:t>external</a:t>
            </a:r>
            <a:r>
              <a:rPr i="1"/>
              <a:t> </a:t>
            </a:r>
            <a:r>
              <a:t>reflection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146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D97A2B"/>
                </a:solidFill>
              </a:defRPr>
            </a:lvl1pPr>
          </a:lstStyle>
          <a:p>
            <a:pPr/>
            <a:r>
              <a:t>SAME PHYSICS, DIFFERENT USE</a:t>
            </a:r>
          </a:p>
        </p:txBody>
      </p:sp>
      <p:sp>
        <p:nvSpPr>
          <p:cNvPr id="147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Guides &amp; mirrors</a:t>
            </a:r>
          </a:p>
        </p:txBody>
      </p:sp>
      <p:sp>
        <p:nvSpPr>
          <p:cNvPr id="148" name="Text 2"/>
          <p:cNvSpPr txBox="1"/>
          <p:nvPr/>
        </p:nvSpPr>
        <p:spPr>
          <a:xfrm>
            <a:off x="594360" y="1493959"/>
            <a:ext cx="107899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Same critical-angle physics, but neutron beamlines and X-ray beamlines put it to work differently.</a:t>
            </a:r>
          </a:p>
        </p:txBody>
      </p:sp>
      <p:sp>
        <p:nvSpPr>
          <p:cNvPr id="149" name="Shape 3"/>
          <p:cNvSpPr/>
          <p:nvPr/>
        </p:nvSpPr>
        <p:spPr>
          <a:xfrm>
            <a:off x="548640" y="1965960"/>
            <a:ext cx="5257801" cy="3794760"/>
          </a:xfrm>
          <a:prstGeom prst="roundRect">
            <a:avLst>
              <a:gd name="adj" fmla="val 2410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0" name="Text 4"/>
          <p:cNvSpPr txBox="1"/>
          <p:nvPr/>
        </p:nvSpPr>
        <p:spPr>
          <a:xfrm>
            <a:off x="914399" y="2183637"/>
            <a:ext cx="4526282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1250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McStas · neutron guides</a:t>
            </a:r>
          </a:p>
        </p:txBody>
      </p:sp>
      <p:sp>
        <p:nvSpPr>
          <p:cNvPr id="151" name="Text 5"/>
          <p:cNvSpPr txBox="1"/>
          <p:nvPr/>
        </p:nvSpPr>
        <p:spPr>
          <a:xfrm>
            <a:off x="914399" y="3557446"/>
            <a:ext cx="4526282" cy="1114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Guide, Guide_channeled, Guide_gravity: long supermirror-coated channels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Many shallow bounces over metres — preserves intensity over long transport distances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Coating quality set by an “m-value” — multiples of the natural-Ni critical angle</a:t>
            </a:r>
          </a:p>
        </p:txBody>
      </p:sp>
      <p:sp>
        <p:nvSpPr>
          <p:cNvPr id="152" name="Shape 6"/>
          <p:cNvSpPr/>
          <p:nvPr/>
        </p:nvSpPr>
        <p:spPr>
          <a:xfrm>
            <a:off x="6172200" y="1965960"/>
            <a:ext cx="5257800" cy="3794760"/>
          </a:xfrm>
          <a:prstGeom prst="roundRect">
            <a:avLst>
              <a:gd name="adj" fmla="val 2410"/>
            </a:avLst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3" name="Text 7"/>
          <p:cNvSpPr txBox="1"/>
          <p:nvPr/>
        </p:nvSpPr>
        <p:spPr>
          <a:xfrm>
            <a:off x="6537960" y="2183637"/>
            <a:ext cx="452628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A6591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McXtrace · X-ray mirrors</a:t>
            </a:r>
          </a:p>
        </p:txBody>
      </p:sp>
      <p:sp>
        <p:nvSpPr>
          <p:cNvPr id="154" name="Text 8"/>
          <p:cNvSpPr txBox="1"/>
          <p:nvPr/>
        </p:nvSpPr>
        <p:spPr>
          <a:xfrm>
            <a:off x="6537960" y="3474896"/>
            <a:ext cx="4526281" cy="12798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Mirror_curved, TwinKB_ML: one or two large, single-bounce focusing mirrors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Typically one bounce per axis (e.g. a Kirkpatrick-Baez pair) rather than a many-bounce channel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Reflectivity data files (measured or computed) describe the coating's angle/energy response</a:t>
            </a:r>
          </a:p>
        </p:txBody>
      </p:sp>
      <p:sp>
        <p:nvSpPr>
          <p:cNvPr id="155" name="Text 9"/>
          <p:cNvSpPr txBox="1"/>
          <p:nvPr/>
        </p:nvSpPr>
        <p:spPr>
          <a:xfrm>
            <a:off x="5001394" y="6091096"/>
            <a:ext cx="6120826" cy="3908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6E7580"/>
                </a:solidFill>
              </a:defRPr>
            </a:lvl1pPr>
          </a:lstStyle>
          <a:p>
            <a:pPr/>
            <a:r>
              <a:t>Why the difference? Neutron sources are weak per-neutron, so long guides trade length for preserved flux; X-ray sources are so bright that a couple of well-figured mirrors are enough to focus or steer the beam.</a:t>
            </a:r>
          </a:p>
        </p:txBody>
      </p:sp>
      <p:sp>
        <p:nvSpPr>
          <p:cNvPr id="156" name="Text 10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157" name="Text 11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6</a:t>
            </a:r>
          </a:p>
        </p:txBody>
      </p:sp>
      <p:pic>
        <p:nvPicPr>
          <p:cNvPr id="158" name="Picture 15" descr="Picture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26791" y="2026885"/>
            <a:ext cx="3242489" cy="14021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Image" descr="Imag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12195" y="4852977"/>
            <a:ext cx="2965462" cy="193435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6" name="Group 14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164" name="Group 17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160" name="Picture 19" descr="Picture 19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163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161" name="Picture 29" descr="Picture 29"/>
                <p:cNvPicPr>
                  <a:picLocks noChangeAspect="1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62" name="Picture 30" descr="Picture 30"/>
                <p:cNvPicPr>
                  <a:picLocks noChangeAspect="1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65" name="Picture 31" descr="Picture 31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D97A2B"/>
                </a:solidFill>
              </a:defRPr>
            </a:lvl1pPr>
          </a:lstStyle>
          <a:p>
            <a:pPr/>
            <a:r>
              <a:t>MCXTRACE — X-RAYS</a:t>
            </a:r>
          </a:p>
        </p:txBody>
      </p:sp>
      <p:sp>
        <p:nvSpPr>
          <p:cNvPr id="170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KB mirrors, in practice</a:t>
            </a:r>
          </a:p>
        </p:txBody>
      </p:sp>
      <p:sp>
        <p:nvSpPr>
          <p:cNvPr id="171" name="Text 2"/>
          <p:cNvSpPr txBox="1"/>
          <p:nvPr/>
        </p:nvSpPr>
        <p:spPr>
          <a:xfrm>
            <a:off x="594360" y="1471099"/>
            <a:ext cx="107899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A Kirkpatrick-Baez (KB) pair: two perpendicular curved mirrors, one per focusing axis.</a:t>
            </a:r>
          </a:p>
        </p:txBody>
      </p:sp>
      <p:sp>
        <p:nvSpPr>
          <p:cNvPr id="172" name="Text 3"/>
          <p:cNvSpPr txBox="1"/>
          <p:nvPr/>
        </p:nvSpPr>
        <p:spPr>
          <a:xfrm>
            <a:off x="594359" y="2710487"/>
            <a:ext cx="5669282" cy="16199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First (meridional) mirror focuses one axis; a glancing angle θ redirects the beam by 2θ.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An Arm component re-establishes the optical axis after each reflection — it does nothing physically, it just carries a rotated coordinate frame forward.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The second mirror sits on an Arm rotated 90° around the beam axis, so it focuses the perpendicular direction.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Focal lengths follow directly from the glancing angle and radius of curvature R:</a:t>
            </a:r>
          </a:p>
        </p:txBody>
      </p:sp>
      <p:sp>
        <p:nvSpPr>
          <p:cNvPr id="173" name="Shape 4"/>
          <p:cNvSpPr/>
          <p:nvPr/>
        </p:nvSpPr>
        <p:spPr>
          <a:xfrm>
            <a:off x="548640" y="5029200"/>
            <a:ext cx="5760721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4" name="Text 5"/>
          <p:cNvSpPr txBox="1"/>
          <p:nvPr/>
        </p:nvSpPr>
        <p:spPr>
          <a:xfrm>
            <a:off x="868680" y="5193791"/>
            <a:ext cx="5120641" cy="5003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f_m = R · sin(θ/2)     </a:t>
            </a:r>
            <a:r>
              <a:rPr>
                <a:solidFill>
                  <a:srgbClr val="AAB6DE"/>
                </a:solidFill>
              </a:rPr>
              <a:t>(meridional / 1st mirror)</a:t>
            </a:r>
            <a:endParaRPr>
              <a:solidFill>
                <a:srgbClr val="AAB6DE"/>
              </a:solidFill>
            </a:endParaRPr>
          </a:p>
          <a:p>
            <a:pPr>
              <a:lnSpc>
                <a:spcPct val="130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>
                <a:solidFill>
                  <a:srgbClr val="FFD79A"/>
                </a:solidFill>
              </a:rPr>
              <a:t>f_s = R/2 · sin(θ)     </a:t>
            </a:r>
            <a:r>
              <a:rPr>
                <a:solidFill>
                  <a:srgbClr val="AAB6DE"/>
                </a:solidFill>
              </a:rPr>
              <a:t>(sagittal / 2nd mirror)</a:t>
            </a:r>
          </a:p>
        </p:txBody>
      </p:sp>
      <p:sp>
        <p:nvSpPr>
          <p:cNvPr id="175" name="Shape 6"/>
          <p:cNvSpPr/>
          <p:nvPr/>
        </p:nvSpPr>
        <p:spPr>
          <a:xfrm>
            <a:off x="6583680" y="1920239"/>
            <a:ext cx="5074921" cy="4343401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6" name="Text 7"/>
          <p:cNvSpPr txBox="1"/>
          <p:nvPr/>
        </p:nvSpPr>
        <p:spPr>
          <a:xfrm>
            <a:off x="6629400" y="2150286"/>
            <a:ext cx="49834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6E7580"/>
                </a:solidFill>
              </a:defRPr>
            </a:lvl1pPr>
          </a:lstStyle>
          <a:p>
            <a:pPr/>
            <a:r>
              <a:t>source → mirror 1 → mirror 2 → focus</a:t>
            </a:r>
          </a:p>
        </p:txBody>
      </p:sp>
      <p:sp>
        <p:nvSpPr>
          <p:cNvPr id="177" name="Text 16"/>
          <p:cNvSpPr txBox="1"/>
          <p:nvPr/>
        </p:nvSpPr>
        <p:spPr>
          <a:xfrm>
            <a:off x="6949439" y="5563914"/>
            <a:ext cx="4343401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i="1" sz="1000">
                <a:solidFill>
                  <a:srgbClr val="6E7580"/>
                </a:solidFill>
              </a:defRPr>
            </a:lvl1pPr>
          </a:lstStyle>
          <a:p>
            <a:pPr/>
            <a:r>
              <a:t>θ is typically only a few mrad — chosen from the material's critical angle at the working energy.</a:t>
            </a:r>
          </a:p>
        </p:txBody>
      </p:sp>
      <p:sp>
        <p:nvSpPr>
          <p:cNvPr id="178" name="Text 17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179" name="Text 18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7</a:t>
            </a:r>
          </a:p>
        </p:txBody>
      </p:sp>
      <p:pic>
        <p:nvPicPr>
          <p:cNvPr id="180" name="Picture 21" descr="Picture 2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615704" y="2696109"/>
            <a:ext cx="3082067" cy="251597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5" name="Group 11"/>
          <p:cNvGrpSpPr/>
          <p:nvPr/>
        </p:nvGrpSpPr>
        <p:grpSpPr>
          <a:xfrm>
            <a:off x="9224999" y="124302"/>
            <a:ext cx="790201" cy="708378"/>
            <a:chOff x="0" y="0"/>
            <a:chExt cx="790200" cy="708378"/>
          </a:xfrm>
        </p:grpSpPr>
        <p:pic>
          <p:nvPicPr>
            <p:cNvPr id="181" name="Picture 13" descr="Picture 13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37056" y="-1"/>
              <a:ext cx="716667" cy="4245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184" name="Group 32"/>
            <p:cNvGrpSpPr/>
            <p:nvPr/>
          </p:nvGrpSpPr>
          <p:grpSpPr>
            <a:xfrm>
              <a:off x="0" y="407057"/>
              <a:ext cx="790201" cy="301321"/>
              <a:chOff x="0" y="0"/>
              <a:chExt cx="790200" cy="301320"/>
            </a:xfrm>
          </p:grpSpPr>
          <p:pic>
            <p:nvPicPr>
              <p:cNvPr id="182" name="Picture 29" descr="Picture 29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0" y="-1"/>
                <a:ext cx="547921" cy="26460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183" name="Picture 30" descr="Picture 30"/>
              <p:cNvPicPr>
                <a:picLocks noChangeAspect="1"/>
              </p:cNvPicPr>
              <p:nvPr/>
            </p:nvPicPr>
            <p:blipFill>
              <a:blip r:embed="rId6">
                <a:extLst/>
              </a:blip>
              <a:stretch>
                <a:fillRect/>
              </a:stretch>
            </p:blipFill>
            <p:spPr>
              <a:xfrm>
                <a:off x="589320" y="5040"/>
                <a:ext cx="200881" cy="2962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188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SHARED PHYSICS</a:t>
            </a:r>
          </a:p>
        </p:txBody>
      </p:sp>
      <p:sp>
        <p:nvSpPr>
          <p:cNvPr id="189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Refractive lenses (CRLs)</a:t>
            </a:r>
          </a:p>
        </p:txBody>
      </p:sp>
      <p:sp>
        <p:nvSpPr>
          <p:cNvPr id="190" name="Text 2"/>
          <p:cNvSpPr txBox="1"/>
          <p:nvPr/>
        </p:nvSpPr>
        <p:spPr>
          <a:xfrm>
            <a:off x="594360" y="1471099"/>
            <a:ext cx="107899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Both codes offer compound refractive lenses — and both need them for the same reason.</a:t>
            </a:r>
          </a:p>
        </p:txBody>
      </p:sp>
      <p:sp>
        <p:nvSpPr>
          <p:cNvPr id="191" name="Shape 3"/>
          <p:cNvSpPr/>
          <p:nvPr/>
        </p:nvSpPr>
        <p:spPr>
          <a:xfrm>
            <a:off x="548640" y="1920239"/>
            <a:ext cx="5257801" cy="3246122"/>
          </a:xfrm>
          <a:prstGeom prst="roundRect">
            <a:avLst>
              <a:gd name="adj" fmla="val 2817"/>
            </a:avLst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2" name="Text 4"/>
          <p:cNvSpPr txBox="1"/>
          <p:nvPr/>
        </p:nvSpPr>
        <p:spPr>
          <a:xfrm>
            <a:off x="914399" y="2137917"/>
            <a:ext cx="4526282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A6591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X-ray</a:t>
            </a:r>
          </a:p>
        </p:txBody>
      </p:sp>
      <p:sp>
        <p:nvSpPr>
          <p:cNvPr id="193" name="Text 5"/>
          <p:cNvSpPr txBox="1"/>
          <p:nvPr/>
        </p:nvSpPr>
        <p:spPr>
          <a:xfrm>
            <a:off x="914399" y="2614167"/>
            <a:ext cx="4526282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20242B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δ_Xray = f(Z, λ)</a:t>
            </a:r>
          </a:p>
        </p:txBody>
      </p:sp>
      <p:sp>
        <p:nvSpPr>
          <p:cNvPr id="194" name="Text 6"/>
          <p:cNvSpPr txBox="1"/>
          <p:nvPr/>
        </p:nvSpPr>
        <p:spPr>
          <a:xfrm>
            <a:off x="914399" y="3081877"/>
            <a:ext cx="4526282" cy="670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Grows with electron density — higher atomic number Z means more refraction, but also more absorption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Low-Z, low-absorption materials preferred: Be, Al, polymers</a:t>
            </a:r>
          </a:p>
        </p:txBody>
      </p:sp>
      <p:sp>
        <p:nvSpPr>
          <p:cNvPr id="195" name="Shape 7"/>
          <p:cNvSpPr/>
          <p:nvPr/>
        </p:nvSpPr>
        <p:spPr>
          <a:xfrm>
            <a:off x="6172200" y="1920239"/>
            <a:ext cx="5257800" cy="3246122"/>
          </a:xfrm>
          <a:prstGeom prst="roundRect">
            <a:avLst>
              <a:gd name="adj" fmla="val 2817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6" name="Text 8"/>
          <p:cNvSpPr txBox="1"/>
          <p:nvPr/>
        </p:nvSpPr>
        <p:spPr>
          <a:xfrm>
            <a:off x="6537960" y="2137917"/>
            <a:ext cx="452628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1250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Neutron</a:t>
            </a:r>
          </a:p>
        </p:txBody>
      </p:sp>
      <p:sp>
        <p:nvSpPr>
          <p:cNvPr id="197" name="Text 9"/>
          <p:cNvSpPr txBox="1"/>
          <p:nvPr/>
        </p:nvSpPr>
        <p:spPr>
          <a:xfrm>
            <a:off x="6537960" y="2614167"/>
            <a:ext cx="45262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20242B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n = 1 − δ_neutron = f(b, B)</a:t>
            </a:r>
          </a:p>
        </p:txBody>
      </p:sp>
      <p:sp>
        <p:nvSpPr>
          <p:cNvPr id="198" name="Text 10"/>
          <p:cNvSpPr txBox="1"/>
          <p:nvPr/>
        </p:nvSpPr>
        <p:spPr>
          <a:xfrm>
            <a:off x="6537960" y="3081877"/>
            <a:ext cx="4526281" cy="670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Governed by coherent scattering length b, plus a magnetic term B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The magnetic (spin-dependent) lensing effect is small in practice — hence ordinary CRLs are still the practical choice</a:t>
            </a:r>
          </a:p>
        </p:txBody>
      </p:sp>
      <p:sp>
        <p:nvSpPr>
          <p:cNvPr id="199" name="Shape 11"/>
          <p:cNvSpPr/>
          <p:nvPr/>
        </p:nvSpPr>
        <p:spPr>
          <a:xfrm>
            <a:off x="548640" y="5349240"/>
            <a:ext cx="11064241" cy="868681"/>
          </a:xfrm>
          <a:prstGeom prst="roundRect">
            <a:avLst>
              <a:gd name="adj" fmla="val 8421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0" name="Text 12"/>
          <p:cNvSpPr txBox="1"/>
          <p:nvPr/>
        </p:nvSpPr>
        <p:spPr>
          <a:xfrm>
            <a:off x="868680" y="5564177"/>
            <a:ext cx="10424161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200">
                <a:solidFill>
                  <a:srgbClr val="20242B"/>
                </a:solidFill>
              </a:defRPr>
            </a:pPr>
            <a:r>
              <a:t>Why “compound”:  </a:t>
            </a:r>
            <a:r>
              <a:rPr b="0">
                <a:solidFill>
                  <a:srgbClr val="6E7580"/>
                </a:solidFill>
              </a:rPr>
              <a:t>in both regimes the index is barely below 1, so a single lens bends the beam almost imperceptibly. Stacking many (parabolic) lenses in series — a compound refractive lens — adds up to a usable focal length.</a:t>
            </a:r>
          </a:p>
        </p:txBody>
      </p:sp>
      <p:sp>
        <p:nvSpPr>
          <p:cNvPr id="201" name="Text 13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202" name="Text 14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8</a:t>
            </a:r>
          </a:p>
        </p:txBody>
      </p:sp>
      <p:pic>
        <p:nvPicPr>
          <p:cNvPr id="203" name="image16.png" descr="image16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473161" y="4076489"/>
            <a:ext cx="3093281" cy="1089872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" name="image19.png" descr="image19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966424" y="4142664"/>
            <a:ext cx="2372137" cy="95752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11" name="Group 19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209" name="Group 20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205" name="Picture 22" descr="Picture 22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08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206" name="Picture 29" descr="Picture 29"/>
                <p:cNvPicPr>
                  <a:picLocks noChangeAspect="1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07" name="Picture 30" descr="Picture 30"/>
                <p:cNvPicPr>
                  <a:picLocks noChangeAspect="1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10" name="Picture 31" descr="Picture 31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14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D97A2B"/>
                </a:solidFill>
              </a:defRPr>
            </a:lvl1pPr>
          </a:lstStyle>
          <a:p>
            <a:pPr/>
            <a:r>
              <a:t>MCXTRACE — WORKED EXAMPLE</a:t>
            </a:r>
          </a:p>
        </p:txBody>
      </p:sp>
      <p:sp>
        <p:nvSpPr>
          <p:cNvPr id="215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 CRL beamline, worked example</a:t>
            </a:r>
          </a:p>
        </p:txBody>
      </p:sp>
      <p:graphicFrame>
        <p:nvGraphicFramePr>
          <p:cNvPr id="216" name="Table 0"/>
          <p:cNvGraphicFramePr/>
          <p:nvPr/>
        </p:nvGraphicFramePr>
        <p:xfrm>
          <a:off x="548640" y="1554480"/>
          <a:ext cx="11064241" cy="164592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554480"/>
                <a:gridCol w="1920240"/>
                <a:gridCol w="1920240"/>
                <a:gridCol w="1920240"/>
                <a:gridCol w="19202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Stack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Material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R (tip)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Lenses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Diameter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Thickness (tip)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Stack 1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Be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200 µm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16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1 mm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50 µm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Stack 2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Al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200 µm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10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1 mm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20 µm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7" name="Text 2"/>
          <p:cNvSpPr txBox="1"/>
          <p:nvPr/>
        </p:nvSpPr>
        <p:spPr>
          <a:xfrm>
            <a:off x="594359" y="3536810"/>
            <a:ext cx="10972802" cy="47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20000"/>
              </a:lnSpc>
              <a:defRPr b="1" sz="1200">
                <a:solidFill>
                  <a:srgbClr val="20242B"/>
                </a:solidFill>
              </a:defRPr>
            </a:pPr>
            <a:r>
              <a:t>Setup:  </a:t>
            </a:r>
            <a:r>
              <a:rPr b="0">
                <a:solidFill>
                  <a:srgbClr val="6E7580"/>
                </a:solidFill>
              </a:rPr>
              <a:t>Source_gaussian at E0=23.32 keV (dE=1 keV), CRL stack 31.5 m downstream, focused to a spot 10 m further on. A 2D + energy monitor at the stack checks the incoming footprint and spectrum; another monitor is scanned in z to find the true focus.</a:t>
            </a:r>
          </a:p>
        </p:txBody>
      </p:sp>
      <p:sp>
        <p:nvSpPr>
          <p:cNvPr id="218" name="Text 3"/>
          <p:cNvSpPr txBox="1"/>
          <p:nvPr/>
        </p:nvSpPr>
        <p:spPr>
          <a:xfrm>
            <a:off x="594359" y="4790615"/>
            <a:ext cx="10972802" cy="1025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Directional sampling (focus_xw, focus_yh, dist on the source) concentrates statistics on the aperture that matters, without biasing intensity.</a:t>
            </a:r>
          </a:p>
          <a:p>
            <a:pPr marL="203200" indent="-2032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Used together with a slit, the CRL's achromatic focusing can double as a crude, high-throughput monochromator.</a:t>
            </a:r>
          </a:p>
          <a:p>
            <a:pPr marL="203200" indent="-2032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mxdisplay (“Trace” mode) lets you visually follow rays through the lens stack — useful for sanity-checking alignment.</a:t>
            </a:r>
          </a:p>
          <a:p>
            <a:pPr marL="203200" indent="-2032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Swapping Be ↔ Al lets you compare absorption vs. refraction trade-offs directly.</a:t>
            </a:r>
          </a:p>
        </p:txBody>
      </p:sp>
      <p:sp>
        <p:nvSpPr>
          <p:cNvPr id="219" name="Text 4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220" name="Text 5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9</a:t>
            </a:r>
          </a:p>
        </p:txBody>
      </p:sp>
      <p:grpSp>
        <p:nvGrpSpPr>
          <p:cNvPr id="225" name="Group 10"/>
          <p:cNvGrpSpPr/>
          <p:nvPr/>
        </p:nvGrpSpPr>
        <p:grpSpPr>
          <a:xfrm>
            <a:off x="9224999" y="124302"/>
            <a:ext cx="790201" cy="708378"/>
            <a:chOff x="0" y="0"/>
            <a:chExt cx="790200" cy="708378"/>
          </a:xfrm>
        </p:grpSpPr>
        <p:pic>
          <p:nvPicPr>
            <p:cNvPr id="221" name="Picture 12" descr="Picture 12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7056" y="-1"/>
              <a:ext cx="716667" cy="4245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224" name="Group 32"/>
            <p:cNvGrpSpPr/>
            <p:nvPr/>
          </p:nvGrpSpPr>
          <p:grpSpPr>
            <a:xfrm>
              <a:off x="0" y="407057"/>
              <a:ext cx="790201" cy="301321"/>
              <a:chOff x="0" y="0"/>
              <a:chExt cx="790200" cy="301320"/>
            </a:xfrm>
          </p:grpSpPr>
          <p:pic>
            <p:nvPicPr>
              <p:cNvPr id="222" name="Picture 29" descr="Picture 29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0" y="-1"/>
                <a:ext cx="547921" cy="26460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223" name="Picture 30" descr="Picture 30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589320" y="5040"/>
                <a:ext cx="200881" cy="2962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28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SHARED PHYSICS</a:t>
            </a:r>
          </a:p>
        </p:txBody>
      </p:sp>
      <p:sp>
        <p:nvSpPr>
          <p:cNvPr id="229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Crystal monochromators: Bragg's law</a:t>
            </a:r>
          </a:p>
        </p:txBody>
      </p:sp>
      <p:sp>
        <p:nvSpPr>
          <p:cNvPr id="230" name="Shape 2"/>
          <p:cNvSpPr/>
          <p:nvPr/>
        </p:nvSpPr>
        <p:spPr>
          <a:xfrm>
            <a:off x="548640" y="1554480"/>
            <a:ext cx="11064241" cy="777241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1" name="Text 3"/>
          <p:cNvSpPr txBox="1"/>
          <p:nvPr/>
        </p:nvSpPr>
        <p:spPr>
          <a:xfrm>
            <a:off x="868680" y="1719072"/>
            <a:ext cx="1042416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FFD79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n λ = 2 d sin(θ)          — exactly the same equation, in both codes</a:t>
            </a:r>
          </a:p>
        </p:txBody>
      </p:sp>
      <p:graphicFrame>
        <p:nvGraphicFramePr>
          <p:cNvPr id="232" name="Table 0"/>
          <p:cNvGraphicFramePr/>
          <p:nvPr/>
        </p:nvGraphicFramePr>
        <p:xfrm>
          <a:off x="548640" y="2514600"/>
          <a:ext cx="11064241" cy="310896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103120"/>
                <a:gridCol w="4480560"/>
                <a:gridCol w="4480560"/>
              </a:tblGrid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X-ray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Neutron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12506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Typical crystal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Perfect single crystal: Si, Ge, C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Mosaic crystal: pyrolytic graphite, deformed Cu, Ge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Mosaicity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Very low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Often high (multi-crystal, focusing arrays)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Geometry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Laue (transmission) or Bragg (reflection)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Almost always Bragg (reflection)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Resulting beam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Narrow, low divergence and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Medium divergence and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33" name="Shape 4"/>
          <p:cNvSpPr/>
          <p:nvPr/>
        </p:nvSpPr>
        <p:spPr>
          <a:xfrm>
            <a:off x="548640" y="5532120"/>
            <a:ext cx="11064241" cy="777241"/>
          </a:xfrm>
          <a:prstGeom prst="roundRect">
            <a:avLst>
              <a:gd name="adj" fmla="val 9412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4" name="Text 5"/>
          <p:cNvSpPr txBox="1"/>
          <p:nvPr/>
        </p:nvSpPr>
        <p:spPr>
          <a:xfrm>
            <a:off x="868680" y="5725336"/>
            <a:ext cx="10424161" cy="3908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100">
                <a:solidFill>
                  <a:srgbClr val="20242B"/>
                </a:solidFill>
              </a:defRPr>
            </a:pPr>
            <a:r>
              <a:t>In both codes:  </a:t>
            </a:r>
            <a:r>
              <a:rPr b="0">
                <a:solidFill>
                  <a:srgbClr val="6E7580"/>
                </a:solidFill>
              </a:rPr>
              <a:t>Bragg_crystal (McXtrace) and Monochromator_flat / Monochromator_curved / Single_crystal (McStas) all rotate to satisfy Bragg's law — the rotation angle is a natural scan parameter for a rocking curve.</a:t>
            </a:r>
          </a:p>
        </p:txBody>
      </p:sp>
      <p:sp>
        <p:nvSpPr>
          <p:cNvPr id="235" name="Text 6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236" name="Text 7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10</a:t>
            </a:r>
          </a:p>
        </p:txBody>
      </p:sp>
      <p:pic>
        <p:nvPicPr>
          <p:cNvPr id="237" name="37744f0177.png" descr="37744f0177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443380" y="10074861"/>
            <a:ext cx="1447916" cy="1614852"/>
          </a:xfrm>
          <a:prstGeom prst="rect">
            <a:avLst/>
          </a:prstGeom>
          <a:ln w="12700">
            <a:miter lim="400000"/>
          </a:ln>
        </p:spPr>
      </p:pic>
      <p:pic>
        <p:nvPicPr>
          <p:cNvPr id="238" name="37744f0177.png" descr="37744f0177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988287" y="3620089"/>
            <a:ext cx="1652884" cy="1843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239" name="Image" descr="Imag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619554" y="5058664"/>
            <a:ext cx="944528" cy="429331"/>
          </a:xfrm>
          <a:prstGeom prst="rect">
            <a:avLst/>
          </a:prstGeom>
          <a:ln w="12700">
            <a:miter lim="400000"/>
          </a:ln>
        </p:spPr>
      </p:pic>
      <p:pic>
        <p:nvPicPr>
          <p:cNvPr id="240" name="Image" descr="Image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985099" y="5041863"/>
            <a:ext cx="845624" cy="462934"/>
          </a:xfrm>
          <a:prstGeom prst="rect">
            <a:avLst/>
          </a:prstGeom>
          <a:ln w="12700">
            <a:miter lim="400000"/>
          </a:ln>
        </p:spPr>
      </p:pic>
      <p:pic>
        <p:nvPicPr>
          <p:cNvPr id="241" name="Picture 17" descr="Picture 17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5564082" y="3214241"/>
            <a:ext cx="1459673" cy="228358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8" name="Group 11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246" name="Group 16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242" name="Picture 19" descr="Picture 19"/>
              <p:cNvPicPr>
                <a:picLocks noChangeAspect="1"/>
              </p:cNvPicPr>
              <p:nvPr/>
            </p:nvPicPr>
            <p:blipFill>
              <a:blip r:embed="rId7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45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243" name="Picture 29" descr="Picture 29"/>
                <p:cNvPicPr>
                  <a:picLocks noChangeAspect="1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44" name="Picture 30" descr="Picture 30"/>
                <p:cNvPicPr>
                  <a:picLocks noChangeAspect="1"/>
                </p:cNvPicPr>
                <p:nvPr/>
              </p:nvPicPr>
              <p:blipFill>
                <a:blip r:embed="rId9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47" name="Picture 31" descr="Picture 31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51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D97A2B"/>
                </a:solidFill>
              </a:defRPr>
            </a:lvl1pPr>
          </a:lstStyle>
          <a:p>
            <a:pPr/>
            <a:r>
              <a:t>MCXTRACE — DEEP DIVE</a:t>
            </a:r>
          </a:p>
        </p:txBody>
      </p:sp>
      <p:sp>
        <p:nvSpPr>
          <p:cNvPr id="252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Bent crystals &amp; double-crystal monochromators</a:t>
            </a:r>
          </a:p>
        </p:txBody>
      </p:sp>
      <p:sp>
        <p:nvSpPr>
          <p:cNvPr id="253" name="Text 2"/>
          <p:cNvSpPr txBox="1"/>
          <p:nvPr/>
        </p:nvSpPr>
        <p:spPr>
          <a:xfrm>
            <a:off x="594359" y="1642680"/>
            <a:ext cx="530352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A6591A"/>
                </a:solidFill>
              </a:defRPr>
            </a:lvl1pPr>
          </a:lstStyle>
          <a:p>
            <a:pPr/>
            <a:r>
              <a:t>Bending a crystal</a:t>
            </a:r>
          </a:p>
        </p:txBody>
      </p:sp>
      <p:sp>
        <p:nvSpPr>
          <p:cNvPr id="254" name="Text 3"/>
          <p:cNvSpPr txBox="1"/>
          <p:nvPr/>
        </p:nvSpPr>
        <p:spPr>
          <a:xfrm>
            <a:off x="594359" y="2584626"/>
            <a:ext cx="5303522" cy="1140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 radius of curvature on the crystal (Bragg_crystal_bent) is a simple way to model a heat-bump — thermal distortion from absorbed beam power.</a:t>
            </a:r>
          </a:p>
          <a:p>
            <a:pPr marL="203200" indent="-2032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Compare a Divergence_monitor before/after bending to see the extra divergence introduced.</a:t>
            </a:r>
          </a:p>
          <a:p>
            <a:pPr marL="203200" indent="-2032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 rocking curve (scanning θ) shows the peak shape change directly.</a:t>
            </a:r>
          </a:p>
        </p:txBody>
      </p:sp>
      <p:sp>
        <p:nvSpPr>
          <p:cNvPr id="255" name="Text 4"/>
          <p:cNvSpPr txBox="1"/>
          <p:nvPr/>
        </p:nvSpPr>
        <p:spPr>
          <a:xfrm>
            <a:off x="6309360" y="1642680"/>
            <a:ext cx="525780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A6591A"/>
                </a:solidFill>
              </a:defRPr>
            </a:lvl1pPr>
          </a:lstStyle>
          <a:p>
            <a:pPr/>
            <a:r>
              <a:t>Double-crystal monochromators (DCM)</a:t>
            </a:r>
          </a:p>
        </p:txBody>
      </p:sp>
      <p:sp>
        <p:nvSpPr>
          <p:cNvPr id="256" name="Text 5"/>
          <p:cNvSpPr txBox="1"/>
          <p:nvPr/>
        </p:nvSpPr>
        <p:spPr>
          <a:xfrm>
            <a:off x="6309360" y="2730676"/>
            <a:ext cx="5257801" cy="1305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 second crystal, rotated by the negative of the first angle, brings the beam back parallel to the incoming direction</a:t>
            </a:r>
          </a:p>
          <a:p>
            <a:pPr marL="203200" indent="-2032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Arms track the beam axis between crystals; the pair can share a single rotation stage, as in a real DCM</a:t>
            </a:r>
          </a:p>
          <a:p>
            <a:pPr marL="203200" indent="-2032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Laue_crystal_BC swaps reflection for transmission geometry — useful for higher-energy or higher-heat-load beamlines</a:t>
            </a:r>
          </a:p>
        </p:txBody>
      </p:sp>
      <p:sp>
        <p:nvSpPr>
          <p:cNvPr id="257" name="Shape 6"/>
          <p:cNvSpPr/>
          <p:nvPr/>
        </p:nvSpPr>
        <p:spPr>
          <a:xfrm>
            <a:off x="548640" y="4526279"/>
            <a:ext cx="11064241" cy="1325881"/>
          </a:xfrm>
          <a:prstGeom prst="roundRect">
            <a:avLst>
              <a:gd name="adj" fmla="val 5517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8" name="Text 7"/>
          <p:cNvSpPr txBox="1"/>
          <p:nvPr/>
        </p:nvSpPr>
        <p:spPr>
          <a:xfrm>
            <a:off x="868680" y="4690871"/>
            <a:ext cx="10424161" cy="962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AAB6D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// crystal 2, mirrored relative to crystal 1's Arm</a:t>
            </a:r>
          </a:p>
          <a:p>
            <a:pPr>
              <a:lnSpc>
                <a:spcPct val="130000"/>
              </a:lnSpc>
              <a:defRPr sz="1200">
                <a:solidFill>
                  <a:srgbClr val="AAB6D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>
                <a:solidFill>
                  <a:srgbClr val="8FE3C8"/>
                </a:solidFill>
              </a:rPr>
              <a:t>COMPONENT xtal2 = Bragg_crystal(...)</a:t>
            </a:r>
            <a:endParaRPr>
              <a:solidFill>
                <a:srgbClr val="8FE3C8"/>
              </a:solidFill>
            </a:endParaRPr>
          </a:p>
          <a:p>
            <a:pPr>
              <a:lnSpc>
                <a:spcPct val="130000"/>
              </a:lnSpc>
              <a:defRPr sz="1200">
                <a:solidFill>
                  <a:srgbClr val="AAB6D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>
                <a:solidFill>
                  <a:srgbClr val="FFD79A"/>
                </a:solidFill>
              </a:rPr>
              <a:t>AT (0,0,0) RELATIVE arm_after_xtal1</a:t>
            </a:r>
            <a:endParaRPr>
              <a:solidFill>
                <a:srgbClr val="FFD79A"/>
              </a:solidFill>
            </a:endParaRPr>
          </a:p>
          <a:p>
            <a:pPr>
              <a:lnSpc>
                <a:spcPct val="130000"/>
              </a:lnSpc>
              <a:defRPr sz="1200">
                <a:solidFill>
                  <a:srgbClr val="AAB6D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>
                <a:solidFill>
                  <a:srgbClr val="FFD79A"/>
                </a:solidFill>
              </a:rPr>
              <a:t>ROTATED (-MONO_ANGLE, 0, 0) RELATIVE arm_after_xtal1</a:t>
            </a:r>
          </a:p>
        </p:txBody>
      </p:sp>
      <p:sp>
        <p:nvSpPr>
          <p:cNvPr id="259" name="Text 8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260" name="Text 9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11</a:t>
            </a:r>
          </a:p>
        </p:txBody>
      </p:sp>
      <p:grpSp>
        <p:nvGrpSpPr>
          <p:cNvPr id="265" name="Group 13"/>
          <p:cNvGrpSpPr/>
          <p:nvPr/>
        </p:nvGrpSpPr>
        <p:grpSpPr>
          <a:xfrm>
            <a:off x="9224999" y="124302"/>
            <a:ext cx="790201" cy="708378"/>
            <a:chOff x="0" y="0"/>
            <a:chExt cx="790200" cy="708378"/>
          </a:xfrm>
        </p:grpSpPr>
        <p:pic>
          <p:nvPicPr>
            <p:cNvPr id="261" name="Picture 15" descr="Picture 15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7056" y="-1"/>
              <a:ext cx="716667" cy="4245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264" name="Group 32"/>
            <p:cNvGrpSpPr/>
            <p:nvPr/>
          </p:nvGrpSpPr>
          <p:grpSpPr>
            <a:xfrm>
              <a:off x="0" y="407057"/>
              <a:ext cx="790201" cy="301321"/>
              <a:chOff x="0" y="0"/>
              <a:chExt cx="790200" cy="301320"/>
            </a:xfrm>
          </p:grpSpPr>
          <p:pic>
            <p:nvPicPr>
              <p:cNvPr id="262" name="Picture 29" descr="Picture 29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0" y="-1"/>
                <a:ext cx="547921" cy="26460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263" name="Picture 30" descr="Picture 30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589320" y="5040"/>
                <a:ext cx="200881" cy="2962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68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SAME PHYSICS, DIFFERENT NAMES</a:t>
            </a:r>
          </a:p>
        </p:txBody>
      </p:sp>
      <p:sp>
        <p:nvSpPr>
          <p:cNvPr id="269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Multilayers: one concept, two jobs</a:t>
            </a:r>
          </a:p>
        </p:txBody>
      </p:sp>
      <p:sp>
        <p:nvSpPr>
          <p:cNvPr id="270" name="Text 2"/>
          <p:cNvSpPr txBox="1"/>
          <p:nvPr/>
        </p:nvSpPr>
        <p:spPr>
          <a:xfrm>
            <a:off x="594360" y="1493959"/>
            <a:ext cx="107899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A stack of thin alternating layers reflects by interference — like Bragg's law, but for a synthetic superperiod.</a:t>
            </a:r>
          </a:p>
        </p:txBody>
      </p:sp>
      <p:sp>
        <p:nvSpPr>
          <p:cNvPr id="271" name="Shape 3"/>
          <p:cNvSpPr/>
          <p:nvPr/>
        </p:nvSpPr>
        <p:spPr>
          <a:xfrm>
            <a:off x="548640" y="1965960"/>
            <a:ext cx="5257801" cy="3657601"/>
          </a:xfrm>
          <a:prstGeom prst="roundRect">
            <a:avLst>
              <a:gd name="adj" fmla="val 2500"/>
            </a:avLst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2" name="Text 4"/>
          <p:cNvSpPr txBox="1"/>
          <p:nvPr/>
        </p:nvSpPr>
        <p:spPr>
          <a:xfrm>
            <a:off x="914399" y="2292349"/>
            <a:ext cx="4526282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>
                <a:solidFill>
                  <a:srgbClr val="A6591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X-ray: a broadband monochromator</a:t>
            </a:r>
          </a:p>
        </p:txBody>
      </p:sp>
      <p:sp>
        <p:nvSpPr>
          <p:cNvPr id="273" name="Text 5"/>
          <p:cNvSpPr txBox="1"/>
          <p:nvPr/>
        </p:nvSpPr>
        <p:spPr>
          <a:xfrm>
            <a:off x="914399" y="2668422"/>
            <a:ext cx="4526282" cy="949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Used as a monochromator with a much broader bandpass — and higher flux — than a perfect crystal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Pick one of the first “side peaks” on the reflectivity curve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Curved multilayers combine monochromation with focusing</a:t>
            </a:r>
          </a:p>
        </p:txBody>
      </p:sp>
      <p:sp>
        <p:nvSpPr>
          <p:cNvPr id="274" name="Shape 6"/>
          <p:cNvSpPr/>
          <p:nvPr/>
        </p:nvSpPr>
        <p:spPr>
          <a:xfrm>
            <a:off x="6172200" y="1965960"/>
            <a:ext cx="5257800" cy="3657601"/>
          </a:xfrm>
          <a:prstGeom prst="roundRect">
            <a:avLst>
              <a:gd name="adj" fmla="val 2500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5" name="Text 7"/>
          <p:cNvSpPr txBox="1"/>
          <p:nvPr/>
        </p:nvSpPr>
        <p:spPr>
          <a:xfrm>
            <a:off x="6537960" y="2292349"/>
            <a:ext cx="452628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>
                <a:solidFill>
                  <a:srgbClr val="1250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Neutron: a “supermirror” coating</a:t>
            </a:r>
          </a:p>
        </p:txBody>
      </p:sp>
      <p:sp>
        <p:nvSpPr>
          <p:cNvPr id="276" name="Text 8"/>
          <p:cNvSpPr txBox="1"/>
          <p:nvPr/>
        </p:nvSpPr>
        <p:spPr>
          <a:xfrm>
            <a:off x="6537960" y="2668421"/>
            <a:ext cx="4526281" cy="949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Stacked Bragg-like reflections extend the total-external-reflection range well beyond a single critical angle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Ideally a wide, flat reflectivity vs. Q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Used to coat neutron guides — effectively an “optical fibre” for neutrons</a:t>
            </a:r>
          </a:p>
        </p:txBody>
      </p:sp>
      <p:sp>
        <p:nvSpPr>
          <p:cNvPr id="277" name="Text 9"/>
          <p:cNvSpPr txBox="1"/>
          <p:nvPr/>
        </p:nvSpPr>
        <p:spPr>
          <a:xfrm>
            <a:off x="594359" y="5876466"/>
            <a:ext cx="1097280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6E7580"/>
                </a:solidFill>
              </a:defRPr>
            </a:lvl1pPr>
          </a:lstStyle>
          <a:p>
            <a:pPr/>
            <a:r>
              <a:t>Same underlying phase-interference physics in both codes — only the intended job (monochromate vs. transport) differs.</a:t>
            </a:r>
          </a:p>
        </p:txBody>
      </p:sp>
      <p:sp>
        <p:nvSpPr>
          <p:cNvPr id="278" name="Text 10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279" name="Text 11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12</a:t>
            </a:r>
          </a:p>
        </p:txBody>
      </p:sp>
      <p:pic>
        <p:nvPicPr>
          <p:cNvPr id="280" name="image20.png" descr="image2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96198" y="3782666"/>
            <a:ext cx="2367943" cy="1623155"/>
          </a:xfrm>
          <a:prstGeom prst="rect">
            <a:avLst/>
          </a:prstGeom>
          <a:ln w="12700">
            <a:miter lim="400000"/>
          </a:ln>
        </p:spPr>
      </p:pic>
      <p:pic>
        <p:nvPicPr>
          <p:cNvPr id="281" name="Image" descr="Imag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629900" y="3782666"/>
            <a:ext cx="1704820" cy="1622569"/>
          </a:xfrm>
          <a:prstGeom prst="rect">
            <a:avLst/>
          </a:prstGeom>
          <a:ln w="12700">
            <a:miter lim="400000"/>
          </a:ln>
        </p:spPr>
      </p:pic>
      <p:pic>
        <p:nvPicPr>
          <p:cNvPr id="282" name="Image" descr="Image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517738" y="3622768"/>
            <a:ext cx="2814983" cy="18362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89" name="Group 17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287" name="Group 18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283" name="Picture 20" descr="Picture 20"/>
              <p:cNvPicPr>
                <a:picLocks noChangeAspect="1"/>
              </p:cNvPicPr>
              <p:nvPr/>
            </p:nvPicPr>
            <p:blipFill>
              <a:blip r:embed="rId6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86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284" name="Picture 29" descr="Picture 29"/>
                <p:cNvPicPr>
                  <a:picLocks noChangeAspect="1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85" name="Picture 30" descr="Picture 30"/>
                <p:cNvPicPr>
                  <a:picLocks noChangeAspect="1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88" name="Picture 31" descr="Picture 31"/>
            <p:cNvPicPr>
              <a:picLocks noChangeAspect="1"/>
            </p:cNvPicPr>
            <p:nvPr/>
          </p:nvPicPr>
          <p:blipFill>
            <a:blip r:embed="rId9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SHARED CONCEPT</a:t>
            </a:r>
          </a:p>
        </p:txBody>
      </p:sp>
      <p:sp>
        <p:nvSpPr>
          <p:cNvPr id="293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Temporal shaping: choppers</a:t>
            </a:r>
          </a:p>
        </p:txBody>
      </p:sp>
      <p:sp>
        <p:nvSpPr>
          <p:cNvPr id="294" name="Text 2"/>
          <p:cNvSpPr txBox="1"/>
          <p:nvPr/>
        </p:nvSpPr>
        <p:spPr>
          <a:xfrm>
            <a:off x="594360" y="2212778"/>
            <a:ext cx="10789920" cy="969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1200"/>
              </a:spcBef>
              <a:buSzPct val="100000"/>
              <a:buChar char="•"/>
              <a:defRPr sz="1300">
                <a:solidFill>
                  <a:srgbClr val="20242B"/>
                </a:solidFill>
              </a:defRPr>
            </a:pPr>
            <a:r>
              <a:t>A rotating absorbing disk with one or more slits cuts a continuous beam into pulses in time.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300">
                <a:solidFill>
                  <a:srgbClr val="20242B"/>
                </a:solidFill>
              </a:defRPr>
            </a:pPr>
            <a:r>
              <a:t>Both X-ray and neutron beamlines use a disk-chopper-like component to define or measure time structure — e.g. for time-of-flight (TOF) measurements.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300">
                <a:solidFill>
                  <a:srgbClr val="20242B"/>
                </a:solidFill>
              </a:defRPr>
            </a:pPr>
            <a:r>
              <a:t>The physical picture is identical: a slit sweeps across the beam at a set frequency, and only rays arriving within the open window get through.</a:t>
            </a:r>
          </a:p>
        </p:txBody>
      </p:sp>
      <p:sp>
        <p:nvSpPr>
          <p:cNvPr id="295" name="Shape 3"/>
          <p:cNvSpPr/>
          <p:nvPr/>
        </p:nvSpPr>
        <p:spPr>
          <a:xfrm>
            <a:off x="548640" y="3794759"/>
            <a:ext cx="11064241" cy="1051561"/>
          </a:xfrm>
          <a:prstGeom prst="roundRect">
            <a:avLst>
              <a:gd name="adj" fmla="val 6957"/>
            </a:avLst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6" name="Text 4"/>
          <p:cNvSpPr txBox="1"/>
          <p:nvPr/>
        </p:nvSpPr>
        <p:spPr>
          <a:xfrm>
            <a:off x="868680" y="4101137"/>
            <a:ext cx="10424161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200">
                <a:solidFill>
                  <a:srgbClr val="A6591A"/>
                </a:solidFill>
              </a:defRPr>
            </a:pPr>
            <a:r>
              <a:t>Where it stops being shared:  </a:t>
            </a:r>
            <a:r>
              <a:rPr b="0">
                <a:solidFill>
                  <a:srgbClr val="20242B"/>
                </a:solidFill>
              </a:rPr>
              <a:t>only neutrons are slow enough that a mechanical rotor can also act as an energy filter. An X-ray chopper shapes time only — it can't pick out an energy band the way a neutron velocity selector or Fermi chopper can.</a:t>
            </a:r>
          </a:p>
        </p:txBody>
      </p:sp>
      <p:sp>
        <p:nvSpPr>
          <p:cNvPr id="297" name="Text 5"/>
          <p:cNvSpPr txBox="1"/>
          <p:nvPr/>
        </p:nvSpPr>
        <p:spPr>
          <a:xfrm>
            <a:off x="594359" y="5133647"/>
            <a:ext cx="1097280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200">
                <a:solidFill>
                  <a:srgbClr val="6E7580"/>
                </a:solidFill>
              </a:defRPr>
            </a:lvl1pPr>
          </a:lstStyle>
          <a:p>
            <a:pPr/>
            <a:r>
              <a:t>Up next: two neutron-only rotating devices that filter on speed, not just on time.</a:t>
            </a:r>
          </a:p>
        </p:txBody>
      </p:sp>
      <p:sp>
        <p:nvSpPr>
          <p:cNvPr id="298" name="Text 6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299" name="Text 7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13</a:t>
            </a:r>
          </a:p>
        </p:txBody>
      </p:sp>
      <p:pic>
        <p:nvPicPr>
          <p:cNvPr id="300" name="Image" descr="Image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378452" y="155539"/>
            <a:ext cx="2998159" cy="2245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r&amp;d2-2.jpg" descr="r&amp;d2-2.jp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378452" y="4424305"/>
            <a:ext cx="2755419" cy="206656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08" name="Group 12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306" name="Group 13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302" name="Picture 15" descr="Picture 15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305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303" name="Picture 29" descr="Picture 29"/>
                <p:cNvPicPr>
                  <a:picLocks noChangeAspect="1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304" name="Picture 30" descr="Picture 30"/>
                <p:cNvPicPr>
                  <a:picLocks noChangeAspect="1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307" name="Picture 31" descr="Picture 31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11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MCSTAS — NEUTRONS ONLY</a:t>
            </a:r>
          </a:p>
        </p:txBody>
      </p:sp>
      <p:sp>
        <p:nvSpPr>
          <p:cNvPr id="312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Velocity selectors</a:t>
            </a:r>
          </a:p>
        </p:txBody>
      </p:sp>
      <p:sp>
        <p:nvSpPr>
          <p:cNvPr id="313" name="Text 2"/>
          <p:cNvSpPr txBox="1"/>
          <p:nvPr/>
        </p:nvSpPr>
        <p:spPr>
          <a:xfrm>
            <a:off x="594360" y="1516819"/>
            <a:ext cx="107899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A rotating drum of twisted, absorbing blades — only a narrow velocity (wavelength) band makes it straight through.</a:t>
            </a:r>
          </a:p>
        </p:txBody>
      </p:sp>
      <p:graphicFrame>
        <p:nvGraphicFramePr>
          <p:cNvPr id="314" name="Table 0"/>
          <p:cNvGraphicFramePr/>
          <p:nvPr/>
        </p:nvGraphicFramePr>
        <p:xfrm>
          <a:off x="548640" y="2011679"/>
          <a:ext cx="6400801" cy="36576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834640"/>
                <a:gridCol w="3566159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1250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xwidth, yheight [m]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entry aperture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zdepth [m]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housing length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length, d [m]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blade length / thickness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alpha [deg]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blade twisting angle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radius [m]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rotation axis → aperture-centre distance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nu [Hz]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rotation speed (counterclockwise)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nslit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number of blades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5" name="Shape 3"/>
          <p:cNvSpPr/>
          <p:nvPr/>
        </p:nvSpPr>
        <p:spPr>
          <a:xfrm>
            <a:off x="7223759" y="2011679"/>
            <a:ext cx="4434841" cy="4434842"/>
          </a:xfrm>
          <a:prstGeom prst="roundRect">
            <a:avLst>
              <a:gd name="adj" fmla="val 2597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6" name="Text 4"/>
          <p:cNvSpPr txBox="1"/>
          <p:nvPr/>
        </p:nvSpPr>
        <p:spPr>
          <a:xfrm>
            <a:off x="7269479" y="2241726"/>
            <a:ext cx="434340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6E7580"/>
                </a:solidFill>
              </a:defRPr>
            </a:lvl1pPr>
          </a:lstStyle>
          <a:p>
            <a:pPr/>
            <a:r>
              <a:t>twisted absorbing blades</a:t>
            </a:r>
          </a:p>
        </p:txBody>
      </p:sp>
      <p:sp>
        <p:nvSpPr>
          <p:cNvPr id="317" name="Text 10"/>
          <p:cNvSpPr txBox="1"/>
          <p:nvPr/>
        </p:nvSpPr>
        <p:spPr>
          <a:xfrm>
            <a:off x="7269479" y="3721187"/>
            <a:ext cx="4343401" cy="3908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i="1" sz="1100">
                <a:solidFill>
                  <a:srgbClr val="6E7580"/>
                </a:solidFill>
              </a:defRPr>
            </a:pPr>
            <a:r>
              <a:t>broad monochromatization</a:t>
            </a:r>
          </a:p>
          <a:p>
            <a:pPr algn="ctr">
              <a:defRPr i="1" sz="1100">
                <a:solidFill>
                  <a:srgbClr val="6E7580"/>
                </a:solidFill>
              </a:defRPr>
            </a:pPr>
            <a:r>
              <a:t>δλ/λ ≈ 10%</a:t>
            </a:r>
          </a:p>
        </p:txBody>
      </p:sp>
      <p:sp>
        <p:nvSpPr>
          <p:cNvPr id="318" name="Text 11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319" name="Text 12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14</a:t>
            </a:r>
          </a:p>
        </p:txBody>
      </p:sp>
      <p:pic>
        <p:nvPicPr>
          <p:cNvPr id="320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312398" y="2548564"/>
            <a:ext cx="4257562" cy="1111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321" name="Picture 11" descr="Picture 11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587950" y="4158846"/>
            <a:ext cx="3688338" cy="207469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25" name="Group 21"/>
          <p:cNvGrpSpPr/>
          <p:nvPr/>
        </p:nvGrpSpPr>
        <p:grpSpPr>
          <a:xfrm>
            <a:off x="8686672" y="1217312"/>
            <a:ext cx="3017649" cy="857216"/>
            <a:chOff x="0" y="0"/>
            <a:chExt cx="3017648" cy="857215"/>
          </a:xfrm>
        </p:grpSpPr>
        <p:sp>
          <p:nvSpPr>
            <p:cNvPr id="322" name="Rounded Rectangle 2"/>
            <p:cNvSpPr/>
            <p:nvPr/>
          </p:nvSpPr>
          <p:spPr>
            <a:xfrm>
              <a:off x="-1" y="258022"/>
              <a:ext cx="1343147" cy="296892"/>
            </a:xfrm>
            <a:prstGeom prst="roundRect">
              <a:avLst>
                <a:gd name="adj" fmla="val 16667"/>
              </a:avLst>
            </a:prstGeom>
            <a:gradFill flip="none" rotWithShape="1">
              <a:gsLst>
                <a:gs pos="0">
                  <a:srgbClr val="A603AB"/>
                </a:gs>
                <a:gs pos="21001">
                  <a:srgbClr val="0819FB"/>
                </a:gs>
                <a:gs pos="35001">
                  <a:srgbClr val="1A8D48"/>
                </a:gs>
                <a:gs pos="52000">
                  <a:srgbClr val="FFFF00"/>
                </a:gs>
                <a:gs pos="73000">
                  <a:srgbClr val="EE3F17"/>
                </a:gs>
                <a:gs pos="88000">
                  <a:srgbClr val="E81766"/>
                </a:gs>
                <a:gs pos="100000">
                  <a:srgbClr val="A603AB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defRPr>
              </a:pPr>
            </a:p>
          </p:txBody>
        </p:sp>
        <p:sp>
          <p:nvSpPr>
            <p:cNvPr id="323" name="Rounded Rectangle 3"/>
            <p:cNvSpPr/>
            <p:nvPr/>
          </p:nvSpPr>
          <p:spPr>
            <a:xfrm>
              <a:off x="1637547" y="258022"/>
              <a:ext cx="1380102" cy="296892"/>
            </a:xfrm>
            <a:prstGeom prst="roundRect">
              <a:avLst>
                <a:gd name="adj" fmla="val 16667"/>
              </a:avLst>
            </a:prstGeom>
            <a:solidFill>
              <a:srgbClr val="E4196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defRPr>
              </a:pPr>
            </a:p>
          </p:txBody>
        </p:sp>
        <p:sp>
          <p:nvSpPr>
            <p:cNvPr id="324" name="Rectangle 6"/>
            <p:cNvSpPr/>
            <p:nvPr/>
          </p:nvSpPr>
          <p:spPr>
            <a:xfrm flipH="1">
              <a:off x="1498896" y="-1"/>
              <a:ext cx="45720" cy="857217"/>
            </a:xfrm>
            <a:prstGeom prst="rect">
              <a:avLst/>
            </a:prstGeom>
            <a:solidFill>
              <a:srgbClr val="000000"/>
            </a:solidFill>
            <a:ln w="3175" cap="flat">
              <a:solidFill>
                <a:srgbClr val="000000"/>
              </a:solidFill>
              <a:prstDash val="solid"/>
              <a:round/>
            </a:ln>
            <a:effectLst>
              <a:outerShdw sx="100000" sy="100000" kx="0" ky="0" algn="b" rotWithShape="0" blurRad="25400" dist="127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defRPr>
              </a:pPr>
            </a:p>
          </p:txBody>
        </p:sp>
      </p:grpSp>
      <p:pic>
        <p:nvPicPr>
          <p:cNvPr id="326" name="Picture 31" descr="Picture 31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358854" y="119520"/>
            <a:ext cx="736201" cy="748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MCSTAS — NEUTRONS ONLY</a:t>
            </a:r>
          </a:p>
        </p:txBody>
      </p:sp>
      <p:sp>
        <p:nvSpPr>
          <p:cNvPr id="330" name="Text 1"/>
          <p:cNvSpPr txBox="1"/>
          <p:nvPr/>
        </p:nvSpPr>
        <p:spPr>
          <a:xfrm>
            <a:off x="3087848" y="195403"/>
            <a:ext cx="3922768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Disk &amp; Fermi choppers</a:t>
            </a:r>
          </a:p>
        </p:txBody>
      </p:sp>
      <p:sp>
        <p:nvSpPr>
          <p:cNvPr id="331" name="Text 2"/>
          <p:cNvSpPr txBox="1"/>
          <p:nvPr/>
        </p:nvSpPr>
        <p:spPr>
          <a:xfrm>
            <a:off x="594359" y="1513574"/>
            <a:ext cx="5303522" cy="330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12506B"/>
                </a:solidFill>
              </a:defRPr>
            </a:lvl1pPr>
          </a:lstStyle>
          <a:p>
            <a:pPr/>
            <a:r>
              <a:t>DiskChopper</a:t>
            </a:r>
          </a:p>
        </p:txBody>
      </p:sp>
      <p:graphicFrame>
        <p:nvGraphicFramePr>
          <p:cNvPr id="332" name="Table 0"/>
          <p:cNvGraphicFramePr/>
          <p:nvPr/>
        </p:nvGraphicFramePr>
        <p:xfrm>
          <a:off x="548640" y="3395979"/>
          <a:ext cx="5394960" cy="29718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77440"/>
                <a:gridCol w="3017520"/>
              </a:tblGrid>
              <a:tr h="5943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12506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nu, theta_0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</a:rPr>
                        <a:t>frequency; angular slit width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radius, yheight, xwidth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</a:rPr>
                        <a:t>disk geometry / slit opening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jitter, delay, phase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</a:rPr>
                        <a:t>timing: random jitter, fixed delay, or angular phase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isfirst, npulse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</a:rPr>
                        <a:t>marks the first chopper; pulses to generate if so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333" name="Text 3"/>
          <p:cNvSpPr txBox="1"/>
          <p:nvPr/>
        </p:nvSpPr>
        <p:spPr>
          <a:xfrm>
            <a:off x="6280366" y="1400482"/>
            <a:ext cx="1638814" cy="330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12506B"/>
                </a:solidFill>
              </a:defRPr>
            </a:lvl1pPr>
          </a:lstStyle>
          <a:p>
            <a:pPr/>
            <a:r>
              <a:t>Fermi chopper</a:t>
            </a:r>
          </a:p>
        </p:txBody>
      </p:sp>
      <p:sp>
        <p:nvSpPr>
          <p:cNvPr id="334" name="Text 4"/>
          <p:cNvSpPr txBox="1"/>
          <p:nvPr/>
        </p:nvSpPr>
        <p:spPr>
          <a:xfrm>
            <a:off x="6639560" y="3609516"/>
            <a:ext cx="5257801" cy="1305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 small drum of curved slit packages, spinning fast, sitting directly in the beam — a “rotating collimator”.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Only neutrons with the right speed can cross the curved channel before it rotates shut — so it acts as a combined fast time-gate and coarse energy filter.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Used right next to the sample, where a disk chopper's timing alone is no longer selective enough.</a:t>
            </a:r>
          </a:p>
        </p:txBody>
      </p:sp>
      <p:grpSp>
        <p:nvGrpSpPr>
          <p:cNvPr id="337" name="Group"/>
          <p:cNvGrpSpPr/>
          <p:nvPr/>
        </p:nvGrpSpPr>
        <p:grpSpPr>
          <a:xfrm>
            <a:off x="6493905" y="5216594"/>
            <a:ext cx="5509976" cy="1024956"/>
            <a:chOff x="0" y="0"/>
            <a:chExt cx="5509975" cy="1024954"/>
          </a:xfrm>
        </p:grpSpPr>
        <p:sp>
          <p:nvSpPr>
            <p:cNvPr id="335" name="Shape 5"/>
            <p:cNvSpPr/>
            <p:nvPr/>
          </p:nvSpPr>
          <p:spPr>
            <a:xfrm>
              <a:off x="0" y="0"/>
              <a:ext cx="5509976" cy="1024955"/>
            </a:xfrm>
            <a:prstGeom prst="roundRect">
              <a:avLst>
                <a:gd name="adj" fmla="val 9412"/>
              </a:avLst>
            </a:prstGeom>
            <a:solidFill>
              <a:srgbClr val="E3EEF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36" name="Text 6"/>
            <p:cNvSpPr txBox="1"/>
            <p:nvPr/>
          </p:nvSpPr>
          <p:spPr>
            <a:xfrm>
              <a:off x="261610" y="22144"/>
              <a:ext cx="4986755" cy="98066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b="1" sz="1400">
                  <a:solidFill>
                    <a:srgbClr val="12506B"/>
                  </a:solidFill>
                </a:defRPr>
              </a:pPr>
              <a:r>
                <a:t>Both are McStas-only:  </a:t>
              </a:r>
              <a:r>
                <a:rPr b="0">
                  <a:solidFill>
                    <a:srgbClr val="20242B"/>
                  </a:solidFill>
                </a:rPr>
                <a:t>there's no X-ray analogue — the mechanical </a:t>
              </a:r>
              <a:br>
                <a:rPr b="0">
                  <a:solidFill>
                    <a:srgbClr val="20242B"/>
                  </a:solidFill>
                </a:rPr>
              </a:br>
              <a:r>
                <a:rPr b="0">
                  <a:solidFill>
                    <a:srgbClr val="20242B"/>
                  </a:solidFill>
                </a:rPr>
                <a:t>rotation speeds needed would be absurd at the speed of light. X-ray </a:t>
              </a:r>
              <a:br>
                <a:rPr b="0">
                  <a:solidFill>
                    <a:srgbClr val="20242B"/>
                  </a:solidFill>
                </a:rPr>
              </a:br>
              <a:r>
                <a:rPr b="0">
                  <a:solidFill>
                    <a:srgbClr val="20242B"/>
                  </a:solidFill>
                </a:rPr>
                <a:t>timing instead comes from the accelerator's bunch structure itself.</a:t>
              </a:r>
            </a:p>
          </p:txBody>
        </p:sp>
      </p:grpSp>
      <p:sp>
        <p:nvSpPr>
          <p:cNvPr id="338" name="Text 7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339" name="Text 8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15</a:t>
            </a:r>
          </a:p>
        </p:txBody>
      </p:sp>
      <p:pic>
        <p:nvPicPr>
          <p:cNvPr id="340" name="Picture 5" descr="Picture 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652671" y="674168"/>
            <a:ext cx="2970543" cy="3013576"/>
          </a:xfrm>
          <a:prstGeom prst="rect">
            <a:avLst/>
          </a:prstGeom>
          <a:ln w="12700">
            <a:miter lim="400000"/>
          </a:ln>
        </p:spPr>
      </p:pic>
      <p:pic>
        <p:nvPicPr>
          <p:cNvPr id="341" name="Picture 31" descr="Picture 3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982735" y="180506"/>
            <a:ext cx="736200" cy="748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42" name="Image" descr="Image"/>
          <p:cNvPicPr>
            <a:picLocks noChangeAspect="1"/>
          </p:cNvPicPr>
          <p:nvPr/>
        </p:nvPicPr>
        <p:blipFill>
          <a:blip r:embed="rId5">
            <a:extLst/>
          </a:blip>
          <a:srcRect l="0" t="15403" r="21583" b="0"/>
          <a:stretch>
            <a:fillRect/>
          </a:stretch>
        </p:blipFill>
        <p:spPr>
          <a:xfrm>
            <a:off x="2956073" y="674168"/>
            <a:ext cx="2500334" cy="26973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45" name="Text 0"/>
          <p:cNvSpPr txBox="1"/>
          <p:nvPr/>
        </p:nvSpPr>
        <p:spPr>
          <a:xfrm>
            <a:off x="594360" y="406199"/>
            <a:ext cx="8595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RECAP</a:t>
            </a:r>
          </a:p>
        </p:txBody>
      </p:sp>
      <p:sp>
        <p:nvSpPr>
          <p:cNvPr id="346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One optics toolkit, two beams</a:t>
            </a:r>
          </a:p>
        </p:txBody>
      </p:sp>
      <p:sp>
        <p:nvSpPr>
          <p:cNvPr id="347" name="Shape 2"/>
          <p:cNvSpPr/>
          <p:nvPr/>
        </p:nvSpPr>
        <p:spPr>
          <a:xfrm>
            <a:off x="548640" y="1691639"/>
            <a:ext cx="5257801" cy="4206242"/>
          </a:xfrm>
          <a:prstGeom prst="roundRect">
            <a:avLst>
              <a:gd name="adj" fmla="val 2174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8" name="Text 3"/>
          <p:cNvSpPr txBox="1"/>
          <p:nvPr/>
        </p:nvSpPr>
        <p:spPr>
          <a:xfrm>
            <a:off x="914399" y="1936749"/>
            <a:ext cx="4526282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1250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What's shared</a:t>
            </a:r>
          </a:p>
        </p:txBody>
      </p:sp>
      <p:sp>
        <p:nvSpPr>
          <p:cNvPr id="349" name="Text 4"/>
          <p:cNvSpPr txBox="1"/>
          <p:nvPr/>
        </p:nvSpPr>
        <p:spPr>
          <a:xfrm>
            <a:off x="914399" y="3225976"/>
            <a:ext cx="4526282" cy="16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Spatial shaping: slits &amp; collimators, same logic either way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Grazing-incidence total external reflection (n&lt;1, critical angle)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Bragg's law, and the idea of rotating a crystal to tune it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Refractive-index-just-below-1 logic behind compound lenses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Multilayer interference physics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The chopper concept for defining time structure</a:t>
            </a:r>
          </a:p>
        </p:txBody>
      </p:sp>
      <p:sp>
        <p:nvSpPr>
          <p:cNvPr id="350" name="Shape 5"/>
          <p:cNvSpPr/>
          <p:nvPr/>
        </p:nvSpPr>
        <p:spPr>
          <a:xfrm>
            <a:off x="6172200" y="1691639"/>
            <a:ext cx="5257800" cy="4206242"/>
          </a:xfrm>
          <a:prstGeom prst="roundRect">
            <a:avLst>
              <a:gd name="adj" fmla="val 2174"/>
            </a:avLst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1" name="Text 6"/>
          <p:cNvSpPr txBox="1"/>
          <p:nvPr/>
        </p:nvSpPr>
        <p:spPr>
          <a:xfrm>
            <a:off x="6537960" y="1936749"/>
            <a:ext cx="452628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A6591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differs</a:t>
            </a:r>
          </a:p>
        </p:txBody>
      </p:sp>
      <p:sp>
        <p:nvSpPr>
          <p:cNvPr id="352" name="Text 7"/>
          <p:cNvSpPr txBox="1"/>
          <p:nvPr/>
        </p:nvSpPr>
        <p:spPr>
          <a:xfrm>
            <a:off x="6537960" y="3289476"/>
            <a:ext cx="4526281" cy="1559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Many-bounce guides (neutron) vs. one/two-bounce focusing mirrors (X-ray)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Crystal choice: near-perfect low-mosaicity vs. mosaic/multi-crystal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Multilayer role: X-ray monochromator vs. neutron guide coating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Velocity selectors &amp; Fermi choppers exist only for neutrons</a:t>
            </a:r>
          </a:p>
          <a:p>
            <a:pPr marL="177800" indent="-177800">
              <a:spcBef>
                <a:spcPts val="10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X-ray timing comes from the accelerator, not a mechanical rotor</a:t>
            </a:r>
          </a:p>
        </p:txBody>
      </p:sp>
      <p:sp>
        <p:nvSpPr>
          <p:cNvPr id="353" name="Text 8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354" name="Text 9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16</a:t>
            </a:r>
          </a:p>
        </p:txBody>
      </p:sp>
      <p:grpSp>
        <p:nvGrpSpPr>
          <p:cNvPr id="361" name="Group 12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359" name="Group 13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355" name="Picture 15" descr="Picture 15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358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356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357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360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0"/>
          <p:cNvSpPr/>
          <p:nvPr/>
        </p:nvSpPr>
        <p:spPr>
          <a:xfrm>
            <a:off x="9418319" y="-1463040"/>
            <a:ext cx="4754881" cy="4754880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4" name="Shape 1"/>
          <p:cNvSpPr/>
          <p:nvPr/>
        </p:nvSpPr>
        <p:spPr>
          <a:xfrm>
            <a:off x="-1828801" y="4206240"/>
            <a:ext cx="4206242" cy="4206241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5" name="Text 2"/>
          <p:cNvSpPr txBox="1"/>
          <p:nvPr/>
        </p:nvSpPr>
        <p:spPr>
          <a:xfrm>
            <a:off x="868680" y="1301749"/>
            <a:ext cx="9052561" cy="688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4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Where to go deeper</a:t>
            </a:r>
          </a:p>
        </p:txBody>
      </p:sp>
      <p:sp>
        <p:nvSpPr>
          <p:cNvPr id="366" name="Shape 3"/>
          <p:cNvSpPr/>
          <p:nvPr/>
        </p:nvSpPr>
        <p:spPr>
          <a:xfrm>
            <a:off x="822960" y="2286000"/>
            <a:ext cx="5120641" cy="2880361"/>
          </a:xfrm>
          <a:prstGeom prst="roundRect">
            <a:avLst>
              <a:gd name="adj" fmla="val 3175"/>
            </a:avLst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7" name="Text 4"/>
          <p:cNvSpPr txBox="1"/>
          <p:nvPr/>
        </p:nvSpPr>
        <p:spPr>
          <a:xfrm>
            <a:off x="1188720" y="2531109"/>
            <a:ext cx="438912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8FE3C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McStas</a:t>
            </a:r>
          </a:p>
        </p:txBody>
      </p:sp>
      <p:sp>
        <p:nvSpPr>
          <p:cNvPr id="368" name="Text 5"/>
          <p:cNvSpPr txBox="1"/>
          <p:nvPr/>
        </p:nvSpPr>
        <p:spPr>
          <a:xfrm>
            <a:off x="1188720" y="3201845"/>
            <a:ext cx="43891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mcdoc optics  /  mcdoc -c</a:t>
            </a:r>
          </a:p>
        </p:txBody>
      </p:sp>
      <p:sp>
        <p:nvSpPr>
          <p:cNvPr id="369" name="Text 6"/>
          <p:cNvSpPr txBox="1"/>
          <p:nvPr/>
        </p:nvSpPr>
        <p:spPr>
          <a:xfrm>
            <a:off x="1188720" y="3642934"/>
            <a:ext cx="4389120" cy="4042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Guide, Guide_channeled, Monochromator_flat/curved, DiskChopper, FermiChopper, V_selector</a:t>
            </a:r>
          </a:p>
        </p:txBody>
      </p:sp>
      <p:sp>
        <p:nvSpPr>
          <p:cNvPr id="370" name="Text 7"/>
          <p:cNvSpPr txBox="1"/>
          <p:nvPr/>
        </p:nvSpPr>
        <p:spPr>
          <a:xfrm>
            <a:off x="1188720" y="4262549"/>
            <a:ext cx="43891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mcstas.org</a:t>
            </a:r>
          </a:p>
        </p:txBody>
      </p:sp>
      <p:sp>
        <p:nvSpPr>
          <p:cNvPr id="371" name="Shape 8"/>
          <p:cNvSpPr/>
          <p:nvPr/>
        </p:nvSpPr>
        <p:spPr>
          <a:xfrm>
            <a:off x="6309359" y="2286000"/>
            <a:ext cx="5120641" cy="2880361"/>
          </a:xfrm>
          <a:prstGeom prst="roundRect">
            <a:avLst>
              <a:gd name="adj" fmla="val 3175"/>
            </a:avLst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72" name="Text 9"/>
          <p:cNvSpPr txBox="1"/>
          <p:nvPr/>
        </p:nvSpPr>
        <p:spPr>
          <a:xfrm>
            <a:off x="6675120" y="2531109"/>
            <a:ext cx="438912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FFD79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McXtrace</a:t>
            </a:r>
          </a:p>
        </p:txBody>
      </p:sp>
      <p:sp>
        <p:nvSpPr>
          <p:cNvPr id="373" name="Text 10"/>
          <p:cNvSpPr txBox="1"/>
          <p:nvPr/>
        </p:nvSpPr>
        <p:spPr>
          <a:xfrm>
            <a:off x="6675120" y="3201845"/>
            <a:ext cx="43891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mxdoc optics  /  mxdoc -c</a:t>
            </a:r>
          </a:p>
        </p:txBody>
      </p:sp>
      <p:sp>
        <p:nvSpPr>
          <p:cNvPr id="374" name="Text 11"/>
          <p:cNvSpPr txBox="1"/>
          <p:nvPr/>
        </p:nvSpPr>
        <p:spPr>
          <a:xfrm>
            <a:off x="6675120" y="3642934"/>
            <a:ext cx="4389120" cy="4042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Practical exercises: CRLs, KB mirrors, monochromators — pick two of the three</a:t>
            </a:r>
          </a:p>
        </p:txBody>
      </p:sp>
      <p:sp>
        <p:nvSpPr>
          <p:cNvPr id="375" name="Text 12"/>
          <p:cNvSpPr txBox="1"/>
          <p:nvPr/>
        </p:nvSpPr>
        <p:spPr>
          <a:xfrm>
            <a:off x="6675120" y="4262549"/>
            <a:ext cx="43891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mcxtrace.org</a:t>
            </a:r>
          </a:p>
        </p:txBody>
      </p:sp>
      <p:sp>
        <p:nvSpPr>
          <p:cNvPr id="376" name="Shape 13"/>
          <p:cNvSpPr/>
          <p:nvPr/>
        </p:nvSpPr>
        <p:spPr>
          <a:xfrm>
            <a:off x="822959" y="5440679"/>
            <a:ext cx="2926082" cy="1"/>
          </a:xfrm>
          <a:prstGeom prst="line">
            <a:avLst/>
          </a:prstGeom>
          <a:ln w="12700">
            <a:solidFill>
              <a:srgbClr val="3C4A8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7" name="Text 14"/>
          <p:cNvSpPr txBox="1"/>
          <p:nvPr/>
        </p:nvSpPr>
        <p:spPr>
          <a:xfrm>
            <a:off x="868680" y="5567987"/>
            <a:ext cx="72237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AAB6DE"/>
                </a:solidFill>
              </a:defRPr>
            </a:lvl1pPr>
          </a:lstStyle>
          <a:p>
            <a:pPr/>
            <a:r>
              <a:t>Peter Willendrup   ·   pkwi@fysik.dtu.dk   ·   DTU Physics</a:t>
            </a:r>
          </a:p>
        </p:txBody>
      </p:sp>
      <p:sp>
        <p:nvSpPr>
          <p:cNvPr id="378" name="Text 15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Neutron &amp; X-ray Optics</a:t>
            </a:r>
          </a:p>
        </p:txBody>
      </p:sp>
      <p:sp>
        <p:nvSpPr>
          <p:cNvPr id="379" name="Text 16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