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8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77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C2E0-BE72-BBB6-AE90-3EDB2CB1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7B240-A418-EDE2-8010-859676E46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D5831-77ED-9150-07FD-AD6BCDF47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C81E7-F7E4-7BE6-E6AD-142DD605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05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MONITORS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rays are born,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they're recorded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source and monitor components in McStas &amp; McXtrace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Common Introduction — now with a closer look at two component families every instrument needs.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source does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ray state at the start of the beamline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docs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&amp; mxdoc, and how to read a component's parameters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simple source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direction, and spectrum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landscapes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Mathematical, reactor/pulsed, and accelerator-based sources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physics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angle, ncount, and statistical weight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simulations together via particle lists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vs. detectors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the beam without disturbing it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monitor library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1D, 2D and nD monitors — and how they compute statistics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source component does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generates rays — in McStas terms, it sets the ray state to something representative of the source being modelled.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draw values for the ray's state vector from chosen distributions — not from a single fixed value.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rays of uniformly distributed wavelength, emerging from a circular aperture, aimed at a region of interest.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component downstream only ever sees a ray in this state — it doesn't know or care how the source produced 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75120" y="160020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675120" y="17830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the ray state vector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95160" y="228600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722376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· neutron ray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23760" y="27706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x, y, z,  vx, vy, vz,  t,  sx, sy, sz,  p 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23760" y="32004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velocity · time · spin · weight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95160" y="402336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7223760" y="4160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· photon ray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23760" y="4507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x, y, z,  kx, ky, kz,  Ex, Ey, Ez,  φ,  t,  p }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49377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wave vector · polarisation · phase · time · weight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docs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component's parameters, defaults and physics are documented — and the two codes use the same pattern to reach them.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documentation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  (or “Docs” in mcgui)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  (or “Docs” in mxgui)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PDF component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-c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-c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for one specific 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mcdoc &lt;component_name&gt;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mxdoc &lt;component_name&gt;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copies of the manuals exist (mcstas.org / mcxtrace.org) but may not match your installed version exactly — the local mcdoc / mxdoc is always authoritative.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simple source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every source answers — identically in shape, whichever code you're in.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80467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0467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732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start point on the source surface — e.g. uniform on a disc of radius 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0" y="306324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459943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459943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1208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way?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1772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toward a region of interest: a target of size focus_xw × focus_yh at distance dist.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09560" y="306324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5"/>
          <p:cNvSpPr/>
          <p:nvPr/>
        </p:nvSpPr>
        <p:spPr>
          <a:xfrm>
            <a:off x="8138160" y="21488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Shape 16"/>
          <p:cNvSpPr/>
          <p:nvPr/>
        </p:nvSpPr>
        <p:spPr>
          <a:xfrm>
            <a:off x="8394192" y="2377440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0" name="Text 17"/>
          <p:cNvSpPr/>
          <p:nvPr/>
        </p:nvSpPr>
        <p:spPr>
          <a:xfrm>
            <a:off x="839419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00684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spectrum?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41248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wavelength / energy from a chosen distribution — uniform, Gaussian, Maxwellian…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Shape 21"/>
          <p:cNvSpPr/>
          <p:nvPr/>
        </p:nvSpPr>
        <p:spPr>
          <a:xfrm>
            <a:off x="1783080" y="48234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Text 22"/>
          <p:cNvSpPr/>
          <p:nvPr/>
        </p:nvSpPr>
        <p:spPr>
          <a:xfrm>
            <a:off x="1280160" y="55275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(radius R)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423160" y="4640580"/>
            <a:ext cx="635508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2423160" y="5646420"/>
            <a:ext cx="6355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5"/>
          <p:cNvSpPr/>
          <p:nvPr/>
        </p:nvSpPr>
        <p:spPr>
          <a:xfrm>
            <a:off x="2423160" y="5143500"/>
            <a:ext cx="6355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29" name="Shape 26"/>
          <p:cNvSpPr/>
          <p:nvPr/>
        </p:nvSpPr>
        <p:spPr>
          <a:xfrm>
            <a:off x="8778240" y="4594860"/>
            <a:ext cx="201168" cy="109728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0" name="Text 27"/>
          <p:cNvSpPr/>
          <p:nvPr/>
        </p:nvSpPr>
        <p:spPr>
          <a:xfrm>
            <a:off x="8275320" y="57652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focus_xw × focus_yh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83480" y="42291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14400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emitted ray points from the source at some (x,y,z) toward a randomly chosen point inside this target — concentrating statistics where they matter.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NAME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source, in both codes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1856232"/>
            <a:ext cx="48463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radius=0.05, lambda0=2.5, dlambda=1.5,
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 ·  Source_simple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537960" y="1856232"/>
            <a:ext cx="48463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Source_flat(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radius=0.05, lambda0=2.5, dlambda=1.5,
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 ·  Source_flat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 names, same units: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radius, lambda0/dlambda, focus_xw, focus_yh and dist mean the same thing in both instrument files — only the wavelength range and physical scale differ between neutrons and X-rays.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DIVERGE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 landscapes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two libraries look most different — shaped by very different facilities.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· neutron 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334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907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Source_simple, Source_div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4381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/ CONTINUOUS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37124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Source_Maxwell_3, Source_gen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24281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 (SPALLATION)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45171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ESS_butterfly, Moderator, SNS_source, ISIS_moderator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0474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PARTICLE-LIST I/O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5321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/ MCPL_output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649224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· X-ray sources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263347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92240" y="2907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Source_flat, Source_div, Source_pt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34381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INSERTION DEVICES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92240" y="37124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Bending_magnet, Wiggler, Undulator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50474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PARTICLE-LIST I/O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92240" y="5321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/ MCPL_output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sources mirror facility diversity (reactor vs. spallation); X-ray sources mirror accelerator physics (magnet type). Both share simple analytic sources and the same MCPL format.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angle, ncount, and ray weight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577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neutron- and some X-ray sources emit into the full 4π steradian — but a simulation only needs the solid angle Ω subtended by the beamline's first aperture.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emission integrated over Ω, wavelength and time gives a physical intensity (rays / second).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intensity is partitioned over a finite number of simulated rays: ncount (default 1e6, set with -n / --ncount).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ray carries a statistical weight p, chosen so the sum of weights over all rays reproduces the physical intensity.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675120" y="3913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475488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low-weight rays, or fewer high-weight rays — the physical result comes out the same, but statistics (and runtime) differ.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CF213B-499A-B257-6E82-DC4CE8102147}"/>
              </a:ext>
            </a:extLst>
          </p:cNvPr>
          <p:cNvGrpSpPr/>
          <p:nvPr/>
        </p:nvGrpSpPr>
        <p:grpSpPr>
          <a:xfrm>
            <a:off x="6523571" y="2304288"/>
            <a:ext cx="5086043" cy="2572531"/>
            <a:chOff x="1642044" y="222901"/>
            <a:chExt cx="10277103" cy="4700723"/>
          </a:xfrm>
        </p:grpSpPr>
        <p:grpSp>
          <p:nvGrpSpPr>
            <p:cNvPr id="17" name="Group">
              <a:extLst>
                <a:ext uri="{FF2B5EF4-FFF2-40B4-BE49-F238E27FC236}">
                  <a16:creationId xmlns:a16="http://schemas.microsoft.com/office/drawing/2014/main" id="{8B635996-0D02-99A0-67ED-D96CA18F2E63}"/>
                </a:ext>
              </a:extLst>
            </p:cNvPr>
            <p:cNvGrpSpPr/>
            <p:nvPr/>
          </p:nvGrpSpPr>
          <p:grpSpPr>
            <a:xfrm>
              <a:off x="1642044" y="1934376"/>
              <a:ext cx="3040396" cy="2989248"/>
              <a:chOff x="0" y="0"/>
              <a:chExt cx="3040394" cy="2989247"/>
            </a:xfrm>
          </p:grpSpPr>
          <p:sp>
            <p:nvSpPr>
              <p:cNvPr id="18" name="Line">
                <a:extLst>
                  <a:ext uri="{FF2B5EF4-FFF2-40B4-BE49-F238E27FC236}">
                    <a16:creationId xmlns:a16="http://schemas.microsoft.com/office/drawing/2014/main" id="{773CCA7C-FB59-0264-E3C9-7FBC147C0B1D}"/>
                  </a:ext>
                </a:extLst>
              </p:cNvPr>
              <p:cNvSpPr/>
              <p:nvPr/>
            </p:nvSpPr>
            <p:spPr>
              <a:xfrm flipV="1">
                <a:off x="1818705" y="785843"/>
                <a:ext cx="1221690" cy="441148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val">
                <a:extLst>
                  <a:ext uri="{FF2B5EF4-FFF2-40B4-BE49-F238E27FC236}">
                    <a16:creationId xmlns:a16="http://schemas.microsoft.com/office/drawing/2014/main" id="{289DF42C-3811-CAEF-5BB0-5F6EDA20E49F}"/>
                  </a:ext>
                </a:extLst>
              </p:cNvPr>
              <p:cNvSpPr/>
              <p:nvPr/>
            </p:nvSpPr>
            <p:spPr>
              <a:xfrm>
                <a:off x="764605" y="477225"/>
                <a:ext cx="1270001" cy="38859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val">
                <a:extLst>
                  <a:ext uri="{FF2B5EF4-FFF2-40B4-BE49-F238E27FC236}">
                    <a16:creationId xmlns:a16="http://schemas.microsoft.com/office/drawing/2014/main" id="{867224F0-77F4-DBFA-0B50-D01D92ABD3DE}"/>
                  </a:ext>
                </a:extLst>
              </p:cNvPr>
              <p:cNvSpPr/>
              <p:nvPr/>
            </p:nvSpPr>
            <p:spPr>
              <a:xfrm>
                <a:off x="764605" y="2013925"/>
                <a:ext cx="1270001" cy="38859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Line">
                <a:extLst>
                  <a:ext uri="{FF2B5EF4-FFF2-40B4-BE49-F238E27FC236}">
                    <a16:creationId xmlns:a16="http://schemas.microsoft.com/office/drawing/2014/main" id="{7DE5E0C7-1EDE-95E8-B15D-83DCC1F6B63A}"/>
                  </a:ext>
                </a:extLst>
              </p:cNvPr>
              <p:cNvSpPr/>
              <p:nvPr/>
            </p:nvSpPr>
            <p:spPr>
              <a:xfrm flipV="1">
                <a:off x="2034605" y="687525"/>
                <a:ext cx="1" cy="151690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2" name="Line">
                <a:extLst>
                  <a:ext uri="{FF2B5EF4-FFF2-40B4-BE49-F238E27FC236}">
                    <a16:creationId xmlns:a16="http://schemas.microsoft.com/office/drawing/2014/main" id="{98A518C0-B70A-FCAD-2CBA-C9D85E8B4F74}"/>
                  </a:ext>
                </a:extLst>
              </p:cNvPr>
              <p:cNvSpPr/>
              <p:nvPr/>
            </p:nvSpPr>
            <p:spPr>
              <a:xfrm>
                <a:off x="1679005" y="1541452"/>
                <a:ext cx="1009660" cy="278637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3" name="Line">
                <a:extLst>
                  <a:ext uri="{FF2B5EF4-FFF2-40B4-BE49-F238E27FC236}">
                    <a16:creationId xmlns:a16="http://schemas.microsoft.com/office/drawing/2014/main" id="{45CA9006-8EE6-2923-306B-289EF45BA156}"/>
                  </a:ext>
                </a:extLst>
              </p:cNvPr>
              <p:cNvSpPr/>
              <p:nvPr/>
            </p:nvSpPr>
            <p:spPr>
              <a:xfrm>
                <a:off x="1463105" y="2141779"/>
                <a:ext cx="183420" cy="847469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" name="Line">
                <a:extLst>
                  <a:ext uri="{FF2B5EF4-FFF2-40B4-BE49-F238E27FC236}">
                    <a16:creationId xmlns:a16="http://schemas.microsoft.com/office/drawing/2014/main" id="{1E68F7BA-008F-F7CF-BAC9-FB96921E3973}"/>
                  </a:ext>
                </a:extLst>
              </p:cNvPr>
              <p:cNvSpPr/>
              <p:nvPr/>
            </p:nvSpPr>
            <p:spPr>
              <a:xfrm flipH="1">
                <a:off x="-1" y="1621079"/>
                <a:ext cx="1005252" cy="737932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5" name="Line">
                <a:extLst>
                  <a:ext uri="{FF2B5EF4-FFF2-40B4-BE49-F238E27FC236}">
                    <a16:creationId xmlns:a16="http://schemas.microsoft.com/office/drawing/2014/main" id="{7D5B3F52-A54A-BA53-8EDC-521008FF84E0}"/>
                  </a:ext>
                </a:extLst>
              </p:cNvPr>
              <p:cNvSpPr/>
              <p:nvPr/>
            </p:nvSpPr>
            <p:spPr>
              <a:xfrm flipH="1" flipV="1">
                <a:off x="285891" y="655790"/>
                <a:ext cx="746066" cy="578855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6" name="Line">
                <a:extLst>
                  <a:ext uri="{FF2B5EF4-FFF2-40B4-BE49-F238E27FC236}">
                    <a16:creationId xmlns:a16="http://schemas.microsoft.com/office/drawing/2014/main" id="{C49E6E46-8AB3-79D9-62A2-8D44387369A5}"/>
                  </a:ext>
                </a:extLst>
              </p:cNvPr>
              <p:cNvSpPr/>
              <p:nvPr/>
            </p:nvSpPr>
            <p:spPr>
              <a:xfrm flipV="1">
                <a:off x="1414937" y="0"/>
                <a:ext cx="843472" cy="993883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" name="Line">
                <a:extLst>
                  <a:ext uri="{FF2B5EF4-FFF2-40B4-BE49-F238E27FC236}">
                    <a16:creationId xmlns:a16="http://schemas.microsoft.com/office/drawing/2014/main" id="{6F206599-1833-022C-ADF7-560A4C66231D}"/>
                  </a:ext>
                </a:extLst>
              </p:cNvPr>
              <p:cNvSpPr/>
              <p:nvPr/>
            </p:nvSpPr>
            <p:spPr>
              <a:xfrm flipH="1">
                <a:off x="885178" y="1616183"/>
                <a:ext cx="437443" cy="943513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lumOff val="11225"/>
                  </a:schemeClr>
                </a:solidFill>
                <a:prstDash val="solid"/>
                <a:round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" name="Line">
                <a:extLst>
                  <a:ext uri="{FF2B5EF4-FFF2-40B4-BE49-F238E27FC236}">
                    <a16:creationId xmlns:a16="http://schemas.microsoft.com/office/drawing/2014/main" id="{9F08F314-ED99-ABDE-2989-E16B76066C64}"/>
                  </a:ext>
                </a:extLst>
              </p:cNvPr>
              <p:cNvSpPr/>
              <p:nvPr/>
            </p:nvSpPr>
            <p:spPr>
              <a:xfrm flipV="1">
                <a:off x="751905" y="687525"/>
                <a:ext cx="1" cy="151690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9" name="Group">
              <a:extLst>
                <a:ext uri="{FF2B5EF4-FFF2-40B4-BE49-F238E27FC236}">
                  <a16:creationId xmlns:a16="http://schemas.microsoft.com/office/drawing/2014/main" id="{3BCB4052-B2DF-7FBE-67CA-27B7FC8E0000}"/>
                </a:ext>
              </a:extLst>
            </p:cNvPr>
            <p:cNvGrpSpPr/>
            <p:nvPr/>
          </p:nvGrpSpPr>
          <p:grpSpPr>
            <a:xfrm>
              <a:off x="10344149" y="222901"/>
              <a:ext cx="309606" cy="1166292"/>
              <a:chOff x="0" y="0"/>
              <a:chExt cx="309604" cy="1166291"/>
            </a:xfrm>
          </p:grpSpPr>
          <p:sp>
            <p:nvSpPr>
              <p:cNvPr id="30" name="Line">
                <a:extLst>
                  <a:ext uri="{FF2B5EF4-FFF2-40B4-BE49-F238E27FC236}">
                    <a16:creationId xmlns:a16="http://schemas.microsoft.com/office/drawing/2014/main" id="{C822536E-EB47-9F06-D35B-5C5557A8DEE6}"/>
                  </a:ext>
                </a:extLst>
              </p:cNvPr>
              <p:cNvSpPr/>
              <p:nvPr/>
            </p:nvSpPr>
            <p:spPr>
              <a:xfrm flipV="1">
                <a:off x="12621" y="0"/>
                <a:ext cx="1" cy="896945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" name="Line">
                <a:extLst>
                  <a:ext uri="{FF2B5EF4-FFF2-40B4-BE49-F238E27FC236}">
                    <a16:creationId xmlns:a16="http://schemas.microsoft.com/office/drawing/2014/main" id="{090FC745-4B87-E286-1ED8-1C1DB1856F02}"/>
                  </a:ext>
                </a:extLst>
              </p:cNvPr>
              <p:cNvSpPr/>
              <p:nvPr/>
            </p:nvSpPr>
            <p:spPr>
              <a:xfrm flipV="1">
                <a:off x="302907" y="269346"/>
                <a:ext cx="1" cy="896946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" name="Line">
                <a:extLst>
                  <a:ext uri="{FF2B5EF4-FFF2-40B4-BE49-F238E27FC236}">
                    <a16:creationId xmlns:a16="http://schemas.microsoft.com/office/drawing/2014/main" id="{B04DB464-08FA-5140-5FA9-59C00B15DBF8}"/>
                  </a:ext>
                </a:extLst>
              </p:cNvPr>
              <p:cNvSpPr/>
              <p:nvPr/>
            </p:nvSpPr>
            <p:spPr>
              <a:xfrm flipH="1" flipV="1">
                <a:off x="-1" y="-1"/>
                <a:ext cx="296985" cy="275562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" name="Line">
                <a:extLst>
                  <a:ext uri="{FF2B5EF4-FFF2-40B4-BE49-F238E27FC236}">
                    <a16:creationId xmlns:a16="http://schemas.microsoft.com/office/drawing/2014/main" id="{CB226066-3829-899C-E638-4C6607C37EDA}"/>
                  </a:ext>
                </a:extLst>
              </p:cNvPr>
              <p:cNvSpPr/>
              <p:nvPr/>
            </p:nvSpPr>
            <p:spPr>
              <a:xfrm flipH="1" flipV="1">
                <a:off x="12621" y="890014"/>
                <a:ext cx="296984" cy="275562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34" name="dist.pdf" descr="dist.pdf">
              <a:extLst>
                <a:ext uri="{FF2B5EF4-FFF2-40B4-BE49-F238E27FC236}">
                  <a16:creationId xmlns:a16="http://schemas.microsoft.com/office/drawing/2014/main" id="{9A724F7F-9296-76AB-21F3-8F1466C1F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488059">
              <a:off x="6626643" y="2446270"/>
              <a:ext cx="414703" cy="18275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5" name="latex-image.pdf" descr="latex-image.pdf">
              <a:extLst>
                <a:ext uri="{FF2B5EF4-FFF2-40B4-BE49-F238E27FC236}">
                  <a16:creationId xmlns:a16="http://schemas.microsoft.com/office/drawing/2014/main" id="{61E1BC94-C5B2-70A6-E30B-9C695374E2CF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4260423">
              <a:off x="6602362" y="-1830899"/>
              <a:ext cx="394651" cy="804372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6" name="E.g. the beamport?">
              <a:extLst>
                <a:ext uri="{FF2B5EF4-FFF2-40B4-BE49-F238E27FC236}">
                  <a16:creationId xmlns:a16="http://schemas.microsoft.com/office/drawing/2014/main" id="{2B16B89D-5815-BFD9-631B-7056D273D624}"/>
                </a:ext>
              </a:extLst>
            </p:cNvPr>
            <p:cNvSpPr txBox="1"/>
            <p:nvPr/>
          </p:nvSpPr>
          <p:spPr>
            <a:xfrm>
              <a:off x="9502644" y="1725347"/>
              <a:ext cx="2416503" cy="337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sz="1200" dirty="0"/>
                <a:t>E.g. the </a:t>
              </a:r>
              <a:r>
                <a:rPr sz="1200" dirty="0" err="1"/>
                <a:t>beamport</a:t>
              </a:r>
              <a:r>
                <a:rPr sz="1200" dirty="0"/>
                <a:t>?</a:t>
              </a:r>
            </a:p>
          </p:txBody>
        </p:sp>
        <p:pic>
          <p:nvPicPr>
            <p:cNvPr id="37" name="Omega.pdf" descr="Omega.pdf">
              <a:extLst>
                <a:ext uri="{FF2B5EF4-FFF2-40B4-BE49-F238E27FC236}">
                  <a16:creationId xmlns:a16="http://schemas.microsoft.com/office/drawing/2014/main" id="{6D199632-F641-8E4B-C455-EE059862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551919" y="574542"/>
              <a:ext cx="181748" cy="20446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8" name="Line">
              <a:extLst>
                <a:ext uri="{FF2B5EF4-FFF2-40B4-BE49-F238E27FC236}">
                  <a16:creationId xmlns:a16="http://schemas.microsoft.com/office/drawing/2014/main" id="{FFC5BDA7-868F-C1C0-DEE4-6965B89B0E38}"/>
                </a:ext>
              </a:extLst>
            </p:cNvPr>
            <p:cNvSpPr/>
            <p:nvPr/>
          </p:nvSpPr>
          <p:spPr>
            <a:xfrm>
              <a:off x="11005376" y="676737"/>
              <a:ext cx="509141" cy="1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ECOSYSTEM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MCPL: coupling simulations together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2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MCPL_output 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full ray state to a portable, code-agnostic file at any point in an instrument.
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A65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MCPL_input 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those rays back in as a source — in the same code, or a different one entirely (McStas ↔ McXtrace ↔ MCNP ↔ Geant4…).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3090672"/>
            <a:ext cx="10515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vout = MCPL_output(filename="v.mcpl", doubleprec=1, polarisationuse=1)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(Xout,Yout,Zout) RELATIVE PREVIOUS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vin = MCPL_input(filename="v.mcpl", polarisationuse=1)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(Xin,Yin,Zin) RELATIVE PREVIOUS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travel with the rays:  </a:t>
            </a: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 stores an implicit translation/rotation, so a ray written out at one orientation is placed correctly when read into an instrument with a different local frame.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Pulsed neutron sources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Reactors run continuously; spallation sources are pulsed. McStas offers a spectrum of ways to model that.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trick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continuous source and force an infinitely short pulse: t = 0 or define a short pulse via a rand01() for every ray within an </a:t>
            </a:r>
            <a:r>
              <a:rPr lang="en-US" sz="120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— or use a chopper to carve pulses out of a continuous beam.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48463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Source_simple(...)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 %{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= 10e-3*rand01(); // 1 </a:t>
            </a:r>
            <a:r>
              <a:rPr lang="en-US" sz="1250" dirty="0" err="1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 pulse
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%}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19202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pulsed-source components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63640" y="233172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Moderator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pulsed source, uniform energy spectrum, energy-dependent pulse shape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63640" y="310896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ESS_butterfly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ESS's characteristic “butterfly” moderator brightness model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63640" y="388620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SNS_source / SNS_source_analytic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MCNP target+moderator tallies (or fast Padé fits); also used for J-PARC, CSNS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66344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ViewModISIS / ISIS_moderator  </a:t>
            </a: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tallies supplied per beamport at ISIS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Monitors vs. detectors, in general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draw exactly the same line — and let you program either behaviour when you need 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intensity probe of the beam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transparent to rays — efficiency ≪ 1% (neutrons) / low efficiency (X-rays)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meaningfully perturb what happens downstream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697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detect (almost) every ray — efficiency as high as possible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models a real He3 tube via PSD_Detector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both codes let a monitor be given any efficiency/transparency you specify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11064240" cy="1041044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13" name="Text 10"/>
          <p:cNvSpPr/>
          <p:nvPr/>
        </p:nvSpPr>
        <p:spPr>
          <a:xfrm>
            <a:off x="822960" y="5074920"/>
            <a:ext cx="10515600" cy="104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 in both codes: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refer to both indistinguishably as monitors” — the component is the same, only the parameters you give it change its role.</a:t>
            </a:r>
          </a:p>
          <a:p>
            <a:pPr marL="0" indent="0">
              <a:buNone/>
            </a:pPr>
            <a:endParaRPr lang="en-US" sz="1250" dirty="0">
              <a:solidFill>
                <a:srgbClr val="2024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’real’ detection-physics is an exception: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leave that to expert-codes such as Geant4” — measurement is by default ”magic / for free”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SYNTAX, BOTH CODES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monitors to a beamline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source component and the rest reads identically in McStas or McXtrace.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2084832"/>
            <a:ext cx="1051560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origin = Progress_bar()   AT (0,0,0) ABSOLUTE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src = Source_simple(radius=0.05, lambda0=2.5, dlambda=1.5,
                               focus_xw=0.1, focus_yh=0.1, dist=5)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origin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psd = PSD_monitor(xwidth=0.2, yheight=0.2, filename="psd.dat")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(0,0,5) RELATIVE src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lm = L_monitor(xwidth=0.2, yheight=0.2, filename="lm.dat", Lmin=0, Lmax=8)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(0,0,5.01) RELATIVE src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McXtrace: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Source_simple with Source_flat — PSD_monitor and L_monitor are called exactly the same way.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monitor library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monitors exist under the same name and parameter conventions in both codes.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L_monitor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TOF_monitor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Hdiv_monitor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E_monitor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MeanPolLambda *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177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PSD_monitor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1772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PSD_monitor_4PI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1772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Divergence_monitor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DivPos_monitor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1772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PolLambda_monitor *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Shape 20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solidFill>
            <a:srgbClr val="2024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4" name="Text 21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1248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Monitor_nD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0" y="3154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records almost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3611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requested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quantity, any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 small number of monitors are probe-specific — polarisation monitors exist for neutrons, not X-rays. Look up the full, current list with mcdoc monitor / mxdoc monitor.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STATISTICS ENGINE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monitor computes its statistics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bin (pixel) accumulates a running sum of ray weight as the simulation proceeds — not a per-ray record.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run, each bin reports three numbers: intensity I, its estimated RMS error E, and an effective event count N.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is the weighted sum of rays landing in that bin; E follows from the sum of squared weights — the Monte Carlo estimate of statistical uncertainty.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estimator runs underneath every monitor, in both codes — from a single L_monitor to the full Monitor_nD.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3796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5379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I(λ): intensity per bin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4275557"/>
            <a:ext cx="502920" cy="70792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7680960" y="3850804"/>
            <a:ext cx="502920" cy="11326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8321040" y="3284466"/>
            <a:ext cx="502920" cy="169901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8961120" y="2788920"/>
            <a:ext cx="502920" cy="219456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9601200" y="3426050"/>
            <a:ext cx="502920" cy="155743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10241280" y="4063181"/>
            <a:ext cx="502920" cy="92029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10881360" y="4487934"/>
            <a:ext cx="502920" cy="49554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6903720" y="4983480"/>
            <a:ext cx="4480560" cy="0"/>
          </a:xfrm>
          <a:prstGeom prst="line">
            <a:avLst/>
          </a:prstGeom>
          <a:noFill/>
          <a:ln w="12700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836676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22860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 pⱼ   (summed weight)
</a:t>
            </a: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√(Σ pⱼ²)   (RMS error)
</a:t>
            </a:r>
            <a:r>
              <a:rPr lang="en-US" sz="13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</a:t>
            </a: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ray count in bin 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323E4A-D47D-FF29-39F5-560042114116}"/>
              </a:ext>
            </a:extLst>
          </p:cNvPr>
          <p:cNvGrpSpPr/>
          <p:nvPr/>
        </p:nvGrpSpPr>
        <p:grpSpPr>
          <a:xfrm>
            <a:off x="59967" y="4445351"/>
            <a:ext cx="6988437" cy="1818289"/>
            <a:chOff x="2857849" y="2136246"/>
            <a:chExt cx="6988437" cy="1818289"/>
          </a:xfrm>
        </p:grpSpPr>
        <p:sp>
          <p:nvSpPr>
            <p:cNvPr id="23" name="Imagine a histogram, e.g. I(λ)…">
              <a:extLst>
                <a:ext uri="{FF2B5EF4-FFF2-40B4-BE49-F238E27FC236}">
                  <a16:creationId xmlns:a16="http://schemas.microsoft.com/office/drawing/2014/main" id="{0DC3950C-BD47-5D81-A488-556125C79D1F}"/>
                </a:ext>
              </a:extLst>
            </p:cNvPr>
            <p:cNvSpPr txBox="1"/>
            <p:nvPr/>
          </p:nvSpPr>
          <p:spPr>
            <a:xfrm>
              <a:off x="2857849" y="2136246"/>
              <a:ext cx="6988437" cy="15972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spAutoFit/>
            </a:bodyPr>
            <a:lstStyle/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  <a:p>
              <a:pPr defTabSz="914437">
                <a:spcBef>
                  <a:spcPts val="363"/>
                </a:spcBef>
                <a:defRPr sz="1600" spc="0"/>
              </a:pPr>
              <a:endParaRPr sz="1452" dirty="0"/>
            </a:p>
          </p:txBody>
        </p:sp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0AD3B7E2-92F7-7F57-8D4B-680B5ADD5F34}"/>
                </a:ext>
              </a:extLst>
            </p:cNvPr>
            <p:cNvSpPr/>
            <p:nvPr/>
          </p:nvSpPr>
          <p:spPr>
            <a:xfrm>
              <a:off x="4206797" y="2870562"/>
              <a:ext cx="1725295" cy="12184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7DAD745E-9785-B854-66BC-EB7220016EED}"/>
                </a:ext>
              </a:extLst>
            </p:cNvPr>
            <p:cNvSpPr/>
            <p:nvPr/>
          </p:nvSpPr>
          <p:spPr>
            <a:xfrm>
              <a:off x="4206797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C07D9BF7-3BEE-F0D7-3A2F-A4C8F168ED5B}"/>
                </a:ext>
              </a:extLst>
            </p:cNvPr>
            <p:cNvSpPr/>
            <p:nvPr/>
          </p:nvSpPr>
          <p:spPr>
            <a:xfrm>
              <a:off x="4310543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D4DAFFBD-5FED-C05D-A7FF-56123F75931E}"/>
                </a:ext>
              </a:extLst>
            </p:cNvPr>
            <p:cNvSpPr/>
            <p:nvPr/>
          </p:nvSpPr>
          <p:spPr>
            <a:xfrm>
              <a:off x="4414556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33BA6F72-584A-A120-0421-B3538324691A}"/>
                </a:ext>
              </a:extLst>
            </p:cNvPr>
            <p:cNvSpPr/>
            <p:nvPr/>
          </p:nvSpPr>
          <p:spPr>
            <a:xfrm>
              <a:off x="4979478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36A1B78C-C55B-30C2-6A2E-65F637CC27A7}"/>
                </a:ext>
              </a:extLst>
            </p:cNvPr>
            <p:cNvSpPr/>
            <p:nvPr/>
          </p:nvSpPr>
          <p:spPr>
            <a:xfrm>
              <a:off x="5732976" y="2871103"/>
              <a:ext cx="104286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0" name="Rectangle">
              <a:extLst>
                <a:ext uri="{FF2B5EF4-FFF2-40B4-BE49-F238E27FC236}">
                  <a16:creationId xmlns:a16="http://schemas.microsoft.com/office/drawing/2014/main" id="{838D9377-DDA8-1D82-3DF5-AFEBC45ABE36}"/>
                </a:ext>
              </a:extLst>
            </p:cNvPr>
            <p:cNvSpPr/>
            <p:nvPr/>
          </p:nvSpPr>
          <p:spPr>
            <a:xfrm>
              <a:off x="5836722" y="2871103"/>
              <a:ext cx="104285" cy="12076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990000"/>
              </a:solidFill>
            </a:ln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1" name="…">
              <a:extLst>
                <a:ext uri="{FF2B5EF4-FFF2-40B4-BE49-F238E27FC236}">
                  <a16:creationId xmlns:a16="http://schemas.microsoft.com/office/drawing/2014/main" id="{2BA33666-F042-837E-0622-B08C190B590A}"/>
                </a:ext>
              </a:extLst>
            </p:cNvPr>
            <p:cNvSpPr txBox="1"/>
            <p:nvPr/>
          </p:nvSpPr>
          <p:spPr>
            <a:xfrm>
              <a:off x="5327454" y="2806803"/>
              <a:ext cx="132922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…</a:t>
              </a:r>
            </a:p>
          </p:txBody>
        </p:sp>
        <p:sp>
          <p:nvSpPr>
            <p:cNvPr id="32" name="…">
              <a:extLst>
                <a:ext uri="{FF2B5EF4-FFF2-40B4-BE49-F238E27FC236}">
                  <a16:creationId xmlns:a16="http://schemas.microsoft.com/office/drawing/2014/main" id="{A51019BF-CB54-4F93-1CF0-C8E70A37E430}"/>
                </a:ext>
              </a:extLst>
            </p:cNvPr>
            <p:cNvSpPr txBox="1"/>
            <p:nvPr/>
          </p:nvSpPr>
          <p:spPr>
            <a:xfrm>
              <a:off x="4665003" y="2806803"/>
              <a:ext cx="132922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…</a:t>
              </a:r>
            </a:p>
          </p:txBody>
        </p:sp>
        <p:sp>
          <p:nvSpPr>
            <p:cNvPr id="33" name="Connection Line">
              <a:extLst>
                <a:ext uri="{FF2B5EF4-FFF2-40B4-BE49-F238E27FC236}">
                  <a16:creationId xmlns:a16="http://schemas.microsoft.com/office/drawing/2014/main" id="{5073BAD0-C43A-7691-F446-1B52E5DF5CB2}"/>
                </a:ext>
              </a:extLst>
            </p:cNvPr>
            <p:cNvSpPr/>
            <p:nvPr/>
          </p:nvSpPr>
          <p:spPr>
            <a:xfrm>
              <a:off x="5081061" y="3109662"/>
              <a:ext cx="1592911" cy="23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37" extrusionOk="0">
                  <a:moveTo>
                    <a:pt x="21600" y="2963"/>
                  </a:moveTo>
                  <a:cubicBezTo>
                    <a:pt x="13103" y="21600"/>
                    <a:pt x="5903" y="20612"/>
                    <a:pt x="0" y="0"/>
                  </a:cubicBezTo>
                </a:path>
              </a:pathLst>
            </a:custGeom>
            <a:ln w="3175">
              <a:solidFill>
                <a:srgbClr val="990000"/>
              </a:solidFill>
              <a:headEnd type="triangle"/>
            </a:ln>
            <a:effectLst>
              <a:outerShdw rotWithShape="0">
                <a:srgbClr val="000000">
                  <a:alpha val="38000"/>
                </a:srgbClr>
              </a:outerShdw>
            </a:effectLst>
          </p:spPr>
          <p:txBody>
            <a:bodyPr lIns="35122" tIns="35122" rIns="35122" bIns="35122" anchor="ctr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34" name="In bin i, N events each carrying a fractional intensity pj so that">
              <a:extLst>
                <a:ext uri="{FF2B5EF4-FFF2-40B4-BE49-F238E27FC236}">
                  <a16:creationId xmlns:a16="http://schemas.microsoft.com/office/drawing/2014/main" id="{33B747D9-1B26-1389-9922-C24FEAF691C7}"/>
                </a:ext>
              </a:extLst>
            </p:cNvPr>
            <p:cNvSpPr txBox="1"/>
            <p:nvPr/>
          </p:nvSpPr>
          <p:spPr>
            <a:xfrm>
              <a:off x="6874707" y="2781137"/>
              <a:ext cx="1678014" cy="11733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spAutoFit/>
            </a:bodyPr>
            <a:lstStyle/>
            <a:p>
              <a:pPr defTabSz="914437">
                <a:spcBef>
                  <a:spcPts val="817"/>
                </a:spcBef>
                <a:defRPr sz="1400" spc="-1">
                  <a:latin typeface="Verdana"/>
                  <a:ea typeface="Verdana"/>
                  <a:cs typeface="Verdana"/>
                  <a:sym typeface="Verdana"/>
                </a:defRPr>
              </a:pPr>
              <a:r>
                <a:rPr sz="1271" dirty="0"/>
                <a:t>In bin </a:t>
              </a:r>
              <a:r>
                <a:rPr sz="1271" i="1" dirty="0" err="1"/>
                <a:t>i</a:t>
              </a:r>
              <a:r>
                <a:rPr sz="1271" i="1" dirty="0"/>
                <a:t>,</a:t>
              </a:r>
              <a:r>
                <a:rPr sz="1271" dirty="0"/>
                <a:t> </a:t>
              </a:r>
              <a:r>
                <a:rPr sz="1271" b="1" i="1" dirty="0"/>
                <a:t>N</a:t>
              </a:r>
              <a:r>
                <a:rPr sz="1271" i="1" dirty="0"/>
                <a:t> </a:t>
              </a:r>
              <a:r>
                <a:rPr sz="1271" dirty="0"/>
                <a:t>events each carrying a fractional intensity </a:t>
              </a:r>
              <a:r>
                <a:rPr sz="1271" i="1" dirty="0" err="1"/>
                <a:t>p</a:t>
              </a:r>
              <a:r>
                <a:rPr sz="1271" i="1" baseline="-5000" dirty="0" err="1"/>
                <a:t>j</a:t>
              </a:r>
              <a:r>
                <a:rPr sz="1271" i="1" dirty="0"/>
                <a:t> </a:t>
              </a:r>
              <a:r>
                <a:rPr sz="1271" dirty="0"/>
                <a:t>so that</a:t>
              </a:r>
              <a:br>
                <a:rPr sz="1271" dirty="0"/>
              </a:br>
              <a:br>
                <a:rPr sz="1271" dirty="0"/>
              </a:br>
              <a:endParaRPr sz="1271" dirty="0"/>
            </a:p>
          </p:txBody>
        </p:sp>
        <p:sp>
          <p:nvSpPr>
            <p:cNvPr id="35" name="1">
              <a:extLst>
                <a:ext uri="{FF2B5EF4-FFF2-40B4-BE49-F238E27FC236}">
                  <a16:creationId xmlns:a16="http://schemas.microsoft.com/office/drawing/2014/main" id="{98FF47E0-247E-B90C-8A33-21FB85C93CA5}"/>
                </a:ext>
              </a:extLst>
            </p:cNvPr>
            <p:cNvSpPr txBox="1"/>
            <p:nvPr/>
          </p:nvSpPr>
          <p:spPr>
            <a:xfrm>
              <a:off x="4209769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1</a:t>
              </a:r>
            </a:p>
          </p:txBody>
        </p:sp>
        <p:sp>
          <p:nvSpPr>
            <p:cNvPr id="36" name="2">
              <a:extLst>
                <a:ext uri="{FF2B5EF4-FFF2-40B4-BE49-F238E27FC236}">
                  <a16:creationId xmlns:a16="http://schemas.microsoft.com/office/drawing/2014/main" id="{995A5167-8E86-46D9-5B77-43FE7E7E91FD}"/>
                </a:ext>
              </a:extLst>
            </p:cNvPr>
            <p:cNvSpPr txBox="1"/>
            <p:nvPr/>
          </p:nvSpPr>
          <p:spPr>
            <a:xfrm>
              <a:off x="4313784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2</a:t>
              </a:r>
            </a:p>
          </p:txBody>
        </p:sp>
        <p:sp>
          <p:nvSpPr>
            <p:cNvPr id="37" name="i">
              <a:extLst>
                <a:ext uri="{FF2B5EF4-FFF2-40B4-BE49-F238E27FC236}">
                  <a16:creationId xmlns:a16="http://schemas.microsoft.com/office/drawing/2014/main" id="{2DE65304-FC24-FD87-2D12-C34F8B51E6C1}"/>
                </a:ext>
              </a:extLst>
            </p:cNvPr>
            <p:cNvSpPr txBox="1"/>
            <p:nvPr/>
          </p:nvSpPr>
          <p:spPr>
            <a:xfrm>
              <a:off x="5017841" y="3001594"/>
              <a:ext cx="3834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i</a:t>
              </a:r>
            </a:p>
          </p:txBody>
        </p:sp>
        <p:sp>
          <p:nvSpPr>
            <p:cNvPr id="38" name="k">
              <a:extLst>
                <a:ext uri="{FF2B5EF4-FFF2-40B4-BE49-F238E27FC236}">
                  <a16:creationId xmlns:a16="http://schemas.microsoft.com/office/drawing/2014/main" id="{19482F18-45E2-A47A-8E88-EEEB3B357F89}"/>
                </a:ext>
              </a:extLst>
            </p:cNvPr>
            <p:cNvSpPr txBox="1"/>
            <p:nvPr/>
          </p:nvSpPr>
          <p:spPr>
            <a:xfrm>
              <a:off x="5849690" y="3001594"/>
              <a:ext cx="78419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 dirty="0"/>
                <a:t>k</a:t>
              </a:r>
            </a:p>
          </p:txBody>
        </p:sp>
        <p:sp>
          <p:nvSpPr>
            <p:cNvPr id="39" name="3">
              <a:extLst>
                <a:ext uri="{FF2B5EF4-FFF2-40B4-BE49-F238E27FC236}">
                  <a16:creationId xmlns:a16="http://schemas.microsoft.com/office/drawing/2014/main" id="{86AB94C4-26C8-17A5-9C87-8D402A90898B}"/>
                </a:ext>
              </a:extLst>
            </p:cNvPr>
            <p:cNvSpPr txBox="1"/>
            <p:nvPr/>
          </p:nvSpPr>
          <p:spPr>
            <a:xfrm>
              <a:off x="4424283" y="3001594"/>
              <a:ext cx="86434" cy="1955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1007533">
                <a:spcBef>
                  <a:spcPts val="900"/>
                </a:spcBef>
                <a:defRPr sz="1400" spc="-1"/>
              </a:lvl1pPr>
            </a:lstStyle>
            <a:p>
              <a:r>
                <a:rPr sz="1271"/>
                <a:t>3</a:t>
              </a:r>
            </a:p>
          </p:txBody>
        </p:sp>
        <p:pic>
          <p:nvPicPr>
            <p:cNvPr id="40" name="Image" descr="Image">
              <a:extLst>
                <a:ext uri="{FF2B5EF4-FFF2-40B4-BE49-F238E27FC236}">
                  <a16:creationId xmlns:a16="http://schemas.microsoft.com/office/drawing/2014/main" id="{5E164C5F-FE87-78C4-A234-FB9081575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0725" y="3414680"/>
              <a:ext cx="765928" cy="390394"/>
            </a:xfrm>
            <a:prstGeom prst="rect">
              <a:avLst/>
            </a:prstGeom>
            <a:ln w="12700">
              <a:miter lim="400000"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Monitor_nD: the swiss-army-knife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0D / 1D / 2D recorder — almost any shape, recording almost any requested quantity — same options grammar in both codes.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2359152"/>
            <a:ext cx="105156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MyMon = Monitor_nD(xwidth=0.1, yheight=0.1, zdepth=0,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options="intensity per cm2 angle, limits=[-5 5], bins=10, with borders, file=mon1")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3913632"/>
            <a:ext cx="10515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= "banana, theta limits=[10,130], bins=120, y"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822960" y="5102352"/>
            <a:ext cx="10515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= "user1, auto"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with user1="age", username1="Age of the Captain [years]" — monitor just about anything.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0AE3-13F3-312F-2581-DB55B26F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>
            <a:extLst>
              <a:ext uri="{FF2B5EF4-FFF2-40B4-BE49-F238E27FC236}">
                <a16:creationId xmlns:a16="http://schemas.microsoft.com/office/drawing/2014/main" id="{855E20A7-2BB8-3FC1-B4D6-37495828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34AD18B-4B16-D9F9-E568-84BC1DAAED84}"/>
              </a:ext>
            </a:extLst>
          </p:cNvPr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OUTPUTS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94F5D7-39D6-CBA0-546B-E54334DE6CA2}"/>
              </a:ext>
            </a:extLst>
          </p:cNvPr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and 2D example output (by default in Ascii)</a:t>
            </a:r>
            <a:endParaRPr lang="en-US" sz="3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6926AF-EA84-181E-51B8-5B999ACDBC3B}"/>
              </a:ext>
            </a:extLst>
          </p:cNvPr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68833CD-26B3-5C22-93C1-8A77CE5A1B78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50B78F-9925-D859-6B11-726D084D4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2456"/>
            <a:ext cx="6136301" cy="37429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EA2FBC6-F84D-9863-CF5D-799E07B87F38}"/>
              </a:ext>
            </a:extLst>
          </p:cNvPr>
          <p:cNvGrpSpPr/>
          <p:nvPr/>
        </p:nvGrpSpPr>
        <p:grpSpPr>
          <a:xfrm>
            <a:off x="6136301" y="1190804"/>
            <a:ext cx="6055700" cy="3914596"/>
            <a:chOff x="1784306" y="1259741"/>
            <a:chExt cx="8852828" cy="525733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16460E1-B1FE-4DC3-61FB-37F273302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4306" y="1259741"/>
              <a:ext cx="8852828" cy="5257332"/>
            </a:xfrm>
            <a:prstGeom prst="rect">
              <a:avLst/>
            </a:prstGeom>
          </p:spPr>
        </p:pic>
        <p:sp>
          <p:nvSpPr>
            <p:cNvPr id="18" name="In 2D">
              <a:extLst>
                <a:ext uri="{FF2B5EF4-FFF2-40B4-BE49-F238E27FC236}">
                  <a16:creationId xmlns:a16="http://schemas.microsoft.com/office/drawing/2014/main" id="{C54900C6-43C7-A785-1F1F-CC88A598E574}"/>
                </a:ext>
              </a:extLst>
            </p:cNvPr>
            <p:cNvSpPr txBox="1"/>
            <p:nvPr/>
          </p:nvSpPr>
          <p:spPr>
            <a:xfrm>
              <a:off x="2494472" y="3567596"/>
              <a:ext cx="2509862" cy="2916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3770" tIns="33770" rIns="33770" bIns="33770">
              <a:spAutoFit/>
            </a:bodyPr>
            <a:lstStyle>
              <a:lvl1pPr defTabSz="1007533">
                <a:spcBef>
                  <a:spcPts val="1000"/>
                </a:spcBef>
                <a:defRPr sz="1600" b="1" spc="0">
                  <a:solidFill>
                    <a:srgbClr val="CE181E"/>
                  </a:solidFill>
                </a:defRPr>
              </a:lvl1pPr>
            </a:lstStyle>
            <a:p>
              <a:r>
                <a:rPr sz="1452" dirty="0">
                  <a:solidFill>
                    <a:srgbClr val="FFFF00"/>
                  </a:solidFill>
                </a:rPr>
                <a:t>In 2D</a:t>
              </a:r>
            </a:p>
          </p:txBody>
        </p:sp>
        <p:sp>
          <p:nvSpPr>
            <p:cNvPr id="19" name="1st and 2nd moments">
              <a:extLst>
                <a:ext uri="{FF2B5EF4-FFF2-40B4-BE49-F238E27FC236}">
                  <a16:creationId xmlns:a16="http://schemas.microsoft.com/office/drawing/2014/main" id="{5487D8C3-C8B5-5C18-F4E5-083B5126DF04}"/>
                </a:ext>
              </a:extLst>
            </p:cNvPr>
            <p:cNvSpPr txBox="1"/>
            <p:nvPr/>
          </p:nvSpPr>
          <p:spPr>
            <a:xfrm>
              <a:off x="8118560" y="3615145"/>
              <a:ext cx="2289134" cy="2916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3770" tIns="33770" rIns="33770" bIns="33770">
              <a:spAutoFit/>
            </a:bodyPr>
            <a:lstStyle/>
            <a:p>
              <a:pPr defTabSz="914437">
                <a:spcBef>
                  <a:spcPts val="908"/>
                </a:spcBef>
                <a:defRPr sz="1600" b="1" spc="0">
                  <a:solidFill>
                    <a:srgbClr val="FFFFFE"/>
                  </a:solidFill>
                </a:defRPr>
              </a:pPr>
              <a:r>
                <a:rPr sz="1452" dirty="0"/>
                <a:t>1</a:t>
              </a:r>
              <a:r>
                <a:rPr sz="1452" baseline="15746000" dirty="0"/>
                <a:t>st</a:t>
              </a:r>
              <a:r>
                <a:rPr sz="1452" dirty="0">
                  <a:solidFill>
                    <a:srgbClr val="CE181E"/>
                  </a:solidFill>
                </a:rPr>
                <a:t> </a:t>
              </a:r>
              <a:r>
                <a:rPr sz="1452" dirty="0">
                  <a:solidFill>
                    <a:srgbClr val="FFFF00"/>
                  </a:solidFill>
                </a:rPr>
                <a:t>and</a:t>
              </a:r>
              <a:r>
                <a:rPr sz="1452" dirty="0">
                  <a:solidFill>
                    <a:srgbClr val="CE181E"/>
                  </a:solidFill>
                </a:rPr>
                <a:t> </a:t>
              </a:r>
              <a:r>
                <a:rPr sz="1452" dirty="0">
                  <a:solidFill>
                    <a:srgbClr val="72E400"/>
                  </a:solidFill>
                </a:rPr>
                <a:t>2</a:t>
              </a:r>
              <a:r>
                <a:rPr sz="1452" baseline="15746000" dirty="0">
                  <a:solidFill>
                    <a:srgbClr val="72E400"/>
                  </a:solidFill>
                </a:rPr>
                <a:t>nd</a:t>
              </a:r>
              <a:r>
                <a:rPr sz="1452" dirty="0">
                  <a:solidFill>
                    <a:srgbClr val="72E400"/>
                  </a:solidFill>
                </a:rPr>
                <a:t> </a:t>
              </a:r>
              <a:r>
                <a:rPr sz="1452" dirty="0">
                  <a:solidFill>
                    <a:srgbClr val="FFFF00"/>
                  </a:solidFill>
                </a:rPr>
                <a:t>moments</a:t>
              </a: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C9D45225-801C-4A73-24DB-94539406F7EA}"/>
                </a:ext>
              </a:extLst>
            </p:cNvPr>
            <p:cNvSpPr/>
            <p:nvPr/>
          </p:nvSpPr>
          <p:spPr>
            <a:xfrm flipV="1">
              <a:off x="8307137" y="2117725"/>
              <a:ext cx="687638" cy="1497420"/>
            </a:xfrm>
            <a:prstGeom prst="line">
              <a:avLst/>
            </a:prstGeom>
            <a:ln w="25400">
              <a:solidFill>
                <a:srgbClr val="FFFFFF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CA1AB7D1-2180-D50A-C02E-BF6CA2E4DFB7}"/>
                </a:ext>
              </a:extLst>
            </p:cNvPr>
            <p:cNvSpPr/>
            <p:nvPr/>
          </p:nvSpPr>
          <p:spPr>
            <a:xfrm flipV="1">
              <a:off x="8847474" y="2152455"/>
              <a:ext cx="820401" cy="1462689"/>
            </a:xfrm>
            <a:prstGeom prst="line">
              <a:avLst/>
            </a:prstGeom>
            <a:ln w="25400">
              <a:solidFill>
                <a:srgbClr val="72E400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F36A507-218C-308E-785A-FE7C80B5DA31}"/>
                </a:ext>
              </a:extLst>
            </p:cNvPr>
            <p:cNvSpPr/>
            <p:nvPr/>
          </p:nvSpPr>
          <p:spPr>
            <a:xfrm flipH="1" flipV="1">
              <a:off x="7902574" y="2117725"/>
              <a:ext cx="269479" cy="1439606"/>
            </a:xfrm>
            <a:prstGeom prst="line">
              <a:avLst/>
            </a:prstGeom>
            <a:ln w="25400">
              <a:solidFill>
                <a:srgbClr val="FFFFFF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23" name="Line">
              <a:extLst>
                <a:ext uri="{FF2B5EF4-FFF2-40B4-BE49-F238E27FC236}">
                  <a16:creationId xmlns:a16="http://schemas.microsoft.com/office/drawing/2014/main" id="{FA7332FD-E796-A21B-B947-862AA6901B35}"/>
                </a:ext>
              </a:extLst>
            </p:cNvPr>
            <p:cNvSpPr/>
            <p:nvPr/>
          </p:nvSpPr>
          <p:spPr>
            <a:xfrm flipH="1" flipV="1">
              <a:off x="8466786" y="2152453"/>
              <a:ext cx="245604" cy="1415142"/>
            </a:xfrm>
            <a:prstGeom prst="line">
              <a:avLst/>
            </a:prstGeom>
            <a:ln w="25400">
              <a:solidFill>
                <a:srgbClr val="72E400"/>
              </a:solidFill>
              <a:tailEnd type="triangle"/>
            </a:ln>
          </p:spPr>
          <p:txBody>
            <a:bodyPr lIns="34311" tIns="34311" rIns="34311" bIns="34311"/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A5260D0-F184-E676-6B31-AFFF5380B622}"/>
              </a:ext>
            </a:extLst>
          </p:cNvPr>
          <p:cNvSpPr txBox="1"/>
          <p:nvPr/>
        </p:nvSpPr>
        <p:spPr>
          <a:xfrm>
            <a:off x="119699" y="5191035"/>
            <a:ext cx="681704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Plotting tools are </a:t>
            </a:r>
            <a:r>
              <a:rPr lang="en-DK" dirty="0">
                <a:solidFill>
                  <a:srgbClr val="0070C0"/>
                </a:solidFill>
              </a:rPr>
              <a:t>mcplot</a:t>
            </a:r>
            <a:r>
              <a:rPr lang="en-DK" dirty="0"/>
              <a:t>(-pyqtgraph/-matplotlib/-html) for McStas and</a:t>
            </a:r>
            <a:br>
              <a:rPr lang="en-DK" dirty="0"/>
            </a:br>
            <a:r>
              <a:rPr lang="en-DK" dirty="0"/>
              <a:t>                               </a:t>
            </a:r>
            <a:r>
              <a:rPr lang="en-DK" dirty="0">
                <a:solidFill>
                  <a:srgbClr val="FF0000"/>
                </a:solidFill>
              </a:rPr>
              <a:t>mxplot-</a:t>
            </a:r>
            <a:r>
              <a:rPr lang="en-DK" dirty="0"/>
              <a:t>(-pyqtgraph/-matplotlib/-html) for McXtrace </a:t>
            </a:r>
          </a:p>
          <a:p>
            <a:endParaRPr lang="en-DK" dirty="0"/>
          </a:p>
          <a:p>
            <a:r>
              <a:rPr lang="en-DK" dirty="0"/>
              <a:t>There are further </a:t>
            </a:r>
            <a:r>
              <a:rPr lang="en-DK" dirty="0">
                <a:solidFill>
                  <a:srgbClr val="0070C0"/>
                </a:solidFill>
              </a:rPr>
              <a:t>mccoplot</a:t>
            </a:r>
            <a:r>
              <a:rPr lang="en-DK" dirty="0"/>
              <a:t>/</a:t>
            </a:r>
            <a:r>
              <a:rPr lang="en-DK" dirty="0">
                <a:solidFill>
                  <a:srgbClr val="FF0000"/>
                </a:solidFill>
              </a:rPr>
              <a:t>mxcoplot</a:t>
            </a:r>
            <a:r>
              <a:rPr lang="en-DK" dirty="0"/>
              <a:t> and </a:t>
            </a:r>
            <a:r>
              <a:rPr lang="en-DK" dirty="0">
                <a:solidFill>
                  <a:srgbClr val="0070C0"/>
                </a:solidFill>
              </a:rPr>
              <a:t>mcplotdiff</a:t>
            </a:r>
            <a:r>
              <a:rPr lang="en-DK" dirty="0"/>
              <a:t>/</a:t>
            </a:r>
            <a:r>
              <a:rPr lang="en-DK" dirty="0">
                <a:solidFill>
                  <a:srgbClr val="FF0000"/>
                </a:solidFill>
              </a:rPr>
              <a:t>mxplotdiff</a:t>
            </a:r>
            <a:r>
              <a:rPr lang="en-DK" dirty="0"/>
              <a:t> tools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D6ADFB-FC9A-118B-8324-E4529871186F}"/>
              </a:ext>
            </a:extLst>
          </p:cNvPr>
          <p:cNvSpPr txBox="1"/>
          <p:nvPr/>
        </p:nvSpPr>
        <p:spPr>
          <a:xfrm>
            <a:off x="7075762" y="5203123"/>
            <a:ext cx="498383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When output is written in HDF5 / NeXus format we </a:t>
            </a:r>
            <a:br>
              <a:rPr lang="en-DK" dirty="0"/>
            </a:br>
            <a:r>
              <a:rPr lang="en-DK" dirty="0"/>
              <a:t>recommend the ‘</a:t>
            </a:r>
            <a:r>
              <a:rPr lang="en-DK" dirty="0">
                <a:solidFill>
                  <a:schemeClr val="accent6">
                    <a:lumMod val="75000"/>
                  </a:schemeClr>
                </a:solidFill>
              </a:rPr>
              <a:t>nexpy</a:t>
            </a:r>
            <a:r>
              <a:rPr lang="en-DK" dirty="0"/>
              <a:t>’ software</a:t>
            </a:r>
            <a:br>
              <a:rPr lang="en-DK" dirty="0"/>
            </a:br>
            <a:br>
              <a:rPr lang="en-DK" dirty="0"/>
            </a:br>
            <a:r>
              <a:rPr lang="en-DK" dirty="0"/>
              <a:t> (always included when installing from conda-forge)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150F3-C0D3-DD01-8EDB-A7CE317E4045}"/>
              </a:ext>
            </a:extLst>
          </p:cNvPr>
          <p:cNvSpPr txBox="1"/>
          <p:nvPr/>
        </p:nvSpPr>
        <p:spPr>
          <a:xfrm>
            <a:off x="2976514" y="6446520"/>
            <a:ext cx="827188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DK" dirty="0"/>
              <a:t>When a particle event-list is the suitable format, this can be created using Monitor_nD</a:t>
            </a:r>
          </a:p>
        </p:txBody>
      </p:sp>
    </p:spTree>
    <p:extLst>
      <p:ext uri="{BB962C8B-B14F-4D97-AF65-F5344CB8AC3E}">
        <p14:creationId xmlns:p14="http://schemas.microsoft.com/office/powerpoint/2010/main" val="139741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4D6D6D-E5F1-49FF-635C-2F32ED80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2" y="215702"/>
            <a:ext cx="7772400" cy="642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53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differ; monitors mostly don't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shared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source's role: set the ray state from chosen distributions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solid-angle / ncount / weight formalism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analytic sources: Source_simple ↔ Source_flat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library, naming, and statistics engine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Monitor_nD and its options syntax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 for coupling simulations together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/ mxdoc as the doc-access pattern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families: pulsed/reactor moderators vs. accelerator insertion devices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fields: velocity &amp; spin vs. wave vector, phase &amp; E-field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scale of the emitted spectrum: meV vs. keV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probe-specific monitors (e.g. polarisation, neutron-only)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Facility-specific source components (ISIS, SNS, ESS … have no X-ray analogue)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mcdoc  /  mcdoc -c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mcstas.org/download/components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mcstas-users@mcstas.org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6517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mxdoc  /  mxdoc -c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mcxtrace.org</a:t>
            </a: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/download/components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mcxtrace-users@mcxtrace.org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 on sources and monitors will be provided during the school session.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Sources &amp; Monitors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2547</Words>
  <Application>Microsoft Macintosh PowerPoint</Application>
  <PresentationFormat>Widescreen</PresentationFormat>
  <Paragraphs>291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17</cp:revision>
  <dcterms:created xsi:type="dcterms:W3CDTF">2026-08-07T08:03:24Z</dcterms:created>
  <dcterms:modified xsi:type="dcterms:W3CDTF">2026-09-12T19:40:58Z</dcterms:modified>
</cp:coreProperties>
</file>