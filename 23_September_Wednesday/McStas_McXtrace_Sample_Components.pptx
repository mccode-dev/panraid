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1.tif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.jpeg"/><Relationship Id="rId10" Type="http://schemas.openxmlformats.org/officeDocument/2006/relationships/image" Target="../media/image2.jpeg"/><Relationship Id="rId11" Type="http://schemas.openxmlformats.org/officeDocument/2006/relationships/image" Target="../media/image3.png"/><Relationship Id="rId12" Type="http://schemas.openxmlformats.org/officeDocument/2006/relationships/image" Target="../media/image4.png"/><Relationship Id="rId13" Type="http://schemas.openxmlformats.org/officeDocument/2006/relationships/image" Target="../media/image1.gif"/><Relationship Id="rId14" Type="http://schemas.openxmlformats.org/officeDocument/2006/relationships/image" Target="../media/image5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.jpeg"/><Relationship Id="rId6" Type="http://schemas.openxmlformats.org/officeDocument/2006/relationships/image" Target="../media/image13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1.gif"/><Relationship Id="rId10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Relationship Id="rId7" Type="http://schemas.openxmlformats.org/officeDocument/2006/relationships/image" Target="../media/image1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9418319" y="-1463040"/>
            <a:ext cx="4754881" cy="4754880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Shape 1"/>
          <p:cNvSpPr/>
          <p:nvPr/>
        </p:nvSpPr>
        <p:spPr>
          <a:xfrm>
            <a:off x="-1828801" y="4206240"/>
            <a:ext cx="4206242" cy="4206241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pic>
        <p:nvPicPr>
          <p:cNvPr id="2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22960" y="457200"/>
            <a:ext cx="1397204" cy="716891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2"/>
          <p:cNvSpPr txBox="1"/>
          <p:nvPr/>
        </p:nvSpPr>
        <p:spPr>
          <a:xfrm>
            <a:off x="868680" y="1642680"/>
            <a:ext cx="813816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300" sz="1400">
                <a:solidFill>
                  <a:srgbClr val="9FB4E8"/>
                </a:solidFill>
              </a:defRPr>
            </a:lvl1pPr>
          </a:lstStyle>
          <a:p>
            <a:pPr/>
            <a:r>
              <a:t>SAMPLE COMPONENTS</a:t>
            </a:r>
          </a:p>
        </p:txBody>
      </p:sp>
      <p:sp>
        <p:nvSpPr>
          <p:cNvPr id="24" name="Text 3"/>
          <p:cNvSpPr txBox="1"/>
          <p:nvPr/>
        </p:nvSpPr>
        <p:spPr>
          <a:xfrm>
            <a:off x="822960" y="2157729"/>
            <a:ext cx="9509761" cy="1445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04999"/>
              </a:lnSpc>
              <a:defRPr sz="4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The physics at the heart</a:t>
            </a:r>
          </a:p>
          <a:p>
            <a:pPr>
              <a:lnSpc>
                <a:spcPct val="104999"/>
              </a:lnSpc>
              <a:defRPr sz="4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of the beamline</a:t>
            </a:r>
          </a:p>
        </p:txBody>
      </p:sp>
      <p:sp>
        <p:nvSpPr>
          <p:cNvPr id="25" name="Text 4"/>
          <p:cNvSpPr txBox="1"/>
          <p:nvPr/>
        </p:nvSpPr>
        <p:spPr>
          <a:xfrm>
            <a:off x="868679" y="3827343"/>
            <a:ext cx="923544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C7D3F0"/>
                </a:solidFill>
              </a:defRPr>
            </a:lvl1pPr>
          </a:lstStyle>
          <a:p>
            <a:pPr/>
            <a:r>
              <a:t>Diffraction, small-angle scattering, spectroscopy &amp; imaging in McStas &amp; McXtrace</a:t>
            </a:r>
          </a:p>
        </p:txBody>
      </p:sp>
      <p:sp>
        <p:nvSpPr>
          <p:cNvPr id="26" name="Shape 5"/>
          <p:cNvSpPr/>
          <p:nvPr/>
        </p:nvSpPr>
        <p:spPr>
          <a:xfrm>
            <a:off x="822960" y="4480559"/>
            <a:ext cx="1417321" cy="310897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" name="Text 6"/>
          <p:cNvSpPr txBox="1"/>
          <p:nvPr/>
        </p:nvSpPr>
        <p:spPr>
          <a:xfrm>
            <a:off x="868680" y="4523153"/>
            <a:ext cx="13258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1C7293"/>
                </a:solidFill>
              </a:defRPr>
            </a:lvl1pPr>
          </a:lstStyle>
          <a:p>
            <a:pPr/>
            <a:r>
              <a:t>McStas — neutrons</a:t>
            </a:r>
          </a:p>
        </p:txBody>
      </p:sp>
      <p:sp>
        <p:nvSpPr>
          <p:cNvPr id="28" name="Shape 7"/>
          <p:cNvSpPr/>
          <p:nvPr/>
        </p:nvSpPr>
        <p:spPr>
          <a:xfrm>
            <a:off x="2377439" y="4480559"/>
            <a:ext cx="1417321" cy="310897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" name="Text 8"/>
          <p:cNvSpPr txBox="1"/>
          <p:nvPr/>
        </p:nvSpPr>
        <p:spPr>
          <a:xfrm>
            <a:off x="2423159" y="4523153"/>
            <a:ext cx="13258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D97A2B"/>
                </a:solidFill>
              </a:defRPr>
            </a:lvl1pPr>
          </a:lstStyle>
          <a:p>
            <a:pPr/>
            <a:r>
              <a:t>McXtrace — X-rays</a:t>
            </a:r>
          </a:p>
        </p:txBody>
      </p:sp>
      <p:pic>
        <p:nvPicPr>
          <p:cNvPr id="30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759597" y="4018788"/>
            <a:ext cx="3150109" cy="979323"/>
          </a:xfrm>
          <a:prstGeom prst="rect">
            <a:avLst/>
          </a:prstGeom>
          <a:ln w="12700">
            <a:miter lim="400000"/>
          </a:ln>
        </p:spPr>
      </p:pic>
      <p:sp>
        <p:nvSpPr>
          <p:cNvPr id="31" name="Shape 9"/>
          <p:cNvSpPr/>
          <p:nvPr/>
        </p:nvSpPr>
        <p:spPr>
          <a:xfrm>
            <a:off x="822959" y="5806440"/>
            <a:ext cx="2926082" cy="1"/>
          </a:xfrm>
          <a:prstGeom prst="line">
            <a:avLst/>
          </a:prstGeom>
          <a:ln w="12700">
            <a:solidFill>
              <a:srgbClr val="3C4A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" name="Text 10"/>
          <p:cNvSpPr txBox="1"/>
          <p:nvPr/>
        </p:nvSpPr>
        <p:spPr>
          <a:xfrm>
            <a:off x="868680" y="5920031"/>
            <a:ext cx="53949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AAB6DE"/>
                </a:solidFill>
              </a:defRPr>
            </a:lvl1pPr>
          </a:lstStyle>
          <a:p>
            <a:pPr/>
            <a:r>
              <a:t>Peter Willendrup   ·   DTU Physics</a:t>
            </a:r>
          </a:p>
        </p:txBody>
      </p:sp>
      <p:sp>
        <p:nvSpPr>
          <p:cNvPr id="33" name="Text 11"/>
          <p:cNvSpPr txBox="1"/>
          <p:nvPr/>
        </p:nvSpPr>
        <p:spPr>
          <a:xfrm>
            <a:off x="868680" y="6205650"/>
            <a:ext cx="630936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7D8AC0"/>
                </a:solidFill>
              </a:defRPr>
            </a:lvl1pPr>
          </a:lstStyle>
          <a:p>
            <a:pPr/>
            <a:r>
              <a:t>PaNRAID School  ·  supported by PEPR DIADEM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AGENDA</a:t>
            </a:r>
          </a:p>
        </p:txBody>
      </p:sp>
      <p:sp>
        <p:nvSpPr>
          <p:cNvPr id="37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we'll cover</a:t>
            </a:r>
          </a:p>
        </p:txBody>
      </p:sp>
      <p:sp>
        <p:nvSpPr>
          <p:cNvPr id="38" name="Text 2"/>
          <p:cNvSpPr txBox="1"/>
          <p:nvPr/>
        </p:nvSpPr>
        <p:spPr>
          <a:xfrm>
            <a:off x="594359" y="1493959"/>
            <a:ext cx="960120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Four techniques in focus, plus a map of everything else on offer.</a:t>
            </a:r>
          </a:p>
        </p:txBody>
      </p:sp>
      <p:sp>
        <p:nvSpPr>
          <p:cNvPr id="39" name="Shape 3"/>
          <p:cNvSpPr/>
          <p:nvPr/>
        </p:nvSpPr>
        <p:spPr>
          <a:xfrm>
            <a:off x="548640" y="2176272"/>
            <a:ext cx="329185" cy="329185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" name="Text 4"/>
          <p:cNvSpPr txBox="1"/>
          <p:nvPr/>
        </p:nvSpPr>
        <p:spPr>
          <a:xfrm>
            <a:off x="594360" y="2199894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41" name="Text 5"/>
          <p:cNvSpPr txBox="1"/>
          <p:nvPr/>
        </p:nvSpPr>
        <p:spPr>
          <a:xfrm>
            <a:off x="1069847" y="2136456"/>
            <a:ext cx="47548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What a sample does</a:t>
            </a:r>
          </a:p>
        </p:txBody>
      </p:sp>
      <p:sp>
        <p:nvSpPr>
          <p:cNvPr id="42" name="Text 6"/>
          <p:cNvSpPr txBox="1"/>
          <p:nvPr/>
        </p:nvSpPr>
        <p:spPr>
          <a:xfrm>
            <a:off x="1069847" y="2538906"/>
            <a:ext cx="475488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A quick recap, and the sample menu at a glance</a:t>
            </a:r>
          </a:p>
        </p:txBody>
      </p:sp>
      <p:sp>
        <p:nvSpPr>
          <p:cNvPr id="43" name="Shape 7"/>
          <p:cNvSpPr/>
          <p:nvPr/>
        </p:nvSpPr>
        <p:spPr>
          <a:xfrm>
            <a:off x="6355079" y="2176272"/>
            <a:ext cx="329185" cy="329185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4" name="Text 8"/>
          <p:cNvSpPr txBox="1"/>
          <p:nvPr/>
        </p:nvSpPr>
        <p:spPr>
          <a:xfrm>
            <a:off x="6400799" y="2199894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45" name="Text 9"/>
          <p:cNvSpPr txBox="1"/>
          <p:nvPr/>
        </p:nvSpPr>
        <p:spPr>
          <a:xfrm>
            <a:off x="6876288" y="2136456"/>
            <a:ext cx="4754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Diffraction</a:t>
            </a:r>
          </a:p>
        </p:txBody>
      </p:sp>
      <p:sp>
        <p:nvSpPr>
          <p:cNvPr id="46" name="Text 10"/>
          <p:cNvSpPr txBox="1"/>
          <p:nvPr/>
        </p:nvSpPr>
        <p:spPr>
          <a:xfrm>
            <a:off x="6876288" y="2538906"/>
            <a:ext cx="47548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Powders and single crystals — neutrons and X-rays</a:t>
            </a:r>
          </a:p>
        </p:txBody>
      </p:sp>
      <p:sp>
        <p:nvSpPr>
          <p:cNvPr id="47" name="Shape 11"/>
          <p:cNvSpPr/>
          <p:nvPr/>
        </p:nvSpPr>
        <p:spPr>
          <a:xfrm>
            <a:off x="548640" y="3200399"/>
            <a:ext cx="329185" cy="329186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8" name="Text 12"/>
          <p:cNvSpPr txBox="1"/>
          <p:nvPr/>
        </p:nvSpPr>
        <p:spPr>
          <a:xfrm>
            <a:off x="594360" y="3224021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49" name="Text 13"/>
          <p:cNvSpPr txBox="1"/>
          <p:nvPr/>
        </p:nvSpPr>
        <p:spPr>
          <a:xfrm>
            <a:off x="1069847" y="3160584"/>
            <a:ext cx="47548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Small-angle scattering</a:t>
            </a:r>
          </a:p>
        </p:txBody>
      </p:sp>
      <p:sp>
        <p:nvSpPr>
          <p:cNvPr id="50" name="Text 14"/>
          <p:cNvSpPr txBox="1"/>
          <p:nvPr/>
        </p:nvSpPr>
        <p:spPr>
          <a:xfrm>
            <a:off x="1069847" y="3563034"/>
            <a:ext cx="475488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SANS and SAXS, side by side</a:t>
            </a:r>
          </a:p>
        </p:txBody>
      </p:sp>
      <p:sp>
        <p:nvSpPr>
          <p:cNvPr id="51" name="Shape 15"/>
          <p:cNvSpPr/>
          <p:nvPr/>
        </p:nvSpPr>
        <p:spPr>
          <a:xfrm>
            <a:off x="6355079" y="3200399"/>
            <a:ext cx="329185" cy="329186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Text 16"/>
          <p:cNvSpPr txBox="1"/>
          <p:nvPr/>
        </p:nvSpPr>
        <p:spPr>
          <a:xfrm>
            <a:off x="6400799" y="3224021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53" name="Text 17"/>
          <p:cNvSpPr txBox="1"/>
          <p:nvPr/>
        </p:nvSpPr>
        <p:spPr>
          <a:xfrm>
            <a:off x="6876288" y="3160584"/>
            <a:ext cx="4754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Absorption &amp; fluorescence</a:t>
            </a:r>
          </a:p>
        </p:txBody>
      </p:sp>
      <p:sp>
        <p:nvSpPr>
          <p:cNvPr id="54" name="Text 18"/>
          <p:cNvSpPr txBox="1"/>
          <p:nvPr/>
        </p:nvSpPr>
        <p:spPr>
          <a:xfrm>
            <a:off x="6876288" y="3563034"/>
            <a:ext cx="47548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X-ray-only spectroscopy, with two worked examples</a:t>
            </a:r>
          </a:p>
        </p:txBody>
      </p:sp>
      <p:sp>
        <p:nvSpPr>
          <p:cNvPr id="55" name="Shape 19"/>
          <p:cNvSpPr/>
          <p:nvPr/>
        </p:nvSpPr>
        <p:spPr>
          <a:xfrm>
            <a:off x="548640" y="4224528"/>
            <a:ext cx="329185" cy="329185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Text 20"/>
          <p:cNvSpPr txBox="1"/>
          <p:nvPr/>
        </p:nvSpPr>
        <p:spPr>
          <a:xfrm>
            <a:off x="594360" y="4248150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57" name="Text 21"/>
          <p:cNvSpPr txBox="1"/>
          <p:nvPr/>
        </p:nvSpPr>
        <p:spPr>
          <a:xfrm>
            <a:off x="1069847" y="4184712"/>
            <a:ext cx="47548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Imaging</a:t>
            </a:r>
          </a:p>
        </p:txBody>
      </p:sp>
      <p:sp>
        <p:nvSpPr>
          <p:cNvPr id="58" name="Text 22"/>
          <p:cNvSpPr txBox="1"/>
          <p:nvPr/>
        </p:nvSpPr>
        <p:spPr>
          <a:xfrm>
            <a:off x="1069847" y="4587161"/>
            <a:ext cx="475488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Neutron-only absorption-contrast radiography</a:t>
            </a:r>
          </a:p>
        </p:txBody>
      </p:sp>
      <p:sp>
        <p:nvSpPr>
          <p:cNvPr id="59" name="Shape 23"/>
          <p:cNvSpPr/>
          <p:nvPr/>
        </p:nvSpPr>
        <p:spPr>
          <a:xfrm>
            <a:off x="6355079" y="4224528"/>
            <a:ext cx="329185" cy="329185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0" name="Text 24"/>
          <p:cNvSpPr txBox="1"/>
          <p:nvPr/>
        </p:nvSpPr>
        <p:spPr>
          <a:xfrm>
            <a:off x="6400799" y="4248150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61" name="Text 25"/>
          <p:cNvSpPr txBox="1"/>
          <p:nvPr/>
        </p:nvSpPr>
        <p:spPr>
          <a:xfrm>
            <a:off x="6876288" y="4184712"/>
            <a:ext cx="4754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Reflectometry &amp; inelastic scattering</a:t>
            </a:r>
          </a:p>
        </p:txBody>
      </p:sp>
      <p:sp>
        <p:nvSpPr>
          <p:cNvPr id="62" name="Text 26"/>
          <p:cNvSpPr txBox="1"/>
          <p:nvPr/>
        </p:nvSpPr>
        <p:spPr>
          <a:xfrm>
            <a:off x="6876288" y="4587161"/>
            <a:ext cx="4754881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Briefly — what's available today</a:t>
            </a:r>
          </a:p>
        </p:txBody>
      </p:sp>
      <p:sp>
        <p:nvSpPr>
          <p:cNvPr id="63" name="Shape 27"/>
          <p:cNvSpPr/>
          <p:nvPr/>
        </p:nvSpPr>
        <p:spPr>
          <a:xfrm>
            <a:off x="548640" y="5248655"/>
            <a:ext cx="329185" cy="329185"/>
          </a:xfrm>
          <a:prstGeom prst="ellipse">
            <a:avLst/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4" name="Text 28"/>
          <p:cNvSpPr txBox="1"/>
          <p:nvPr/>
        </p:nvSpPr>
        <p:spPr>
          <a:xfrm>
            <a:off x="594360" y="5272277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65" name="Text 29"/>
          <p:cNvSpPr txBox="1"/>
          <p:nvPr/>
        </p:nvSpPr>
        <p:spPr>
          <a:xfrm>
            <a:off x="1069847" y="5208840"/>
            <a:ext cx="4754882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Generic &amp; advanced assemblies</a:t>
            </a:r>
          </a:p>
        </p:txBody>
      </p:sp>
      <p:sp>
        <p:nvSpPr>
          <p:cNvPr id="66" name="Text 30"/>
          <p:cNvSpPr txBox="1"/>
          <p:nvPr/>
        </p:nvSpPr>
        <p:spPr>
          <a:xfrm>
            <a:off x="1069847" y="5611290"/>
            <a:ext cx="475488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Resolution samples, Union, and the sasmodels library</a:t>
            </a:r>
          </a:p>
        </p:txBody>
      </p:sp>
      <p:sp>
        <p:nvSpPr>
          <p:cNvPr id="67" name="Shape 31"/>
          <p:cNvSpPr/>
          <p:nvPr/>
        </p:nvSpPr>
        <p:spPr>
          <a:xfrm>
            <a:off x="6355079" y="5248655"/>
            <a:ext cx="329185" cy="329185"/>
          </a:xfrm>
          <a:prstGeom prst="ellipse">
            <a:avLst/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Text 32"/>
          <p:cNvSpPr txBox="1"/>
          <p:nvPr/>
        </p:nvSpPr>
        <p:spPr>
          <a:xfrm>
            <a:off x="6400799" y="5272277"/>
            <a:ext cx="2377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D97A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69" name="Text 33"/>
          <p:cNvSpPr txBox="1"/>
          <p:nvPr/>
        </p:nvSpPr>
        <p:spPr>
          <a:xfrm>
            <a:off x="6876288" y="5208840"/>
            <a:ext cx="4754881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400">
                <a:solidFill>
                  <a:srgbClr val="20242B"/>
                </a:solidFill>
              </a:defRPr>
            </a:lvl1pPr>
          </a:lstStyle>
          <a:p>
            <a:pPr/>
            <a:r>
              <a:t>The full picture</a:t>
            </a:r>
          </a:p>
        </p:txBody>
      </p:sp>
      <p:sp>
        <p:nvSpPr>
          <p:cNvPr id="70" name="Text 34"/>
          <p:cNvSpPr txBox="1"/>
          <p:nvPr/>
        </p:nvSpPr>
        <p:spPr>
          <a:xfrm>
            <a:off x="6876288" y="5611290"/>
            <a:ext cx="4754881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100">
                <a:solidFill>
                  <a:srgbClr val="6E7580"/>
                </a:solidFill>
              </a:defRPr>
            </a:lvl1pPr>
          </a:lstStyle>
          <a:p>
            <a:pPr/>
            <a:r>
              <a:t>One table, every technique, both codes</a:t>
            </a:r>
          </a:p>
        </p:txBody>
      </p:sp>
      <p:sp>
        <p:nvSpPr>
          <p:cNvPr id="71" name="Text 35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72" name="Text 36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2</a:t>
            </a:r>
          </a:p>
        </p:txBody>
      </p:sp>
      <p:grpSp>
        <p:nvGrpSpPr>
          <p:cNvPr id="79" name="Group 39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77" name="Group 40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73" name="Picture 42" descr="Picture 4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76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74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75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78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CONCEPT</a:t>
            </a:r>
          </a:p>
        </p:txBody>
      </p:sp>
      <p:sp>
        <p:nvSpPr>
          <p:cNvPr id="83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What a sample component does</a:t>
            </a:r>
          </a:p>
        </p:txBody>
      </p:sp>
      <p:sp>
        <p:nvSpPr>
          <p:cNvPr id="84" name="Text 2"/>
          <p:cNvSpPr txBox="1"/>
          <p:nvPr/>
        </p:nvSpPr>
        <p:spPr>
          <a:xfrm>
            <a:off x="594359" y="2542847"/>
            <a:ext cx="5669282" cy="2229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A sample intercepts the ray, decides — statistically — whether it scatters, transmits, or is absorbed, and updates the ray's state accordingly.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p_interact lets you force a chosen fraction of rays to scatter, improving statistics without biasing the physical intensity.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Most samples support several shapes out of the box: box, cylinder, sphere — or a hollow version of each via thickness.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Many also accept an arbitrary OFF/PLY mesh (geometry=file) for a truly custom shape — the same complex-geometry engine underneath the diffraction, spectroscopy and imaging samples we'll see today.</a:t>
            </a:r>
          </a:p>
        </p:txBody>
      </p:sp>
      <p:sp>
        <p:nvSpPr>
          <p:cNvPr id="85" name="Shape 3"/>
          <p:cNvSpPr/>
          <p:nvPr/>
        </p:nvSpPr>
        <p:spPr>
          <a:xfrm>
            <a:off x="6537959" y="1737360"/>
            <a:ext cx="5120641" cy="4023360"/>
          </a:xfrm>
          <a:prstGeom prst="roundRect">
            <a:avLst>
              <a:gd name="adj" fmla="val 2273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6" name="Text 4"/>
          <p:cNvSpPr txBox="1"/>
          <p:nvPr/>
        </p:nvSpPr>
        <p:spPr>
          <a:xfrm>
            <a:off x="6583679" y="1956107"/>
            <a:ext cx="502920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</a:defRPr>
            </a:lvl1pPr>
          </a:lstStyle>
          <a:p>
            <a:pPr/>
            <a:r>
              <a:t>one ray, three possible fates</a:t>
            </a:r>
          </a:p>
        </p:txBody>
      </p:sp>
      <p:sp>
        <p:nvSpPr>
          <p:cNvPr id="87" name="Shape 5"/>
          <p:cNvSpPr/>
          <p:nvPr/>
        </p:nvSpPr>
        <p:spPr>
          <a:xfrm>
            <a:off x="6995159" y="3566159"/>
            <a:ext cx="1463041" cy="1"/>
          </a:xfrm>
          <a:prstGeom prst="line">
            <a:avLst/>
          </a:prstGeom>
          <a:ln w="25400">
            <a:solidFill>
              <a:srgbClr val="20242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88" name="Shape 6"/>
          <p:cNvSpPr/>
          <p:nvPr/>
        </p:nvSpPr>
        <p:spPr>
          <a:xfrm>
            <a:off x="8458200" y="2926079"/>
            <a:ext cx="914400" cy="1280161"/>
          </a:xfrm>
          <a:prstGeom prst="roundRect">
            <a:avLst>
              <a:gd name="adj" fmla="val 6000"/>
            </a:avLst>
          </a:prstGeom>
          <a:solidFill>
            <a:srgbClr val="E3EEF2"/>
          </a:solidFill>
          <a:ln w="12700">
            <a:solidFill>
              <a:srgbClr val="1C729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9" name="Text 7"/>
          <p:cNvSpPr txBox="1"/>
          <p:nvPr/>
        </p:nvSpPr>
        <p:spPr>
          <a:xfrm>
            <a:off x="8503919" y="3447332"/>
            <a:ext cx="82296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12506B"/>
                </a:solidFill>
              </a:defRPr>
            </a:lvl1pPr>
          </a:lstStyle>
          <a:p>
            <a:pPr/>
            <a:r>
              <a:t>sample</a:t>
            </a:r>
          </a:p>
        </p:txBody>
      </p:sp>
      <p:sp>
        <p:nvSpPr>
          <p:cNvPr id="90" name="Shape 8"/>
          <p:cNvSpPr/>
          <p:nvPr/>
        </p:nvSpPr>
        <p:spPr>
          <a:xfrm>
            <a:off x="9372599" y="3566159"/>
            <a:ext cx="1554482" cy="1"/>
          </a:xfrm>
          <a:prstGeom prst="line">
            <a:avLst/>
          </a:prstGeom>
          <a:ln w="25400">
            <a:solidFill>
              <a:srgbClr val="D97A2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91" name="Text 9"/>
          <p:cNvSpPr txBox="1"/>
          <p:nvPr/>
        </p:nvSpPr>
        <p:spPr>
          <a:xfrm>
            <a:off x="10241279" y="2372912"/>
            <a:ext cx="164592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D97A2B"/>
                </a:solidFill>
              </a:defRPr>
            </a:lvl1pPr>
          </a:lstStyle>
          <a:p>
            <a:pPr/>
            <a:r>
              <a:t>scattered</a:t>
            </a:r>
          </a:p>
        </p:txBody>
      </p:sp>
      <p:sp>
        <p:nvSpPr>
          <p:cNvPr id="92" name="Shape 10"/>
          <p:cNvSpPr/>
          <p:nvPr/>
        </p:nvSpPr>
        <p:spPr>
          <a:xfrm>
            <a:off x="9372599" y="3566159"/>
            <a:ext cx="1554482" cy="1"/>
          </a:xfrm>
          <a:prstGeom prst="line">
            <a:avLst/>
          </a:prstGeom>
          <a:ln w="25400">
            <a:solidFill>
              <a:srgbClr val="1C7293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93" name="Text 11"/>
          <p:cNvSpPr txBox="1"/>
          <p:nvPr/>
        </p:nvSpPr>
        <p:spPr>
          <a:xfrm>
            <a:off x="10241279" y="3259880"/>
            <a:ext cx="164592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1C7293"/>
                </a:solidFill>
              </a:defRPr>
            </a:lvl1pPr>
          </a:lstStyle>
          <a:p>
            <a:pPr/>
            <a:r>
              <a:t>transmitted</a:t>
            </a:r>
          </a:p>
        </p:txBody>
      </p:sp>
      <p:sp>
        <p:nvSpPr>
          <p:cNvPr id="94" name="Shape 12"/>
          <p:cNvSpPr/>
          <p:nvPr/>
        </p:nvSpPr>
        <p:spPr>
          <a:xfrm>
            <a:off x="9372599" y="3566159"/>
            <a:ext cx="1554482" cy="868681"/>
          </a:xfrm>
          <a:prstGeom prst="line">
            <a:avLst/>
          </a:prstGeom>
          <a:ln w="2540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Text 13"/>
          <p:cNvSpPr txBox="1"/>
          <p:nvPr/>
        </p:nvSpPr>
        <p:spPr>
          <a:xfrm>
            <a:off x="10241279" y="4549184"/>
            <a:ext cx="164592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absorbed (removed)</a:t>
            </a:r>
          </a:p>
        </p:txBody>
      </p:sp>
      <p:sp>
        <p:nvSpPr>
          <p:cNvPr id="96" name="Text 14"/>
          <p:cNvSpPr txBox="1"/>
          <p:nvPr/>
        </p:nvSpPr>
        <p:spPr>
          <a:xfrm>
            <a:off x="6903720" y="5106714"/>
            <a:ext cx="4389120" cy="3936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1000">
                <a:solidFill>
                  <a:srgbClr val="6E7580"/>
                </a:solidFill>
              </a:defRPr>
            </a:lvl1pPr>
          </a:lstStyle>
          <a:p>
            <a:pPr/>
            <a:r>
              <a:t>Whichever happens, the ray's weight p is adjusted so the statistics stay correct on average.</a:t>
            </a:r>
          </a:p>
        </p:txBody>
      </p:sp>
      <p:sp>
        <p:nvSpPr>
          <p:cNvPr id="97" name="Text 15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98" name="Text 16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3</a:t>
            </a:r>
          </a:p>
        </p:txBody>
      </p:sp>
      <p:grpSp>
        <p:nvGrpSpPr>
          <p:cNvPr id="105" name="Group 19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103" name="Group 20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99" name="Picture 22" descr="Picture 2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102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100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01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04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08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FRAMING</a:t>
            </a:r>
          </a:p>
        </p:txBody>
      </p:sp>
      <p:sp>
        <p:nvSpPr>
          <p:cNvPr id="109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sample menu, at a glance</a:t>
            </a:r>
          </a:p>
        </p:txBody>
      </p:sp>
      <p:sp>
        <p:nvSpPr>
          <p:cNvPr id="110" name="Text 2"/>
          <p:cNvSpPr txBox="1"/>
          <p:nvPr/>
        </p:nvSpPr>
        <p:spPr>
          <a:xfrm>
            <a:off x="594360" y="1471099"/>
            <a:ext cx="103327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Four techniques get the spotlight today — with a map of what else exists at the end.</a:t>
            </a:r>
          </a:p>
        </p:txBody>
      </p:sp>
      <p:sp>
        <p:nvSpPr>
          <p:cNvPr id="111" name="Shape 3"/>
          <p:cNvSpPr/>
          <p:nvPr/>
        </p:nvSpPr>
        <p:spPr>
          <a:xfrm>
            <a:off x="548640" y="2057400"/>
            <a:ext cx="2084833" cy="342900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2" name="Shape 4"/>
          <p:cNvSpPr/>
          <p:nvPr/>
        </p:nvSpPr>
        <p:spPr>
          <a:xfrm>
            <a:off x="548639" y="2057399"/>
            <a:ext cx="2084834" cy="502921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3" name="Text 5"/>
          <p:cNvSpPr txBox="1"/>
          <p:nvPr/>
        </p:nvSpPr>
        <p:spPr>
          <a:xfrm>
            <a:off x="667511" y="2167889"/>
            <a:ext cx="1847089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Diffraction</a:t>
            </a:r>
          </a:p>
        </p:txBody>
      </p:sp>
      <p:sp>
        <p:nvSpPr>
          <p:cNvPr id="114" name="Text 6"/>
          <p:cNvSpPr txBox="1"/>
          <p:nvPr/>
        </p:nvSpPr>
        <p:spPr>
          <a:xfrm>
            <a:off x="758952" y="3309927"/>
            <a:ext cx="1664208" cy="421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Powders &amp; single crystals. Both probes, both codes.</a:t>
            </a:r>
          </a:p>
        </p:txBody>
      </p:sp>
      <p:sp>
        <p:nvSpPr>
          <p:cNvPr id="115" name="Text 7"/>
          <p:cNvSpPr txBox="1"/>
          <p:nvPr/>
        </p:nvSpPr>
        <p:spPr>
          <a:xfrm>
            <a:off x="758952" y="5068351"/>
            <a:ext cx="1664208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800">
                <a:solidFill>
                  <a:srgbClr val="1C7293"/>
                </a:solidFill>
              </a:defRPr>
            </a:lvl1pPr>
          </a:lstStyle>
          <a:p>
            <a:pPr/>
            <a:r>
              <a:t>NEUTRON + X-RAY</a:t>
            </a:r>
          </a:p>
        </p:txBody>
      </p:sp>
      <p:sp>
        <p:nvSpPr>
          <p:cNvPr id="116" name="Shape 8"/>
          <p:cNvSpPr/>
          <p:nvPr/>
        </p:nvSpPr>
        <p:spPr>
          <a:xfrm>
            <a:off x="2798064" y="2057400"/>
            <a:ext cx="2084833" cy="342900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7" name="Shape 9"/>
          <p:cNvSpPr/>
          <p:nvPr/>
        </p:nvSpPr>
        <p:spPr>
          <a:xfrm>
            <a:off x="2798064" y="2057399"/>
            <a:ext cx="2084833" cy="502921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8" name="Text 10"/>
          <p:cNvSpPr txBox="1"/>
          <p:nvPr/>
        </p:nvSpPr>
        <p:spPr>
          <a:xfrm>
            <a:off x="2916936" y="2167889"/>
            <a:ext cx="1847089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SANS / SAXS</a:t>
            </a:r>
          </a:p>
        </p:txBody>
      </p:sp>
      <p:sp>
        <p:nvSpPr>
          <p:cNvPr id="119" name="Text 11"/>
          <p:cNvSpPr txBox="1"/>
          <p:nvPr/>
        </p:nvSpPr>
        <p:spPr>
          <a:xfrm>
            <a:off x="3008376" y="3309927"/>
            <a:ext cx="1664208" cy="421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Molecular-scale structure from small-angle scattering.</a:t>
            </a:r>
          </a:p>
        </p:txBody>
      </p:sp>
      <p:sp>
        <p:nvSpPr>
          <p:cNvPr id="120" name="Text 12"/>
          <p:cNvSpPr txBox="1"/>
          <p:nvPr/>
        </p:nvSpPr>
        <p:spPr>
          <a:xfrm>
            <a:off x="3008376" y="5068351"/>
            <a:ext cx="1664208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800">
                <a:solidFill>
                  <a:srgbClr val="D97A2B"/>
                </a:solidFill>
              </a:defRPr>
            </a:lvl1pPr>
          </a:lstStyle>
          <a:p>
            <a:pPr/>
            <a:r>
              <a:t>NEUTRON + X-RAY</a:t>
            </a:r>
          </a:p>
        </p:txBody>
      </p:sp>
      <p:sp>
        <p:nvSpPr>
          <p:cNvPr id="121" name="Shape 13"/>
          <p:cNvSpPr/>
          <p:nvPr/>
        </p:nvSpPr>
        <p:spPr>
          <a:xfrm>
            <a:off x="5047488" y="2057400"/>
            <a:ext cx="2066545" cy="224028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2" name="Shape 14"/>
          <p:cNvSpPr/>
          <p:nvPr/>
        </p:nvSpPr>
        <p:spPr>
          <a:xfrm>
            <a:off x="5047488" y="2057399"/>
            <a:ext cx="2084833" cy="502921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3" name="Text 15"/>
          <p:cNvSpPr txBox="1"/>
          <p:nvPr/>
        </p:nvSpPr>
        <p:spPr>
          <a:xfrm>
            <a:off x="5166360" y="2167889"/>
            <a:ext cx="1847089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X-ray Spectroscopy</a:t>
            </a:r>
          </a:p>
        </p:txBody>
      </p:sp>
      <p:sp>
        <p:nvSpPr>
          <p:cNvPr id="124" name="Text 16"/>
          <p:cNvSpPr txBox="1"/>
          <p:nvPr/>
        </p:nvSpPr>
        <p:spPr>
          <a:xfrm>
            <a:off x="5257799" y="3309927"/>
            <a:ext cx="1664209" cy="4210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Absorption edges and fluorescence lines.</a:t>
            </a:r>
          </a:p>
        </p:txBody>
      </p:sp>
      <p:sp>
        <p:nvSpPr>
          <p:cNvPr id="125" name="Text 17"/>
          <p:cNvSpPr txBox="1"/>
          <p:nvPr/>
        </p:nvSpPr>
        <p:spPr>
          <a:xfrm>
            <a:off x="5239511" y="4055715"/>
            <a:ext cx="1664209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800">
                <a:solidFill>
                  <a:srgbClr val="D97A2B"/>
                </a:solidFill>
              </a:defRPr>
            </a:lvl1pPr>
          </a:lstStyle>
          <a:p>
            <a:pPr/>
            <a:r>
              <a:t>X-RAY ONLY</a:t>
            </a:r>
          </a:p>
        </p:txBody>
      </p:sp>
      <p:sp>
        <p:nvSpPr>
          <p:cNvPr id="126" name="Shape 18"/>
          <p:cNvSpPr/>
          <p:nvPr/>
        </p:nvSpPr>
        <p:spPr>
          <a:xfrm>
            <a:off x="7296911" y="2057400"/>
            <a:ext cx="2084834" cy="4663441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Shape 19"/>
          <p:cNvSpPr/>
          <p:nvPr/>
        </p:nvSpPr>
        <p:spPr>
          <a:xfrm>
            <a:off x="7296911" y="2057399"/>
            <a:ext cx="2084833" cy="502921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8" name="Text 20"/>
          <p:cNvSpPr txBox="1"/>
          <p:nvPr/>
        </p:nvSpPr>
        <p:spPr>
          <a:xfrm>
            <a:off x="7415784" y="2167889"/>
            <a:ext cx="1847089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Imaging</a:t>
            </a:r>
          </a:p>
        </p:txBody>
      </p:sp>
      <p:sp>
        <p:nvSpPr>
          <p:cNvPr id="129" name="Text 21"/>
          <p:cNvSpPr txBox="1"/>
          <p:nvPr/>
        </p:nvSpPr>
        <p:spPr>
          <a:xfrm>
            <a:off x="7507224" y="2858162"/>
            <a:ext cx="1664209" cy="4210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Absorption-contrast radiography &amp; tomography.</a:t>
            </a:r>
          </a:p>
        </p:txBody>
      </p:sp>
      <p:sp>
        <p:nvSpPr>
          <p:cNvPr id="130" name="Text 22"/>
          <p:cNvSpPr txBox="1"/>
          <p:nvPr/>
        </p:nvSpPr>
        <p:spPr>
          <a:xfrm>
            <a:off x="7488936" y="4464847"/>
            <a:ext cx="1664209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800">
                <a:solidFill>
                  <a:srgbClr val="1C7293"/>
                </a:solidFill>
              </a:defRPr>
            </a:lvl1pPr>
          </a:lstStyle>
          <a:p>
            <a:pPr/>
            <a:r>
              <a:t>NEUTRONS</a:t>
            </a:r>
          </a:p>
        </p:txBody>
      </p:sp>
      <p:sp>
        <p:nvSpPr>
          <p:cNvPr id="131" name="Shape 23"/>
          <p:cNvSpPr/>
          <p:nvPr/>
        </p:nvSpPr>
        <p:spPr>
          <a:xfrm>
            <a:off x="9546335" y="2057400"/>
            <a:ext cx="2084833" cy="3429000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Shape 24"/>
          <p:cNvSpPr/>
          <p:nvPr/>
        </p:nvSpPr>
        <p:spPr>
          <a:xfrm>
            <a:off x="9546335" y="2057399"/>
            <a:ext cx="2084833" cy="502921"/>
          </a:xfrm>
          <a:prstGeom prst="rect">
            <a:avLst/>
          </a:prstGeom>
          <a:solidFill>
            <a:srgbClr val="6E758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3" name="Text 25"/>
          <p:cNvSpPr txBox="1"/>
          <p:nvPr/>
        </p:nvSpPr>
        <p:spPr>
          <a:xfrm>
            <a:off x="9665208" y="2167889"/>
            <a:ext cx="1847089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…and more</a:t>
            </a:r>
          </a:p>
        </p:txBody>
      </p:sp>
      <p:sp>
        <p:nvSpPr>
          <p:cNvPr id="134" name="Text 26"/>
          <p:cNvSpPr txBox="1"/>
          <p:nvPr/>
        </p:nvSpPr>
        <p:spPr>
          <a:xfrm>
            <a:off x="9756648" y="3213670"/>
            <a:ext cx="1664209" cy="61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Reflectometry, inelastic scattering, generic &amp; advanced tools.</a:t>
            </a:r>
          </a:p>
        </p:txBody>
      </p:sp>
      <p:sp>
        <p:nvSpPr>
          <p:cNvPr id="135" name="Text 27"/>
          <p:cNvSpPr txBox="1"/>
          <p:nvPr/>
        </p:nvSpPr>
        <p:spPr>
          <a:xfrm>
            <a:off x="9756648" y="5068351"/>
            <a:ext cx="1664209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800">
                <a:solidFill>
                  <a:srgbClr val="6E7580"/>
                </a:solidFill>
              </a:defRPr>
            </a:lvl1pPr>
          </a:lstStyle>
          <a:p>
            <a:pPr/>
            <a:r>
              <a:t>SEE SUMMARY</a:t>
            </a:r>
          </a:p>
        </p:txBody>
      </p:sp>
      <p:sp>
        <p:nvSpPr>
          <p:cNvPr id="136" name="Text 28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137" name="Text 29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8" name="Shape 13"/>
          <p:cNvSpPr/>
          <p:nvPr/>
        </p:nvSpPr>
        <p:spPr>
          <a:xfrm>
            <a:off x="5038344" y="4971960"/>
            <a:ext cx="2084833" cy="1748881"/>
          </a:xfrm>
          <a:prstGeom prst="roundRect">
            <a:avLst>
              <a:gd name="adj" fmla="val 3947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Shape 14"/>
          <p:cNvSpPr/>
          <p:nvPr/>
        </p:nvSpPr>
        <p:spPr>
          <a:xfrm>
            <a:off x="5029199" y="4421047"/>
            <a:ext cx="2084834" cy="502920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Text 15"/>
          <p:cNvSpPr txBox="1"/>
          <p:nvPr/>
        </p:nvSpPr>
        <p:spPr>
          <a:xfrm>
            <a:off x="5148072" y="4436287"/>
            <a:ext cx="1847089" cy="47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3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Inelastic neutron  Scattering</a:t>
            </a:r>
          </a:p>
        </p:txBody>
      </p:sp>
      <p:sp>
        <p:nvSpPr>
          <p:cNvPr id="141" name="Text 22"/>
          <p:cNvSpPr txBox="1"/>
          <p:nvPr/>
        </p:nvSpPr>
        <p:spPr>
          <a:xfrm>
            <a:off x="5166360" y="6550695"/>
            <a:ext cx="1664209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800">
                <a:solidFill>
                  <a:srgbClr val="1C7293"/>
                </a:solidFill>
              </a:defRPr>
            </a:lvl1pPr>
          </a:lstStyle>
          <a:p>
            <a:pPr/>
            <a:r>
              <a:t>NEUTRON ONLY</a:t>
            </a:r>
          </a:p>
        </p:txBody>
      </p:sp>
      <p:sp>
        <p:nvSpPr>
          <p:cNvPr id="142" name="Text 16"/>
          <p:cNvSpPr txBox="1"/>
          <p:nvPr/>
        </p:nvSpPr>
        <p:spPr>
          <a:xfrm>
            <a:off x="5204307" y="4946303"/>
            <a:ext cx="1664209" cy="8060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20000"/>
              </a:lnSpc>
              <a:defRPr sz="1000">
                <a:solidFill>
                  <a:srgbClr val="6E7580"/>
                </a:solidFill>
              </a:defRPr>
            </a:pPr>
            <a:r>
              <a:t>Phonons, Magnons, Spinwaves… </a:t>
            </a:r>
            <a:br/>
            <a:br/>
          </a:p>
        </p:txBody>
      </p:sp>
      <p:sp>
        <p:nvSpPr>
          <p:cNvPr id="143" name="Text 16"/>
          <p:cNvSpPr txBox="1"/>
          <p:nvPr/>
        </p:nvSpPr>
        <p:spPr>
          <a:xfrm>
            <a:off x="7424927" y="4776079"/>
            <a:ext cx="1664209" cy="8060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X-ray imaging can of course also be done – but is left out of PaNRAID to reduce school scppe…</a:t>
            </a:r>
          </a:p>
        </p:txBody>
      </p:sp>
      <p:pic>
        <p:nvPicPr>
          <p:cNvPr id="144" name="Potassium_Humate_Shiny_Powder.tiff" descr="Potassium_Humate_Shiny_Powder.tiff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98028" y="3947983"/>
            <a:ext cx="1758889" cy="989777"/>
          </a:xfrm>
          <a:prstGeom prst="rect">
            <a:avLst/>
          </a:prstGeom>
          <a:ln w="12700">
            <a:miter lim="400000"/>
          </a:ln>
        </p:spPr>
      </p:pic>
      <p:pic>
        <p:nvPicPr>
          <p:cNvPr id="145" name="pasted-image.tiff" descr="pasted-image.tiff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76655" y="3950044"/>
            <a:ext cx="681712" cy="942007"/>
          </a:xfrm>
          <a:prstGeom prst="rect">
            <a:avLst/>
          </a:prstGeom>
          <a:ln w="12700">
            <a:miter lim="400000"/>
          </a:ln>
        </p:spPr>
      </p:pic>
      <p:pic>
        <p:nvPicPr>
          <p:cNvPr id="146" name="Picture 48" descr="Picture 48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07207" y="3877309"/>
            <a:ext cx="762001" cy="977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47" name="Picture 49" descr="Picture 4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3672382" y="3942788"/>
            <a:ext cx="1260231" cy="892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" name="Picture 59" descr="Picture 59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5038344" y="2575840"/>
            <a:ext cx="2084833" cy="7600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49" name="Picture 61" descr="Picture 61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5289839" y="5349240"/>
            <a:ext cx="1581840" cy="1200122"/>
          </a:xfrm>
          <a:prstGeom prst="rect">
            <a:avLst/>
          </a:prstGeom>
          <a:ln w="12700">
            <a:miter lim="400000"/>
          </a:ln>
        </p:spPr>
      </p:pic>
      <p:sp>
        <p:nvSpPr>
          <p:cNvPr id="150" name="TextBox 62"/>
          <p:cNvSpPr txBox="1"/>
          <p:nvPr/>
        </p:nvSpPr>
        <p:spPr>
          <a:xfrm>
            <a:off x="5531490" y="6127270"/>
            <a:ext cx="1055202" cy="323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800">
                <a:solidFill>
                  <a:srgbClr val="FFFFFF"/>
                </a:solidFill>
              </a:defRPr>
            </a:pPr>
            <a:r>
              <a:t>Left out of PaNRAID to </a:t>
            </a:r>
            <a:br/>
            <a:r>
              <a:t>reduce school scope…</a:t>
            </a:r>
          </a:p>
        </p:txBody>
      </p:sp>
      <p:pic>
        <p:nvPicPr>
          <p:cNvPr id="151" name="Picture 63" descr="Picture 63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7625606" y="5592927"/>
            <a:ext cx="1427442" cy="872898"/>
          </a:xfrm>
          <a:prstGeom prst="rect">
            <a:avLst/>
          </a:prstGeom>
          <a:ln w="12700">
            <a:miter lim="400000"/>
          </a:ln>
        </p:spPr>
      </p:pic>
      <p:sp>
        <p:nvSpPr>
          <p:cNvPr id="152" name="Text 17"/>
          <p:cNvSpPr txBox="1"/>
          <p:nvPr/>
        </p:nvSpPr>
        <p:spPr>
          <a:xfrm>
            <a:off x="7379208" y="6557729"/>
            <a:ext cx="1664208" cy="1960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100" sz="800">
                <a:solidFill>
                  <a:srgbClr val="D97A2B"/>
                </a:solidFill>
              </a:defRPr>
            </a:lvl1pPr>
          </a:lstStyle>
          <a:p>
            <a:pPr/>
            <a:r>
              <a:t>X-RAYS</a:t>
            </a:r>
          </a:p>
        </p:txBody>
      </p:sp>
      <p:sp>
        <p:nvSpPr>
          <p:cNvPr id="153" name="TextBox 66"/>
          <p:cNvSpPr txBox="1"/>
          <p:nvPr/>
        </p:nvSpPr>
        <p:spPr>
          <a:xfrm>
            <a:off x="7909560" y="6479542"/>
            <a:ext cx="1055202" cy="3230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800">
                <a:solidFill>
                  <a:srgbClr val="FF0000"/>
                </a:solidFill>
              </a:defRPr>
            </a:pPr>
            <a:r>
              <a:t>Left out of PaNRAID to </a:t>
            </a:r>
            <a:br/>
            <a:r>
              <a:t>reduce school scope…</a:t>
            </a:r>
          </a:p>
        </p:txBody>
      </p:sp>
      <p:pic>
        <p:nvPicPr>
          <p:cNvPr id="154" name="Picture 67" descr="Picture 67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7625606" y="3414881"/>
            <a:ext cx="1302239" cy="796334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TextBox 68"/>
          <p:cNvSpPr txBox="1"/>
          <p:nvPr/>
        </p:nvSpPr>
        <p:spPr>
          <a:xfrm>
            <a:off x="9942036" y="4214295"/>
            <a:ext cx="1198100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All the rest!</a:t>
            </a:r>
          </a:p>
        </p:txBody>
      </p:sp>
      <p:grpSp>
        <p:nvGrpSpPr>
          <p:cNvPr id="162" name="Group 33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160" name="Group 34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156" name="Picture 38" descr="Picture 38"/>
              <p:cNvPicPr>
                <a:picLocks noChangeAspect="1"/>
              </p:cNvPicPr>
              <p:nvPr/>
            </p:nvPicPr>
            <p:blipFill>
              <a:blip r:embed="rId11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159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157" name="Picture 29" descr="Picture 29"/>
                <p:cNvPicPr>
                  <a:picLocks noChangeAspect="1"/>
                </p:cNvPicPr>
                <p:nvPr/>
              </p:nvPicPr>
              <p:blipFill>
                <a:blip r:embed="rId12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58" name="Picture 30" descr="Picture 30"/>
                <p:cNvPicPr>
                  <a:picLocks noChangeAspect="1"/>
                </p:cNvPicPr>
                <p:nvPr/>
              </p:nvPicPr>
              <p:blipFill>
                <a:blip r:embed="rId13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61" name="Picture 31" descr="Picture 31"/>
            <p:cNvPicPr>
              <a:picLocks noChangeAspect="1"/>
            </p:cNvPicPr>
            <p:nvPr/>
          </p:nvPicPr>
          <p:blipFill>
            <a:blip r:embed="rId14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65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DIFFRACTION · SHARED PHYSICS</a:t>
            </a:r>
          </a:p>
        </p:txBody>
      </p:sp>
      <p:sp>
        <p:nvSpPr>
          <p:cNvPr id="166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From single crystal to powder</a:t>
            </a:r>
          </a:p>
        </p:txBody>
      </p:sp>
      <p:sp>
        <p:nvSpPr>
          <p:cNvPr id="167" name="Text 2"/>
          <p:cNvSpPr txBox="1"/>
          <p:nvPr/>
        </p:nvSpPr>
        <p:spPr>
          <a:xfrm>
            <a:off x="594360" y="1471099"/>
            <a:ext cx="103327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A spectrum of disorder — the same underlying lattice, sampled differently.</a:t>
            </a:r>
          </a:p>
        </p:txBody>
      </p:sp>
      <p:sp>
        <p:nvSpPr>
          <p:cNvPr id="168" name="Shape 3"/>
          <p:cNvSpPr/>
          <p:nvPr/>
        </p:nvSpPr>
        <p:spPr>
          <a:xfrm>
            <a:off x="548640" y="2103120"/>
            <a:ext cx="3520441" cy="2286001"/>
          </a:xfrm>
          <a:prstGeom prst="roundRect">
            <a:avLst>
              <a:gd name="adj" fmla="val 3600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9" name="Shape 4"/>
          <p:cNvSpPr/>
          <p:nvPr/>
        </p:nvSpPr>
        <p:spPr>
          <a:xfrm>
            <a:off x="2144267" y="2871216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0" name="Text 5"/>
          <p:cNvSpPr txBox="1"/>
          <p:nvPr/>
        </p:nvSpPr>
        <p:spPr>
          <a:xfrm>
            <a:off x="777239" y="3574219"/>
            <a:ext cx="306324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Single crystal</a:t>
            </a:r>
          </a:p>
        </p:txBody>
      </p:sp>
      <p:sp>
        <p:nvSpPr>
          <p:cNvPr id="171" name="Text 6"/>
          <p:cNvSpPr txBox="1"/>
          <p:nvPr/>
        </p:nvSpPr>
        <p:spPr>
          <a:xfrm>
            <a:off x="822960" y="4000544"/>
            <a:ext cx="297180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One orientation, up to a small mosaic spread</a:t>
            </a:r>
          </a:p>
        </p:txBody>
      </p:sp>
      <p:sp>
        <p:nvSpPr>
          <p:cNvPr id="172" name="Shape 7"/>
          <p:cNvSpPr/>
          <p:nvPr/>
        </p:nvSpPr>
        <p:spPr>
          <a:xfrm>
            <a:off x="4114799" y="3246120"/>
            <a:ext cx="182881" cy="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73" name="Shape 8"/>
          <p:cNvSpPr/>
          <p:nvPr/>
        </p:nvSpPr>
        <p:spPr>
          <a:xfrm>
            <a:off x="4343400" y="2103120"/>
            <a:ext cx="3520441" cy="2286001"/>
          </a:xfrm>
          <a:prstGeom prst="roundRect">
            <a:avLst>
              <a:gd name="adj" fmla="val 3600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4" name="Shape 9"/>
          <p:cNvSpPr/>
          <p:nvPr/>
        </p:nvSpPr>
        <p:spPr>
          <a:xfrm rot="20640000">
            <a:off x="6240779" y="2871216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5" name="Shape 10"/>
          <p:cNvSpPr/>
          <p:nvPr/>
        </p:nvSpPr>
        <p:spPr>
          <a:xfrm rot="21120000">
            <a:off x="5716518" y="3000921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6" name="Shape 11"/>
          <p:cNvSpPr/>
          <p:nvPr/>
        </p:nvSpPr>
        <p:spPr>
          <a:xfrm>
            <a:off x="5965430" y="2679928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7" name="Shape 12"/>
          <p:cNvSpPr/>
          <p:nvPr/>
        </p:nvSpPr>
        <p:spPr>
          <a:xfrm rot="480000">
            <a:off x="6122599" y="3023618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8" name="Shape 13"/>
          <p:cNvSpPr/>
          <p:nvPr/>
        </p:nvSpPr>
        <p:spPr>
          <a:xfrm rot="960000">
            <a:off x="5641895" y="2837740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Text 14"/>
          <p:cNvSpPr txBox="1"/>
          <p:nvPr/>
        </p:nvSpPr>
        <p:spPr>
          <a:xfrm>
            <a:off x="4571999" y="3574219"/>
            <a:ext cx="3063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Textured polycrystal</a:t>
            </a:r>
          </a:p>
        </p:txBody>
      </p:sp>
      <p:sp>
        <p:nvSpPr>
          <p:cNvPr id="180" name="Text 15"/>
          <p:cNvSpPr txBox="1"/>
          <p:nvPr/>
        </p:nvSpPr>
        <p:spPr>
          <a:xfrm>
            <a:off x="4617720" y="4000544"/>
            <a:ext cx="2971800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Many crystallites, with a preferred orientation</a:t>
            </a:r>
          </a:p>
        </p:txBody>
      </p:sp>
      <p:sp>
        <p:nvSpPr>
          <p:cNvPr id="181" name="Shape 16"/>
          <p:cNvSpPr/>
          <p:nvPr/>
        </p:nvSpPr>
        <p:spPr>
          <a:xfrm>
            <a:off x="7909559" y="3246120"/>
            <a:ext cx="182881" cy="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Shape 17"/>
          <p:cNvSpPr/>
          <p:nvPr/>
        </p:nvSpPr>
        <p:spPr>
          <a:xfrm>
            <a:off x="8138159" y="2103120"/>
            <a:ext cx="3520441" cy="2286001"/>
          </a:xfrm>
          <a:prstGeom prst="roundRect">
            <a:avLst>
              <a:gd name="adj" fmla="val 3600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Shape 18"/>
          <p:cNvSpPr/>
          <p:nvPr/>
        </p:nvSpPr>
        <p:spPr>
          <a:xfrm>
            <a:off x="10236707" y="2871216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Shape 19"/>
          <p:cNvSpPr/>
          <p:nvPr/>
        </p:nvSpPr>
        <p:spPr>
          <a:xfrm rot="2220000">
            <a:off x="9362937" y="3087391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Shape 20"/>
          <p:cNvSpPr/>
          <p:nvPr/>
        </p:nvSpPr>
        <p:spPr>
          <a:xfrm rot="4440000">
            <a:off x="9777793" y="2552402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Shape 21"/>
          <p:cNvSpPr/>
          <p:nvPr/>
        </p:nvSpPr>
        <p:spPr>
          <a:xfrm rot="6660000">
            <a:off x="10039739" y="3125221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7" name="Shape 22"/>
          <p:cNvSpPr/>
          <p:nvPr/>
        </p:nvSpPr>
        <p:spPr>
          <a:xfrm rot="8880000">
            <a:off x="9238568" y="2815424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Shape 23"/>
          <p:cNvSpPr/>
          <p:nvPr/>
        </p:nvSpPr>
        <p:spPr>
          <a:xfrm rot="11100000">
            <a:off x="10158179" y="2699491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9" name="Shape 24"/>
          <p:cNvSpPr/>
          <p:nvPr/>
        </p:nvSpPr>
        <p:spPr>
          <a:xfrm rot="13320000">
            <a:off x="9603120" y="3180264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0" name="Shape 25"/>
          <p:cNvSpPr/>
          <p:nvPr/>
        </p:nvSpPr>
        <p:spPr>
          <a:xfrm rot="15540000">
            <a:off x="9502103" y="2587158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1" name="Shape 26"/>
          <p:cNvSpPr/>
          <p:nvPr/>
        </p:nvSpPr>
        <p:spPr>
          <a:xfrm rot="17760000">
            <a:off x="10206141" y="2981090"/>
            <a:ext cx="329185" cy="109729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2" name="Text 27"/>
          <p:cNvSpPr txBox="1"/>
          <p:nvPr/>
        </p:nvSpPr>
        <p:spPr>
          <a:xfrm>
            <a:off x="8366760" y="3574219"/>
            <a:ext cx="306324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Powder</a:t>
            </a:r>
          </a:p>
        </p:txBody>
      </p:sp>
      <p:sp>
        <p:nvSpPr>
          <p:cNvPr id="193" name="Text 28"/>
          <p:cNvSpPr txBox="1"/>
          <p:nvPr/>
        </p:nvSpPr>
        <p:spPr>
          <a:xfrm>
            <a:off x="8412479" y="4000544"/>
            <a:ext cx="297180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Complete orientational disorder</a:t>
            </a:r>
          </a:p>
        </p:txBody>
      </p:sp>
      <p:sp>
        <p:nvSpPr>
          <p:cNvPr id="194" name="Text 29"/>
          <p:cNvSpPr txBox="1"/>
          <p:nvPr/>
        </p:nvSpPr>
        <p:spPr>
          <a:xfrm>
            <a:off x="594359" y="4764077"/>
            <a:ext cx="10972802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McStas's Single_crystal component sits at the ordered end and can itself model a mosaic spread; PowderN sits at the fully disordered end — both exist, under the same names, in McXtrace.</a:t>
            </a:r>
          </a:p>
        </p:txBody>
      </p:sp>
      <p:sp>
        <p:nvSpPr>
          <p:cNvPr id="195" name="Text 30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196" name="Text 31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5</a:t>
            </a:r>
          </a:p>
        </p:txBody>
      </p:sp>
      <p:pic>
        <p:nvPicPr>
          <p:cNvPr id="197" name="Picture 34" descr="Picture 3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684932" y="4983479"/>
            <a:ext cx="2790788" cy="19394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98" name="pasted-image.png" descr="pasted-imag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565892" y="1372972"/>
            <a:ext cx="1555914" cy="1292182"/>
          </a:xfrm>
          <a:prstGeom prst="rect">
            <a:avLst/>
          </a:prstGeom>
          <a:ln w="12700">
            <a:miter lim="400000"/>
          </a:ln>
        </p:spPr>
      </p:pic>
      <p:pic>
        <p:nvPicPr>
          <p:cNvPr id="199" name="figure7.jpg" descr="figure7.jp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440679" y="5213198"/>
            <a:ext cx="1493451" cy="14741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0" name="Picture 39" descr="Picture 3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173231" y="5023489"/>
            <a:ext cx="2271256" cy="185355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07" name="Group 37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205" name="Group 38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201" name="Picture 41" descr="Picture 41"/>
              <p:cNvPicPr>
                <a:picLocks noChangeAspect="1"/>
              </p:cNvPicPr>
              <p:nvPr/>
            </p:nvPicPr>
            <p:blipFill>
              <a:blip r:embed="rId7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04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202" name="Picture 29" descr="Picture 29"/>
                <p:cNvPicPr>
                  <a:picLocks noChangeAspect="1"/>
                </p:cNvPicPr>
                <p:nvPr/>
              </p:nvPicPr>
              <p:blipFill>
                <a:blip r:embed="rId8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03" name="Picture 30" descr="Picture 30"/>
                <p:cNvPicPr>
                  <a:picLocks noChangeAspect="1"/>
                </p:cNvPicPr>
                <p:nvPr/>
              </p:nvPicPr>
              <p:blipFill>
                <a:blip r:embed="rId9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06" name="Picture 31" descr="Picture 31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10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COMPONENT</a:t>
            </a:r>
          </a:p>
        </p:txBody>
      </p:sp>
      <p:sp>
        <p:nvSpPr>
          <p:cNvPr id="211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Powder diffraction: PowderN</a:t>
            </a:r>
          </a:p>
        </p:txBody>
      </p:sp>
      <p:sp>
        <p:nvSpPr>
          <p:cNvPr id="212" name="Text 2"/>
          <p:cNvSpPr txBox="1"/>
          <p:nvPr/>
        </p:nvSpPr>
        <p:spPr>
          <a:xfrm>
            <a:off x="594360" y="1471099"/>
            <a:ext cx="107899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The same component, same reflection-file format, in both McStas and McXtrace.</a:t>
            </a:r>
          </a:p>
        </p:txBody>
      </p:sp>
      <p:sp>
        <p:nvSpPr>
          <p:cNvPr id="213" name="Text 3"/>
          <p:cNvSpPr txBox="1"/>
          <p:nvPr/>
        </p:nvSpPr>
        <p:spPr>
          <a:xfrm>
            <a:off x="594360" y="2539037"/>
            <a:ext cx="5577840" cy="15056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Reads a list of (hkl, d-spacing, structure factor) reflections from a data file — the physics is entirely data-driven.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concentric=1 lets a PowderN act as an outer container (e.g. a sample can) around an inner sample, sharing one coordinate position.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d_phi and related focusing parameters restrict scattering to a chosen slice of 4π — useful when only a detector bank at certain angles exists.</a:t>
            </a:r>
          </a:p>
        </p:txBody>
      </p:sp>
      <p:sp>
        <p:nvSpPr>
          <p:cNvPr id="214" name="Shape 4"/>
          <p:cNvSpPr/>
          <p:nvPr/>
        </p:nvSpPr>
        <p:spPr>
          <a:xfrm>
            <a:off x="548640" y="4662434"/>
            <a:ext cx="5669280" cy="1627633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5" name="Text 5"/>
          <p:cNvSpPr txBox="1"/>
          <p:nvPr/>
        </p:nvSpPr>
        <p:spPr>
          <a:xfrm>
            <a:off x="868679" y="4736591"/>
            <a:ext cx="5029202" cy="1407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can = PowderN(reflections="Al.laz",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radius=0.02, yheight=0.05, thickness=0.005, concentric=1)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sample = PowderN(reflections="Al2O3.laz", ...)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can2 = COPY(can)(concentric=0)</a:t>
            </a:r>
          </a:p>
        </p:txBody>
      </p:sp>
      <p:sp>
        <p:nvSpPr>
          <p:cNvPr id="216" name="Shape 6"/>
          <p:cNvSpPr/>
          <p:nvPr/>
        </p:nvSpPr>
        <p:spPr>
          <a:xfrm>
            <a:off x="6492240" y="1920239"/>
            <a:ext cx="2626360" cy="4206242"/>
          </a:xfrm>
          <a:prstGeom prst="roundRect">
            <a:avLst>
              <a:gd name="adj" fmla="val 3482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7" name="Text 7"/>
          <p:cNvSpPr txBox="1"/>
          <p:nvPr/>
        </p:nvSpPr>
        <p:spPr>
          <a:xfrm>
            <a:off x="6581866" y="2539037"/>
            <a:ext cx="2447108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</a:defRPr>
            </a:lvl1pPr>
          </a:lstStyle>
          <a:p>
            <a:pPr/>
            <a:r>
              <a:t>a concentric container</a:t>
            </a:r>
          </a:p>
        </p:txBody>
      </p:sp>
      <p:sp>
        <p:nvSpPr>
          <p:cNvPr id="218" name="Shape 8"/>
          <p:cNvSpPr/>
          <p:nvPr/>
        </p:nvSpPr>
        <p:spPr>
          <a:xfrm>
            <a:off x="6616700" y="3017520"/>
            <a:ext cx="2377440" cy="2377441"/>
          </a:xfrm>
          <a:prstGeom prst="ellipse">
            <a:avLst/>
          </a:prstGeom>
          <a:solidFill>
            <a:srgbClr val="E3EEF2"/>
          </a:solidFill>
          <a:ln w="19050">
            <a:solidFill>
              <a:srgbClr val="1C729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9" name="Shape 9"/>
          <p:cNvSpPr/>
          <p:nvPr/>
        </p:nvSpPr>
        <p:spPr>
          <a:xfrm>
            <a:off x="7256780" y="3657599"/>
            <a:ext cx="1097281" cy="1097282"/>
          </a:xfrm>
          <a:prstGeom prst="ellipse">
            <a:avLst/>
          </a:prstGeom>
          <a:solidFill>
            <a:srgbClr val="FBEBDA"/>
          </a:solidFill>
          <a:ln w="19050">
            <a:solidFill>
              <a:srgbClr val="D97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0" name="Text 10"/>
          <p:cNvSpPr txBox="1"/>
          <p:nvPr/>
        </p:nvSpPr>
        <p:spPr>
          <a:xfrm>
            <a:off x="6662420" y="3182112"/>
            <a:ext cx="2286000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12506B"/>
                </a:solidFill>
              </a:defRPr>
            </a:lvl1pPr>
          </a:lstStyle>
          <a:p>
            <a:pPr/>
            <a:r>
              <a:t>can (Al)</a:t>
            </a:r>
          </a:p>
        </p:txBody>
      </p:sp>
      <p:sp>
        <p:nvSpPr>
          <p:cNvPr id="221" name="Text 11"/>
          <p:cNvSpPr txBox="1"/>
          <p:nvPr/>
        </p:nvSpPr>
        <p:spPr>
          <a:xfrm>
            <a:off x="7302499" y="4033433"/>
            <a:ext cx="1005842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A6591A"/>
                </a:solidFill>
              </a:defRPr>
            </a:pPr>
            <a:r>
              <a:t>sample</a:t>
            </a:r>
          </a:p>
          <a:p>
            <a:pPr algn="ctr">
              <a:defRPr b="1" sz="900">
                <a:solidFill>
                  <a:srgbClr val="A6591A"/>
                </a:solidFill>
              </a:defRPr>
            </a:pPr>
            <a:r>
              <a:t>(Al2O3)</a:t>
            </a:r>
          </a:p>
        </p:txBody>
      </p:sp>
      <p:sp>
        <p:nvSpPr>
          <p:cNvPr id="222" name="Text 12"/>
          <p:cNvSpPr txBox="1"/>
          <p:nvPr/>
        </p:nvSpPr>
        <p:spPr>
          <a:xfrm>
            <a:off x="6510071" y="5449614"/>
            <a:ext cx="2590698" cy="558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1000">
                <a:solidFill>
                  <a:srgbClr val="6E7580"/>
                </a:solidFill>
              </a:defRPr>
            </a:lvl1pPr>
          </a:lstStyle>
          <a:p>
            <a:pPr/>
            <a:r>
              <a:t>Each layer computes its own scattering — the can's diffraction lines and the sample's appear together, correctly weighted.</a:t>
            </a:r>
          </a:p>
        </p:txBody>
      </p:sp>
      <p:sp>
        <p:nvSpPr>
          <p:cNvPr id="223" name="Text 13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224" name="Text 14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6</a:t>
            </a:r>
          </a:p>
        </p:txBody>
      </p:sp>
      <p:grpSp>
        <p:nvGrpSpPr>
          <p:cNvPr id="231" name="Group 17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229" name="Group 18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225" name="Picture 20" descr="Picture 20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28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226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27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30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34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COMPONENT</a:t>
            </a:r>
          </a:p>
        </p:txBody>
      </p:sp>
      <p:sp>
        <p:nvSpPr>
          <p:cNvPr id="235" name="Text 1"/>
          <p:cNvSpPr txBox="1"/>
          <p:nvPr/>
        </p:nvSpPr>
        <p:spPr>
          <a:xfrm>
            <a:off x="594359" y="795527"/>
            <a:ext cx="9692641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Powder diffraction: PowderN</a:t>
            </a:r>
          </a:p>
        </p:txBody>
      </p:sp>
      <p:sp>
        <p:nvSpPr>
          <p:cNvPr id="236" name="Text 2"/>
          <p:cNvSpPr txBox="1"/>
          <p:nvPr/>
        </p:nvSpPr>
        <p:spPr>
          <a:xfrm>
            <a:off x="594360" y="1471099"/>
            <a:ext cx="107899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The same component, same reflection-file format, in both McStas and McXtrace.</a:t>
            </a:r>
          </a:p>
        </p:txBody>
      </p:sp>
      <p:sp>
        <p:nvSpPr>
          <p:cNvPr id="237" name="Text 3"/>
          <p:cNvSpPr txBox="1"/>
          <p:nvPr/>
        </p:nvSpPr>
        <p:spPr>
          <a:xfrm>
            <a:off x="594360" y="2539037"/>
            <a:ext cx="5577840" cy="15056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Reads a list of (hkl, d-spacing, structure factor) reflections from a data file — the physics is entirely data-driven.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concentric=1 lets a PowderN act as an outer container (e.g. a sample can) around an inner sample, sharing one coordinate position.</a:t>
            </a:r>
          </a:p>
          <a:p>
            <a:pPr marL="203200" indent="-203200">
              <a:spcBef>
                <a:spcPts val="12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d_phi and related focusing parameters restrict scattering to a chosen slice of 4π — useful when only a detector bank at certain angles exists.</a:t>
            </a:r>
          </a:p>
        </p:txBody>
      </p:sp>
      <p:sp>
        <p:nvSpPr>
          <p:cNvPr id="238" name="Shape 4"/>
          <p:cNvSpPr/>
          <p:nvPr/>
        </p:nvSpPr>
        <p:spPr>
          <a:xfrm>
            <a:off x="548640" y="4662434"/>
            <a:ext cx="5669280" cy="1627633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9" name="Text 5"/>
          <p:cNvSpPr txBox="1"/>
          <p:nvPr/>
        </p:nvSpPr>
        <p:spPr>
          <a:xfrm>
            <a:off x="868679" y="4736591"/>
            <a:ext cx="5029201" cy="14071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can = PowderN(reflections="Al.laz",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radius=0.02, yheight=0.05, thickness=0.005, concentric=1)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sample = PowderN(reflections="Al2O3.laz", ...)</a:t>
            </a:r>
          </a:p>
          <a:p>
            <a:pPr>
              <a:lnSpc>
                <a:spcPct val="128000"/>
              </a:lnSpc>
              <a:defRPr sz="1200">
                <a:solidFill>
                  <a:srgbClr val="8FE3C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COMPONENT can2 = COPY(can)(concentric=0)</a:t>
            </a:r>
          </a:p>
        </p:txBody>
      </p:sp>
      <p:sp>
        <p:nvSpPr>
          <p:cNvPr id="240" name="Shape 6"/>
          <p:cNvSpPr/>
          <p:nvPr/>
        </p:nvSpPr>
        <p:spPr>
          <a:xfrm>
            <a:off x="6492240" y="1920239"/>
            <a:ext cx="2626360" cy="4206242"/>
          </a:xfrm>
          <a:prstGeom prst="roundRect">
            <a:avLst>
              <a:gd name="adj" fmla="val 3482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1" name="Text 7"/>
          <p:cNvSpPr txBox="1"/>
          <p:nvPr/>
        </p:nvSpPr>
        <p:spPr>
          <a:xfrm>
            <a:off x="6581866" y="2539037"/>
            <a:ext cx="2447108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</a:defRPr>
            </a:lvl1pPr>
          </a:lstStyle>
          <a:p>
            <a:pPr/>
            <a:r>
              <a:t>a concentric container</a:t>
            </a:r>
          </a:p>
        </p:txBody>
      </p:sp>
      <p:sp>
        <p:nvSpPr>
          <p:cNvPr id="242" name="Shape 8"/>
          <p:cNvSpPr/>
          <p:nvPr/>
        </p:nvSpPr>
        <p:spPr>
          <a:xfrm>
            <a:off x="6616700" y="3017520"/>
            <a:ext cx="2377440" cy="2377441"/>
          </a:xfrm>
          <a:prstGeom prst="ellipse">
            <a:avLst/>
          </a:prstGeom>
          <a:solidFill>
            <a:srgbClr val="E3EEF2"/>
          </a:solidFill>
          <a:ln w="19050">
            <a:solidFill>
              <a:srgbClr val="1C729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3" name="Shape 9"/>
          <p:cNvSpPr/>
          <p:nvPr/>
        </p:nvSpPr>
        <p:spPr>
          <a:xfrm>
            <a:off x="7256780" y="3657600"/>
            <a:ext cx="1097281" cy="1097281"/>
          </a:xfrm>
          <a:prstGeom prst="ellipse">
            <a:avLst/>
          </a:prstGeom>
          <a:solidFill>
            <a:srgbClr val="FBEBDA"/>
          </a:solidFill>
          <a:ln w="19050">
            <a:solidFill>
              <a:srgbClr val="D97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4" name="Text 10"/>
          <p:cNvSpPr txBox="1"/>
          <p:nvPr/>
        </p:nvSpPr>
        <p:spPr>
          <a:xfrm>
            <a:off x="6662419" y="3182112"/>
            <a:ext cx="2286001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12506B"/>
                </a:solidFill>
              </a:defRPr>
            </a:lvl1pPr>
          </a:lstStyle>
          <a:p>
            <a:pPr/>
            <a:r>
              <a:t>can (Al)</a:t>
            </a:r>
          </a:p>
        </p:txBody>
      </p:sp>
      <p:sp>
        <p:nvSpPr>
          <p:cNvPr id="245" name="Text 11"/>
          <p:cNvSpPr txBox="1"/>
          <p:nvPr/>
        </p:nvSpPr>
        <p:spPr>
          <a:xfrm>
            <a:off x="7302500" y="4033433"/>
            <a:ext cx="100584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b="1" sz="900">
                <a:solidFill>
                  <a:srgbClr val="A6591A"/>
                </a:solidFill>
              </a:defRPr>
            </a:pPr>
            <a:r>
              <a:t>sample</a:t>
            </a:r>
          </a:p>
          <a:p>
            <a:pPr algn="ctr">
              <a:defRPr b="1" sz="900">
                <a:solidFill>
                  <a:srgbClr val="A6591A"/>
                </a:solidFill>
              </a:defRPr>
            </a:pPr>
            <a:r>
              <a:t>(Al2O3)</a:t>
            </a:r>
          </a:p>
        </p:txBody>
      </p:sp>
      <p:sp>
        <p:nvSpPr>
          <p:cNvPr id="246" name="Text 12"/>
          <p:cNvSpPr txBox="1"/>
          <p:nvPr/>
        </p:nvSpPr>
        <p:spPr>
          <a:xfrm>
            <a:off x="6510071" y="5449614"/>
            <a:ext cx="2590698" cy="558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1000">
                <a:solidFill>
                  <a:srgbClr val="6E7580"/>
                </a:solidFill>
              </a:defRPr>
            </a:lvl1pPr>
          </a:lstStyle>
          <a:p>
            <a:pPr/>
            <a:r>
              <a:t>Each layer computes its own scattering — the can's diffraction lines and the sample's appear together, correctly weighted.</a:t>
            </a:r>
          </a:p>
        </p:txBody>
      </p:sp>
      <p:sp>
        <p:nvSpPr>
          <p:cNvPr id="247" name="Text 13"/>
          <p:cNvSpPr txBox="1"/>
          <p:nvPr/>
        </p:nvSpPr>
        <p:spPr>
          <a:xfrm>
            <a:off x="594359" y="6480723"/>
            <a:ext cx="72237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248" name="Text 14"/>
          <p:cNvSpPr txBox="1"/>
          <p:nvPr/>
        </p:nvSpPr>
        <p:spPr>
          <a:xfrm>
            <a:off x="11231574" y="6480723"/>
            <a:ext cx="365761" cy="2059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6</a:t>
            </a:r>
          </a:p>
        </p:txBody>
      </p:sp>
      <p:grpSp>
        <p:nvGrpSpPr>
          <p:cNvPr id="255" name="Group 17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253" name="Group 18"/>
            <p:cNvGrpSpPr/>
            <p:nvPr/>
          </p:nvGrpSpPr>
          <p:grpSpPr>
            <a:xfrm>
              <a:off x="800639" y="4781"/>
              <a:ext cx="790202" cy="708379"/>
              <a:chOff x="0" y="0"/>
              <a:chExt cx="790200" cy="708377"/>
            </a:xfrm>
          </p:grpSpPr>
          <p:pic>
            <p:nvPicPr>
              <p:cNvPr id="249" name="Picture 20" descr="Picture 20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52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250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51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54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56" name="Screenshot 2026-09-19 at 16.49.55.png" descr="Screenshot 2026-09-19 at 16.49.55.png"/>
          <p:cNvPicPr>
            <a:picLocks noChangeAspect="1"/>
          </p:cNvPicPr>
          <p:nvPr/>
        </p:nvPicPr>
        <p:blipFill>
          <a:blip r:embed="rId7">
            <a:extLst/>
          </a:blip>
          <a:srcRect l="0" t="2078" r="0" b="2078"/>
          <a:stretch>
            <a:fillRect/>
          </a:stretch>
        </p:blipFill>
        <p:spPr>
          <a:xfrm>
            <a:off x="9207391" y="1100824"/>
            <a:ext cx="3231619" cy="5176086"/>
          </a:xfrm>
          <a:prstGeom prst="rect">
            <a:avLst/>
          </a:prstGeom>
          <a:ln w="12700">
            <a:miter lim="400000"/>
          </a:ln>
        </p:spPr>
      </p:pic>
      <p:sp>
        <p:nvSpPr>
          <p:cNvPr id="257" name="… or use Union  assemblies"/>
          <p:cNvSpPr txBox="1"/>
          <p:nvPr/>
        </p:nvSpPr>
        <p:spPr>
          <a:xfrm>
            <a:off x="10027780" y="6271086"/>
            <a:ext cx="1590842" cy="625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… or use Union </a:t>
            </a:r>
            <a:br/>
            <a:r>
              <a:t>assemblies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60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COMPONENT</a:t>
            </a:r>
          </a:p>
        </p:txBody>
      </p:sp>
      <p:sp>
        <p:nvSpPr>
          <p:cNvPr id="261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Single-crystal diffraction</a:t>
            </a:r>
          </a:p>
        </p:txBody>
      </p:sp>
      <p:sp>
        <p:nvSpPr>
          <p:cNvPr id="262" name="Text 2"/>
          <p:cNvSpPr txBox="1"/>
          <p:nvPr/>
        </p:nvSpPr>
        <p:spPr>
          <a:xfrm>
            <a:off x="594360" y="1544627"/>
            <a:ext cx="10789920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6E7580"/>
                </a:solidFill>
              </a:defRPr>
            </a:lvl1pPr>
          </a:lstStyle>
          <a:p>
            <a:pPr/>
            <a:r>
              <a:t>Single_crystal models an ideally imperfect crystal — peak broadening dominated by mosaic, not appropriate for near-perfect crystals.</a:t>
            </a:r>
          </a:p>
        </p:txBody>
      </p:sp>
      <p:sp>
        <p:nvSpPr>
          <p:cNvPr id="263" name="Text 3"/>
          <p:cNvSpPr txBox="1"/>
          <p:nvPr/>
        </p:nvSpPr>
        <p:spPr>
          <a:xfrm>
            <a:off x="594359" y="2279511"/>
            <a:ext cx="10972802" cy="47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lnSpc>
                <a:spcPct val="120000"/>
              </a:lnSpc>
              <a:defRPr b="1" sz="1200">
                <a:solidFill>
                  <a:srgbClr val="20242B"/>
                </a:solidFill>
              </a:defRPr>
            </a:pPr>
            <a:r>
              <a:t>Orientation:  </a:t>
            </a:r>
            <a:r>
              <a:rPr b="0">
                <a:solidFill>
                  <a:srgbClr val="6E7580"/>
                </a:solidFill>
              </a:rPr>
              <a:t>unit-cell vectors (ax,ay,az, bx,by,bz, cx,cy,cz) encode the crystal's orientation relative to the component's own frame — no assumption about cell shape or symmetry is made.</a:t>
            </a:r>
          </a:p>
        </p:txBody>
      </p:sp>
      <p:sp>
        <p:nvSpPr>
          <p:cNvPr id="264" name="Shape 4"/>
          <p:cNvSpPr/>
          <p:nvPr/>
        </p:nvSpPr>
        <p:spPr>
          <a:xfrm>
            <a:off x="548640" y="3108960"/>
            <a:ext cx="3520441" cy="2377440"/>
          </a:xfrm>
          <a:prstGeom prst="roundRect">
            <a:avLst>
              <a:gd name="adj" fmla="val 3462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5" name="Text 5"/>
          <p:cNvSpPr txBox="1"/>
          <p:nvPr/>
        </p:nvSpPr>
        <p:spPr>
          <a:xfrm>
            <a:off x="822960" y="3459918"/>
            <a:ext cx="2971800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2506B"/>
                </a:solidFill>
              </a:defRPr>
            </a:lvl1pPr>
          </a:lstStyle>
          <a:p>
            <a:pPr/>
            <a:r>
              <a:t>Isotropic mosaic</a:t>
            </a:r>
          </a:p>
        </p:txBody>
      </p:sp>
      <p:sp>
        <p:nvSpPr>
          <p:cNvPr id="266" name="Text 6"/>
          <p:cNvSpPr txBox="1"/>
          <p:nvPr/>
        </p:nvSpPr>
        <p:spPr>
          <a:xfrm>
            <a:off x="822960" y="4312912"/>
            <a:ext cx="2971800" cy="609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20242B"/>
                </a:solidFill>
              </a:defRPr>
            </a:lvl1pPr>
          </a:lstStyle>
          <a:p>
            <a:pPr/>
            <a:r>
              <a:t>Gaussian spread of rotation angle around a random axis — one mosaic parameter for the whole crystal.</a:t>
            </a:r>
          </a:p>
        </p:txBody>
      </p:sp>
      <p:sp>
        <p:nvSpPr>
          <p:cNvPr id="267" name="Shape 7"/>
          <p:cNvSpPr/>
          <p:nvPr/>
        </p:nvSpPr>
        <p:spPr>
          <a:xfrm>
            <a:off x="4343400" y="3108960"/>
            <a:ext cx="3520441" cy="2377440"/>
          </a:xfrm>
          <a:prstGeom prst="roundRect">
            <a:avLst>
              <a:gd name="adj" fmla="val 3462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8" name="Text 8"/>
          <p:cNvSpPr txBox="1"/>
          <p:nvPr/>
        </p:nvSpPr>
        <p:spPr>
          <a:xfrm>
            <a:off x="4617720" y="3459918"/>
            <a:ext cx="2971800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2506B"/>
                </a:solidFill>
              </a:defRPr>
            </a:lvl1pPr>
          </a:lstStyle>
          <a:p>
            <a:pPr/>
            <a:r>
              <a:t>Anisotropic mosaic</a:t>
            </a:r>
          </a:p>
        </p:txBody>
      </p:sp>
      <p:sp>
        <p:nvSpPr>
          <p:cNvPr id="269" name="Text 9"/>
          <p:cNvSpPr txBox="1"/>
          <p:nvPr/>
        </p:nvSpPr>
        <p:spPr>
          <a:xfrm>
            <a:off x="4617720" y="4408889"/>
            <a:ext cx="2971800" cy="417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20242B"/>
                </a:solidFill>
              </a:defRPr>
            </a:lvl1pPr>
          </a:lstStyle>
          <a:p>
            <a:pPr/>
            <a:r>
              <a:t>A separate Gaussian spread around each unit-cell axis (mosaic_a, mosaic_b, mosaic_c).</a:t>
            </a:r>
          </a:p>
        </p:txBody>
      </p:sp>
      <p:sp>
        <p:nvSpPr>
          <p:cNvPr id="270" name="Shape 10"/>
          <p:cNvSpPr/>
          <p:nvPr/>
        </p:nvSpPr>
        <p:spPr>
          <a:xfrm>
            <a:off x="8138159" y="3108960"/>
            <a:ext cx="3520441" cy="2377440"/>
          </a:xfrm>
          <a:prstGeom prst="roundRect">
            <a:avLst>
              <a:gd name="adj" fmla="val 3462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1" name="Text 11"/>
          <p:cNvSpPr txBox="1"/>
          <p:nvPr/>
        </p:nvSpPr>
        <p:spPr>
          <a:xfrm>
            <a:off x="8412479" y="3459918"/>
            <a:ext cx="29718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12506B"/>
                </a:solidFill>
              </a:defRPr>
            </a:lvl1pPr>
          </a:lstStyle>
          <a:p>
            <a:pPr/>
            <a:r>
              <a:t>Rocking-curve mosaic</a:t>
            </a:r>
          </a:p>
        </p:txBody>
      </p:sp>
      <p:sp>
        <p:nvSpPr>
          <p:cNvPr id="272" name="Text 12"/>
          <p:cNvSpPr txBox="1"/>
          <p:nvPr/>
        </p:nvSpPr>
        <p:spPr>
          <a:xfrm>
            <a:off x="8412479" y="4408889"/>
            <a:ext cx="2971801" cy="417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0000"/>
              </a:lnSpc>
              <a:defRPr sz="1100">
                <a:solidFill>
                  <a:srgbClr val="20242B"/>
                </a:solidFill>
              </a:defRPr>
            </a:lvl1pPr>
          </a:lstStyle>
          <a:p>
            <a:pPr/>
            <a:r>
              <a:t>Mosaic derived from the measured widths of two Bragg peaks — give σ and hkl for each.</a:t>
            </a:r>
          </a:p>
        </p:txBody>
      </p:sp>
      <p:sp>
        <p:nvSpPr>
          <p:cNvPr id="273" name="Text 13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274" name="Text 14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7</a:t>
            </a:r>
          </a:p>
        </p:txBody>
      </p:sp>
      <p:grpSp>
        <p:nvGrpSpPr>
          <p:cNvPr id="281" name="Group 17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279" name="Group 18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275" name="Picture 20" descr="Picture 20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278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276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277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280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284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WORKFLOW</a:t>
            </a:r>
          </a:p>
        </p:txBody>
      </p:sp>
      <p:sp>
        <p:nvSpPr>
          <p:cNvPr id="285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Getting reflection data</a:t>
            </a:r>
          </a:p>
        </p:txBody>
      </p:sp>
      <p:sp>
        <p:nvSpPr>
          <p:cNvPr id="286" name="Shape 2"/>
          <p:cNvSpPr/>
          <p:nvPr/>
        </p:nvSpPr>
        <p:spPr>
          <a:xfrm>
            <a:off x="548640" y="1920239"/>
            <a:ext cx="3108961" cy="1005841"/>
          </a:xfrm>
          <a:prstGeom prst="roundRect">
            <a:avLst>
              <a:gd name="adj" fmla="val 7273"/>
            </a:avLst>
          </a:prstGeom>
          <a:solidFill>
            <a:srgbClr val="F7F8FA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7" name="Text 3"/>
          <p:cNvSpPr txBox="1"/>
          <p:nvPr/>
        </p:nvSpPr>
        <p:spPr>
          <a:xfrm>
            <a:off x="594359" y="2102035"/>
            <a:ext cx="3017522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Find a structure</a:t>
            </a:r>
          </a:p>
        </p:txBody>
      </p:sp>
      <p:sp>
        <p:nvSpPr>
          <p:cNvPr id="288" name="Text 4"/>
          <p:cNvSpPr txBox="1"/>
          <p:nvPr/>
        </p:nvSpPr>
        <p:spPr>
          <a:xfrm>
            <a:off x="731520" y="2446955"/>
            <a:ext cx="2743200" cy="400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CIF file from ICSD</a:t>
            </a:r>
          </a:p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or Crystallography Open DB</a:t>
            </a:r>
          </a:p>
        </p:txBody>
      </p:sp>
      <p:sp>
        <p:nvSpPr>
          <p:cNvPr id="289" name="Shape 5"/>
          <p:cNvSpPr/>
          <p:nvPr/>
        </p:nvSpPr>
        <p:spPr>
          <a:xfrm>
            <a:off x="3712464" y="2423160"/>
            <a:ext cx="774041" cy="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90" name="Shape 6"/>
          <p:cNvSpPr/>
          <p:nvPr/>
        </p:nvSpPr>
        <p:spPr>
          <a:xfrm>
            <a:off x="4541368" y="1920239"/>
            <a:ext cx="3108961" cy="1005841"/>
          </a:xfrm>
          <a:prstGeom prst="roundRect">
            <a:avLst>
              <a:gd name="adj" fmla="val 7273"/>
            </a:avLst>
          </a:prstGeom>
          <a:solidFill>
            <a:srgbClr val="F7F8FA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1" name="Text 7"/>
          <p:cNvSpPr txBox="1"/>
          <p:nvPr/>
        </p:nvSpPr>
        <p:spPr>
          <a:xfrm>
            <a:off x="4587088" y="2102035"/>
            <a:ext cx="301752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cif2hkl</a:t>
            </a:r>
          </a:p>
        </p:txBody>
      </p:sp>
      <p:sp>
        <p:nvSpPr>
          <p:cNvPr id="292" name="Text 8"/>
          <p:cNvSpPr txBox="1"/>
          <p:nvPr/>
        </p:nvSpPr>
        <p:spPr>
          <a:xfrm>
            <a:off x="4724248" y="2446955"/>
            <a:ext cx="2743200" cy="400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--powder or --xtal</a:t>
            </a:r>
          </a:p>
          <a:p>
            <a: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pPr>
            <a:r>
              <a:t>ships with McStas/McXtrace</a:t>
            </a:r>
          </a:p>
        </p:txBody>
      </p:sp>
      <p:sp>
        <p:nvSpPr>
          <p:cNvPr id="293" name="Shape 9"/>
          <p:cNvSpPr/>
          <p:nvPr/>
        </p:nvSpPr>
        <p:spPr>
          <a:xfrm>
            <a:off x="7705191" y="2423160"/>
            <a:ext cx="774041" cy="1"/>
          </a:xfrm>
          <a:prstGeom prst="line">
            <a:avLst/>
          </a:prstGeom>
          <a:ln w="19050">
            <a:solidFill>
              <a:srgbClr val="6E7580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Shape 10"/>
          <p:cNvSpPr/>
          <p:nvPr/>
        </p:nvSpPr>
        <p:spPr>
          <a:xfrm>
            <a:off x="8534095" y="1920239"/>
            <a:ext cx="3108961" cy="1005841"/>
          </a:xfrm>
          <a:prstGeom prst="roundRect">
            <a:avLst>
              <a:gd name="adj" fmla="val 7273"/>
            </a:avLst>
          </a:prstGeom>
          <a:solidFill>
            <a:srgbClr val="1C7293"/>
          </a:solidFill>
          <a:ln w="12700">
            <a:solidFill>
              <a:srgbClr val="1C729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5" name="Text 11"/>
          <p:cNvSpPr txBox="1"/>
          <p:nvPr/>
        </p:nvSpPr>
        <p:spPr>
          <a:xfrm>
            <a:off x="8579815" y="2102035"/>
            <a:ext cx="3017521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FFFFFF"/>
                </a:solidFill>
              </a:defRPr>
            </a:lvl1pPr>
          </a:lstStyle>
          <a:p>
            <a:pPr/>
            <a:r>
              <a:t>.laz / .lau</a:t>
            </a:r>
          </a:p>
        </p:txBody>
      </p:sp>
      <p:sp>
        <p:nvSpPr>
          <p:cNvPr id="296" name="Text 12"/>
          <p:cNvSpPr txBox="1"/>
          <p:nvPr/>
        </p:nvSpPr>
        <p:spPr>
          <a:xfrm>
            <a:off x="8716975" y="2446955"/>
            <a:ext cx="2743201" cy="400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04999"/>
              </a:lnSpc>
              <a:defRPr sz="1000">
                <a:solidFill>
                  <a:srgbClr val="E7F1F4"/>
                </a:solidFill>
              </a:defRPr>
            </a:pPr>
            <a:r>
              <a:t>Header + reflection list,</a:t>
            </a:r>
          </a:p>
          <a:p>
            <a:pPr algn="ctr">
              <a:lnSpc>
                <a:spcPct val="104999"/>
              </a:lnSpc>
              <a:defRPr sz="1000">
                <a:solidFill>
                  <a:srgbClr val="E7F1F4"/>
                </a:solidFill>
              </a:defRPr>
            </a:pPr>
            <a:r>
              <a:t>ready to use</a:t>
            </a:r>
          </a:p>
        </p:txBody>
      </p:sp>
      <p:sp>
        <p:nvSpPr>
          <p:cNvPr id="297" name="Text 13"/>
          <p:cNvSpPr txBox="1"/>
          <p:nvPr/>
        </p:nvSpPr>
        <p:spPr>
          <a:xfrm>
            <a:off x="594359" y="3156126"/>
            <a:ext cx="109728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12506B"/>
                </a:solidFill>
              </a:defRPr>
            </a:lvl1pPr>
          </a:lstStyle>
          <a:p>
            <a:pPr/>
            <a:r>
              <a:t>Used by: PowderN, Single_crystal, Isotropic_Sqw</a:t>
            </a:r>
          </a:p>
        </p:txBody>
      </p:sp>
      <p:sp>
        <p:nvSpPr>
          <p:cNvPr id="298" name="Text 14"/>
          <p:cNvSpPr txBox="1"/>
          <p:nvPr/>
        </p:nvSpPr>
        <p:spPr>
          <a:xfrm>
            <a:off x="594360" y="3667759"/>
            <a:ext cx="10881361" cy="345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7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Data formats in McStas &amp; McXtrace</a:t>
            </a:r>
          </a:p>
        </p:txBody>
      </p:sp>
      <p:graphicFrame>
        <p:nvGraphicFramePr>
          <p:cNvPr id="299" name="Table 0"/>
          <p:cNvGraphicFramePr/>
          <p:nvPr/>
        </p:nvGraphicFramePr>
        <p:xfrm>
          <a:off x="548640" y="4069079"/>
          <a:ext cx="11064241" cy="230428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77440"/>
                <a:gridCol w="86868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Used by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.lau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Single_crystal, PowderN, Isotropic_Sqw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.laz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PowderN, Isotropic_Sqw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.sqw / qSq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Isotropic_Sqw (qSq mostly for liquids)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PDB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SANSPDB / SAXSPDB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ncmat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6E7580"/>
                          </a:solidFill>
                        </a:rPr>
                        <a:t>NCrystal-backed samples (McStas)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0" name="Text 15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01" name="Text 16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8</a:t>
            </a:r>
          </a:p>
        </p:txBody>
      </p:sp>
      <p:grpSp>
        <p:nvGrpSpPr>
          <p:cNvPr id="308" name="Group 20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306" name="Group 21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302" name="Picture 23" descr="Picture 23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05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303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04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07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309" name="Shape 6"/>
          <p:cNvSpPr/>
          <p:nvPr/>
        </p:nvSpPr>
        <p:spPr>
          <a:xfrm>
            <a:off x="4553096" y="2997086"/>
            <a:ext cx="3108961" cy="1005841"/>
          </a:xfrm>
          <a:prstGeom prst="roundRect">
            <a:avLst>
              <a:gd name="adj" fmla="val 7273"/>
            </a:avLst>
          </a:prstGeom>
          <a:solidFill>
            <a:srgbClr val="F7F8FA"/>
          </a:solidFill>
          <a:ln w="12700"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0" name="Text 7"/>
          <p:cNvSpPr txBox="1"/>
          <p:nvPr/>
        </p:nvSpPr>
        <p:spPr>
          <a:xfrm>
            <a:off x="4598816" y="3178881"/>
            <a:ext cx="301752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or use NCrystal cfg-strings directly</a:t>
            </a:r>
          </a:p>
        </p:txBody>
      </p:sp>
      <p:sp>
        <p:nvSpPr>
          <p:cNvPr id="311" name="Text 8"/>
          <p:cNvSpPr txBox="1"/>
          <p:nvPr/>
        </p:nvSpPr>
        <p:spPr>
          <a:xfrm>
            <a:off x="4735975" y="3609778"/>
            <a:ext cx="2743201" cy="228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04999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ships with McStas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14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SANS / SAXS · SHARED PHYSICS</a:t>
            </a:r>
          </a:p>
        </p:txBody>
      </p:sp>
      <p:sp>
        <p:nvSpPr>
          <p:cNvPr id="315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Small-angle scattering, the shared idea</a:t>
            </a:r>
          </a:p>
        </p:txBody>
      </p:sp>
      <p:sp>
        <p:nvSpPr>
          <p:cNvPr id="316" name="Text 2"/>
          <p:cNvSpPr txBox="1"/>
          <p:nvPr/>
        </p:nvSpPr>
        <p:spPr>
          <a:xfrm>
            <a:off x="594359" y="2492047"/>
            <a:ext cx="5669282" cy="2331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Elastic scattering at small angles — small scattering vector q means sensitivity to big real-space distances r.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Probes molecular-scale structure, typically 10–100 Å: proteins, polymers, nanoparticles, pores.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Often a dilute molecule-in-solvent system: a small contrast in scattering density against a buffer/background.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Often isotropic scattering — where the signal only depends on |q|, not its direction.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Needs good collimation and a long flight path after the sample, to resolve the small angles involved.</a:t>
            </a:r>
          </a:p>
        </p:txBody>
      </p:sp>
      <p:sp>
        <p:nvSpPr>
          <p:cNvPr id="317" name="Shape 3"/>
          <p:cNvSpPr/>
          <p:nvPr/>
        </p:nvSpPr>
        <p:spPr>
          <a:xfrm>
            <a:off x="6492240" y="1737360"/>
            <a:ext cx="5166360" cy="4114801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8" name="Text 4"/>
          <p:cNvSpPr txBox="1"/>
          <p:nvPr/>
        </p:nvSpPr>
        <p:spPr>
          <a:xfrm>
            <a:off x="6537960" y="1956107"/>
            <a:ext cx="507492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200">
                <a:solidFill>
                  <a:srgbClr val="6E7580"/>
                </a:solidFill>
              </a:defRPr>
            </a:lvl1pPr>
          </a:lstStyle>
          <a:p>
            <a:pPr/>
            <a:r>
              <a:t>small q, big r</a:t>
            </a:r>
          </a:p>
        </p:txBody>
      </p:sp>
      <p:sp>
        <p:nvSpPr>
          <p:cNvPr id="319" name="Shape 5"/>
          <p:cNvSpPr/>
          <p:nvPr/>
        </p:nvSpPr>
        <p:spPr>
          <a:xfrm>
            <a:off x="6611111" y="3364991"/>
            <a:ext cx="1133857" cy="1133857"/>
          </a:xfrm>
          <a:prstGeom prst="ellipse">
            <a:avLst/>
          </a:prstGeom>
          <a:solidFill>
            <a:srgbClr val="E3EEF2"/>
          </a:solidFill>
          <a:ln w="19050">
            <a:solidFill>
              <a:srgbClr val="1C7293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0" name="Text 6"/>
          <p:cNvSpPr txBox="1"/>
          <p:nvPr/>
        </p:nvSpPr>
        <p:spPr>
          <a:xfrm>
            <a:off x="6656831" y="3497624"/>
            <a:ext cx="1042417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000">
                <a:solidFill>
                  <a:srgbClr val="12506B"/>
                </a:solidFill>
              </a:defRPr>
            </a:lvl1pPr>
          </a:lstStyle>
          <a:p>
            <a:pPr/>
            <a:r>
              <a:t>sample</a:t>
            </a:r>
          </a:p>
        </p:txBody>
      </p:sp>
      <p:sp>
        <p:nvSpPr>
          <p:cNvPr id="321" name="Shape 7"/>
          <p:cNvSpPr/>
          <p:nvPr/>
        </p:nvSpPr>
        <p:spPr>
          <a:xfrm>
            <a:off x="7178040" y="3931920"/>
            <a:ext cx="3840481" cy="1"/>
          </a:xfrm>
          <a:prstGeom prst="line">
            <a:avLst/>
          </a:prstGeom>
          <a:ln w="15875">
            <a:solidFill>
              <a:srgbClr val="6E7580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322" name="Shape 8"/>
          <p:cNvSpPr/>
          <p:nvPr/>
        </p:nvSpPr>
        <p:spPr>
          <a:xfrm>
            <a:off x="7178040" y="3931920"/>
            <a:ext cx="3456433" cy="1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23" name="Shape 9"/>
          <p:cNvSpPr/>
          <p:nvPr/>
        </p:nvSpPr>
        <p:spPr>
          <a:xfrm>
            <a:off x="7178040" y="3931920"/>
            <a:ext cx="3456433" cy="351131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24" name="Shape 10"/>
          <p:cNvSpPr/>
          <p:nvPr/>
        </p:nvSpPr>
        <p:spPr>
          <a:xfrm>
            <a:off x="7178040" y="3931920"/>
            <a:ext cx="3456433" cy="1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25" name="Shape 11"/>
          <p:cNvSpPr/>
          <p:nvPr/>
        </p:nvSpPr>
        <p:spPr>
          <a:xfrm>
            <a:off x="7178040" y="3931920"/>
            <a:ext cx="3456433" cy="819303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26" name="Shape 12"/>
          <p:cNvSpPr/>
          <p:nvPr/>
        </p:nvSpPr>
        <p:spPr>
          <a:xfrm>
            <a:off x="7178040" y="3931920"/>
            <a:ext cx="3456433" cy="1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27" name="Shape 13"/>
          <p:cNvSpPr/>
          <p:nvPr/>
        </p:nvSpPr>
        <p:spPr>
          <a:xfrm>
            <a:off x="7178040" y="3931920"/>
            <a:ext cx="3456433" cy="1463041"/>
          </a:xfrm>
          <a:prstGeom prst="line">
            <a:avLst/>
          </a:prstGeom>
          <a:ln w="19050">
            <a:solidFill>
              <a:srgbClr val="D97A2B"/>
            </a:solidFill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28" name="Shape 14"/>
          <p:cNvSpPr/>
          <p:nvPr/>
        </p:nvSpPr>
        <p:spPr>
          <a:xfrm>
            <a:off x="11018519" y="2468879"/>
            <a:ext cx="137161" cy="2926081"/>
          </a:xfrm>
          <a:prstGeom prst="rect">
            <a:avLst/>
          </a:prstGeom>
          <a:solidFill>
            <a:srgbClr val="2024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9" name="Text 15"/>
          <p:cNvSpPr txBox="1"/>
          <p:nvPr/>
        </p:nvSpPr>
        <p:spPr>
          <a:xfrm>
            <a:off x="10607039" y="5542193"/>
            <a:ext cx="137160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900">
                <a:solidFill>
                  <a:srgbClr val="6E7580"/>
                </a:solidFill>
              </a:defRPr>
            </a:pPr>
            <a:r>
              <a:t>detector,</a:t>
            </a:r>
          </a:p>
          <a:p>
            <a:pPr algn="ctr">
              <a:defRPr sz="900">
                <a:solidFill>
                  <a:srgbClr val="6E7580"/>
                </a:solidFill>
              </a:defRPr>
            </a:pPr>
            <a:r>
              <a:t>far downstream</a:t>
            </a:r>
          </a:p>
        </p:txBody>
      </p:sp>
      <p:sp>
        <p:nvSpPr>
          <p:cNvPr id="330" name="Text 16"/>
          <p:cNvSpPr txBox="1"/>
          <p:nvPr/>
        </p:nvSpPr>
        <p:spPr>
          <a:xfrm>
            <a:off x="7772400" y="2250353"/>
            <a:ext cx="155448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defRPr sz="900">
                <a:solidFill>
                  <a:srgbClr val="A6591A"/>
                </a:solidFill>
              </a:defRPr>
            </a:pPr>
            <a:r>
              <a:t>small angles</a:t>
            </a:r>
          </a:p>
          <a:p>
            <a:pPr algn="ctr">
              <a:defRPr sz="900">
                <a:solidFill>
                  <a:srgbClr val="A6591A"/>
                </a:solidFill>
              </a:defRPr>
            </a:pPr>
            <a:r>
              <a:t>near the beam</a:t>
            </a:r>
          </a:p>
        </p:txBody>
      </p:sp>
      <p:sp>
        <p:nvSpPr>
          <p:cNvPr id="331" name="Text 17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32" name="Text 18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9</a:t>
            </a:r>
          </a:p>
        </p:txBody>
      </p:sp>
      <p:grpSp>
        <p:nvGrpSpPr>
          <p:cNvPr id="339" name="Group 21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337" name="Group 22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333" name="Picture 24" descr="Picture 24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36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334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35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38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42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SHARED TOOLKIT</a:t>
            </a:r>
          </a:p>
        </p:txBody>
      </p:sp>
      <p:sp>
        <p:nvSpPr>
          <p:cNvPr id="343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SANS &amp; SAXS models, side by side</a:t>
            </a:r>
          </a:p>
        </p:txBody>
      </p:sp>
      <p:sp>
        <p:nvSpPr>
          <p:cNvPr id="344" name="Text 2"/>
          <p:cNvSpPr txBox="1"/>
          <p:nvPr/>
        </p:nvSpPr>
        <p:spPr>
          <a:xfrm>
            <a:off x="594360" y="1471099"/>
            <a:ext cx="107899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Three tiers of model, available under matching names in both codes.</a:t>
            </a:r>
          </a:p>
        </p:txBody>
      </p:sp>
      <p:graphicFrame>
        <p:nvGraphicFramePr>
          <p:cNvPr id="345" name="Table 0"/>
          <p:cNvGraphicFramePr/>
          <p:nvPr/>
        </p:nvGraphicFramePr>
        <p:xfrm>
          <a:off x="548640" y="1965960"/>
          <a:ext cx="11064241" cy="31089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965960"/>
                <a:gridCol w="2514600"/>
                <a:gridCol w="2514600"/>
                <a:gridCol w="4069080"/>
              </a:tblGrid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Tier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McStas (SANS)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McXtrace (SAXS)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0242B"/>
                          </a:solidFill>
                        </a:rPr>
                        <a:t>Analytic shapes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Sans_spheres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Saxs_spheres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</a:rPr>
                        <a:t>Exact naming parallel; dilute, monodisperse hard spheres, given contrast &amp; radius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0242B"/>
                          </a:solidFill>
                        </a:rPr>
                        <a:t>Benchmarked set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SANS_benchmark2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</a:rPr>
                        <a:t>Experimentally-benchmarked model set (McStas, contrib library)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0242B"/>
                          </a:solidFill>
                        </a:rPr>
                        <a:t>Full sasmodels library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SasView_* (92 components)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SasView_* (92 components)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</a:rPr>
                        <a:t>File-for-file identical set in both codes — sphere, cylinder, core-shell, fractal, …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100">
                          <a:solidFill>
                            <a:srgbClr val="20242B"/>
                          </a:solidFill>
                        </a:rPr>
                        <a:t>Macromolecules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SANSPDB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SAXSPDB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E7580"/>
                          </a:solidFill>
                        </a:rPr>
                        <a:t>Scattering directly from a PDB structure file (contrib library, both codes)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DDE1E6"/>
                      </a:solidFill>
                    </a:lnL>
                    <a:lnR>
                      <a:solidFill>
                        <a:srgbClr val="DDE1E6"/>
                      </a:solidFill>
                    </a:lnR>
                    <a:lnT>
                      <a:solidFill>
                        <a:srgbClr val="DDE1E6"/>
                      </a:solidFill>
                    </a:lnT>
                    <a:lnB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346" name="Shape 3"/>
          <p:cNvSpPr/>
          <p:nvPr/>
        </p:nvSpPr>
        <p:spPr>
          <a:xfrm>
            <a:off x="548640" y="5349240"/>
            <a:ext cx="11064241" cy="777241"/>
          </a:xfrm>
          <a:prstGeom prst="roundRect">
            <a:avLst>
              <a:gd name="adj" fmla="val 9412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47" name="Text 4"/>
          <p:cNvSpPr txBox="1"/>
          <p:nvPr/>
        </p:nvSpPr>
        <p:spPr>
          <a:xfrm>
            <a:off x="868680" y="5542456"/>
            <a:ext cx="10424161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100">
                <a:solidFill>
                  <a:srgbClr val="12506B"/>
                </a:solidFill>
              </a:defRPr>
            </a:pPr>
            <a:r>
              <a:t>Under the hood:  </a:t>
            </a:r>
            <a:r>
              <a:rPr b="0">
                <a:solidFill>
                  <a:srgbClr val="20242B"/>
                </a:solidFill>
              </a:rPr>
              <a:t>the sasmodels components are generated from the same SasView/sasmodels project (sasview.org) for both codes — 92 identically-named .comp files in mcstas-comps/sasmodels and mcxtrace-comps/sasmodels, sphere through triaxial ellipsoid.</a:t>
            </a:r>
          </a:p>
        </p:txBody>
      </p:sp>
      <p:sp>
        <p:nvSpPr>
          <p:cNvPr id="348" name="Text 5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49" name="Text 6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10</a:t>
            </a:r>
          </a:p>
        </p:txBody>
      </p:sp>
      <p:grpSp>
        <p:nvGrpSpPr>
          <p:cNvPr id="356" name="Group 5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354" name="Group 11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350" name="Picture 13" descr="Picture 13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353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351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352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355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59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</a:defRPr>
            </a:lvl1pPr>
          </a:lstStyle>
          <a:p>
            <a:pPr/>
            <a:r>
              <a:t>X-RAY ONLY · PHYSICS</a:t>
            </a:r>
          </a:p>
        </p:txBody>
      </p:sp>
      <p:sp>
        <p:nvSpPr>
          <p:cNvPr id="360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Absorption &amp; fluorescence: the physics</a:t>
            </a:r>
          </a:p>
        </p:txBody>
      </p:sp>
      <p:sp>
        <p:nvSpPr>
          <p:cNvPr id="361" name="Text 2"/>
          <p:cNvSpPr txBox="1"/>
          <p:nvPr/>
        </p:nvSpPr>
        <p:spPr>
          <a:xfrm>
            <a:off x="594360" y="2474267"/>
            <a:ext cx="5577840" cy="20009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A photon excites a core electron (e.g. the K shell). If the photon energy exceeds the binding energy, the electron is ejected — a photoelectron.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The resulting core hole is filled by an electron from a higher shell — that transition emits a characteristic fluorescence line.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At the absorption edge, the transmitted intensity drops sharply, and a fluorescence line appears at a lower, element-specific energy.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Elastic (Rayleigh) and inelastic (Compton) scattering can accompany absorption — all part of the same interaction budget.</a:t>
            </a:r>
          </a:p>
        </p:txBody>
      </p:sp>
      <p:sp>
        <p:nvSpPr>
          <p:cNvPr id="362" name="Shape 3"/>
          <p:cNvSpPr/>
          <p:nvPr/>
        </p:nvSpPr>
        <p:spPr>
          <a:xfrm>
            <a:off x="6400800" y="1737360"/>
            <a:ext cx="5257800" cy="3749041"/>
          </a:xfrm>
          <a:prstGeom prst="roundRect">
            <a:avLst>
              <a:gd name="adj" fmla="val 2439"/>
            </a:avLst>
          </a:prstGeom>
          <a:solidFill>
            <a:srgbClr val="F7F8FA"/>
          </a:solidFill>
          <a:ln>
            <a:solidFill>
              <a:srgbClr val="DDE1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3" name="Text 4"/>
          <p:cNvSpPr txBox="1"/>
          <p:nvPr/>
        </p:nvSpPr>
        <p:spPr>
          <a:xfrm>
            <a:off x="6446519" y="1967406"/>
            <a:ext cx="516636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b="1" sz="1100">
                <a:solidFill>
                  <a:srgbClr val="6E7580"/>
                </a:solidFill>
              </a:defRPr>
            </a:lvl1pPr>
          </a:lstStyle>
          <a:p>
            <a:pPr/>
            <a:r>
              <a:t>transmission vs. photon energy</a:t>
            </a:r>
          </a:p>
        </p:txBody>
      </p:sp>
      <p:sp>
        <p:nvSpPr>
          <p:cNvPr id="364" name="Shape 5"/>
          <p:cNvSpPr/>
          <p:nvPr/>
        </p:nvSpPr>
        <p:spPr>
          <a:xfrm>
            <a:off x="7086600" y="2423160"/>
            <a:ext cx="0" cy="2194561"/>
          </a:xfrm>
          <a:prstGeom prst="line">
            <a:avLst/>
          </a:prstGeom>
          <a:ln w="15875">
            <a:solidFill>
              <a:srgbClr val="2024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5" name="Shape 6"/>
          <p:cNvSpPr/>
          <p:nvPr/>
        </p:nvSpPr>
        <p:spPr>
          <a:xfrm>
            <a:off x="7086600" y="4617720"/>
            <a:ext cx="4343401" cy="1"/>
          </a:xfrm>
          <a:prstGeom prst="line">
            <a:avLst/>
          </a:prstGeom>
          <a:ln w="15875">
            <a:solidFill>
              <a:srgbClr val="2024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6" name="Shape 7"/>
          <p:cNvSpPr/>
          <p:nvPr/>
        </p:nvSpPr>
        <p:spPr>
          <a:xfrm>
            <a:off x="7086599" y="2788920"/>
            <a:ext cx="1965962" cy="365761"/>
          </a:xfrm>
          <a:prstGeom prst="line">
            <a:avLst/>
          </a:prstGeom>
          <a:ln w="31750">
            <a:solidFill>
              <a:srgbClr val="D97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7" name="Shape 8"/>
          <p:cNvSpPr/>
          <p:nvPr/>
        </p:nvSpPr>
        <p:spPr>
          <a:xfrm>
            <a:off x="9052559" y="3154679"/>
            <a:ext cx="1" cy="1005840"/>
          </a:xfrm>
          <a:prstGeom prst="line">
            <a:avLst/>
          </a:prstGeom>
          <a:ln w="31750">
            <a:solidFill>
              <a:srgbClr val="D97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8" name="Shape 9"/>
          <p:cNvSpPr/>
          <p:nvPr/>
        </p:nvSpPr>
        <p:spPr>
          <a:xfrm>
            <a:off x="9052559" y="4160520"/>
            <a:ext cx="2103121" cy="1"/>
          </a:xfrm>
          <a:prstGeom prst="line">
            <a:avLst/>
          </a:prstGeom>
          <a:ln w="31750">
            <a:solidFill>
              <a:srgbClr val="D97A2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9" name="Shape 10"/>
          <p:cNvSpPr/>
          <p:nvPr/>
        </p:nvSpPr>
        <p:spPr>
          <a:xfrm>
            <a:off x="9052559" y="3154679"/>
            <a:ext cx="1" cy="1463041"/>
          </a:xfrm>
          <a:prstGeom prst="line">
            <a:avLst/>
          </a:prstGeom>
          <a:ln w="12700">
            <a:solidFill>
              <a:srgbClr val="6E7580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sp>
        <p:nvSpPr>
          <p:cNvPr id="370" name="Text 11"/>
          <p:cNvSpPr txBox="1"/>
          <p:nvPr/>
        </p:nvSpPr>
        <p:spPr>
          <a:xfrm>
            <a:off x="8732519" y="4686344"/>
            <a:ext cx="640082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edge</a:t>
            </a:r>
          </a:p>
        </p:txBody>
      </p:sp>
      <p:sp>
        <p:nvSpPr>
          <p:cNvPr id="371" name="Text 12"/>
          <p:cNvSpPr txBox="1"/>
          <p:nvPr/>
        </p:nvSpPr>
        <p:spPr>
          <a:xfrm>
            <a:off x="7086600" y="2155611"/>
            <a:ext cx="137160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transmission</a:t>
            </a:r>
          </a:p>
        </p:txBody>
      </p:sp>
      <p:sp>
        <p:nvSpPr>
          <p:cNvPr id="372" name="Text 13"/>
          <p:cNvSpPr txBox="1"/>
          <p:nvPr/>
        </p:nvSpPr>
        <p:spPr>
          <a:xfrm>
            <a:off x="10835639" y="4686344"/>
            <a:ext cx="822961" cy="228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energy</a:t>
            </a:r>
          </a:p>
        </p:txBody>
      </p:sp>
      <p:sp>
        <p:nvSpPr>
          <p:cNvPr id="373" name="Text 14"/>
          <p:cNvSpPr txBox="1"/>
          <p:nvPr/>
        </p:nvSpPr>
        <p:spPr>
          <a:xfrm>
            <a:off x="6720839" y="5016413"/>
            <a:ext cx="4617721" cy="345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i="1" sz="900">
                <a:solidFill>
                  <a:srgbClr val="6E7580"/>
                </a:solidFill>
              </a:defRPr>
            </a:lvl1pPr>
          </a:lstStyle>
          <a:p>
            <a:pPr/>
            <a:r>
              <a:t>Note the honest limit: today's absorption samples model the edge itself — not the fine pre-edge or EXAFS oscillations.</a:t>
            </a:r>
          </a:p>
        </p:txBody>
      </p:sp>
      <p:sp>
        <p:nvSpPr>
          <p:cNvPr id="374" name="Text 15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75" name="Text 16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11</a:t>
            </a:r>
          </a:p>
        </p:txBody>
      </p:sp>
      <p:grpSp>
        <p:nvGrpSpPr>
          <p:cNvPr id="380" name="Group 20"/>
          <p:cNvGrpSpPr/>
          <p:nvPr/>
        </p:nvGrpSpPr>
        <p:grpSpPr>
          <a:xfrm>
            <a:off x="9224999" y="124302"/>
            <a:ext cx="790201" cy="708378"/>
            <a:chOff x="0" y="0"/>
            <a:chExt cx="790200" cy="708378"/>
          </a:xfrm>
        </p:grpSpPr>
        <p:pic>
          <p:nvPicPr>
            <p:cNvPr id="376" name="Picture 22" descr="Picture 22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7056" y="-1"/>
              <a:ext cx="716667" cy="4245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379" name="Group 32"/>
            <p:cNvGrpSpPr/>
            <p:nvPr/>
          </p:nvGrpSpPr>
          <p:grpSpPr>
            <a:xfrm>
              <a:off x="0" y="407057"/>
              <a:ext cx="790201" cy="301321"/>
              <a:chOff x="0" y="0"/>
              <a:chExt cx="790200" cy="301320"/>
            </a:xfrm>
          </p:grpSpPr>
          <p:pic>
            <p:nvPicPr>
              <p:cNvPr id="377" name="Picture 29" descr="Picture 29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0" y="-1"/>
                <a:ext cx="547921" cy="26460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78" name="Picture 30" descr="Picture 30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589320" y="5040"/>
                <a:ext cx="200881" cy="2962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83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</a:defRPr>
            </a:lvl1pPr>
          </a:lstStyle>
          <a:p>
            <a:pPr/>
            <a:r>
              <a:t>MCXTRACE — X-RAYS ONLY</a:t>
            </a:r>
          </a:p>
        </p:txBody>
      </p:sp>
      <p:sp>
        <p:nvSpPr>
          <p:cNvPr id="384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Fluorescence component &amp; friends</a:t>
            </a:r>
          </a:p>
        </p:txBody>
      </p:sp>
      <p:sp>
        <p:nvSpPr>
          <p:cNvPr id="385" name="Shape 2"/>
          <p:cNvSpPr/>
          <p:nvPr/>
        </p:nvSpPr>
        <p:spPr>
          <a:xfrm>
            <a:off x="548640" y="1691639"/>
            <a:ext cx="5257801" cy="4160522"/>
          </a:xfrm>
          <a:prstGeom prst="roundRect">
            <a:avLst>
              <a:gd name="adj" fmla="val 2198"/>
            </a:avLst>
          </a:prstGeom>
          <a:solidFill>
            <a:srgbClr val="FBEBD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6" name="Text 3"/>
          <p:cNvSpPr txBox="1"/>
          <p:nvPr/>
        </p:nvSpPr>
        <p:spPr>
          <a:xfrm>
            <a:off x="914399" y="1909317"/>
            <a:ext cx="4526282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Fluorescence</a:t>
            </a:r>
          </a:p>
        </p:txBody>
      </p:sp>
      <p:sp>
        <p:nvSpPr>
          <p:cNvPr id="387" name="Text 4"/>
          <p:cNvSpPr txBox="1"/>
          <p:nvPr/>
        </p:nvSpPr>
        <p:spPr>
          <a:xfrm>
            <a:off x="914399" y="3180256"/>
            <a:ext cx="4526282" cy="16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Models all four processes at once: absorption, fluorescence, Compton and Rayleigh scattering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Any shape (box, cylinder, sphere, or OFF/PLY mesh) and any compound material, e.g. “CaCO3” or “ZnCu”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Computed via XRayLib — about 10× slower than the simpler components, in exchange for real chemistry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FluoCrystal and FluoPowder specialise the same physics for crystalline and powder samples</a:t>
            </a:r>
          </a:p>
        </p:txBody>
      </p:sp>
      <p:sp>
        <p:nvSpPr>
          <p:cNvPr id="388" name="Shape 5"/>
          <p:cNvSpPr/>
          <p:nvPr/>
        </p:nvSpPr>
        <p:spPr>
          <a:xfrm>
            <a:off x="6172200" y="1691639"/>
            <a:ext cx="5257800" cy="4160522"/>
          </a:xfrm>
          <a:prstGeom prst="roundRect">
            <a:avLst>
              <a:gd name="adj" fmla="val 2198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9" name="Text 6"/>
          <p:cNvSpPr txBox="1"/>
          <p:nvPr/>
        </p:nvSpPr>
        <p:spPr>
          <a:xfrm>
            <a:off x="6537960" y="2019807"/>
            <a:ext cx="452628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4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Filter, Abs_objects, Absorption_sample</a:t>
            </a:r>
          </a:p>
        </p:txBody>
      </p:sp>
      <p:sp>
        <p:nvSpPr>
          <p:cNvPr id="390" name="Text 7"/>
          <p:cNvSpPr txBox="1"/>
          <p:nvPr/>
        </p:nvSpPr>
        <p:spPr>
          <a:xfrm>
            <a:off x="6537960" y="3394886"/>
            <a:ext cx="4526281" cy="1394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Absorption only — no fluorescence, Compton or Rayleigh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Require pre-made absorption data files, and only handle pure, mono-atomic materials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Abs_objects and Absorption_sample can combine several OFF/PLY shapes/materials in one component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Much faster — the right choice when fluorescence itself isn't of interest</a:t>
            </a:r>
          </a:p>
        </p:txBody>
      </p:sp>
      <p:sp>
        <p:nvSpPr>
          <p:cNvPr id="391" name="Text 8"/>
          <p:cNvSpPr txBox="1"/>
          <p:nvPr/>
        </p:nvSpPr>
        <p:spPr>
          <a:xfrm>
            <a:off x="594359" y="6059346"/>
            <a:ext cx="10972802" cy="2257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6E7580"/>
                </a:solidFill>
              </a:defRPr>
            </a:lvl1pPr>
          </a:lstStyle>
          <a:p>
            <a:pPr/>
            <a:r>
              <a:t>All of these support concentric geometry (a sample inside a can or cryostat) the same way PowderN does.</a:t>
            </a:r>
          </a:p>
        </p:txBody>
      </p:sp>
      <p:sp>
        <p:nvSpPr>
          <p:cNvPr id="392" name="Text 9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393" name="Text 10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12</a:t>
            </a:r>
          </a:p>
        </p:txBody>
      </p:sp>
      <p:grpSp>
        <p:nvGrpSpPr>
          <p:cNvPr id="398" name="Group 14"/>
          <p:cNvGrpSpPr/>
          <p:nvPr/>
        </p:nvGrpSpPr>
        <p:grpSpPr>
          <a:xfrm>
            <a:off x="9224999" y="124302"/>
            <a:ext cx="790201" cy="708378"/>
            <a:chOff x="0" y="0"/>
            <a:chExt cx="790200" cy="708378"/>
          </a:xfrm>
        </p:grpSpPr>
        <p:pic>
          <p:nvPicPr>
            <p:cNvPr id="394" name="Picture 16" descr="Picture 16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7056" y="-1"/>
              <a:ext cx="716667" cy="4245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397" name="Group 32"/>
            <p:cNvGrpSpPr/>
            <p:nvPr/>
          </p:nvGrpSpPr>
          <p:grpSpPr>
            <a:xfrm>
              <a:off x="0" y="407057"/>
              <a:ext cx="790201" cy="301321"/>
              <a:chOff x="0" y="0"/>
              <a:chExt cx="790200" cy="301320"/>
            </a:xfrm>
          </p:grpSpPr>
          <p:pic>
            <p:nvPicPr>
              <p:cNvPr id="395" name="Picture 29" descr="Picture 29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0" y="-1"/>
                <a:ext cx="547921" cy="26460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396" name="Picture 30" descr="Picture 30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589320" y="5040"/>
                <a:ext cx="200881" cy="2962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01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D97A2B"/>
                </a:solidFill>
              </a:defRPr>
            </a:lvl1pPr>
          </a:lstStyle>
          <a:p>
            <a:pPr/>
            <a:r>
              <a:t>MCXTRACE — WORKED EXAMPLES</a:t>
            </a:r>
          </a:p>
        </p:txBody>
      </p:sp>
      <p:sp>
        <p:nvSpPr>
          <p:cNvPr id="402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Two beamlines, built from these samples</a:t>
            </a:r>
          </a:p>
        </p:txBody>
      </p:sp>
      <p:sp>
        <p:nvSpPr>
          <p:cNvPr id="403" name="Shape 2"/>
          <p:cNvSpPr/>
          <p:nvPr/>
        </p:nvSpPr>
        <p:spPr>
          <a:xfrm>
            <a:off x="548640" y="1691639"/>
            <a:ext cx="5257801" cy="4206242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4" name="Text 3"/>
          <p:cNvSpPr txBox="1"/>
          <p:nvPr/>
        </p:nvSpPr>
        <p:spPr>
          <a:xfrm>
            <a:off x="914399" y="1922017"/>
            <a:ext cx="4526282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ROCK · absorption edge</a:t>
            </a:r>
          </a:p>
        </p:txBody>
      </p:sp>
      <p:sp>
        <p:nvSpPr>
          <p:cNvPr id="405" name="Text 4"/>
          <p:cNvSpPr txBox="1"/>
          <p:nvPr/>
        </p:nvSpPr>
        <p:spPr>
          <a:xfrm>
            <a:off x="914399" y="3317415"/>
            <a:ext cx="4526282" cy="14576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Bending magnet source, 4–40 keV white beam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 channel-cut DCM (two Bragg_crystal, Si 111) selects the energy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 Fluorescence sample (“ZnCu”, 2×10×1 mm) sits after the monochromator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An energy monitor after the sample shows the absorption shadow and the fluorescence lines together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Scanning energy 8–10 keV sweeps straight across the Zn/Cu edges</a:t>
            </a:r>
          </a:p>
        </p:txBody>
      </p:sp>
      <p:sp>
        <p:nvSpPr>
          <p:cNvPr id="406" name="Shape 5"/>
          <p:cNvSpPr/>
          <p:nvPr/>
        </p:nvSpPr>
        <p:spPr>
          <a:xfrm>
            <a:off x="6172200" y="1691639"/>
            <a:ext cx="5257800" cy="4206242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07" name="Text 6"/>
          <p:cNvSpPr txBox="1"/>
          <p:nvPr/>
        </p:nvSpPr>
        <p:spPr>
          <a:xfrm>
            <a:off x="6537960" y="1922017"/>
            <a:ext cx="4526281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500">
                <a:solidFill>
                  <a:srgbClr val="A6591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LUCIA · hyperspectral fluorescence</a:t>
            </a:r>
          </a:p>
        </p:txBody>
      </p:sp>
      <p:sp>
        <p:nvSpPr>
          <p:cNvPr id="408" name="Text 7"/>
          <p:cNvSpPr txBox="1"/>
          <p:nvPr/>
        </p:nvSpPr>
        <p:spPr>
          <a:xfrm>
            <a:off x="6537960" y="3285665"/>
            <a:ext cx="4526281" cy="15211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HU52 undulator source, feeding a 0.5×0.5 mm slit and a Si(111) DCM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 Fluorescence sample stage — a wire-shaped inclusion (geometry="wire.ply") inside a different bulk material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The two materials are combined so only one “fires” per ray — an advanced-grammar detail we won't dwell on here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A position-resolved energy monitor turns the result into a hyperspectral map — composition read out from fluorescence lines, point by point</a:t>
            </a:r>
          </a:p>
        </p:txBody>
      </p:sp>
      <p:sp>
        <p:nvSpPr>
          <p:cNvPr id="409" name="Text 8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10" name="Text 9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13</a:t>
            </a:r>
          </a:p>
        </p:txBody>
      </p:sp>
      <p:grpSp>
        <p:nvGrpSpPr>
          <p:cNvPr id="415" name="Group 13"/>
          <p:cNvGrpSpPr/>
          <p:nvPr/>
        </p:nvGrpSpPr>
        <p:grpSpPr>
          <a:xfrm>
            <a:off x="9224999" y="124302"/>
            <a:ext cx="790201" cy="708378"/>
            <a:chOff x="0" y="0"/>
            <a:chExt cx="790200" cy="708378"/>
          </a:xfrm>
        </p:grpSpPr>
        <p:pic>
          <p:nvPicPr>
            <p:cNvPr id="411" name="Picture 15" descr="Picture 15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7056" y="-1"/>
              <a:ext cx="716667" cy="4245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414" name="Group 32"/>
            <p:cNvGrpSpPr/>
            <p:nvPr/>
          </p:nvGrpSpPr>
          <p:grpSpPr>
            <a:xfrm>
              <a:off x="0" y="407057"/>
              <a:ext cx="790201" cy="301321"/>
              <a:chOff x="0" y="0"/>
              <a:chExt cx="790200" cy="301320"/>
            </a:xfrm>
          </p:grpSpPr>
          <p:pic>
            <p:nvPicPr>
              <p:cNvPr id="412" name="Picture 29" descr="Picture 29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0" y="-1"/>
                <a:ext cx="547921" cy="264602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pic>
            <p:nvPicPr>
              <p:cNvPr id="413" name="Picture 30" descr="Picture 30"/>
              <p:cNvPicPr>
                <a:picLocks noChangeAspect="1"/>
              </p:cNvPicPr>
              <p:nvPr/>
            </p:nvPicPr>
            <p:blipFill>
              <a:blip r:embed="rId5">
                <a:extLst/>
              </a:blip>
              <a:stretch>
                <a:fillRect/>
              </a:stretch>
            </p:blipFill>
            <p:spPr>
              <a:xfrm>
                <a:off x="589320" y="5040"/>
                <a:ext cx="200881" cy="2962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7" name="Screenshot 2026-09-19 at 16.49.55.png" descr="Screenshot 2026-09-19 at 16.49.5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207391" y="1166385"/>
            <a:ext cx="3231619" cy="5400564"/>
          </a:xfrm>
          <a:prstGeom prst="rect">
            <a:avLst/>
          </a:prstGeom>
          <a:ln w="12700">
            <a:miter lim="400000"/>
          </a:ln>
        </p:spPr>
      </p:pic>
      <p:pic>
        <p:nvPicPr>
          <p:cNvPr id="418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19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MCSTAS — NEUTRONS ONLY</a:t>
            </a:r>
          </a:p>
        </p:txBody>
      </p:sp>
      <p:sp>
        <p:nvSpPr>
          <p:cNvPr id="420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Neutron imaging</a:t>
            </a:r>
          </a:p>
        </p:txBody>
      </p:sp>
      <p:sp>
        <p:nvSpPr>
          <p:cNvPr id="421" name="Text 2"/>
          <p:cNvSpPr txBox="1"/>
          <p:nvPr/>
        </p:nvSpPr>
        <p:spPr>
          <a:xfrm>
            <a:off x="594360" y="1493959"/>
            <a:ext cx="10789920" cy="2582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300">
                <a:solidFill>
                  <a:srgbClr val="6E7580"/>
                </a:solidFill>
              </a:defRPr>
            </a:lvl1pPr>
          </a:lstStyle>
          <a:p>
            <a:pPr/>
            <a:r>
              <a:t>Absorption-contrast radiography and tomography — built from the same shapes as everything else.</a:t>
            </a:r>
          </a:p>
        </p:txBody>
      </p:sp>
      <p:sp>
        <p:nvSpPr>
          <p:cNvPr id="422" name="Text 3"/>
          <p:cNvSpPr txBox="1"/>
          <p:nvPr/>
        </p:nvSpPr>
        <p:spPr>
          <a:xfrm>
            <a:off x="594359" y="2394257"/>
            <a:ext cx="9143684" cy="14294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A single-phase absorbing “block” — box, cylinder, sphere, or an arbitrary OFF/PLY mesh — stands in for the imaged object.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The same complex-geometry engine used for diffraction and spectroscopy samples renders detailed shapes: a chess piece, a bracket with drilled holes, and so on.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Contrast comes purely from attenuation — how much of the beam a given path length and material absorbs.</a:t>
            </a:r>
          </a:p>
          <a:p>
            <a:pPr marL="203200" indent="-203200">
              <a:spcBef>
                <a:spcPts val="1100"/>
              </a:spcBef>
              <a:buSzPct val="100000"/>
              <a:buChar char="•"/>
              <a:defRPr sz="1200">
                <a:solidFill>
                  <a:srgbClr val="20242B"/>
                </a:solidFill>
              </a:defRPr>
            </a:pPr>
            <a:r>
              <a:t>Rotate the object (or the source/detector) between exposures to build up a tomographic reconstruction.</a:t>
            </a:r>
          </a:p>
        </p:txBody>
      </p:sp>
      <p:sp>
        <p:nvSpPr>
          <p:cNvPr id="423" name="Shape 4"/>
          <p:cNvSpPr/>
          <p:nvPr/>
        </p:nvSpPr>
        <p:spPr>
          <a:xfrm>
            <a:off x="548640" y="4480559"/>
            <a:ext cx="7057963" cy="914401"/>
          </a:xfrm>
          <a:prstGeom prst="roundRect">
            <a:avLst>
              <a:gd name="adj" fmla="val 8000"/>
            </a:avLst>
          </a:prstGeom>
          <a:solidFill>
            <a:srgbClr val="E3EEF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24" name="Text 5"/>
          <p:cNvSpPr txBox="1"/>
          <p:nvPr/>
        </p:nvSpPr>
        <p:spPr>
          <a:xfrm>
            <a:off x="758150" y="4718357"/>
            <a:ext cx="6692202" cy="4388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b="1" sz="1200">
                <a:solidFill>
                  <a:srgbClr val="12506B"/>
                </a:solidFill>
              </a:defRPr>
            </a:pPr>
            <a:r>
              <a:t>Recent additions:  </a:t>
            </a:r>
            <a:r>
              <a:rPr b="0">
                <a:solidFill>
                  <a:srgbClr val="20242B"/>
                </a:solidFill>
              </a:rPr>
              <a:t>multi-phase materials, refractive effects / phase-contrast imaging sample solutions. </a:t>
            </a:r>
            <a:br>
              <a:rPr b="0">
                <a:solidFill>
                  <a:srgbClr val="20242B"/>
                </a:solidFill>
              </a:rPr>
            </a:br>
            <a:r>
              <a:rPr b="0">
                <a:solidFill>
                  <a:srgbClr val="20242B"/>
                </a:solidFill>
              </a:rPr>
              <a:t>For complex arrangements it is recommended to use the McStas Union framework.</a:t>
            </a:r>
          </a:p>
        </p:txBody>
      </p:sp>
      <p:sp>
        <p:nvSpPr>
          <p:cNvPr id="425" name="Text 6"/>
          <p:cNvSpPr txBox="1"/>
          <p:nvPr/>
        </p:nvSpPr>
        <p:spPr>
          <a:xfrm>
            <a:off x="594359" y="5611036"/>
            <a:ext cx="7402399" cy="3908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>
              <a:defRPr i="1" sz="1100">
                <a:solidFill>
                  <a:srgbClr val="6E7580"/>
                </a:solidFill>
              </a:defRPr>
            </a:pPr>
            <a:r>
              <a:t>Why neutron-only in this session? X-ray imaging exists in principle (attenuation is attenuation) — but McXtrace's sample library </a:t>
            </a:r>
            <a:br/>
            <a:r>
              <a:t>so far has focused on more spectroscopy and scattering rather than dedicated imaging phantoms. See Airport_scanner though…</a:t>
            </a:r>
          </a:p>
        </p:txBody>
      </p:sp>
      <p:sp>
        <p:nvSpPr>
          <p:cNvPr id="426" name="Text 7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27" name="Text 8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14</a:t>
            </a:r>
          </a:p>
        </p:txBody>
      </p:sp>
      <p:pic>
        <p:nvPicPr>
          <p:cNvPr id="428" name="Picture 31" descr="Picture 3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9399043" y="119520"/>
            <a:ext cx="736201" cy="7488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31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WHAT ELSE EXISTS — BRIEFLY</a:t>
            </a:r>
          </a:p>
        </p:txBody>
      </p:sp>
      <p:sp>
        <p:nvSpPr>
          <p:cNvPr id="432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Reflectometry &amp; inelastic scattering</a:t>
            </a:r>
          </a:p>
        </p:txBody>
      </p:sp>
      <p:sp>
        <p:nvSpPr>
          <p:cNvPr id="433" name="Shape 2"/>
          <p:cNvSpPr/>
          <p:nvPr/>
        </p:nvSpPr>
        <p:spPr>
          <a:xfrm>
            <a:off x="548640" y="1691639"/>
            <a:ext cx="5257801" cy="4206242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4" name="Text 3"/>
          <p:cNvSpPr txBox="1"/>
          <p:nvPr/>
        </p:nvSpPr>
        <p:spPr>
          <a:xfrm>
            <a:off x="914399" y="1909317"/>
            <a:ext cx="4526282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1250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Reflectometry</a:t>
            </a:r>
          </a:p>
        </p:txBody>
      </p:sp>
      <p:sp>
        <p:nvSpPr>
          <p:cNvPr id="435" name="Text 4"/>
          <p:cNvSpPr txBox="1"/>
          <p:nvPr/>
        </p:nvSpPr>
        <p:spPr>
          <a:xfrm>
            <a:off x="914399" y="3266615"/>
            <a:ext cx="4526282" cy="1559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Probes surfaces &amp; interfaces, solid or liquid, via specular and off-specular reflection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McStas: Multilayer_Sample — phase-matrix formalism plus an incoherent background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Or the simpler route: attach a measured reflectivity curve directly to a Mirror-type component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Today's choice is deliberately small — not a rich library like SANS</a:t>
            </a:r>
          </a:p>
        </p:txBody>
      </p:sp>
      <p:sp>
        <p:nvSpPr>
          <p:cNvPr id="436" name="Shape 5"/>
          <p:cNvSpPr/>
          <p:nvPr/>
        </p:nvSpPr>
        <p:spPr>
          <a:xfrm>
            <a:off x="6172200" y="1691639"/>
            <a:ext cx="5257800" cy="4206242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37" name="Text 6"/>
          <p:cNvSpPr txBox="1"/>
          <p:nvPr/>
        </p:nvSpPr>
        <p:spPr>
          <a:xfrm>
            <a:off x="6537960" y="1909317"/>
            <a:ext cx="4526281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12506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Inelastic scattering S(q,ω)</a:t>
            </a:r>
          </a:p>
        </p:txBody>
      </p:sp>
      <p:sp>
        <p:nvSpPr>
          <p:cNvPr id="438" name="Text 7"/>
          <p:cNvSpPr txBox="1"/>
          <p:nvPr/>
        </p:nvSpPr>
        <p:spPr>
          <a:xfrm>
            <a:off x="6537960" y="3406315"/>
            <a:ext cx="4526281" cy="1279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McStas: Phonon_simple, Magnon_bcc, Isotropic_Sqw (inelastic mode), Single_crystal_inelastic, Tunneling_sample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McXtrace: Isotropic_Sqw in an experimental Thomson (IXS) mode — no RIXS or single-crystal inelastic yet</a:t>
            </a:r>
          </a:p>
          <a:p>
            <a:pPr marL="177800" indent="-177800">
              <a:spcBef>
                <a:spcPts val="900"/>
              </a:spcBef>
              <a:buSzPct val="100000"/>
              <a:buChar char="•"/>
              <a:defRPr sz="1100">
                <a:solidFill>
                  <a:srgbClr val="20242B"/>
                </a:solidFill>
              </a:defRPr>
            </a:pPr>
            <a:r>
              <a:t>Computationally demanding: only a small fraction of rays land in a given (q,ω) window, so large ray counts are needed</a:t>
            </a:r>
          </a:p>
        </p:txBody>
      </p:sp>
      <p:sp>
        <p:nvSpPr>
          <p:cNvPr id="439" name="Text 8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40" name="Text 9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15</a:t>
            </a:r>
          </a:p>
        </p:txBody>
      </p:sp>
      <p:grpSp>
        <p:nvGrpSpPr>
          <p:cNvPr id="447" name="Group 12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445" name="Group 13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441" name="Picture 15" descr="Picture 15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44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442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43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46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9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50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WHAT ELSE EXISTS — BRIEFLY</a:t>
            </a:r>
          </a:p>
        </p:txBody>
      </p:sp>
      <p:sp>
        <p:nvSpPr>
          <p:cNvPr id="451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Generic tools &amp; advanced assemblies</a:t>
            </a:r>
          </a:p>
        </p:txBody>
      </p:sp>
      <p:sp>
        <p:nvSpPr>
          <p:cNvPr id="452" name="Shape 2"/>
          <p:cNvSpPr/>
          <p:nvPr/>
        </p:nvSpPr>
        <p:spPr>
          <a:xfrm>
            <a:off x="548640" y="1828800"/>
            <a:ext cx="3520441" cy="384048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3" name="Shape 3"/>
          <p:cNvSpPr/>
          <p:nvPr/>
        </p:nvSpPr>
        <p:spPr>
          <a:xfrm>
            <a:off x="548639" y="1828799"/>
            <a:ext cx="3520442" cy="73154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4" name="Text 4"/>
          <p:cNvSpPr txBox="1"/>
          <p:nvPr/>
        </p:nvSpPr>
        <p:spPr>
          <a:xfrm>
            <a:off x="822960" y="2230051"/>
            <a:ext cx="2971800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Resolution samples</a:t>
            </a:r>
          </a:p>
        </p:txBody>
      </p:sp>
      <p:sp>
        <p:nvSpPr>
          <p:cNvPr id="455" name="Text 5"/>
          <p:cNvSpPr txBox="1"/>
          <p:nvPr/>
        </p:nvSpPr>
        <p:spPr>
          <a:xfrm>
            <a:off x="822960" y="3655773"/>
            <a:ext cx="2971800" cy="826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Res_sample, TOFRes_sample, Spot_sample — synthetic, delta-function-like scatterers used to study an instrument's resolution function, independent of any real material.</a:t>
            </a:r>
          </a:p>
        </p:txBody>
      </p:sp>
      <p:sp>
        <p:nvSpPr>
          <p:cNvPr id="456" name="Shape 6"/>
          <p:cNvSpPr/>
          <p:nvPr/>
        </p:nvSpPr>
        <p:spPr>
          <a:xfrm>
            <a:off x="4343400" y="1828800"/>
            <a:ext cx="3520441" cy="384048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7" name="Shape 7"/>
          <p:cNvSpPr/>
          <p:nvPr/>
        </p:nvSpPr>
        <p:spPr>
          <a:xfrm>
            <a:off x="4343399" y="1828799"/>
            <a:ext cx="3520442" cy="73154"/>
          </a:xfrm>
          <a:prstGeom prst="rect">
            <a:avLst/>
          </a:prstGeom>
          <a:solidFill>
            <a:srgbClr val="D97A2B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58" name="Text 8"/>
          <p:cNvSpPr txBox="1"/>
          <p:nvPr/>
        </p:nvSpPr>
        <p:spPr>
          <a:xfrm>
            <a:off x="4617720" y="2230051"/>
            <a:ext cx="2971800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Union framework</a:t>
            </a:r>
          </a:p>
        </p:txBody>
      </p:sp>
      <p:sp>
        <p:nvSpPr>
          <p:cNvPr id="459" name="Text 9"/>
          <p:cNvSpPr txBox="1"/>
          <p:nvPr/>
        </p:nvSpPr>
        <p:spPr>
          <a:xfrm>
            <a:off x="4617720" y="3157353"/>
            <a:ext cx="2971800" cy="18234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Small physics-process components — Incoherent_process, Powder_process, Single_crystal_process, NCrystal_process (McStas); Incoherent_process, Powder_process, plus X-ray-specific Compton_xrl_process &amp; Rayleigh_xrl_process (McXtrace) — combined via Union_master into complex multi-material assemblies. Present in both codes; its assembly grammar is a topic for a dedicated advanced session.</a:t>
            </a:r>
          </a:p>
        </p:txBody>
      </p:sp>
      <p:sp>
        <p:nvSpPr>
          <p:cNvPr id="460" name="Shape 10"/>
          <p:cNvSpPr/>
          <p:nvPr/>
        </p:nvSpPr>
        <p:spPr>
          <a:xfrm>
            <a:off x="8138159" y="1828800"/>
            <a:ext cx="3520441" cy="384048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1" name="Shape 11"/>
          <p:cNvSpPr/>
          <p:nvPr/>
        </p:nvSpPr>
        <p:spPr>
          <a:xfrm>
            <a:off x="8138159" y="1828799"/>
            <a:ext cx="3520441" cy="73154"/>
          </a:xfrm>
          <a:prstGeom prst="rect">
            <a:avLst/>
          </a:prstGeom>
          <a:solidFill>
            <a:srgbClr val="1C729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2" name="Text 12"/>
          <p:cNvSpPr txBox="1"/>
          <p:nvPr/>
        </p:nvSpPr>
        <p:spPr>
          <a:xfrm>
            <a:off x="8412479" y="2230051"/>
            <a:ext cx="29718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z="1300">
                <a:solidFill>
                  <a:srgbClr val="20242B"/>
                </a:solidFill>
              </a:defRPr>
            </a:lvl1pPr>
          </a:lstStyle>
          <a:p>
            <a:pPr/>
            <a:r>
              <a:t>sasmodels &amp; PDB</a:t>
            </a:r>
          </a:p>
        </p:txBody>
      </p:sp>
      <p:sp>
        <p:nvSpPr>
          <p:cNvPr id="463" name="Text 13"/>
          <p:cNvSpPr txBox="1"/>
          <p:nvPr/>
        </p:nvSpPr>
        <p:spPr>
          <a:xfrm>
            <a:off x="8412479" y="3655773"/>
            <a:ext cx="2971801" cy="8266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25000"/>
              </a:lnSpc>
              <a:defRPr sz="1000">
                <a:solidFill>
                  <a:srgbClr val="6E7580"/>
                </a:solidFill>
              </a:defRPr>
            </a:lvl1pPr>
          </a:lstStyle>
          <a:p>
            <a:pPr/>
            <a:r>
              <a:t>92 identically-named SasView_* components in both codes' sasmodels library, plus the SANSPDB / SAXSPDB macromolecule components — already introduced under SANS/SAXS, noted here for completeness.</a:t>
            </a:r>
          </a:p>
        </p:txBody>
      </p:sp>
      <p:sp>
        <p:nvSpPr>
          <p:cNvPr id="464" name="Text 14"/>
          <p:cNvSpPr txBox="1"/>
          <p:nvPr/>
        </p:nvSpPr>
        <p:spPr>
          <a:xfrm>
            <a:off x="594359" y="5931075"/>
            <a:ext cx="10972802" cy="390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i="1" sz="1100">
                <a:solidFill>
                  <a:srgbClr val="6E7580"/>
                </a:solidFill>
              </a:defRPr>
            </a:lvl1pPr>
          </a:lstStyle>
          <a:p>
            <a:pPr/>
            <a:r>
              <a:t>A note on advanced grammar: concentric, GROUP, WHEN and EXTEND all let you combine sample components into richer assemblies. We've kept today's overview to the physics — ask if you'd like a pointer into the syntax.</a:t>
            </a:r>
          </a:p>
        </p:txBody>
      </p:sp>
      <p:sp>
        <p:nvSpPr>
          <p:cNvPr id="465" name="Text 15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66" name="Text 16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16</a:t>
            </a:r>
          </a:p>
        </p:txBody>
      </p:sp>
      <p:grpSp>
        <p:nvGrpSpPr>
          <p:cNvPr id="473" name="Group 19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471" name="Group 20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467" name="Picture 22" descr="Picture 2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70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468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69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72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5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3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476" name="Text 0"/>
          <p:cNvSpPr txBox="1"/>
          <p:nvPr/>
        </p:nvSpPr>
        <p:spPr>
          <a:xfrm>
            <a:off x="594360" y="406199"/>
            <a:ext cx="8869680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</a:defRPr>
            </a:lvl1pPr>
          </a:lstStyle>
          <a:p>
            <a:pPr/>
            <a:r>
              <a:t>SUMMARY</a:t>
            </a:r>
          </a:p>
        </p:txBody>
      </p:sp>
      <p:sp>
        <p:nvSpPr>
          <p:cNvPr id="477" name="Text 1"/>
          <p:cNvSpPr txBox="1"/>
          <p:nvPr/>
        </p:nvSpPr>
        <p:spPr>
          <a:xfrm>
            <a:off x="594359" y="795528"/>
            <a:ext cx="9692642" cy="548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The full picture</a:t>
            </a:r>
          </a:p>
        </p:txBody>
      </p:sp>
      <p:graphicFrame>
        <p:nvGraphicFramePr>
          <p:cNvPr id="478" name="Table 0"/>
          <p:cNvGraphicFramePr/>
          <p:nvPr/>
        </p:nvGraphicFramePr>
        <p:xfrm>
          <a:off x="457200" y="1417319"/>
          <a:ext cx="11292841" cy="48006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31720"/>
                <a:gridCol w="2880360"/>
                <a:gridCol w="2880360"/>
                <a:gridCol w="3200400"/>
              </a:tblGrid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Technique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McStas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McXtrace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A659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20242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Powder diffraction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PowderN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PowderN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Shared name &amp; file format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Single-crystal diffraction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Single_crystal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Single_crystal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Shared name; mosaic model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Isotropic structure/dynamics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Isotropic_Sqw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Isotropic_Sqw (exp.)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Elastic or inelastic, S(q) / S(q,ω)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Library-backed diffraction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NCrystal_sample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Via the NCrystal library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SANS / SAXS (analytic)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Sans_spheres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Saxs_spheres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Exact naming parallel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SANS / SAXS (full library)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SasView_* (92 comps)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SasView_* (92 comps)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File-for-file identical set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SANS / SAXS (macromolecule)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SANSPDB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SAXSPDB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Direct from a PDB file (contrib)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Absorption spectroscopy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Filter, Abs_objects, Absorption_sample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X-ray only; mono-atomic, fast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Fluorescence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Fluorescence, FluoCrystal, FluoPowder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X-ray only; any shape/compound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Imaging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absorbing blocks / OFF meshes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Neutron only, in practice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Reflectometry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Multilayer_Sample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Small library (contrib)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Inelastic scattering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Phonon_simple, Magnon_bcc, …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Isotropic_Sqw (IXS, exp.)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Richer on the neutron side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Resolution / generic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Res_sample, TOFRes_sample, Spot_sample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—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Synthetic, for resolution studies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900">
                          <a:solidFill>
                            <a:srgbClr val="20242B"/>
                          </a:solidFill>
                        </a:rPr>
                        <a:t>Advanced assemblies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Union components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20242B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Union components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900">
                          <a:solidFill>
                            <a:srgbClr val="6E7580"/>
                          </a:solidFill>
                        </a:rPr>
                        <a:t>Shared framework, both codes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DDE1E6"/>
                      </a:solidFill>
                    </a:lnL>
                    <a:lnR w="6350">
                      <a:solidFill>
                        <a:srgbClr val="DDE1E6"/>
                      </a:solidFill>
                    </a:lnR>
                    <a:lnT w="6350">
                      <a:solidFill>
                        <a:srgbClr val="DDE1E6"/>
                      </a:solidFill>
                    </a:lnT>
                    <a:lnB w="6350">
                      <a:solidFill>
                        <a:srgbClr val="DDE1E6"/>
                      </a:solidFill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79" name="Text 2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480" name="Text 3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17</a:t>
            </a:r>
          </a:p>
        </p:txBody>
      </p:sp>
      <p:grpSp>
        <p:nvGrpSpPr>
          <p:cNvPr id="487" name="Group 4"/>
          <p:cNvGrpSpPr/>
          <p:nvPr/>
        </p:nvGrpSpPr>
        <p:grpSpPr>
          <a:xfrm>
            <a:off x="8424360" y="119519"/>
            <a:ext cx="1590841" cy="748802"/>
            <a:chOff x="0" y="0"/>
            <a:chExt cx="1590840" cy="748800"/>
          </a:xfrm>
        </p:grpSpPr>
        <p:grpSp>
          <p:nvGrpSpPr>
            <p:cNvPr id="485" name="Group 7"/>
            <p:cNvGrpSpPr/>
            <p:nvPr/>
          </p:nvGrpSpPr>
          <p:grpSpPr>
            <a:xfrm>
              <a:off x="800640" y="4781"/>
              <a:ext cx="790201" cy="708379"/>
              <a:chOff x="0" y="0"/>
              <a:chExt cx="790200" cy="708378"/>
            </a:xfrm>
          </p:grpSpPr>
          <p:pic>
            <p:nvPicPr>
              <p:cNvPr id="481" name="Picture 9" descr="Picture 9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7" cy="424534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84" name="Group 32"/>
              <p:cNvGrpSpPr/>
              <p:nvPr/>
            </p:nvGrpSpPr>
            <p:grpSpPr>
              <a:xfrm>
                <a:off x="0" y="407058"/>
                <a:ext cx="790201" cy="301321"/>
                <a:chOff x="0" y="0"/>
                <a:chExt cx="790200" cy="301320"/>
              </a:xfrm>
            </p:grpSpPr>
            <p:pic>
              <p:nvPicPr>
                <p:cNvPr id="482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0" y="-1"/>
                  <a:ext cx="547921" cy="264602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83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0" y="5040"/>
                  <a:ext cx="200881" cy="296281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86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2" cy="7488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9418319" y="-1463040"/>
            <a:ext cx="4754881" cy="4754880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0" name="Shape 1"/>
          <p:cNvSpPr/>
          <p:nvPr/>
        </p:nvSpPr>
        <p:spPr>
          <a:xfrm>
            <a:off x="-1828801" y="4206240"/>
            <a:ext cx="4206242" cy="4206241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1" name="Text 2"/>
          <p:cNvSpPr txBox="1"/>
          <p:nvPr/>
        </p:nvSpPr>
        <p:spPr>
          <a:xfrm>
            <a:off x="868680" y="1301749"/>
            <a:ext cx="9052561" cy="68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4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Where to go deeper</a:t>
            </a:r>
          </a:p>
        </p:txBody>
      </p:sp>
      <p:sp>
        <p:nvSpPr>
          <p:cNvPr id="492" name="Shape 3"/>
          <p:cNvSpPr/>
          <p:nvPr/>
        </p:nvSpPr>
        <p:spPr>
          <a:xfrm>
            <a:off x="822960" y="2286000"/>
            <a:ext cx="5120641" cy="2880361"/>
          </a:xfrm>
          <a:prstGeom prst="roundRect">
            <a:avLst>
              <a:gd name="adj" fmla="val 3175"/>
            </a:avLst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3" name="Text 4"/>
          <p:cNvSpPr txBox="1"/>
          <p:nvPr/>
        </p:nvSpPr>
        <p:spPr>
          <a:xfrm>
            <a:off x="1188720" y="2531109"/>
            <a:ext cx="438912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8FE3C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McStas</a:t>
            </a:r>
          </a:p>
        </p:txBody>
      </p:sp>
      <p:sp>
        <p:nvSpPr>
          <p:cNvPr id="494" name="Text 5"/>
          <p:cNvSpPr txBox="1"/>
          <p:nvPr/>
        </p:nvSpPr>
        <p:spPr>
          <a:xfrm>
            <a:off x="1188720" y="3201845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mcdoc sample  /  mcdoc -c</a:t>
            </a:r>
          </a:p>
        </p:txBody>
      </p:sp>
      <p:sp>
        <p:nvSpPr>
          <p:cNvPr id="495" name="Text 6"/>
          <p:cNvSpPr txBox="1"/>
          <p:nvPr/>
        </p:nvSpPr>
        <p:spPr>
          <a:xfrm>
            <a:off x="1188720" y="3750485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Data: $MCSTAS/data (Lau/Laz/Sqw/PDB/ncmat)</a:t>
            </a:r>
          </a:p>
        </p:txBody>
      </p:sp>
      <p:sp>
        <p:nvSpPr>
          <p:cNvPr id="496" name="Text 7"/>
          <p:cNvSpPr txBox="1"/>
          <p:nvPr/>
        </p:nvSpPr>
        <p:spPr>
          <a:xfrm>
            <a:off x="1188720" y="4299125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cif2hkl --powder / --xtal file.cif</a:t>
            </a:r>
          </a:p>
        </p:txBody>
      </p:sp>
      <p:sp>
        <p:nvSpPr>
          <p:cNvPr id="497" name="Shape 8"/>
          <p:cNvSpPr/>
          <p:nvPr/>
        </p:nvSpPr>
        <p:spPr>
          <a:xfrm>
            <a:off x="6309359" y="2286000"/>
            <a:ext cx="5120641" cy="2880361"/>
          </a:xfrm>
          <a:prstGeom prst="roundRect">
            <a:avLst>
              <a:gd name="adj" fmla="val 3175"/>
            </a:avLst>
          </a:prstGeom>
          <a:solidFill>
            <a:srgbClr val="141A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98" name="Text 9"/>
          <p:cNvSpPr txBox="1"/>
          <p:nvPr/>
        </p:nvSpPr>
        <p:spPr>
          <a:xfrm>
            <a:off x="6675120" y="2531109"/>
            <a:ext cx="4389120" cy="33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600">
                <a:solidFill>
                  <a:srgbClr val="FFD79A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McXtrace</a:t>
            </a:r>
          </a:p>
        </p:txBody>
      </p:sp>
      <p:sp>
        <p:nvSpPr>
          <p:cNvPr id="499" name="Text 10"/>
          <p:cNvSpPr txBox="1"/>
          <p:nvPr/>
        </p:nvSpPr>
        <p:spPr>
          <a:xfrm>
            <a:off x="6675120" y="3201845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mxdoc sample  /  mxdoc -c</a:t>
            </a:r>
          </a:p>
        </p:txBody>
      </p:sp>
      <p:sp>
        <p:nvSpPr>
          <p:cNvPr id="500" name="Text 11"/>
          <p:cNvSpPr txBox="1"/>
          <p:nvPr/>
        </p:nvSpPr>
        <p:spPr>
          <a:xfrm>
            <a:off x="6675120" y="3750485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Practicals: absorption (ROCK), fluorescence (LUCIA)</a:t>
            </a:r>
          </a:p>
        </p:txBody>
      </p:sp>
      <p:sp>
        <p:nvSpPr>
          <p:cNvPr id="501" name="Text 12"/>
          <p:cNvSpPr txBox="1"/>
          <p:nvPr/>
        </p:nvSpPr>
        <p:spPr>
          <a:xfrm>
            <a:off x="6675120" y="4299125"/>
            <a:ext cx="4389120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lnSpc>
                <a:spcPct val="110000"/>
              </a:lnSpc>
              <a:defRPr sz="1100">
                <a:solidFill>
                  <a:srgbClr val="E6E9F5"/>
                </a:solidFill>
              </a:defRPr>
            </a:lvl1pPr>
          </a:lstStyle>
          <a:p>
            <a:pPr/>
            <a:r>
              <a:t>McCode wiki: generating Single_crystal/PowderN files</a:t>
            </a:r>
          </a:p>
        </p:txBody>
      </p:sp>
      <p:sp>
        <p:nvSpPr>
          <p:cNvPr id="502" name="Shape 13"/>
          <p:cNvSpPr/>
          <p:nvPr/>
        </p:nvSpPr>
        <p:spPr>
          <a:xfrm>
            <a:off x="822959" y="5440679"/>
            <a:ext cx="2926082" cy="1"/>
          </a:xfrm>
          <a:prstGeom prst="line">
            <a:avLst/>
          </a:prstGeom>
          <a:ln w="12700">
            <a:solidFill>
              <a:srgbClr val="3C4A8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3" name="Text 14"/>
          <p:cNvSpPr txBox="1"/>
          <p:nvPr/>
        </p:nvSpPr>
        <p:spPr>
          <a:xfrm>
            <a:off x="868680" y="5567987"/>
            <a:ext cx="7223761" cy="248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AAB6DE"/>
                </a:solidFill>
              </a:defRPr>
            </a:lvl1pPr>
          </a:lstStyle>
          <a:p>
            <a:pPr/>
            <a:r>
              <a:t>Peter Willendrup   ·   pkwi@fysik.dtu.dk   ·   DTU Physics</a:t>
            </a:r>
          </a:p>
        </p:txBody>
      </p:sp>
      <p:sp>
        <p:nvSpPr>
          <p:cNvPr id="504" name="Text 15"/>
          <p:cNvSpPr txBox="1"/>
          <p:nvPr/>
        </p:nvSpPr>
        <p:spPr>
          <a:xfrm>
            <a:off x="594360" y="6480723"/>
            <a:ext cx="7223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McStas &amp; McXtrace  ·  Sample Components</a:t>
            </a:r>
          </a:p>
        </p:txBody>
      </p:sp>
      <p:sp>
        <p:nvSpPr>
          <p:cNvPr id="505" name="Text 16"/>
          <p:cNvSpPr txBox="1"/>
          <p:nvPr/>
        </p:nvSpPr>
        <p:spPr>
          <a:xfrm>
            <a:off x="11231575" y="6480723"/>
            <a:ext cx="36576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r">
              <a:defRPr sz="900">
                <a:solidFill>
                  <a:srgbClr val="6E7580"/>
                </a:solidFill>
              </a:defRPr>
            </a:lvl1pPr>
          </a:lstStyle>
          <a:p>
            <a:pPr/>
            <a:r>
              <a:t>18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