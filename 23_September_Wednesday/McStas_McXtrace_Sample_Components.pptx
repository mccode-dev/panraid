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ptos"/>
      </a:defRPr>
    </a:lvl1pPr>
    <a:lvl2pPr indent="228600" latinLnBrk="0">
      <a:defRPr sz="1200">
        <a:latin typeface="+mn-lt"/>
        <a:ea typeface="+mn-ea"/>
        <a:cs typeface="+mn-cs"/>
        <a:sym typeface="Aptos"/>
      </a:defRPr>
    </a:lvl2pPr>
    <a:lvl3pPr indent="457200" latinLnBrk="0">
      <a:defRPr sz="1200">
        <a:latin typeface="+mn-lt"/>
        <a:ea typeface="+mn-ea"/>
        <a:cs typeface="+mn-cs"/>
        <a:sym typeface="Aptos"/>
      </a:defRPr>
    </a:lvl3pPr>
    <a:lvl4pPr indent="685800" latinLnBrk="0">
      <a:defRPr sz="1200">
        <a:latin typeface="+mn-lt"/>
        <a:ea typeface="+mn-ea"/>
        <a:cs typeface="+mn-cs"/>
        <a:sym typeface="Aptos"/>
      </a:defRPr>
    </a:lvl4pPr>
    <a:lvl5pPr indent="914400" latinLnBrk="0">
      <a:defRPr sz="1200">
        <a:latin typeface="+mn-lt"/>
        <a:ea typeface="+mn-ea"/>
        <a:cs typeface="+mn-cs"/>
        <a:sym typeface="Aptos"/>
      </a:defRPr>
    </a:lvl5pPr>
    <a:lvl6pPr indent="1143000" latinLnBrk="0">
      <a:defRPr sz="1200">
        <a:latin typeface="+mn-lt"/>
        <a:ea typeface="+mn-ea"/>
        <a:cs typeface="+mn-cs"/>
        <a:sym typeface="Aptos"/>
      </a:defRPr>
    </a:lvl6pPr>
    <a:lvl7pPr indent="1371600" latinLnBrk="0">
      <a:defRPr sz="1200">
        <a:latin typeface="+mn-lt"/>
        <a:ea typeface="+mn-ea"/>
        <a:cs typeface="+mn-cs"/>
        <a:sym typeface="Aptos"/>
      </a:defRPr>
    </a:lvl7pPr>
    <a:lvl8pPr indent="1600200" latinLnBrk="0">
      <a:defRPr sz="1200">
        <a:latin typeface="+mn-lt"/>
        <a:ea typeface="+mn-ea"/>
        <a:cs typeface="+mn-cs"/>
        <a:sym typeface="Aptos"/>
      </a:defRPr>
    </a:lvl8pPr>
    <a:lvl9pPr indent="18288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78978" y="6232199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1.tif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.jpeg"/><Relationship Id="rId10" Type="http://schemas.openxmlformats.org/officeDocument/2006/relationships/image" Target="../media/image2.jpeg"/><Relationship Id="rId11" Type="http://schemas.openxmlformats.org/officeDocument/2006/relationships/image" Target="../media/image3.png"/><Relationship Id="rId12" Type="http://schemas.openxmlformats.org/officeDocument/2006/relationships/image" Target="../media/image4.png"/><Relationship Id="rId13" Type="http://schemas.openxmlformats.org/officeDocument/2006/relationships/image" Target="../media/image1.gif"/><Relationship Id="rId14" Type="http://schemas.openxmlformats.org/officeDocument/2006/relationships/image" Target="../media/image5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3.jpeg"/><Relationship Id="rId6" Type="http://schemas.openxmlformats.org/officeDocument/2006/relationships/image" Target="../media/image13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1.gif"/><Relationship Id="rId10" Type="http://schemas.openxmlformats.org/officeDocument/2006/relationships/image" Target="../media/image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Relationship Id="rId7" Type="http://schemas.openxmlformats.org/officeDocument/2006/relationships/image" Target="../media/image14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9418318" y="-1463040"/>
            <a:ext cx="4754884" cy="4754880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" name="Shape 1"/>
          <p:cNvSpPr/>
          <p:nvPr/>
        </p:nvSpPr>
        <p:spPr>
          <a:xfrm>
            <a:off x="-1828802" y="4206240"/>
            <a:ext cx="4206244" cy="4206243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22960" y="457200"/>
            <a:ext cx="1397204" cy="716891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Text 2"/>
          <p:cNvSpPr txBox="1"/>
          <p:nvPr/>
        </p:nvSpPr>
        <p:spPr>
          <a:xfrm>
            <a:off x="868680" y="1642680"/>
            <a:ext cx="8138160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300" sz="1400">
                <a:solidFill>
                  <a:srgbClr val="9FB4E8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SAMPLE COMPONENTS</a:t>
            </a:r>
          </a:p>
        </p:txBody>
      </p:sp>
      <p:sp>
        <p:nvSpPr>
          <p:cNvPr id="24" name="Text 3"/>
          <p:cNvSpPr txBox="1"/>
          <p:nvPr/>
        </p:nvSpPr>
        <p:spPr>
          <a:xfrm>
            <a:off x="822960" y="2157729"/>
            <a:ext cx="9509761" cy="14452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>
              <a:lnSpc>
                <a:spcPct val="104999"/>
              </a:lnSpc>
              <a:defRPr sz="4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The physics at the heart</a:t>
            </a:r>
          </a:p>
          <a:p>
            <a:pPr>
              <a:lnSpc>
                <a:spcPct val="104999"/>
              </a:lnSpc>
              <a:defRPr sz="4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of the beamline</a:t>
            </a:r>
          </a:p>
        </p:txBody>
      </p:sp>
      <p:sp>
        <p:nvSpPr>
          <p:cNvPr id="25" name="Text 4"/>
          <p:cNvSpPr txBox="1"/>
          <p:nvPr/>
        </p:nvSpPr>
        <p:spPr>
          <a:xfrm>
            <a:off x="868679" y="3827344"/>
            <a:ext cx="9235442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600">
                <a:solidFill>
                  <a:srgbClr val="C7D3F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Diffraction, small-angle scattering, spectroscopy &amp; imaging in McStas &amp; McXtrace</a:t>
            </a:r>
          </a:p>
        </p:txBody>
      </p:sp>
      <p:sp>
        <p:nvSpPr>
          <p:cNvPr id="26" name="Shape 5"/>
          <p:cNvSpPr/>
          <p:nvPr/>
        </p:nvSpPr>
        <p:spPr>
          <a:xfrm>
            <a:off x="822960" y="4480559"/>
            <a:ext cx="1417322" cy="310898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" name="Text 6"/>
          <p:cNvSpPr txBox="1"/>
          <p:nvPr/>
        </p:nvSpPr>
        <p:spPr>
          <a:xfrm>
            <a:off x="868680" y="4523153"/>
            <a:ext cx="1325882" cy="2257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1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— neutrons</a:t>
            </a:r>
          </a:p>
        </p:txBody>
      </p:sp>
      <p:sp>
        <p:nvSpPr>
          <p:cNvPr id="28" name="Shape 7"/>
          <p:cNvSpPr/>
          <p:nvPr/>
        </p:nvSpPr>
        <p:spPr>
          <a:xfrm>
            <a:off x="2377438" y="4480559"/>
            <a:ext cx="1417323" cy="310898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" name="Text 8"/>
          <p:cNvSpPr txBox="1"/>
          <p:nvPr/>
        </p:nvSpPr>
        <p:spPr>
          <a:xfrm>
            <a:off x="2423159" y="4523153"/>
            <a:ext cx="1325882" cy="2257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100">
                <a:solidFill>
                  <a:srgbClr val="D97A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McXtrace — X-rays</a:t>
            </a:r>
          </a:p>
        </p:txBody>
      </p:sp>
      <p:pic>
        <p:nvPicPr>
          <p:cNvPr id="30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759596" y="4018788"/>
            <a:ext cx="3150110" cy="979324"/>
          </a:xfrm>
          <a:prstGeom prst="rect">
            <a:avLst/>
          </a:prstGeom>
          <a:ln w="12700">
            <a:miter lim="400000"/>
          </a:ln>
        </p:spPr>
      </p:pic>
      <p:sp>
        <p:nvSpPr>
          <p:cNvPr id="31" name="Shape 9"/>
          <p:cNvSpPr/>
          <p:nvPr/>
        </p:nvSpPr>
        <p:spPr>
          <a:xfrm>
            <a:off x="822958" y="5806440"/>
            <a:ext cx="2926083" cy="2"/>
          </a:xfrm>
          <a:prstGeom prst="line">
            <a:avLst/>
          </a:prstGeom>
          <a:ln w="12700">
            <a:solidFill>
              <a:srgbClr val="3C4A8C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" name="Text 10"/>
          <p:cNvSpPr txBox="1"/>
          <p:nvPr/>
        </p:nvSpPr>
        <p:spPr>
          <a:xfrm>
            <a:off x="868680" y="5920031"/>
            <a:ext cx="539496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200">
                <a:solidFill>
                  <a:srgbClr val="AAB6DE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Peter Willendrup   ·   DTU Physics</a:t>
            </a:r>
          </a:p>
        </p:txBody>
      </p:sp>
      <p:sp>
        <p:nvSpPr>
          <p:cNvPr id="33" name="Text 11"/>
          <p:cNvSpPr txBox="1"/>
          <p:nvPr/>
        </p:nvSpPr>
        <p:spPr>
          <a:xfrm>
            <a:off x="868680" y="6205650"/>
            <a:ext cx="6309362" cy="2257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100">
                <a:solidFill>
                  <a:srgbClr val="7D8AC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PaNRAID School  ·  supported by PEPR DIADEM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AGENDA</a:t>
            </a:r>
          </a:p>
        </p:txBody>
      </p:sp>
      <p:sp>
        <p:nvSpPr>
          <p:cNvPr id="37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What we'll cover</a:t>
            </a:r>
          </a:p>
        </p:txBody>
      </p:sp>
      <p:sp>
        <p:nvSpPr>
          <p:cNvPr id="38" name="Text 2"/>
          <p:cNvSpPr txBox="1"/>
          <p:nvPr/>
        </p:nvSpPr>
        <p:spPr>
          <a:xfrm>
            <a:off x="594358" y="1493960"/>
            <a:ext cx="9601204" cy="25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3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Four techniques in focus, plus a map of everything else on offer.</a:t>
            </a:r>
          </a:p>
        </p:txBody>
      </p:sp>
      <p:sp>
        <p:nvSpPr>
          <p:cNvPr id="39" name="Shape 3"/>
          <p:cNvSpPr/>
          <p:nvPr/>
        </p:nvSpPr>
        <p:spPr>
          <a:xfrm>
            <a:off x="548640" y="2176272"/>
            <a:ext cx="329187" cy="329187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" name="Text 4"/>
          <p:cNvSpPr txBox="1"/>
          <p:nvPr/>
        </p:nvSpPr>
        <p:spPr>
          <a:xfrm>
            <a:off x="594359" y="2199895"/>
            <a:ext cx="237746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3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41" name="Text 5"/>
          <p:cNvSpPr txBox="1"/>
          <p:nvPr/>
        </p:nvSpPr>
        <p:spPr>
          <a:xfrm>
            <a:off x="1069846" y="2136457"/>
            <a:ext cx="4754884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4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What a sample does</a:t>
            </a:r>
          </a:p>
        </p:txBody>
      </p:sp>
      <p:sp>
        <p:nvSpPr>
          <p:cNvPr id="42" name="Text 6"/>
          <p:cNvSpPr txBox="1"/>
          <p:nvPr/>
        </p:nvSpPr>
        <p:spPr>
          <a:xfrm>
            <a:off x="1069846" y="2538907"/>
            <a:ext cx="4754884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1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 quick recap, and the sample menu at a glance</a:t>
            </a:r>
          </a:p>
        </p:txBody>
      </p:sp>
      <p:sp>
        <p:nvSpPr>
          <p:cNvPr id="43" name="Shape 7"/>
          <p:cNvSpPr/>
          <p:nvPr/>
        </p:nvSpPr>
        <p:spPr>
          <a:xfrm>
            <a:off x="6355079" y="2176272"/>
            <a:ext cx="329187" cy="329187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" name="Text 8"/>
          <p:cNvSpPr txBox="1"/>
          <p:nvPr/>
        </p:nvSpPr>
        <p:spPr>
          <a:xfrm>
            <a:off x="6400798" y="2199895"/>
            <a:ext cx="237746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3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45" name="Text 9"/>
          <p:cNvSpPr txBox="1"/>
          <p:nvPr/>
        </p:nvSpPr>
        <p:spPr>
          <a:xfrm>
            <a:off x="6876287" y="2136457"/>
            <a:ext cx="4754883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4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Diffraction</a:t>
            </a:r>
          </a:p>
        </p:txBody>
      </p:sp>
      <p:sp>
        <p:nvSpPr>
          <p:cNvPr id="46" name="Text 10"/>
          <p:cNvSpPr txBox="1"/>
          <p:nvPr/>
        </p:nvSpPr>
        <p:spPr>
          <a:xfrm>
            <a:off x="6876287" y="2538907"/>
            <a:ext cx="4754883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1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Powders and single crystals — neutrons and X-rays</a:t>
            </a:r>
          </a:p>
        </p:txBody>
      </p:sp>
      <p:sp>
        <p:nvSpPr>
          <p:cNvPr id="47" name="Shape 11"/>
          <p:cNvSpPr/>
          <p:nvPr/>
        </p:nvSpPr>
        <p:spPr>
          <a:xfrm>
            <a:off x="548640" y="3200399"/>
            <a:ext cx="329187" cy="329187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" name="Text 12"/>
          <p:cNvSpPr txBox="1"/>
          <p:nvPr/>
        </p:nvSpPr>
        <p:spPr>
          <a:xfrm>
            <a:off x="594359" y="3224022"/>
            <a:ext cx="237746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3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49" name="Text 13"/>
          <p:cNvSpPr txBox="1"/>
          <p:nvPr/>
        </p:nvSpPr>
        <p:spPr>
          <a:xfrm>
            <a:off x="1069846" y="3160585"/>
            <a:ext cx="4754884" cy="2807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4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Small-angle scattering</a:t>
            </a:r>
          </a:p>
        </p:txBody>
      </p:sp>
      <p:sp>
        <p:nvSpPr>
          <p:cNvPr id="50" name="Text 14"/>
          <p:cNvSpPr txBox="1"/>
          <p:nvPr/>
        </p:nvSpPr>
        <p:spPr>
          <a:xfrm>
            <a:off x="1069846" y="3563035"/>
            <a:ext cx="4754884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1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SANS and SAXS, side by side</a:t>
            </a:r>
          </a:p>
        </p:txBody>
      </p:sp>
      <p:sp>
        <p:nvSpPr>
          <p:cNvPr id="51" name="Shape 15"/>
          <p:cNvSpPr/>
          <p:nvPr/>
        </p:nvSpPr>
        <p:spPr>
          <a:xfrm>
            <a:off x="6355079" y="3200399"/>
            <a:ext cx="329187" cy="329187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" name="Text 16"/>
          <p:cNvSpPr txBox="1"/>
          <p:nvPr/>
        </p:nvSpPr>
        <p:spPr>
          <a:xfrm>
            <a:off x="6400798" y="3224022"/>
            <a:ext cx="237746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3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53" name="Text 17"/>
          <p:cNvSpPr txBox="1"/>
          <p:nvPr/>
        </p:nvSpPr>
        <p:spPr>
          <a:xfrm>
            <a:off x="6876287" y="3160585"/>
            <a:ext cx="4754883" cy="2807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4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Absorption &amp; fluorescence</a:t>
            </a:r>
          </a:p>
        </p:txBody>
      </p:sp>
      <p:sp>
        <p:nvSpPr>
          <p:cNvPr id="54" name="Text 18"/>
          <p:cNvSpPr txBox="1"/>
          <p:nvPr/>
        </p:nvSpPr>
        <p:spPr>
          <a:xfrm>
            <a:off x="6876287" y="3563035"/>
            <a:ext cx="4754883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1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X-ray-only spectroscopy, with two worked examples</a:t>
            </a:r>
          </a:p>
        </p:txBody>
      </p:sp>
      <p:sp>
        <p:nvSpPr>
          <p:cNvPr id="55" name="Shape 19"/>
          <p:cNvSpPr/>
          <p:nvPr/>
        </p:nvSpPr>
        <p:spPr>
          <a:xfrm>
            <a:off x="548640" y="4224528"/>
            <a:ext cx="329187" cy="329187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" name="Text 20"/>
          <p:cNvSpPr txBox="1"/>
          <p:nvPr/>
        </p:nvSpPr>
        <p:spPr>
          <a:xfrm>
            <a:off x="594359" y="4248150"/>
            <a:ext cx="237746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3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57" name="Text 21"/>
          <p:cNvSpPr txBox="1"/>
          <p:nvPr/>
        </p:nvSpPr>
        <p:spPr>
          <a:xfrm>
            <a:off x="1069846" y="4184713"/>
            <a:ext cx="4754884" cy="2807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4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Imaging</a:t>
            </a:r>
          </a:p>
        </p:txBody>
      </p:sp>
      <p:sp>
        <p:nvSpPr>
          <p:cNvPr id="58" name="Text 22"/>
          <p:cNvSpPr txBox="1"/>
          <p:nvPr/>
        </p:nvSpPr>
        <p:spPr>
          <a:xfrm>
            <a:off x="1069846" y="4587162"/>
            <a:ext cx="4754884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1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Neutron-only absorption-contrast radiography</a:t>
            </a:r>
          </a:p>
        </p:txBody>
      </p:sp>
      <p:sp>
        <p:nvSpPr>
          <p:cNvPr id="59" name="Shape 23"/>
          <p:cNvSpPr/>
          <p:nvPr/>
        </p:nvSpPr>
        <p:spPr>
          <a:xfrm>
            <a:off x="6355079" y="4224528"/>
            <a:ext cx="329187" cy="329187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" name="Text 24"/>
          <p:cNvSpPr txBox="1"/>
          <p:nvPr/>
        </p:nvSpPr>
        <p:spPr>
          <a:xfrm>
            <a:off x="6400798" y="4248150"/>
            <a:ext cx="237746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3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61" name="Text 25"/>
          <p:cNvSpPr txBox="1"/>
          <p:nvPr/>
        </p:nvSpPr>
        <p:spPr>
          <a:xfrm>
            <a:off x="6876287" y="4184713"/>
            <a:ext cx="4754883" cy="2807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4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Reflectometry &amp; inelastic scattering</a:t>
            </a:r>
          </a:p>
        </p:txBody>
      </p:sp>
      <p:sp>
        <p:nvSpPr>
          <p:cNvPr id="62" name="Text 26"/>
          <p:cNvSpPr txBox="1"/>
          <p:nvPr/>
        </p:nvSpPr>
        <p:spPr>
          <a:xfrm>
            <a:off x="6876287" y="4587162"/>
            <a:ext cx="4754883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1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Briefly — what's available today</a:t>
            </a:r>
          </a:p>
        </p:txBody>
      </p:sp>
      <p:sp>
        <p:nvSpPr>
          <p:cNvPr id="63" name="Shape 27"/>
          <p:cNvSpPr/>
          <p:nvPr/>
        </p:nvSpPr>
        <p:spPr>
          <a:xfrm>
            <a:off x="548640" y="5248654"/>
            <a:ext cx="329187" cy="329187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4" name="Text 28"/>
          <p:cNvSpPr txBox="1"/>
          <p:nvPr/>
        </p:nvSpPr>
        <p:spPr>
          <a:xfrm>
            <a:off x="594359" y="5272278"/>
            <a:ext cx="237746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3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65" name="Text 29"/>
          <p:cNvSpPr txBox="1"/>
          <p:nvPr/>
        </p:nvSpPr>
        <p:spPr>
          <a:xfrm>
            <a:off x="1069846" y="5208840"/>
            <a:ext cx="4754884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4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Generic &amp; advanced assemblies</a:t>
            </a:r>
          </a:p>
        </p:txBody>
      </p:sp>
      <p:sp>
        <p:nvSpPr>
          <p:cNvPr id="66" name="Text 30"/>
          <p:cNvSpPr txBox="1"/>
          <p:nvPr/>
        </p:nvSpPr>
        <p:spPr>
          <a:xfrm>
            <a:off x="1069846" y="5611291"/>
            <a:ext cx="4754884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1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Resolution samples, Union, and the sasmodels library</a:t>
            </a:r>
          </a:p>
        </p:txBody>
      </p:sp>
      <p:sp>
        <p:nvSpPr>
          <p:cNvPr id="67" name="Shape 31"/>
          <p:cNvSpPr/>
          <p:nvPr/>
        </p:nvSpPr>
        <p:spPr>
          <a:xfrm>
            <a:off x="6355079" y="5248654"/>
            <a:ext cx="329187" cy="329187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" name="Text 32"/>
          <p:cNvSpPr txBox="1"/>
          <p:nvPr/>
        </p:nvSpPr>
        <p:spPr>
          <a:xfrm>
            <a:off x="6400798" y="5272278"/>
            <a:ext cx="237746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3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69" name="Text 33"/>
          <p:cNvSpPr txBox="1"/>
          <p:nvPr/>
        </p:nvSpPr>
        <p:spPr>
          <a:xfrm>
            <a:off x="6876287" y="5208840"/>
            <a:ext cx="4754883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4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The full picture</a:t>
            </a:r>
          </a:p>
        </p:txBody>
      </p:sp>
      <p:sp>
        <p:nvSpPr>
          <p:cNvPr id="70" name="Text 34"/>
          <p:cNvSpPr txBox="1"/>
          <p:nvPr/>
        </p:nvSpPr>
        <p:spPr>
          <a:xfrm>
            <a:off x="6876287" y="5611291"/>
            <a:ext cx="4754883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1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One table, every technique, both codes</a:t>
            </a:r>
          </a:p>
        </p:txBody>
      </p:sp>
      <p:sp>
        <p:nvSpPr>
          <p:cNvPr id="71" name="Text 35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72" name="Text 36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grpSp>
        <p:nvGrpSpPr>
          <p:cNvPr id="79" name="Group 39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77" name="Group 40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73" name="Picture 42" descr="Picture 42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76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74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75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78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SHARED CONCEPT</a:t>
            </a:r>
          </a:p>
        </p:txBody>
      </p:sp>
      <p:sp>
        <p:nvSpPr>
          <p:cNvPr id="83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What a sample component does</a:t>
            </a:r>
          </a:p>
        </p:txBody>
      </p:sp>
      <p:sp>
        <p:nvSpPr>
          <p:cNvPr id="84" name="Text 2"/>
          <p:cNvSpPr txBox="1"/>
          <p:nvPr/>
        </p:nvSpPr>
        <p:spPr>
          <a:xfrm>
            <a:off x="594358" y="2542847"/>
            <a:ext cx="5669284" cy="222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 sample intercepts the ray, decides — statistically — whether it scatters, transmits, or is absorbed, and updates the ray's state accordingly.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p_interact lets you force a chosen fraction of rays to scatter, improving statistics without biasing the physical intensity.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Most samples support several shapes out of the box: box, cylinder, sphere — or a hollow version of each via thickness.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Many also accept an arbitrary OFF/PLY mesh (geometry=file) for a truly custom shape — the same complex-geometry engine underneath the diffraction, spectroscopy and imaging samples we'll see today.</a:t>
            </a:r>
          </a:p>
        </p:txBody>
      </p:sp>
      <p:sp>
        <p:nvSpPr>
          <p:cNvPr id="85" name="Shape 3"/>
          <p:cNvSpPr/>
          <p:nvPr/>
        </p:nvSpPr>
        <p:spPr>
          <a:xfrm>
            <a:off x="6537959" y="1737360"/>
            <a:ext cx="5120641" cy="4023360"/>
          </a:xfrm>
          <a:prstGeom prst="roundRect">
            <a:avLst>
              <a:gd name="adj" fmla="val 2273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" name="Text 4"/>
          <p:cNvSpPr txBox="1"/>
          <p:nvPr/>
        </p:nvSpPr>
        <p:spPr>
          <a:xfrm>
            <a:off x="6583678" y="1956107"/>
            <a:ext cx="502920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2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one ray, three possible fates</a:t>
            </a:r>
          </a:p>
        </p:txBody>
      </p:sp>
      <p:sp>
        <p:nvSpPr>
          <p:cNvPr id="87" name="Shape 5"/>
          <p:cNvSpPr/>
          <p:nvPr/>
        </p:nvSpPr>
        <p:spPr>
          <a:xfrm>
            <a:off x="6995159" y="3566159"/>
            <a:ext cx="1463042" cy="2"/>
          </a:xfrm>
          <a:prstGeom prst="line">
            <a:avLst/>
          </a:prstGeom>
          <a:ln w="25400">
            <a:solidFill>
              <a:srgbClr val="20242B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8" name="Shape 6"/>
          <p:cNvSpPr/>
          <p:nvPr/>
        </p:nvSpPr>
        <p:spPr>
          <a:xfrm>
            <a:off x="8458200" y="2926078"/>
            <a:ext cx="914400" cy="1280162"/>
          </a:xfrm>
          <a:prstGeom prst="roundRect">
            <a:avLst>
              <a:gd name="adj" fmla="val 6000"/>
            </a:avLst>
          </a:prstGeom>
          <a:solidFill>
            <a:srgbClr val="E3EEF2"/>
          </a:solidFill>
          <a:ln w="12700">
            <a:solidFill>
              <a:srgbClr val="1C729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" name="Text 7"/>
          <p:cNvSpPr txBox="1"/>
          <p:nvPr/>
        </p:nvSpPr>
        <p:spPr>
          <a:xfrm>
            <a:off x="8503918" y="3447332"/>
            <a:ext cx="822963" cy="2285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000">
                <a:solidFill>
                  <a:srgbClr val="12506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sample</a:t>
            </a:r>
          </a:p>
        </p:txBody>
      </p:sp>
      <p:sp>
        <p:nvSpPr>
          <p:cNvPr id="90" name="Shape 8"/>
          <p:cNvSpPr/>
          <p:nvPr/>
        </p:nvSpPr>
        <p:spPr>
          <a:xfrm>
            <a:off x="9372599" y="3566159"/>
            <a:ext cx="1554483" cy="2"/>
          </a:xfrm>
          <a:prstGeom prst="line">
            <a:avLst/>
          </a:prstGeom>
          <a:ln w="25400">
            <a:solidFill>
              <a:srgbClr val="D97A2B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1" name="Text 9"/>
          <p:cNvSpPr txBox="1"/>
          <p:nvPr/>
        </p:nvSpPr>
        <p:spPr>
          <a:xfrm>
            <a:off x="10241278" y="2372912"/>
            <a:ext cx="1645922" cy="2285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000">
                <a:solidFill>
                  <a:srgbClr val="D97A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scattered</a:t>
            </a:r>
          </a:p>
        </p:txBody>
      </p:sp>
      <p:sp>
        <p:nvSpPr>
          <p:cNvPr id="92" name="Shape 10"/>
          <p:cNvSpPr/>
          <p:nvPr/>
        </p:nvSpPr>
        <p:spPr>
          <a:xfrm>
            <a:off x="9372599" y="3566159"/>
            <a:ext cx="1554483" cy="2"/>
          </a:xfrm>
          <a:prstGeom prst="line">
            <a:avLst/>
          </a:prstGeom>
          <a:ln w="25400">
            <a:solidFill>
              <a:srgbClr val="1C7293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3" name="Text 11"/>
          <p:cNvSpPr txBox="1"/>
          <p:nvPr/>
        </p:nvSpPr>
        <p:spPr>
          <a:xfrm>
            <a:off x="10241278" y="3259881"/>
            <a:ext cx="1645922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0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transmitted</a:t>
            </a:r>
          </a:p>
        </p:txBody>
      </p:sp>
      <p:sp>
        <p:nvSpPr>
          <p:cNvPr id="94" name="Shape 12"/>
          <p:cNvSpPr/>
          <p:nvPr/>
        </p:nvSpPr>
        <p:spPr>
          <a:xfrm>
            <a:off x="9372599" y="3566159"/>
            <a:ext cx="1554483" cy="868682"/>
          </a:xfrm>
          <a:prstGeom prst="line">
            <a:avLst/>
          </a:prstGeom>
          <a:ln w="25400">
            <a:solidFill>
              <a:srgbClr val="6E758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" name="Text 13"/>
          <p:cNvSpPr txBox="1"/>
          <p:nvPr/>
        </p:nvSpPr>
        <p:spPr>
          <a:xfrm>
            <a:off x="10241278" y="4549184"/>
            <a:ext cx="1645922" cy="2285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absorbed (removed)</a:t>
            </a:r>
          </a:p>
        </p:txBody>
      </p:sp>
      <p:sp>
        <p:nvSpPr>
          <p:cNvPr id="96" name="Text 14"/>
          <p:cNvSpPr txBox="1"/>
          <p:nvPr/>
        </p:nvSpPr>
        <p:spPr>
          <a:xfrm>
            <a:off x="6903719" y="5106714"/>
            <a:ext cx="4389121" cy="3936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i="1"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Whichever happens, the ray's weight p is adjusted so the statistics stay correct on average.</a:t>
            </a:r>
          </a:p>
        </p:txBody>
      </p:sp>
      <p:sp>
        <p:nvSpPr>
          <p:cNvPr id="97" name="Text 15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98" name="Text 16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grpSp>
        <p:nvGrpSpPr>
          <p:cNvPr id="105" name="Group 19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103" name="Group 20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99" name="Picture 22" descr="Picture 22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102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100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01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104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108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FRAMING</a:t>
            </a:r>
          </a:p>
        </p:txBody>
      </p:sp>
      <p:sp>
        <p:nvSpPr>
          <p:cNvPr id="109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The sample menu, at a glance</a:t>
            </a:r>
          </a:p>
        </p:txBody>
      </p:sp>
      <p:sp>
        <p:nvSpPr>
          <p:cNvPr id="110" name="Text 2"/>
          <p:cNvSpPr txBox="1"/>
          <p:nvPr/>
        </p:nvSpPr>
        <p:spPr>
          <a:xfrm>
            <a:off x="594359" y="1471099"/>
            <a:ext cx="1033272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3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Four techniques get the spotlight today — with a map of what else exists at the end.</a:t>
            </a:r>
          </a:p>
        </p:txBody>
      </p:sp>
      <p:sp>
        <p:nvSpPr>
          <p:cNvPr id="111" name="Shape 3"/>
          <p:cNvSpPr/>
          <p:nvPr/>
        </p:nvSpPr>
        <p:spPr>
          <a:xfrm>
            <a:off x="548640" y="2057400"/>
            <a:ext cx="2084834" cy="3429000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" name="Shape 4"/>
          <p:cNvSpPr/>
          <p:nvPr/>
        </p:nvSpPr>
        <p:spPr>
          <a:xfrm>
            <a:off x="548639" y="2057399"/>
            <a:ext cx="2084834" cy="502922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" name="Text 5"/>
          <p:cNvSpPr txBox="1"/>
          <p:nvPr/>
        </p:nvSpPr>
        <p:spPr>
          <a:xfrm>
            <a:off x="667511" y="2167889"/>
            <a:ext cx="1847090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Diffraction</a:t>
            </a:r>
          </a:p>
        </p:txBody>
      </p:sp>
      <p:sp>
        <p:nvSpPr>
          <p:cNvPr id="114" name="Text 6"/>
          <p:cNvSpPr txBox="1"/>
          <p:nvPr/>
        </p:nvSpPr>
        <p:spPr>
          <a:xfrm>
            <a:off x="758952" y="3309928"/>
            <a:ext cx="1664207" cy="42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Powders &amp; single crystals. Both probes, both codes.</a:t>
            </a:r>
          </a:p>
        </p:txBody>
      </p:sp>
      <p:sp>
        <p:nvSpPr>
          <p:cNvPr id="115" name="Text 7"/>
          <p:cNvSpPr txBox="1"/>
          <p:nvPr/>
        </p:nvSpPr>
        <p:spPr>
          <a:xfrm>
            <a:off x="758952" y="5068352"/>
            <a:ext cx="1664207" cy="196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100" sz="8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NEUTRON + X-RAY</a:t>
            </a:r>
          </a:p>
        </p:txBody>
      </p:sp>
      <p:sp>
        <p:nvSpPr>
          <p:cNvPr id="116" name="Shape 8"/>
          <p:cNvSpPr/>
          <p:nvPr/>
        </p:nvSpPr>
        <p:spPr>
          <a:xfrm>
            <a:off x="2798064" y="2057400"/>
            <a:ext cx="2084834" cy="3429000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7" name="Shape 9"/>
          <p:cNvSpPr/>
          <p:nvPr/>
        </p:nvSpPr>
        <p:spPr>
          <a:xfrm>
            <a:off x="2798064" y="2057399"/>
            <a:ext cx="2084834" cy="502922"/>
          </a:xfrm>
          <a:prstGeom prst="rect">
            <a:avLst/>
          </a:prstGeom>
          <a:solidFill>
            <a:srgbClr val="D97A2B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8" name="Text 10"/>
          <p:cNvSpPr txBox="1"/>
          <p:nvPr/>
        </p:nvSpPr>
        <p:spPr>
          <a:xfrm>
            <a:off x="2916935" y="2167889"/>
            <a:ext cx="1847090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SANS / SAXS</a:t>
            </a:r>
          </a:p>
        </p:txBody>
      </p:sp>
      <p:sp>
        <p:nvSpPr>
          <p:cNvPr id="119" name="Text 11"/>
          <p:cNvSpPr txBox="1"/>
          <p:nvPr/>
        </p:nvSpPr>
        <p:spPr>
          <a:xfrm>
            <a:off x="3008376" y="3309928"/>
            <a:ext cx="1664208" cy="42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Molecular-scale structure from small-angle scattering.</a:t>
            </a:r>
          </a:p>
        </p:txBody>
      </p:sp>
      <p:sp>
        <p:nvSpPr>
          <p:cNvPr id="120" name="Text 12"/>
          <p:cNvSpPr txBox="1"/>
          <p:nvPr/>
        </p:nvSpPr>
        <p:spPr>
          <a:xfrm>
            <a:off x="3008376" y="5068352"/>
            <a:ext cx="1664208" cy="196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100" sz="800">
                <a:solidFill>
                  <a:srgbClr val="D97A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NEUTRON + X-RAY</a:t>
            </a:r>
          </a:p>
        </p:txBody>
      </p:sp>
      <p:sp>
        <p:nvSpPr>
          <p:cNvPr id="121" name="Shape 13"/>
          <p:cNvSpPr/>
          <p:nvPr/>
        </p:nvSpPr>
        <p:spPr>
          <a:xfrm>
            <a:off x="5047488" y="2057400"/>
            <a:ext cx="2066546" cy="2240280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" name="Shape 14"/>
          <p:cNvSpPr/>
          <p:nvPr/>
        </p:nvSpPr>
        <p:spPr>
          <a:xfrm>
            <a:off x="5047488" y="2057399"/>
            <a:ext cx="2084834" cy="502922"/>
          </a:xfrm>
          <a:prstGeom prst="rect">
            <a:avLst/>
          </a:prstGeom>
          <a:solidFill>
            <a:srgbClr val="D97A2B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" name="Text 15"/>
          <p:cNvSpPr txBox="1"/>
          <p:nvPr/>
        </p:nvSpPr>
        <p:spPr>
          <a:xfrm>
            <a:off x="5166359" y="2167889"/>
            <a:ext cx="1847090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X-ray Spectroscopy</a:t>
            </a:r>
          </a:p>
        </p:txBody>
      </p:sp>
      <p:sp>
        <p:nvSpPr>
          <p:cNvPr id="124" name="Text 16"/>
          <p:cNvSpPr txBox="1"/>
          <p:nvPr/>
        </p:nvSpPr>
        <p:spPr>
          <a:xfrm>
            <a:off x="5257798" y="3309928"/>
            <a:ext cx="1664210" cy="42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Absorption edges and fluorescence lines.</a:t>
            </a:r>
          </a:p>
        </p:txBody>
      </p:sp>
      <p:sp>
        <p:nvSpPr>
          <p:cNvPr id="125" name="Text 17"/>
          <p:cNvSpPr txBox="1"/>
          <p:nvPr/>
        </p:nvSpPr>
        <p:spPr>
          <a:xfrm>
            <a:off x="5239510" y="4055715"/>
            <a:ext cx="1664210" cy="1960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100" sz="800">
                <a:solidFill>
                  <a:srgbClr val="D97A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X-RAY ONLY</a:t>
            </a:r>
          </a:p>
        </p:txBody>
      </p:sp>
      <p:sp>
        <p:nvSpPr>
          <p:cNvPr id="126" name="Shape 18"/>
          <p:cNvSpPr/>
          <p:nvPr/>
        </p:nvSpPr>
        <p:spPr>
          <a:xfrm>
            <a:off x="7296911" y="2057400"/>
            <a:ext cx="2084835" cy="4663441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" name="Shape 19"/>
          <p:cNvSpPr/>
          <p:nvPr/>
        </p:nvSpPr>
        <p:spPr>
          <a:xfrm>
            <a:off x="7296911" y="2057399"/>
            <a:ext cx="2084834" cy="502922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" name="Text 20"/>
          <p:cNvSpPr txBox="1"/>
          <p:nvPr/>
        </p:nvSpPr>
        <p:spPr>
          <a:xfrm>
            <a:off x="7415783" y="2167889"/>
            <a:ext cx="1847090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Imaging</a:t>
            </a:r>
          </a:p>
        </p:txBody>
      </p:sp>
      <p:sp>
        <p:nvSpPr>
          <p:cNvPr id="129" name="Text 21"/>
          <p:cNvSpPr txBox="1"/>
          <p:nvPr/>
        </p:nvSpPr>
        <p:spPr>
          <a:xfrm>
            <a:off x="7507223" y="2858162"/>
            <a:ext cx="1664210" cy="421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Absorption-contrast radiography &amp; tomography.</a:t>
            </a:r>
          </a:p>
        </p:txBody>
      </p:sp>
      <p:sp>
        <p:nvSpPr>
          <p:cNvPr id="130" name="Text 22"/>
          <p:cNvSpPr txBox="1"/>
          <p:nvPr/>
        </p:nvSpPr>
        <p:spPr>
          <a:xfrm>
            <a:off x="7488935" y="4464847"/>
            <a:ext cx="1664210" cy="1960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100" sz="8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NEUTRONS</a:t>
            </a:r>
          </a:p>
        </p:txBody>
      </p:sp>
      <p:sp>
        <p:nvSpPr>
          <p:cNvPr id="131" name="Shape 23"/>
          <p:cNvSpPr/>
          <p:nvPr/>
        </p:nvSpPr>
        <p:spPr>
          <a:xfrm>
            <a:off x="9546335" y="2057400"/>
            <a:ext cx="2084834" cy="3429000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" name="Shape 24"/>
          <p:cNvSpPr/>
          <p:nvPr/>
        </p:nvSpPr>
        <p:spPr>
          <a:xfrm>
            <a:off x="9546335" y="2057399"/>
            <a:ext cx="2084834" cy="502922"/>
          </a:xfrm>
          <a:prstGeom prst="rect">
            <a:avLst/>
          </a:prstGeom>
          <a:solidFill>
            <a:srgbClr val="6E758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3" name="Text 25"/>
          <p:cNvSpPr txBox="1"/>
          <p:nvPr/>
        </p:nvSpPr>
        <p:spPr>
          <a:xfrm>
            <a:off x="9665207" y="2167889"/>
            <a:ext cx="1847090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…and more</a:t>
            </a:r>
          </a:p>
        </p:txBody>
      </p:sp>
      <p:sp>
        <p:nvSpPr>
          <p:cNvPr id="134" name="Text 26"/>
          <p:cNvSpPr txBox="1"/>
          <p:nvPr/>
        </p:nvSpPr>
        <p:spPr>
          <a:xfrm>
            <a:off x="9756647" y="3213670"/>
            <a:ext cx="1664210" cy="613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Reflectometry, inelastic scattering, generic &amp; advanced tools.</a:t>
            </a:r>
          </a:p>
        </p:txBody>
      </p:sp>
      <p:sp>
        <p:nvSpPr>
          <p:cNvPr id="135" name="Text 27"/>
          <p:cNvSpPr txBox="1"/>
          <p:nvPr/>
        </p:nvSpPr>
        <p:spPr>
          <a:xfrm>
            <a:off x="9756647" y="5068352"/>
            <a:ext cx="1664210" cy="196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100" sz="8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SEE SUMMARY</a:t>
            </a:r>
          </a:p>
        </p:txBody>
      </p:sp>
      <p:sp>
        <p:nvSpPr>
          <p:cNvPr id="136" name="Text 28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137" name="Text 29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8" name="Shape 13"/>
          <p:cNvSpPr/>
          <p:nvPr/>
        </p:nvSpPr>
        <p:spPr>
          <a:xfrm>
            <a:off x="5038344" y="4971960"/>
            <a:ext cx="2084834" cy="1748882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" name="Shape 14"/>
          <p:cNvSpPr/>
          <p:nvPr/>
        </p:nvSpPr>
        <p:spPr>
          <a:xfrm>
            <a:off x="5029198" y="4421046"/>
            <a:ext cx="2084835" cy="502920"/>
          </a:xfrm>
          <a:prstGeom prst="rect">
            <a:avLst/>
          </a:prstGeom>
          <a:solidFill>
            <a:srgbClr val="D97A2B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" name="Text 15"/>
          <p:cNvSpPr txBox="1"/>
          <p:nvPr/>
        </p:nvSpPr>
        <p:spPr>
          <a:xfrm>
            <a:off x="5148071" y="4436287"/>
            <a:ext cx="1847090" cy="472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Inelastic neutron  Scattering</a:t>
            </a:r>
          </a:p>
        </p:txBody>
      </p:sp>
      <p:sp>
        <p:nvSpPr>
          <p:cNvPr id="141" name="Text 22"/>
          <p:cNvSpPr txBox="1"/>
          <p:nvPr/>
        </p:nvSpPr>
        <p:spPr>
          <a:xfrm>
            <a:off x="5166359" y="6550695"/>
            <a:ext cx="1664210" cy="1960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100" sz="8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NEUTRON ONLY</a:t>
            </a:r>
          </a:p>
        </p:txBody>
      </p:sp>
      <p:sp>
        <p:nvSpPr>
          <p:cNvPr id="142" name="Text 16"/>
          <p:cNvSpPr txBox="1"/>
          <p:nvPr/>
        </p:nvSpPr>
        <p:spPr>
          <a:xfrm>
            <a:off x="5204307" y="4946304"/>
            <a:ext cx="1664210" cy="806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>
              <a:lnSpc>
                <a:spcPct val="120000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Phonons, Magnons, Spinwaves… </a:t>
            </a:r>
            <a:br/>
            <a:br/>
          </a:p>
        </p:txBody>
      </p:sp>
      <p:sp>
        <p:nvSpPr>
          <p:cNvPr id="143" name="Text 16"/>
          <p:cNvSpPr txBox="1"/>
          <p:nvPr/>
        </p:nvSpPr>
        <p:spPr>
          <a:xfrm>
            <a:off x="7424926" y="4776080"/>
            <a:ext cx="1664210" cy="806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X-ray imaging can of course also be done – but is left out of PaNRAID to reduce school scppe…</a:t>
            </a:r>
          </a:p>
        </p:txBody>
      </p:sp>
      <p:pic>
        <p:nvPicPr>
          <p:cNvPr id="144" name="Potassium_Humate_Shiny_Powder.tiff" descr="Potassium_Humate_Shiny_Powder.tif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98028" y="3947983"/>
            <a:ext cx="1758889" cy="989778"/>
          </a:xfrm>
          <a:prstGeom prst="rect">
            <a:avLst/>
          </a:prstGeom>
          <a:ln w="12700">
            <a:miter lim="400000"/>
          </a:ln>
        </p:spPr>
      </p:pic>
      <p:pic>
        <p:nvPicPr>
          <p:cNvPr id="145" name="pasted-image.tiff" descr="pasted-image.tiff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76655" y="3950044"/>
            <a:ext cx="681713" cy="942008"/>
          </a:xfrm>
          <a:prstGeom prst="rect">
            <a:avLst/>
          </a:prstGeom>
          <a:ln w="12700">
            <a:miter lim="400000"/>
          </a:ln>
        </p:spPr>
      </p:pic>
      <p:pic>
        <p:nvPicPr>
          <p:cNvPr id="146" name="Picture 48" descr="Picture 48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07206" y="3877309"/>
            <a:ext cx="762002" cy="9779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47" name="Picture 49" descr="Picture 4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3672382" y="3942788"/>
            <a:ext cx="1260232" cy="892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48" name="Picture 59" descr="Picture 59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5038344" y="2575840"/>
            <a:ext cx="2084834" cy="7600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49" name="Picture 61" descr="Picture 61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5289839" y="5349240"/>
            <a:ext cx="1581841" cy="1200123"/>
          </a:xfrm>
          <a:prstGeom prst="rect">
            <a:avLst/>
          </a:prstGeom>
          <a:ln w="12700">
            <a:miter lim="400000"/>
          </a:ln>
        </p:spPr>
      </p:pic>
      <p:sp>
        <p:nvSpPr>
          <p:cNvPr id="150" name="TextBox 62"/>
          <p:cNvSpPr txBox="1"/>
          <p:nvPr/>
        </p:nvSpPr>
        <p:spPr>
          <a:xfrm>
            <a:off x="5531489" y="6127271"/>
            <a:ext cx="1055201" cy="32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Left out of PaNRAID to </a:t>
            </a:r>
            <a:br/>
            <a:r>
              <a:t>reduce school scope…</a:t>
            </a:r>
          </a:p>
        </p:txBody>
      </p:sp>
      <p:pic>
        <p:nvPicPr>
          <p:cNvPr id="151" name="Picture 63" descr="Picture 63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7625605" y="5592926"/>
            <a:ext cx="1427443" cy="872899"/>
          </a:xfrm>
          <a:prstGeom prst="rect">
            <a:avLst/>
          </a:prstGeom>
          <a:ln w="12700">
            <a:miter lim="400000"/>
          </a:ln>
        </p:spPr>
      </p:pic>
      <p:sp>
        <p:nvSpPr>
          <p:cNvPr id="152" name="Text 17"/>
          <p:cNvSpPr txBox="1"/>
          <p:nvPr/>
        </p:nvSpPr>
        <p:spPr>
          <a:xfrm>
            <a:off x="7379207" y="6557730"/>
            <a:ext cx="1664208" cy="196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100" sz="800">
                <a:solidFill>
                  <a:srgbClr val="D97A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X-RAYS</a:t>
            </a:r>
          </a:p>
        </p:txBody>
      </p:sp>
      <p:pic>
        <p:nvPicPr>
          <p:cNvPr id="153" name="Picture 67" descr="Picture 67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7625605" y="3414881"/>
            <a:ext cx="1302240" cy="796335"/>
          </a:xfrm>
          <a:prstGeom prst="rect">
            <a:avLst/>
          </a:prstGeom>
          <a:ln w="12700">
            <a:miter lim="400000"/>
          </a:ln>
        </p:spPr>
      </p:pic>
      <p:sp>
        <p:nvSpPr>
          <p:cNvPr id="154" name="TextBox 68"/>
          <p:cNvSpPr txBox="1"/>
          <p:nvPr/>
        </p:nvSpPr>
        <p:spPr>
          <a:xfrm>
            <a:off x="9942035" y="4214296"/>
            <a:ext cx="1198101" cy="33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All the rest!</a:t>
            </a:r>
          </a:p>
        </p:txBody>
      </p:sp>
      <p:grpSp>
        <p:nvGrpSpPr>
          <p:cNvPr id="161" name="Group 33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159" name="Group 34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155" name="Picture 38" descr="Picture 38"/>
              <p:cNvPicPr>
                <a:picLocks noChangeAspect="1"/>
              </p:cNvPicPr>
              <p:nvPr/>
            </p:nvPicPr>
            <p:blipFill>
              <a:blip r:embed="rId11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158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156" name="Picture 29" descr="Picture 29"/>
                <p:cNvPicPr>
                  <a:picLocks noChangeAspect="1"/>
                </p:cNvPicPr>
                <p:nvPr/>
              </p:nvPicPr>
              <p:blipFill>
                <a:blip r:embed="rId12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57" name="Picture 30" descr="Picture 30"/>
                <p:cNvPicPr>
                  <a:picLocks noChangeAspect="1"/>
                </p:cNvPicPr>
                <p:nvPr/>
              </p:nvPicPr>
              <p:blipFill>
                <a:blip r:embed="rId13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160" name="Picture 31" descr="Picture 31"/>
            <p:cNvPicPr>
              <a:picLocks noChangeAspect="1"/>
            </p:cNvPicPr>
            <p:nvPr/>
          </p:nvPicPr>
          <p:blipFill>
            <a:blip r:embed="rId14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164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DIFFRACTION · SHARED PHYSICS</a:t>
            </a:r>
          </a:p>
        </p:txBody>
      </p:sp>
      <p:sp>
        <p:nvSpPr>
          <p:cNvPr id="165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From single crystal to powder</a:t>
            </a:r>
          </a:p>
        </p:txBody>
      </p:sp>
      <p:sp>
        <p:nvSpPr>
          <p:cNvPr id="166" name="Text 2"/>
          <p:cNvSpPr txBox="1"/>
          <p:nvPr/>
        </p:nvSpPr>
        <p:spPr>
          <a:xfrm>
            <a:off x="594359" y="1471099"/>
            <a:ext cx="1033272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3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 spectrum of disorder — the same underlying lattice, sampled differently.</a:t>
            </a:r>
          </a:p>
        </p:txBody>
      </p:sp>
      <p:sp>
        <p:nvSpPr>
          <p:cNvPr id="167" name="Shape 3"/>
          <p:cNvSpPr/>
          <p:nvPr/>
        </p:nvSpPr>
        <p:spPr>
          <a:xfrm>
            <a:off x="548640" y="2103120"/>
            <a:ext cx="3520441" cy="2286002"/>
          </a:xfrm>
          <a:prstGeom prst="roundRect">
            <a:avLst>
              <a:gd name="adj" fmla="val 3600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" name="Shape 4"/>
          <p:cNvSpPr/>
          <p:nvPr/>
        </p:nvSpPr>
        <p:spPr>
          <a:xfrm>
            <a:off x="2144266" y="2871216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" name="Text 5"/>
          <p:cNvSpPr txBox="1"/>
          <p:nvPr/>
        </p:nvSpPr>
        <p:spPr>
          <a:xfrm>
            <a:off x="777238" y="3574220"/>
            <a:ext cx="3063244" cy="25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Single crystal</a:t>
            </a:r>
          </a:p>
        </p:txBody>
      </p:sp>
      <p:sp>
        <p:nvSpPr>
          <p:cNvPr id="170" name="Text 6"/>
          <p:cNvSpPr txBox="1"/>
          <p:nvPr/>
        </p:nvSpPr>
        <p:spPr>
          <a:xfrm>
            <a:off x="822960" y="4000545"/>
            <a:ext cx="2971801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One orientation, up to a small mosaic spread</a:t>
            </a:r>
          </a:p>
        </p:txBody>
      </p:sp>
      <p:sp>
        <p:nvSpPr>
          <p:cNvPr id="171" name="Shape 7"/>
          <p:cNvSpPr/>
          <p:nvPr/>
        </p:nvSpPr>
        <p:spPr>
          <a:xfrm>
            <a:off x="4114798" y="3246120"/>
            <a:ext cx="182882" cy="2"/>
          </a:xfrm>
          <a:prstGeom prst="line">
            <a:avLst/>
          </a:prstGeom>
          <a:ln w="19050">
            <a:solidFill>
              <a:srgbClr val="6E758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2" name="Shape 8"/>
          <p:cNvSpPr/>
          <p:nvPr/>
        </p:nvSpPr>
        <p:spPr>
          <a:xfrm>
            <a:off x="4343400" y="2103120"/>
            <a:ext cx="3520441" cy="2286002"/>
          </a:xfrm>
          <a:prstGeom prst="roundRect">
            <a:avLst>
              <a:gd name="adj" fmla="val 3600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3" name="Shape 9"/>
          <p:cNvSpPr/>
          <p:nvPr/>
        </p:nvSpPr>
        <p:spPr>
          <a:xfrm rot="20640000">
            <a:off x="6240779" y="2871216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4" name="Shape 10"/>
          <p:cNvSpPr/>
          <p:nvPr/>
        </p:nvSpPr>
        <p:spPr>
          <a:xfrm rot="21120000">
            <a:off x="5716518" y="3000921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" name="Shape 11"/>
          <p:cNvSpPr/>
          <p:nvPr/>
        </p:nvSpPr>
        <p:spPr>
          <a:xfrm>
            <a:off x="5965430" y="2679928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" name="Shape 12"/>
          <p:cNvSpPr/>
          <p:nvPr/>
        </p:nvSpPr>
        <p:spPr>
          <a:xfrm rot="480000">
            <a:off x="6122599" y="3023617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7" name="Shape 13"/>
          <p:cNvSpPr/>
          <p:nvPr/>
        </p:nvSpPr>
        <p:spPr>
          <a:xfrm rot="960000">
            <a:off x="5641895" y="2837739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8" name="Text 14"/>
          <p:cNvSpPr txBox="1"/>
          <p:nvPr/>
        </p:nvSpPr>
        <p:spPr>
          <a:xfrm>
            <a:off x="4571998" y="3574220"/>
            <a:ext cx="3063242" cy="25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Textured polycrystal</a:t>
            </a:r>
          </a:p>
        </p:txBody>
      </p:sp>
      <p:sp>
        <p:nvSpPr>
          <p:cNvPr id="179" name="Text 15"/>
          <p:cNvSpPr txBox="1"/>
          <p:nvPr/>
        </p:nvSpPr>
        <p:spPr>
          <a:xfrm>
            <a:off x="4617720" y="4000545"/>
            <a:ext cx="2971801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Many crystallites, with a preferred orientation</a:t>
            </a:r>
          </a:p>
        </p:txBody>
      </p:sp>
      <p:sp>
        <p:nvSpPr>
          <p:cNvPr id="180" name="Shape 16"/>
          <p:cNvSpPr/>
          <p:nvPr/>
        </p:nvSpPr>
        <p:spPr>
          <a:xfrm>
            <a:off x="7909559" y="3246120"/>
            <a:ext cx="182882" cy="2"/>
          </a:xfrm>
          <a:prstGeom prst="line">
            <a:avLst/>
          </a:prstGeom>
          <a:ln w="19050">
            <a:solidFill>
              <a:srgbClr val="6E758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1" name="Shape 17"/>
          <p:cNvSpPr/>
          <p:nvPr/>
        </p:nvSpPr>
        <p:spPr>
          <a:xfrm>
            <a:off x="8138159" y="2103120"/>
            <a:ext cx="3520441" cy="2286002"/>
          </a:xfrm>
          <a:prstGeom prst="roundRect">
            <a:avLst>
              <a:gd name="adj" fmla="val 3600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" name="Shape 18"/>
          <p:cNvSpPr/>
          <p:nvPr/>
        </p:nvSpPr>
        <p:spPr>
          <a:xfrm>
            <a:off x="10236706" y="2871216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" name="Shape 19"/>
          <p:cNvSpPr/>
          <p:nvPr/>
        </p:nvSpPr>
        <p:spPr>
          <a:xfrm rot="2220000">
            <a:off x="9362937" y="3087391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" name="Shape 20"/>
          <p:cNvSpPr/>
          <p:nvPr/>
        </p:nvSpPr>
        <p:spPr>
          <a:xfrm rot="4440000">
            <a:off x="9777793" y="2552401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" name="Shape 21"/>
          <p:cNvSpPr/>
          <p:nvPr/>
        </p:nvSpPr>
        <p:spPr>
          <a:xfrm rot="6660000">
            <a:off x="10039739" y="3125221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6" name="Shape 22"/>
          <p:cNvSpPr/>
          <p:nvPr/>
        </p:nvSpPr>
        <p:spPr>
          <a:xfrm rot="8880000">
            <a:off x="9238567" y="2815424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7" name="Shape 23"/>
          <p:cNvSpPr/>
          <p:nvPr/>
        </p:nvSpPr>
        <p:spPr>
          <a:xfrm rot="11100000">
            <a:off x="10158179" y="2699491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8" name="Shape 24"/>
          <p:cNvSpPr/>
          <p:nvPr/>
        </p:nvSpPr>
        <p:spPr>
          <a:xfrm rot="13320000">
            <a:off x="9603120" y="3180264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9" name="Shape 25"/>
          <p:cNvSpPr/>
          <p:nvPr/>
        </p:nvSpPr>
        <p:spPr>
          <a:xfrm rot="15540000">
            <a:off x="9502102" y="2587157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0" name="Shape 26"/>
          <p:cNvSpPr/>
          <p:nvPr/>
        </p:nvSpPr>
        <p:spPr>
          <a:xfrm rot="17760000">
            <a:off x="10206141" y="2981089"/>
            <a:ext cx="329186" cy="109730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1" name="Text 27"/>
          <p:cNvSpPr txBox="1"/>
          <p:nvPr/>
        </p:nvSpPr>
        <p:spPr>
          <a:xfrm>
            <a:off x="8366759" y="3574220"/>
            <a:ext cx="3063242" cy="25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Powder</a:t>
            </a:r>
          </a:p>
        </p:txBody>
      </p:sp>
      <p:sp>
        <p:nvSpPr>
          <p:cNvPr id="192" name="Text 28"/>
          <p:cNvSpPr txBox="1"/>
          <p:nvPr/>
        </p:nvSpPr>
        <p:spPr>
          <a:xfrm>
            <a:off x="8412478" y="4000545"/>
            <a:ext cx="2971802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Complete orientational disorder</a:t>
            </a:r>
          </a:p>
        </p:txBody>
      </p:sp>
      <p:sp>
        <p:nvSpPr>
          <p:cNvPr id="193" name="Text 29"/>
          <p:cNvSpPr txBox="1"/>
          <p:nvPr/>
        </p:nvSpPr>
        <p:spPr>
          <a:xfrm>
            <a:off x="594358" y="4764078"/>
            <a:ext cx="10972804" cy="438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2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McStas's Single_crystal component sits at the ordered end and can itself model a mosaic spread; PowderN sits at the fully disordered end — both exist, under the same names, in McXtrace.</a:t>
            </a:r>
          </a:p>
        </p:txBody>
      </p:sp>
      <p:sp>
        <p:nvSpPr>
          <p:cNvPr id="194" name="Text 30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195" name="Text 31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5</a:t>
            </a:r>
          </a:p>
        </p:txBody>
      </p:sp>
      <p:pic>
        <p:nvPicPr>
          <p:cNvPr id="196" name="Picture 34" descr="Picture 3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684931" y="4983479"/>
            <a:ext cx="2790789" cy="193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97" name="pasted-image.png" descr="pasted-imag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565892" y="1372972"/>
            <a:ext cx="1555915" cy="1292182"/>
          </a:xfrm>
          <a:prstGeom prst="rect">
            <a:avLst/>
          </a:prstGeom>
          <a:ln w="12700">
            <a:miter lim="400000"/>
          </a:ln>
        </p:spPr>
      </p:pic>
      <p:pic>
        <p:nvPicPr>
          <p:cNvPr id="198" name="figure7.jpg" descr="figure7.jp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440679" y="5213198"/>
            <a:ext cx="1493452" cy="1474140"/>
          </a:xfrm>
          <a:prstGeom prst="rect">
            <a:avLst/>
          </a:prstGeom>
          <a:ln w="12700">
            <a:miter lim="400000"/>
          </a:ln>
        </p:spPr>
      </p:pic>
      <p:pic>
        <p:nvPicPr>
          <p:cNvPr id="199" name="Picture 39" descr="Picture 3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173231" y="5023489"/>
            <a:ext cx="2271256" cy="185355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06" name="Group 37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204" name="Group 38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200" name="Picture 41" descr="Picture 41"/>
              <p:cNvPicPr>
                <a:picLocks noChangeAspect="1"/>
              </p:cNvPicPr>
              <p:nvPr/>
            </p:nvPicPr>
            <p:blipFill>
              <a:blip r:embed="rId7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203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201" name="Picture 29" descr="Picture 29"/>
                <p:cNvPicPr>
                  <a:picLocks noChangeAspect="1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202" name="Picture 30" descr="Picture 30"/>
                <p:cNvPicPr>
                  <a:picLocks noChangeAspect="1"/>
                </p:cNvPicPr>
                <p:nvPr/>
              </p:nvPicPr>
              <p:blipFill>
                <a:blip r:embed="rId9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205" name="Picture 31" descr="Picture 31"/>
            <p:cNvPicPr>
              <a:picLocks noChangeAspect="1"/>
            </p:cNvPicPr>
            <p:nvPr/>
          </p:nvPicPr>
          <p:blipFill>
            <a:blip r:embed="rId10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SHARED COMPONENT</a:t>
            </a:r>
          </a:p>
        </p:txBody>
      </p:sp>
      <p:sp>
        <p:nvSpPr>
          <p:cNvPr id="210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Powder diffraction: PowderN</a:t>
            </a:r>
          </a:p>
        </p:txBody>
      </p:sp>
      <p:sp>
        <p:nvSpPr>
          <p:cNvPr id="211" name="Text 2"/>
          <p:cNvSpPr txBox="1"/>
          <p:nvPr/>
        </p:nvSpPr>
        <p:spPr>
          <a:xfrm>
            <a:off x="594359" y="1471099"/>
            <a:ext cx="1078992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3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The same component, same reflection-file format, in both McStas and McXtrace.</a:t>
            </a:r>
          </a:p>
        </p:txBody>
      </p:sp>
      <p:sp>
        <p:nvSpPr>
          <p:cNvPr id="212" name="Text 3"/>
          <p:cNvSpPr txBox="1"/>
          <p:nvPr/>
        </p:nvSpPr>
        <p:spPr>
          <a:xfrm>
            <a:off x="594359" y="2539038"/>
            <a:ext cx="5577842" cy="1505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Reads a list of (hkl, d-spacing, structure factor) reflections from a data file — the physics is entirely data-driven.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concentric=1 lets a PowderN act as an outer container (e.g. a sample can) around an inner sample, sharing one coordinate position.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d_phi and related focusing parameters restrict scattering to a chosen slice of 4π — useful when only a detector bank at certain angles exists.</a:t>
            </a:r>
          </a:p>
        </p:txBody>
      </p:sp>
      <p:sp>
        <p:nvSpPr>
          <p:cNvPr id="213" name="Shape 4"/>
          <p:cNvSpPr/>
          <p:nvPr/>
        </p:nvSpPr>
        <p:spPr>
          <a:xfrm>
            <a:off x="548640" y="4662434"/>
            <a:ext cx="5669280" cy="1627634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" name="Text 5"/>
          <p:cNvSpPr txBox="1"/>
          <p:nvPr/>
        </p:nvSpPr>
        <p:spPr>
          <a:xfrm>
            <a:off x="868678" y="4736592"/>
            <a:ext cx="5029203" cy="14071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COMPONENT can = PowderN(reflections="Al.laz",</a:t>
            </a:r>
          </a:p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radius=0.02, yheight=0.05, thickness=0.005, concentric=1)</a:t>
            </a:r>
          </a:p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COMPONENT sample = PowderN(reflections="Al2O3.laz", ...)</a:t>
            </a:r>
          </a:p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COMPONENT can2 = COPY(can)(concentric=0)</a:t>
            </a:r>
          </a:p>
        </p:txBody>
      </p:sp>
      <p:sp>
        <p:nvSpPr>
          <p:cNvPr id="215" name="Shape 6"/>
          <p:cNvSpPr/>
          <p:nvPr/>
        </p:nvSpPr>
        <p:spPr>
          <a:xfrm>
            <a:off x="6492240" y="1920238"/>
            <a:ext cx="2626361" cy="4206244"/>
          </a:xfrm>
          <a:prstGeom prst="roundRect">
            <a:avLst>
              <a:gd name="adj" fmla="val 3482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6" name="Text 7"/>
          <p:cNvSpPr txBox="1"/>
          <p:nvPr/>
        </p:nvSpPr>
        <p:spPr>
          <a:xfrm>
            <a:off x="6581865" y="2539038"/>
            <a:ext cx="2447109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2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 concentric container</a:t>
            </a:r>
          </a:p>
        </p:txBody>
      </p:sp>
      <p:sp>
        <p:nvSpPr>
          <p:cNvPr id="217" name="Shape 8"/>
          <p:cNvSpPr/>
          <p:nvPr/>
        </p:nvSpPr>
        <p:spPr>
          <a:xfrm>
            <a:off x="6616700" y="3017520"/>
            <a:ext cx="2377440" cy="2377443"/>
          </a:xfrm>
          <a:prstGeom prst="ellipse">
            <a:avLst/>
          </a:prstGeom>
          <a:solidFill>
            <a:srgbClr val="E3EEF2"/>
          </a:solidFill>
          <a:ln w="19050">
            <a:solidFill>
              <a:srgbClr val="1C729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8" name="Shape 9"/>
          <p:cNvSpPr/>
          <p:nvPr/>
        </p:nvSpPr>
        <p:spPr>
          <a:xfrm>
            <a:off x="7256780" y="3657598"/>
            <a:ext cx="1097283" cy="1097283"/>
          </a:xfrm>
          <a:prstGeom prst="ellipse">
            <a:avLst/>
          </a:prstGeom>
          <a:solidFill>
            <a:srgbClr val="FBEBDA"/>
          </a:solidFill>
          <a:ln w="19050">
            <a:solidFill>
              <a:srgbClr val="D97A2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9" name="Text 10"/>
          <p:cNvSpPr txBox="1"/>
          <p:nvPr/>
        </p:nvSpPr>
        <p:spPr>
          <a:xfrm>
            <a:off x="6662419" y="3182112"/>
            <a:ext cx="2286001" cy="2285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000">
                <a:solidFill>
                  <a:srgbClr val="12506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can (Al)</a:t>
            </a:r>
          </a:p>
        </p:txBody>
      </p:sp>
      <p:sp>
        <p:nvSpPr>
          <p:cNvPr id="220" name="Text 11"/>
          <p:cNvSpPr txBox="1"/>
          <p:nvPr/>
        </p:nvSpPr>
        <p:spPr>
          <a:xfrm>
            <a:off x="7302499" y="4033433"/>
            <a:ext cx="1005843" cy="3456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algn="ctr">
              <a:defRPr b="1" sz="900">
                <a:solidFill>
                  <a:srgbClr val="A6591A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sample</a:t>
            </a:r>
          </a:p>
          <a:p>
            <a:pPr algn="ctr">
              <a:defRPr b="1" sz="900">
                <a:solidFill>
                  <a:srgbClr val="A6591A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(Al2O3)</a:t>
            </a:r>
          </a:p>
        </p:txBody>
      </p:sp>
      <p:sp>
        <p:nvSpPr>
          <p:cNvPr id="221" name="Text 12"/>
          <p:cNvSpPr txBox="1"/>
          <p:nvPr/>
        </p:nvSpPr>
        <p:spPr>
          <a:xfrm>
            <a:off x="6510070" y="5449614"/>
            <a:ext cx="2590699" cy="5587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i="1"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Each layer computes its own scattering — the can's diffraction lines and the sample's appear together, correctly weighted.</a:t>
            </a:r>
          </a:p>
        </p:txBody>
      </p:sp>
      <p:sp>
        <p:nvSpPr>
          <p:cNvPr id="222" name="Text 13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223" name="Text 14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6</a:t>
            </a:r>
          </a:p>
        </p:txBody>
      </p:sp>
      <p:grpSp>
        <p:nvGrpSpPr>
          <p:cNvPr id="230" name="Group 17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228" name="Group 18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224" name="Picture 20" descr="Picture 20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227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225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226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229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233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SHARED COMPONENT</a:t>
            </a:r>
          </a:p>
        </p:txBody>
      </p:sp>
      <p:sp>
        <p:nvSpPr>
          <p:cNvPr id="234" name="Text 1"/>
          <p:cNvSpPr txBox="1"/>
          <p:nvPr/>
        </p:nvSpPr>
        <p:spPr>
          <a:xfrm>
            <a:off x="594359" y="795528"/>
            <a:ext cx="9692641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Powder diffraction: PowderN</a:t>
            </a:r>
          </a:p>
        </p:txBody>
      </p:sp>
      <p:sp>
        <p:nvSpPr>
          <p:cNvPr id="235" name="Text 2"/>
          <p:cNvSpPr txBox="1"/>
          <p:nvPr/>
        </p:nvSpPr>
        <p:spPr>
          <a:xfrm>
            <a:off x="594359" y="1471099"/>
            <a:ext cx="1078992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3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The same component, same reflection-file format, in both McStas and McXtrace.</a:t>
            </a:r>
          </a:p>
        </p:txBody>
      </p:sp>
      <p:sp>
        <p:nvSpPr>
          <p:cNvPr id="236" name="Text 3"/>
          <p:cNvSpPr txBox="1"/>
          <p:nvPr/>
        </p:nvSpPr>
        <p:spPr>
          <a:xfrm>
            <a:off x="594359" y="2539038"/>
            <a:ext cx="5577842" cy="1505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Reads a list of (hkl, d-spacing, structure factor) reflections from a data file — the physics is entirely data-driven.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concentric=1 lets a PowderN act as an outer container (e.g. a sample can) around an inner sample, sharing one coordinate position.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d_phi and related focusing parameters restrict scattering to a chosen slice of 4π — useful when only a detector bank at certain angles exists.</a:t>
            </a:r>
          </a:p>
        </p:txBody>
      </p:sp>
      <p:sp>
        <p:nvSpPr>
          <p:cNvPr id="237" name="Shape 4"/>
          <p:cNvSpPr/>
          <p:nvPr/>
        </p:nvSpPr>
        <p:spPr>
          <a:xfrm>
            <a:off x="548640" y="4662434"/>
            <a:ext cx="5669280" cy="1627634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" name="Text 5"/>
          <p:cNvSpPr txBox="1"/>
          <p:nvPr/>
        </p:nvSpPr>
        <p:spPr>
          <a:xfrm>
            <a:off x="868678" y="4736592"/>
            <a:ext cx="5029203" cy="14071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COMPONENT can = PowderN(reflections="Al.laz",</a:t>
            </a:r>
          </a:p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radius=0.02, yheight=0.05, thickness=0.005, concentric=1)</a:t>
            </a:r>
          </a:p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COMPONENT sample = PowderN(reflections="Al2O3.laz", ...)</a:t>
            </a:r>
          </a:p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COMPONENT can2 = COPY(can)(concentric=0)</a:t>
            </a:r>
          </a:p>
        </p:txBody>
      </p:sp>
      <p:sp>
        <p:nvSpPr>
          <p:cNvPr id="239" name="Shape 6"/>
          <p:cNvSpPr/>
          <p:nvPr/>
        </p:nvSpPr>
        <p:spPr>
          <a:xfrm>
            <a:off x="6492240" y="1920238"/>
            <a:ext cx="2626361" cy="4206244"/>
          </a:xfrm>
          <a:prstGeom prst="roundRect">
            <a:avLst>
              <a:gd name="adj" fmla="val 3482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" name="Text 7"/>
          <p:cNvSpPr txBox="1"/>
          <p:nvPr/>
        </p:nvSpPr>
        <p:spPr>
          <a:xfrm>
            <a:off x="6581865" y="2539038"/>
            <a:ext cx="2447109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2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 concentric container</a:t>
            </a:r>
          </a:p>
        </p:txBody>
      </p:sp>
      <p:sp>
        <p:nvSpPr>
          <p:cNvPr id="241" name="Shape 8"/>
          <p:cNvSpPr/>
          <p:nvPr/>
        </p:nvSpPr>
        <p:spPr>
          <a:xfrm>
            <a:off x="6616700" y="3017520"/>
            <a:ext cx="2377440" cy="2377443"/>
          </a:xfrm>
          <a:prstGeom prst="ellipse">
            <a:avLst/>
          </a:prstGeom>
          <a:solidFill>
            <a:srgbClr val="E3EEF2"/>
          </a:solidFill>
          <a:ln w="19050">
            <a:solidFill>
              <a:srgbClr val="1C729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" name="Shape 9"/>
          <p:cNvSpPr/>
          <p:nvPr/>
        </p:nvSpPr>
        <p:spPr>
          <a:xfrm>
            <a:off x="7256780" y="3657599"/>
            <a:ext cx="1097283" cy="1097284"/>
          </a:xfrm>
          <a:prstGeom prst="ellipse">
            <a:avLst/>
          </a:prstGeom>
          <a:solidFill>
            <a:srgbClr val="FBEBDA"/>
          </a:solidFill>
          <a:ln w="19050">
            <a:solidFill>
              <a:srgbClr val="D97A2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" name="Text 10"/>
          <p:cNvSpPr txBox="1"/>
          <p:nvPr/>
        </p:nvSpPr>
        <p:spPr>
          <a:xfrm>
            <a:off x="6662418" y="3182112"/>
            <a:ext cx="2286002" cy="2285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000">
                <a:solidFill>
                  <a:srgbClr val="12506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can (Al)</a:t>
            </a:r>
          </a:p>
        </p:txBody>
      </p:sp>
      <p:sp>
        <p:nvSpPr>
          <p:cNvPr id="244" name="Text 11"/>
          <p:cNvSpPr txBox="1"/>
          <p:nvPr/>
        </p:nvSpPr>
        <p:spPr>
          <a:xfrm>
            <a:off x="7302499" y="4033433"/>
            <a:ext cx="1005843" cy="3456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algn="ctr">
              <a:defRPr b="1" sz="900">
                <a:solidFill>
                  <a:srgbClr val="A6591A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sample</a:t>
            </a:r>
          </a:p>
          <a:p>
            <a:pPr algn="ctr">
              <a:defRPr b="1" sz="900">
                <a:solidFill>
                  <a:srgbClr val="A6591A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(Al2O3)</a:t>
            </a:r>
          </a:p>
        </p:txBody>
      </p:sp>
      <p:sp>
        <p:nvSpPr>
          <p:cNvPr id="245" name="Text 12"/>
          <p:cNvSpPr txBox="1"/>
          <p:nvPr/>
        </p:nvSpPr>
        <p:spPr>
          <a:xfrm>
            <a:off x="6510070" y="5449614"/>
            <a:ext cx="2590699" cy="5587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i="1"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Each layer computes its own scattering — the can's diffraction lines and the sample's appear together, correctly weighted.</a:t>
            </a:r>
          </a:p>
        </p:txBody>
      </p:sp>
      <p:sp>
        <p:nvSpPr>
          <p:cNvPr id="246" name="Text 13"/>
          <p:cNvSpPr txBox="1"/>
          <p:nvPr/>
        </p:nvSpPr>
        <p:spPr>
          <a:xfrm>
            <a:off x="594359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247" name="Text 14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6</a:t>
            </a:r>
          </a:p>
        </p:txBody>
      </p:sp>
      <p:grpSp>
        <p:nvGrpSpPr>
          <p:cNvPr id="254" name="Group 17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252" name="Group 18"/>
            <p:cNvGrpSpPr/>
            <p:nvPr/>
          </p:nvGrpSpPr>
          <p:grpSpPr>
            <a:xfrm>
              <a:off x="800639" y="4781"/>
              <a:ext cx="790205" cy="708384"/>
              <a:chOff x="0" y="0"/>
              <a:chExt cx="790204" cy="708383"/>
            </a:xfrm>
          </p:grpSpPr>
          <p:pic>
            <p:nvPicPr>
              <p:cNvPr id="248" name="Picture 20" descr="Picture 20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-1"/>
                <a:ext cx="716670" cy="424538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251" name="Group 32"/>
              <p:cNvGrpSpPr/>
              <p:nvPr/>
            </p:nvGrpSpPr>
            <p:grpSpPr>
              <a:xfrm>
                <a:off x="0" y="407059"/>
                <a:ext cx="790205" cy="301325"/>
                <a:chOff x="0" y="0"/>
                <a:chExt cx="790204" cy="301324"/>
              </a:xfrm>
            </p:grpSpPr>
            <p:pic>
              <p:nvPicPr>
                <p:cNvPr id="249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5" cy="264605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250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2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253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55" name="Screenshot 2026-09-19 at 16.49.55.png" descr="Screenshot 2026-09-19 at 16.49.55.png"/>
          <p:cNvPicPr>
            <a:picLocks noChangeAspect="1"/>
          </p:cNvPicPr>
          <p:nvPr/>
        </p:nvPicPr>
        <p:blipFill>
          <a:blip r:embed="rId7">
            <a:extLst/>
          </a:blip>
          <a:srcRect l="0" t="2078" r="0" b="2078"/>
          <a:stretch>
            <a:fillRect/>
          </a:stretch>
        </p:blipFill>
        <p:spPr>
          <a:xfrm>
            <a:off x="9207390" y="1100824"/>
            <a:ext cx="3231620" cy="5176086"/>
          </a:xfrm>
          <a:prstGeom prst="rect">
            <a:avLst/>
          </a:prstGeom>
          <a:ln w="12700">
            <a:miter lim="400000"/>
          </a:ln>
        </p:spPr>
      </p:pic>
      <p:sp>
        <p:nvSpPr>
          <p:cNvPr id="256" name="… or use Union  assemblies"/>
          <p:cNvSpPr txBox="1"/>
          <p:nvPr/>
        </p:nvSpPr>
        <p:spPr>
          <a:xfrm>
            <a:off x="10027780" y="6271086"/>
            <a:ext cx="1590843" cy="6251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  <a:r>
              <a:t>… or use Union </a:t>
            </a:r>
            <a:br/>
            <a:r>
              <a:t>assemblies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259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SHARED COMPONENT</a:t>
            </a:r>
          </a:p>
        </p:txBody>
      </p:sp>
      <p:sp>
        <p:nvSpPr>
          <p:cNvPr id="260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Single-crystal diffraction</a:t>
            </a:r>
          </a:p>
        </p:txBody>
      </p:sp>
      <p:sp>
        <p:nvSpPr>
          <p:cNvPr id="261" name="Text 2"/>
          <p:cNvSpPr txBox="1"/>
          <p:nvPr/>
        </p:nvSpPr>
        <p:spPr>
          <a:xfrm>
            <a:off x="594359" y="1544628"/>
            <a:ext cx="10789922" cy="24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2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Single_crystal models an ideally imperfect crystal — peak broadening dominated by mosaic, not appropriate for near-perfect crystals.</a:t>
            </a:r>
          </a:p>
        </p:txBody>
      </p:sp>
      <p:sp>
        <p:nvSpPr>
          <p:cNvPr id="262" name="Text 3"/>
          <p:cNvSpPr txBox="1"/>
          <p:nvPr/>
        </p:nvSpPr>
        <p:spPr>
          <a:xfrm>
            <a:off x="594358" y="2279512"/>
            <a:ext cx="10972804" cy="470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>
              <a:lnSpc>
                <a:spcPct val="120000"/>
              </a:lnSpc>
              <a:defRPr b="1"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Orientation:  </a:t>
            </a:r>
            <a:r>
              <a:rPr b="0">
                <a:solidFill>
                  <a:srgbClr val="6E7580"/>
                </a:solidFill>
              </a:rPr>
              <a:t>unit-cell vectors (ax,ay,az, bx,by,bz, cx,cy,cz) encode the crystal's orientation relative to the component's own frame — no assumption about cell shape or symmetry is made.</a:t>
            </a:r>
          </a:p>
        </p:txBody>
      </p:sp>
      <p:sp>
        <p:nvSpPr>
          <p:cNvPr id="263" name="Shape 4"/>
          <p:cNvSpPr/>
          <p:nvPr/>
        </p:nvSpPr>
        <p:spPr>
          <a:xfrm>
            <a:off x="548640" y="3108960"/>
            <a:ext cx="3520441" cy="2377440"/>
          </a:xfrm>
          <a:prstGeom prst="roundRect">
            <a:avLst>
              <a:gd name="adj" fmla="val 3462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" name="Text 5"/>
          <p:cNvSpPr txBox="1"/>
          <p:nvPr/>
        </p:nvSpPr>
        <p:spPr>
          <a:xfrm>
            <a:off x="822960" y="3459918"/>
            <a:ext cx="2971801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300">
                <a:solidFill>
                  <a:srgbClr val="12506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Isotropic mosaic</a:t>
            </a:r>
          </a:p>
        </p:txBody>
      </p:sp>
      <p:sp>
        <p:nvSpPr>
          <p:cNvPr id="265" name="Text 6"/>
          <p:cNvSpPr txBox="1"/>
          <p:nvPr/>
        </p:nvSpPr>
        <p:spPr>
          <a:xfrm>
            <a:off x="822960" y="4312912"/>
            <a:ext cx="2971801" cy="609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Gaussian spread of rotation angle around a random axis — one mosaic parameter for the whole crystal.</a:t>
            </a:r>
          </a:p>
        </p:txBody>
      </p:sp>
      <p:sp>
        <p:nvSpPr>
          <p:cNvPr id="266" name="Shape 7"/>
          <p:cNvSpPr/>
          <p:nvPr/>
        </p:nvSpPr>
        <p:spPr>
          <a:xfrm>
            <a:off x="4343400" y="3108960"/>
            <a:ext cx="3520441" cy="2377440"/>
          </a:xfrm>
          <a:prstGeom prst="roundRect">
            <a:avLst>
              <a:gd name="adj" fmla="val 3462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" name="Text 8"/>
          <p:cNvSpPr txBox="1"/>
          <p:nvPr/>
        </p:nvSpPr>
        <p:spPr>
          <a:xfrm>
            <a:off x="4617720" y="3459918"/>
            <a:ext cx="2971801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300">
                <a:solidFill>
                  <a:srgbClr val="12506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Anisotropic mosaic</a:t>
            </a:r>
          </a:p>
        </p:txBody>
      </p:sp>
      <p:sp>
        <p:nvSpPr>
          <p:cNvPr id="268" name="Text 9"/>
          <p:cNvSpPr txBox="1"/>
          <p:nvPr/>
        </p:nvSpPr>
        <p:spPr>
          <a:xfrm>
            <a:off x="4617720" y="4408890"/>
            <a:ext cx="2971801" cy="4176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 separate Gaussian spread around each unit-cell axis (mosaic_a, mosaic_b, mosaic_c).</a:t>
            </a:r>
          </a:p>
        </p:txBody>
      </p:sp>
      <p:sp>
        <p:nvSpPr>
          <p:cNvPr id="269" name="Shape 10"/>
          <p:cNvSpPr/>
          <p:nvPr/>
        </p:nvSpPr>
        <p:spPr>
          <a:xfrm>
            <a:off x="8138159" y="3108960"/>
            <a:ext cx="3520441" cy="2377440"/>
          </a:xfrm>
          <a:prstGeom prst="roundRect">
            <a:avLst>
              <a:gd name="adj" fmla="val 3462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0" name="Text 11"/>
          <p:cNvSpPr txBox="1"/>
          <p:nvPr/>
        </p:nvSpPr>
        <p:spPr>
          <a:xfrm>
            <a:off x="8412478" y="3459918"/>
            <a:ext cx="297180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300">
                <a:solidFill>
                  <a:srgbClr val="12506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Rocking-curve mosaic</a:t>
            </a:r>
          </a:p>
        </p:txBody>
      </p:sp>
      <p:sp>
        <p:nvSpPr>
          <p:cNvPr id="271" name="Text 12"/>
          <p:cNvSpPr txBox="1"/>
          <p:nvPr/>
        </p:nvSpPr>
        <p:spPr>
          <a:xfrm>
            <a:off x="8412478" y="4408890"/>
            <a:ext cx="2971802" cy="4176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Mosaic derived from the measured widths of two Bragg peaks — give σ and hkl for each.</a:t>
            </a:r>
          </a:p>
        </p:txBody>
      </p:sp>
      <p:sp>
        <p:nvSpPr>
          <p:cNvPr id="272" name="Text 13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273" name="Text 14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7</a:t>
            </a:r>
          </a:p>
        </p:txBody>
      </p:sp>
      <p:grpSp>
        <p:nvGrpSpPr>
          <p:cNvPr id="280" name="Group 17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278" name="Group 18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274" name="Picture 20" descr="Picture 20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277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275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276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279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283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SHARED WORKFLOW</a:t>
            </a:r>
          </a:p>
        </p:txBody>
      </p:sp>
      <p:sp>
        <p:nvSpPr>
          <p:cNvPr id="284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Getting reflection data</a:t>
            </a:r>
          </a:p>
        </p:txBody>
      </p:sp>
      <p:sp>
        <p:nvSpPr>
          <p:cNvPr id="285" name="Shape 2"/>
          <p:cNvSpPr/>
          <p:nvPr/>
        </p:nvSpPr>
        <p:spPr>
          <a:xfrm>
            <a:off x="548640" y="1920238"/>
            <a:ext cx="3108962" cy="1005843"/>
          </a:xfrm>
          <a:prstGeom prst="roundRect">
            <a:avLst>
              <a:gd name="adj" fmla="val 7273"/>
            </a:avLst>
          </a:prstGeom>
          <a:solidFill>
            <a:srgbClr val="F7F8FA"/>
          </a:solidFill>
          <a:ln w="12700">
            <a:solidFill>
              <a:srgbClr val="DDE1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6" name="Text 3"/>
          <p:cNvSpPr txBox="1"/>
          <p:nvPr/>
        </p:nvSpPr>
        <p:spPr>
          <a:xfrm>
            <a:off x="594359" y="2102036"/>
            <a:ext cx="3017523" cy="25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Find a structure</a:t>
            </a:r>
          </a:p>
        </p:txBody>
      </p:sp>
      <p:sp>
        <p:nvSpPr>
          <p:cNvPr id="287" name="Text 4"/>
          <p:cNvSpPr txBox="1"/>
          <p:nvPr/>
        </p:nvSpPr>
        <p:spPr>
          <a:xfrm>
            <a:off x="731519" y="2446955"/>
            <a:ext cx="2743201" cy="4004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algn="ctr">
              <a:lnSpc>
                <a:spcPct val="104999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CIF file from ICSD</a:t>
            </a:r>
          </a:p>
          <a:p>
            <a:pPr algn="ctr">
              <a:lnSpc>
                <a:spcPct val="104999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or Crystallography Open DB</a:t>
            </a:r>
          </a:p>
        </p:txBody>
      </p:sp>
      <p:sp>
        <p:nvSpPr>
          <p:cNvPr id="288" name="Shape 5"/>
          <p:cNvSpPr/>
          <p:nvPr/>
        </p:nvSpPr>
        <p:spPr>
          <a:xfrm>
            <a:off x="3712464" y="2423160"/>
            <a:ext cx="774042" cy="2"/>
          </a:xfrm>
          <a:prstGeom prst="line">
            <a:avLst/>
          </a:prstGeom>
          <a:ln w="19050">
            <a:solidFill>
              <a:srgbClr val="6E758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89" name="Shape 6"/>
          <p:cNvSpPr/>
          <p:nvPr/>
        </p:nvSpPr>
        <p:spPr>
          <a:xfrm>
            <a:off x="4541368" y="1920238"/>
            <a:ext cx="3108962" cy="1005843"/>
          </a:xfrm>
          <a:prstGeom prst="roundRect">
            <a:avLst>
              <a:gd name="adj" fmla="val 7273"/>
            </a:avLst>
          </a:prstGeom>
          <a:solidFill>
            <a:srgbClr val="F7F8FA"/>
          </a:solidFill>
          <a:ln w="12700">
            <a:solidFill>
              <a:srgbClr val="DDE1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0" name="Text 7"/>
          <p:cNvSpPr txBox="1"/>
          <p:nvPr/>
        </p:nvSpPr>
        <p:spPr>
          <a:xfrm>
            <a:off x="4587087" y="2102036"/>
            <a:ext cx="3017522" cy="25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cif2hkl</a:t>
            </a:r>
          </a:p>
        </p:txBody>
      </p:sp>
      <p:sp>
        <p:nvSpPr>
          <p:cNvPr id="291" name="Text 8"/>
          <p:cNvSpPr txBox="1"/>
          <p:nvPr/>
        </p:nvSpPr>
        <p:spPr>
          <a:xfrm>
            <a:off x="4724248" y="2446955"/>
            <a:ext cx="2743201" cy="4004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algn="ctr">
              <a:lnSpc>
                <a:spcPct val="104999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--powder or --xtal</a:t>
            </a:r>
          </a:p>
          <a:p>
            <a:pPr algn="ctr">
              <a:lnSpc>
                <a:spcPct val="104999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ships with McStas/McXtrace</a:t>
            </a:r>
          </a:p>
        </p:txBody>
      </p:sp>
      <p:sp>
        <p:nvSpPr>
          <p:cNvPr id="292" name="Shape 9"/>
          <p:cNvSpPr/>
          <p:nvPr/>
        </p:nvSpPr>
        <p:spPr>
          <a:xfrm>
            <a:off x="7705190" y="2423160"/>
            <a:ext cx="774042" cy="2"/>
          </a:xfrm>
          <a:prstGeom prst="line">
            <a:avLst/>
          </a:prstGeom>
          <a:ln w="19050">
            <a:solidFill>
              <a:srgbClr val="6E758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93" name="Shape 10"/>
          <p:cNvSpPr/>
          <p:nvPr/>
        </p:nvSpPr>
        <p:spPr>
          <a:xfrm>
            <a:off x="8534095" y="1920238"/>
            <a:ext cx="3108962" cy="1005843"/>
          </a:xfrm>
          <a:prstGeom prst="roundRect">
            <a:avLst>
              <a:gd name="adj" fmla="val 7273"/>
            </a:avLst>
          </a:prstGeom>
          <a:solidFill>
            <a:srgbClr val="1C7293"/>
          </a:solidFill>
          <a:ln w="12700">
            <a:solidFill>
              <a:srgbClr val="1C729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4" name="Text 11"/>
          <p:cNvSpPr txBox="1"/>
          <p:nvPr/>
        </p:nvSpPr>
        <p:spPr>
          <a:xfrm>
            <a:off x="8579815" y="2102036"/>
            <a:ext cx="3017522" cy="25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.laz / .lau</a:t>
            </a:r>
          </a:p>
        </p:txBody>
      </p:sp>
      <p:sp>
        <p:nvSpPr>
          <p:cNvPr id="295" name="Text 12"/>
          <p:cNvSpPr txBox="1"/>
          <p:nvPr/>
        </p:nvSpPr>
        <p:spPr>
          <a:xfrm>
            <a:off x="8716974" y="2446955"/>
            <a:ext cx="2743202" cy="4004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algn="ctr">
              <a:lnSpc>
                <a:spcPct val="104999"/>
              </a:lnSpc>
              <a:defRPr sz="1000">
                <a:solidFill>
                  <a:srgbClr val="E7F1F4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Header + reflection list,</a:t>
            </a:r>
          </a:p>
          <a:p>
            <a:pPr algn="ctr">
              <a:lnSpc>
                <a:spcPct val="104999"/>
              </a:lnSpc>
              <a:defRPr sz="1000">
                <a:solidFill>
                  <a:srgbClr val="E7F1F4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ready to use</a:t>
            </a:r>
          </a:p>
        </p:txBody>
      </p:sp>
      <p:sp>
        <p:nvSpPr>
          <p:cNvPr id="296" name="Text 13"/>
          <p:cNvSpPr txBox="1"/>
          <p:nvPr/>
        </p:nvSpPr>
        <p:spPr>
          <a:xfrm>
            <a:off x="594358" y="3156126"/>
            <a:ext cx="10972804" cy="2257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i="1" sz="1100">
                <a:solidFill>
                  <a:srgbClr val="12506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Used by: PowderN, Single_crystal, Isotropic_Sqw</a:t>
            </a:r>
          </a:p>
        </p:txBody>
      </p:sp>
      <p:sp>
        <p:nvSpPr>
          <p:cNvPr id="297" name="Text 14"/>
          <p:cNvSpPr txBox="1"/>
          <p:nvPr/>
        </p:nvSpPr>
        <p:spPr>
          <a:xfrm>
            <a:off x="594360" y="3667760"/>
            <a:ext cx="10881361" cy="345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7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Data formats in McStas &amp; McXtrace</a:t>
            </a:r>
          </a:p>
        </p:txBody>
      </p:sp>
      <p:graphicFrame>
        <p:nvGraphicFramePr>
          <p:cNvPr id="298" name="Table 0"/>
          <p:cNvGraphicFramePr/>
          <p:nvPr/>
        </p:nvGraphicFramePr>
        <p:xfrm>
          <a:off x="548640" y="4069079"/>
          <a:ext cx="11064241" cy="23042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77440"/>
                <a:gridCol w="868680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  <a:sym typeface="Aptos"/>
                        </a:rPr>
                        <a:t>Format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  <a:sym typeface="Aptos"/>
                        </a:rPr>
                        <a:t>Used by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2024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.lau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  <a:sym typeface="Aptos"/>
                        </a:rPr>
                        <a:t>Single_crystal, PowderN, Isotropic_Sqw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.laz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  <a:sym typeface="Aptos"/>
                        </a:rPr>
                        <a:t>PowderN, Isotropic_Sqw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.sqw / qSq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  <a:sym typeface="Aptos"/>
                        </a:rPr>
                        <a:t>Isotropic_Sqw (qSq mostly for liquids)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PDB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  <a:sym typeface="Aptos"/>
                        </a:rPr>
                        <a:t>SANSPDB / SAXSPDB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ncmat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  <a:sym typeface="Aptos"/>
                        </a:rPr>
                        <a:t>NCrystal-backed samples (McStas)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9" name="Text 15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300" name="Text 16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8</a:t>
            </a:r>
          </a:p>
        </p:txBody>
      </p:sp>
      <p:grpSp>
        <p:nvGrpSpPr>
          <p:cNvPr id="307" name="Group 20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305" name="Group 21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301" name="Picture 23" descr="Picture 23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304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302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303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306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308" name="Shape 6"/>
          <p:cNvSpPr/>
          <p:nvPr/>
        </p:nvSpPr>
        <p:spPr>
          <a:xfrm>
            <a:off x="4553096" y="2997086"/>
            <a:ext cx="3108962" cy="1005842"/>
          </a:xfrm>
          <a:prstGeom prst="roundRect">
            <a:avLst>
              <a:gd name="adj" fmla="val 7273"/>
            </a:avLst>
          </a:prstGeom>
          <a:solidFill>
            <a:srgbClr val="F7F8FA"/>
          </a:solidFill>
          <a:ln w="12700">
            <a:solidFill>
              <a:srgbClr val="DDE1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9" name="Text 7"/>
          <p:cNvSpPr txBox="1"/>
          <p:nvPr/>
        </p:nvSpPr>
        <p:spPr>
          <a:xfrm>
            <a:off x="4598816" y="3178881"/>
            <a:ext cx="301752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or use NCrystal cfg-strings directly</a:t>
            </a:r>
          </a:p>
        </p:txBody>
      </p:sp>
      <p:sp>
        <p:nvSpPr>
          <p:cNvPr id="310" name="Text 8"/>
          <p:cNvSpPr txBox="1"/>
          <p:nvPr/>
        </p:nvSpPr>
        <p:spPr>
          <a:xfrm>
            <a:off x="4735974" y="3609779"/>
            <a:ext cx="2743202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lnSpc>
                <a:spcPct val="104999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ships with McStas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13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SANS / SAXS · SHARED PHYSICS</a:t>
            </a:r>
          </a:p>
        </p:txBody>
      </p:sp>
      <p:sp>
        <p:nvSpPr>
          <p:cNvPr id="314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Small-angle scattering, the shared idea</a:t>
            </a:r>
          </a:p>
        </p:txBody>
      </p:sp>
      <p:sp>
        <p:nvSpPr>
          <p:cNvPr id="315" name="Text 2"/>
          <p:cNvSpPr txBox="1"/>
          <p:nvPr/>
        </p:nvSpPr>
        <p:spPr>
          <a:xfrm>
            <a:off x="594358" y="2492047"/>
            <a:ext cx="5669284" cy="23311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Elastic scattering at small angles — small scattering vector q means sensitivity to big real-space distances r.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Probes molecular-scale structure, typically 10–100 Å: proteins, polymers, nanoparticles, pores.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Often a dilute molecule-in-solvent system: a small contrast in scattering density against a buffer/background.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Often isotropic scattering — where the signal only depends on |q|, not its direction.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Needs good collimation and a long flight path after the sample, to resolve the small angles involved.</a:t>
            </a:r>
          </a:p>
        </p:txBody>
      </p:sp>
      <p:sp>
        <p:nvSpPr>
          <p:cNvPr id="316" name="Shape 3"/>
          <p:cNvSpPr/>
          <p:nvPr/>
        </p:nvSpPr>
        <p:spPr>
          <a:xfrm>
            <a:off x="6492240" y="1737360"/>
            <a:ext cx="5166360" cy="4114802"/>
          </a:xfrm>
          <a:prstGeom prst="roundRect">
            <a:avLst>
              <a:gd name="adj" fmla="val 2222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7" name="Text 4"/>
          <p:cNvSpPr txBox="1"/>
          <p:nvPr/>
        </p:nvSpPr>
        <p:spPr>
          <a:xfrm>
            <a:off x="6537959" y="1956107"/>
            <a:ext cx="507492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2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small q, big r</a:t>
            </a:r>
          </a:p>
        </p:txBody>
      </p:sp>
      <p:sp>
        <p:nvSpPr>
          <p:cNvPr id="318" name="Shape 5"/>
          <p:cNvSpPr/>
          <p:nvPr/>
        </p:nvSpPr>
        <p:spPr>
          <a:xfrm>
            <a:off x="6611111" y="3364991"/>
            <a:ext cx="1133859" cy="1133859"/>
          </a:xfrm>
          <a:prstGeom prst="ellipse">
            <a:avLst/>
          </a:prstGeom>
          <a:solidFill>
            <a:srgbClr val="E3EEF2"/>
          </a:solidFill>
          <a:ln w="19050">
            <a:solidFill>
              <a:srgbClr val="1C729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9" name="Text 6"/>
          <p:cNvSpPr txBox="1"/>
          <p:nvPr/>
        </p:nvSpPr>
        <p:spPr>
          <a:xfrm>
            <a:off x="6656830" y="3497625"/>
            <a:ext cx="1042418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000">
                <a:solidFill>
                  <a:srgbClr val="12506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sample</a:t>
            </a:r>
          </a:p>
        </p:txBody>
      </p:sp>
      <p:sp>
        <p:nvSpPr>
          <p:cNvPr id="320" name="Shape 7"/>
          <p:cNvSpPr/>
          <p:nvPr/>
        </p:nvSpPr>
        <p:spPr>
          <a:xfrm>
            <a:off x="7178040" y="3931920"/>
            <a:ext cx="3840482" cy="2"/>
          </a:xfrm>
          <a:prstGeom prst="line">
            <a:avLst/>
          </a:prstGeom>
          <a:ln w="15875">
            <a:solidFill>
              <a:srgbClr val="6E7580"/>
            </a:solidFill>
            <a:prstDash val="dash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1" name="Shape 8"/>
          <p:cNvSpPr/>
          <p:nvPr/>
        </p:nvSpPr>
        <p:spPr>
          <a:xfrm>
            <a:off x="7178040" y="3931920"/>
            <a:ext cx="3456433" cy="2"/>
          </a:xfrm>
          <a:prstGeom prst="line">
            <a:avLst/>
          </a:prstGeom>
          <a:ln w="19050">
            <a:solidFill>
              <a:srgbClr val="D97A2B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2" name="Shape 9"/>
          <p:cNvSpPr/>
          <p:nvPr/>
        </p:nvSpPr>
        <p:spPr>
          <a:xfrm>
            <a:off x="7178040" y="3931920"/>
            <a:ext cx="3456433" cy="351132"/>
          </a:xfrm>
          <a:prstGeom prst="line">
            <a:avLst/>
          </a:prstGeom>
          <a:ln w="19050">
            <a:solidFill>
              <a:srgbClr val="D97A2B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3" name="Shape 10"/>
          <p:cNvSpPr/>
          <p:nvPr/>
        </p:nvSpPr>
        <p:spPr>
          <a:xfrm>
            <a:off x="7178040" y="3931920"/>
            <a:ext cx="3456433" cy="2"/>
          </a:xfrm>
          <a:prstGeom prst="line">
            <a:avLst/>
          </a:prstGeom>
          <a:ln w="19050">
            <a:solidFill>
              <a:srgbClr val="D97A2B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4" name="Shape 11"/>
          <p:cNvSpPr/>
          <p:nvPr/>
        </p:nvSpPr>
        <p:spPr>
          <a:xfrm>
            <a:off x="7178040" y="3931920"/>
            <a:ext cx="3456433" cy="819304"/>
          </a:xfrm>
          <a:prstGeom prst="line">
            <a:avLst/>
          </a:prstGeom>
          <a:ln w="19050">
            <a:solidFill>
              <a:srgbClr val="D97A2B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5" name="Shape 12"/>
          <p:cNvSpPr/>
          <p:nvPr/>
        </p:nvSpPr>
        <p:spPr>
          <a:xfrm>
            <a:off x="7178040" y="3931920"/>
            <a:ext cx="3456433" cy="2"/>
          </a:xfrm>
          <a:prstGeom prst="line">
            <a:avLst/>
          </a:prstGeom>
          <a:ln w="19050">
            <a:solidFill>
              <a:srgbClr val="D97A2B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6" name="Shape 13"/>
          <p:cNvSpPr/>
          <p:nvPr/>
        </p:nvSpPr>
        <p:spPr>
          <a:xfrm>
            <a:off x="7178040" y="3931920"/>
            <a:ext cx="3456433" cy="1463042"/>
          </a:xfrm>
          <a:prstGeom prst="line">
            <a:avLst/>
          </a:prstGeom>
          <a:ln w="19050">
            <a:solidFill>
              <a:srgbClr val="D97A2B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7" name="Shape 14"/>
          <p:cNvSpPr/>
          <p:nvPr/>
        </p:nvSpPr>
        <p:spPr>
          <a:xfrm>
            <a:off x="11018518" y="2468878"/>
            <a:ext cx="137162" cy="2926082"/>
          </a:xfrm>
          <a:prstGeom prst="rect">
            <a:avLst/>
          </a:prstGeom>
          <a:solidFill>
            <a:srgbClr val="20242B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8" name="Text 15"/>
          <p:cNvSpPr txBox="1"/>
          <p:nvPr/>
        </p:nvSpPr>
        <p:spPr>
          <a:xfrm>
            <a:off x="10607039" y="5542194"/>
            <a:ext cx="1371602" cy="345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algn="ct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detector,</a:t>
            </a:r>
          </a:p>
          <a:p>
            <a:pPr algn="ct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far downstream</a:t>
            </a:r>
          </a:p>
        </p:txBody>
      </p:sp>
      <p:sp>
        <p:nvSpPr>
          <p:cNvPr id="329" name="Text 16"/>
          <p:cNvSpPr txBox="1"/>
          <p:nvPr/>
        </p:nvSpPr>
        <p:spPr>
          <a:xfrm>
            <a:off x="7772400" y="2250353"/>
            <a:ext cx="1554481" cy="3456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algn="ctr">
              <a:defRPr sz="900">
                <a:solidFill>
                  <a:srgbClr val="A6591A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small angles</a:t>
            </a:r>
          </a:p>
          <a:p>
            <a:pPr algn="ctr">
              <a:defRPr sz="900">
                <a:solidFill>
                  <a:srgbClr val="A6591A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near the beam</a:t>
            </a:r>
          </a:p>
        </p:txBody>
      </p:sp>
      <p:sp>
        <p:nvSpPr>
          <p:cNvPr id="330" name="Text 17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331" name="Text 18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9</a:t>
            </a:r>
          </a:p>
        </p:txBody>
      </p:sp>
      <p:grpSp>
        <p:nvGrpSpPr>
          <p:cNvPr id="338" name="Group 21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336" name="Group 22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332" name="Picture 24" descr="Picture 24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335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333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334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337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41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SHARED TOOLKIT</a:t>
            </a:r>
          </a:p>
        </p:txBody>
      </p:sp>
      <p:sp>
        <p:nvSpPr>
          <p:cNvPr id="342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SANS &amp; SAXS models, side by side</a:t>
            </a:r>
          </a:p>
        </p:txBody>
      </p:sp>
      <p:sp>
        <p:nvSpPr>
          <p:cNvPr id="343" name="Text 2"/>
          <p:cNvSpPr txBox="1"/>
          <p:nvPr/>
        </p:nvSpPr>
        <p:spPr>
          <a:xfrm>
            <a:off x="594359" y="1471099"/>
            <a:ext cx="1078992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3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Three tiers of model, available under matching names in both codes.</a:t>
            </a:r>
          </a:p>
        </p:txBody>
      </p:sp>
      <p:graphicFrame>
        <p:nvGraphicFramePr>
          <p:cNvPr id="344" name="Table 0"/>
          <p:cNvGraphicFramePr/>
          <p:nvPr/>
        </p:nvGraphicFramePr>
        <p:xfrm>
          <a:off x="548640" y="1965960"/>
          <a:ext cx="11064241" cy="310896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965960"/>
                <a:gridCol w="2514600"/>
                <a:gridCol w="2514600"/>
                <a:gridCol w="4069080"/>
              </a:tblGrid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  <a:sym typeface="Aptos"/>
                        </a:rPr>
                        <a:t>Tier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  <a:sym typeface="Aptos"/>
                        </a:rPr>
                        <a:t>McStas (SANS)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  <a:sym typeface="Aptos"/>
                        </a:rPr>
                        <a:t>McXtrace (SAXS)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A659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  <a:sym typeface="Aptos"/>
                        </a:rPr>
                        <a:t>Notes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20242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0242B"/>
                          </a:solidFill>
                          <a:sym typeface="Aptos"/>
                        </a:rPr>
                        <a:t>Analytic shapes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Sans_spheres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Saxs_spheres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E7580"/>
                          </a:solidFill>
                          <a:sym typeface="Aptos"/>
                        </a:rPr>
                        <a:t>Exact naming parallel; dilute, monodisperse hard spheres, given contrast &amp; radius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0242B"/>
                          </a:solidFill>
                          <a:sym typeface="Aptos"/>
                        </a:rPr>
                        <a:t>Benchmarked set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SANS_benchmark2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E7580"/>
                          </a:solidFill>
                          <a:sym typeface="Aptos"/>
                        </a:rPr>
                        <a:t>Experimentally-benchmarked model set (McStas, contrib library)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0242B"/>
                          </a:solidFill>
                          <a:sym typeface="Aptos"/>
                        </a:rPr>
                        <a:t>Full sasmodels library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SasView_* (92 components)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SasView_* (92 components)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E7580"/>
                          </a:solidFill>
                          <a:sym typeface="Aptos"/>
                        </a:rPr>
                        <a:t>File-for-file identical set in both codes — sphere, cylinder, core-shell, fractal, …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0242B"/>
                          </a:solidFill>
                          <a:sym typeface="Aptos"/>
                        </a:rPr>
                        <a:t>Macromolecules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SANSPDB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SAXSPDB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E7580"/>
                          </a:solidFill>
                          <a:sym typeface="Aptos"/>
                        </a:rPr>
                        <a:t>Scattering directly from a PDB structure file (contrib library, both codes)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345" name="Shape 3"/>
          <p:cNvSpPr/>
          <p:nvPr/>
        </p:nvSpPr>
        <p:spPr>
          <a:xfrm>
            <a:off x="548640" y="5349240"/>
            <a:ext cx="11064241" cy="777242"/>
          </a:xfrm>
          <a:prstGeom prst="roundRect">
            <a:avLst>
              <a:gd name="adj" fmla="val 9412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6" name="Text 4"/>
          <p:cNvSpPr txBox="1"/>
          <p:nvPr/>
        </p:nvSpPr>
        <p:spPr>
          <a:xfrm>
            <a:off x="868680" y="5542456"/>
            <a:ext cx="10424161" cy="3908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>
              <a:defRPr b="1" sz="1100">
                <a:solidFill>
                  <a:srgbClr val="12506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Under the hood:  </a:t>
            </a:r>
            <a:r>
              <a:rPr b="0">
                <a:solidFill>
                  <a:srgbClr val="20242B"/>
                </a:solidFill>
              </a:rPr>
              <a:t>the sasmodels components are generated from the same SasView/sasmodels project (sasview.org) for both codes — 92 identically-named .comp files in mcstas-comps/sasmodels and mcxtrace-comps/sasmodels, sphere through triaxial ellipsoid.</a:t>
            </a:r>
          </a:p>
        </p:txBody>
      </p:sp>
      <p:sp>
        <p:nvSpPr>
          <p:cNvPr id="347" name="Text 5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348" name="Text 6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10</a:t>
            </a:r>
          </a:p>
        </p:txBody>
      </p:sp>
      <p:grpSp>
        <p:nvGrpSpPr>
          <p:cNvPr id="355" name="Group 5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353" name="Group 11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349" name="Picture 13" descr="Picture 13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352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350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351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354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58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D97A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X-RAY ONLY · PHYSICS</a:t>
            </a:r>
          </a:p>
        </p:txBody>
      </p:sp>
      <p:sp>
        <p:nvSpPr>
          <p:cNvPr id="359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Absorption &amp; fluorescence: the physics</a:t>
            </a:r>
          </a:p>
        </p:txBody>
      </p:sp>
      <p:sp>
        <p:nvSpPr>
          <p:cNvPr id="360" name="Text 2"/>
          <p:cNvSpPr txBox="1"/>
          <p:nvPr/>
        </p:nvSpPr>
        <p:spPr>
          <a:xfrm>
            <a:off x="594359" y="2474268"/>
            <a:ext cx="5577842" cy="20009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 photon excites a core electron (e.g. the K shell). If the photon energy exceeds the binding energy, the electron is ejected — a photoelectron.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The resulting core hole is filled by an electron from a higher shell — that transition emits a characteristic fluorescence line.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At the absorption edge, the transmitted intensity drops sharply, and a fluorescence line appears at a lower, element-specific energy.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Elastic (Rayleigh) and inelastic (Compton) scattering can accompany absorption — all part of the same interaction budget.</a:t>
            </a:r>
          </a:p>
        </p:txBody>
      </p:sp>
      <p:sp>
        <p:nvSpPr>
          <p:cNvPr id="361" name="Shape 3"/>
          <p:cNvSpPr/>
          <p:nvPr/>
        </p:nvSpPr>
        <p:spPr>
          <a:xfrm>
            <a:off x="6400800" y="1737360"/>
            <a:ext cx="5257800" cy="3749041"/>
          </a:xfrm>
          <a:prstGeom prst="roundRect">
            <a:avLst>
              <a:gd name="adj" fmla="val 2439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2" name="Text 4"/>
          <p:cNvSpPr txBox="1"/>
          <p:nvPr/>
        </p:nvSpPr>
        <p:spPr>
          <a:xfrm>
            <a:off x="6446518" y="1967407"/>
            <a:ext cx="5166363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1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transmission vs. photon energy</a:t>
            </a:r>
          </a:p>
        </p:txBody>
      </p:sp>
      <p:sp>
        <p:nvSpPr>
          <p:cNvPr id="363" name="Shape 5"/>
          <p:cNvSpPr/>
          <p:nvPr/>
        </p:nvSpPr>
        <p:spPr>
          <a:xfrm>
            <a:off x="7086600" y="2423160"/>
            <a:ext cx="0" cy="2194562"/>
          </a:xfrm>
          <a:prstGeom prst="line">
            <a:avLst/>
          </a:prstGeom>
          <a:ln w="15875">
            <a:solidFill>
              <a:srgbClr val="20242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4" name="Shape 6"/>
          <p:cNvSpPr/>
          <p:nvPr/>
        </p:nvSpPr>
        <p:spPr>
          <a:xfrm>
            <a:off x="7086599" y="4617720"/>
            <a:ext cx="4343402" cy="2"/>
          </a:xfrm>
          <a:prstGeom prst="line">
            <a:avLst/>
          </a:prstGeom>
          <a:ln w="15875">
            <a:solidFill>
              <a:srgbClr val="20242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5" name="Shape 7"/>
          <p:cNvSpPr/>
          <p:nvPr/>
        </p:nvSpPr>
        <p:spPr>
          <a:xfrm>
            <a:off x="7086599" y="2788920"/>
            <a:ext cx="1965963" cy="365762"/>
          </a:xfrm>
          <a:prstGeom prst="line">
            <a:avLst/>
          </a:prstGeom>
          <a:ln w="31750">
            <a:solidFill>
              <a:srgbClr val="D97A2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6" name="Shape 8"/>
          <p:cNvSpPr/>
          <p:nvPr/>
        </p:nvSpPr>
        <p:spPr>
          <a:xfrm>
            <a:off x="9052559" y="3154678"/>
            <a:ext cx="2" cy="1005840"/>
          </a:xfrm>
          <a:prstGeom prst="line">
            <a:avLst/>
          </a:prstGeom>
          <a:ln w="31750">
            <a:solidFill>
              <a:srgbClr val="D97A2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7" name="Shape 9"/>
          <p:cNvSpPr/>
          <p:nvPr/>
        </p:nvSpPr>
        <p:spPr>
          <a:xfrm>
            <a:off x="9052559" y="4160520"/>
            <a:ext cx="2103122" cy="2"/>
          </a:xfrm>
          <a:prstGeom prst="line">
            <a:avLst/>
          </a:prstGeom>
          <a:ln w="31750">
            <a:solidFill>
              <a:srgbClr val="D97A2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8" name="Shape 10"/>
          <p:cNvSpPr/>
          <p:nvPr/>
        </p:nvSpPr>
        <p:spPr>
          <a:xfrm>
            <a:off x="9052559" y="3154678"/>
            <a:ext cx="2" cy="1463042"/>
          </a:xfrm>
          <a:prstGeom prst="line">
            <a:avLst/>
          </a:prstGeom>
          <a:ln w="12700">
            <a:solidFill>
              <a:srgbClr val="6E7580"/>
            </a:solidFill>
            <a:prstDash val="dash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9" name="Text 11"/>
          <p:cNvSpPr txBox="1"/>
          <p:nvPr/>
        </p:nvSpPr>
        <p:spPr>
          <a:xfrm>
            <a:off x="8732518" y="4686345"/>
            <a:ext cx="640083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edge</a:t>
            </a:r>
          </a:p>
        </p:txBody>
      </p:sp>
      <p:sp>
        <p:nvSpPr>
          <p:cNvPr id="370" name="Text 12"/>
          <p:cNvSpPr txBox="1"/>
          <p:nvPr/>
        </p:nvSpPr>
        <p:spPr>
          <a:xfrm>
            <a:off x="7086599" y="2155612"/>
            <a:ext cx="1371603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transmission</a:t>
            </a:r>
          </a:p>
        </p:txBody>
      </p:sp>
      <p:sp>
        <p:nvSpPr>
          <p:cNvPr id="371" name="Text 13"/>
          <p:cNvSpPr txBox="1"/>
          <p:nvPr/>
        </p:nvSpPr>
        <p:spPr>
          <a:xfrm>
            <a:off x="10835639" y="4686345"/>
            <a:ext cx="822962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energy</a:t>
            </a:r>
          </a:p>
        </p:txBody>
      </p:sp>
      <p:sp>
        <p:nvSpPr>
          <p:cNvPr id="372" name="Text 14"/>
          <p:cNvSpPr txBox="1"/>
          <p:nvPr/>
        </p:nvSpPr>
        <p:spPr>
          <a:xfrm>
            <a:off x="6720839" y="5016414"/>
            <a:ext cx="4617722" cy="345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i="1"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Note the honest limit: today's absorption samples model the edge itself — not the fine pre-edge or EXAFS oscillations.</a:t>
            </a:r>
          </a:p>
        </p:txBody>
      </p:sp>
      <p:sp>
        <p:nvSpPr>
          <p:cNvPr id="373" name="Text 15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374" name="Text 16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11</a:t>
            </a:r>
          </a:p>
        </p:txBody>
      </p:sp>
      <p:grpSp>
        <p:nvGrpSpPr>
          <p:cNvPr id="379" name="Group 20"/>
          <p:cNvGrpSpPr/>
          <p:nvPr/>
        </p:nvGrpSpPr>
        <p:grpSpPr>
          <a:xfrm>
            <a:off x="9224998" y="124300"/>
            <a:ext cx="790204" cy="708382"/>
            <a:chOff x="0" y="-1"/>
            <a:chExt cx="790202" cy="708380"/>
          </a:xfrm>
        </p:grpSpPr>
        <p:pic>
          <p:nvPicPr>
            <p:cNvPr id="375" name="Picture 22" descr="Picture 22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37056" y="-2"/>
              <a:ext cx="716668" cy="424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grpSp>
          <p:nvGrpSpPr>
            <p:cNvPr id="378" name="Group 32"/>
            <p:cNvGrpSpPr/>
            <p:nvPr/>
          </p:nvGrpSpPr>
          <p:grpSpPr>
            <a:xfrm>
              <a:off x="0" y="407055"/>
              <a:ext cx="790203" cy="301324"/>
              <a:chOff x="0" y="-1"/>
              <a:chExt cx="790202" cy="301323"/>
            </a:xfrm>
          </p:grpSpPr>
          <p:pic>
            <p:nvPicPr>
              <p:cNvPr id="376" name="Picture 29" descr="Picture 29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-1" y="-2"/>
                <a:ext cx="547924" cy="26460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77" name="Picture 30" descr="Picture 30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589321" y="5040"/>
                <a:ext cx="200882" cy="296283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82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D97A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MCXTRACE — X-RAYS ONLY</a:t>
            </a:r>
          </a:p>
        </p:txBody>
      </p:sp>
      <p:sp>
        <p:nvSpPr>
          <p:cNvPr id="383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The Fluorescence component &amp; friends</a:t>
            </a:r>
          </a:p>
        </p:txBody>
      </p:sp>
      <p:sp>
        <p:nvSpPr>
          <p:cNvPr id="384" name="Shape 2"/>
          <p:cNvSpPr/>
          <p:nvPr/>
        </p:nvSpPr>
        <p:spPr>
          <a:xfrm>
            <a:off x="548640" y="1691638"/>
            <a:ext cx="5257802" cy="4160524"/>
          </a:xfrm>
          <a:prstGeom prst="roundRect">
            <a:avLst>
              <a:gd name="adj" fmla="val 2198"/>
            </a:avLst>
          </a:prstGeom>
          <a:solidFill>
            <a:srgbClr val="FBEBD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5" name="Text 3"/>
          <p:cNvSpPr txBox="1"/>
          <p:nvPr/>
        </p:nvSpPr>
        <p:spPr>
          <a:xfrm>
            <a:off x="914398" y="1909317"/>
            <a:ext cx="4526284" cy="332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600">
                <a:solidFill>
                  <a:srgbClr val="A6591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Fluorescence</a:t>
            </a:r>
          </a:p>
        </p:txBody>
      </p:sp>
      <p:sp>
        <p:nvSpPr>
          <p:cNvPr id="386" name="Text 4"/>
          <p:cNvSpPr txBox="1"/>
          <p:nvPr/>
        </p:nvSpPr>
        <p:spPr>
          <a:xfrm>
            <a:off x="914398" y="3180257"/>
            <a:ext cx="4526284" cy="1686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Models all four processes at once: absorption, fluorescence, Compton and Rayleigh scattering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Any shape (box, cylinder, sphere, or OFF/PLY mesh) and any compound material, e.g. “CaCO3” or “ZnCu”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Computed via XRayLib — about 10× slower than the simpler components, in exchange for real chemistry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FluoCrystal and FluoPowder specialise the same physics for crystalline and powder samples</a:t>
            </a:r>
          </a:p>
        </p:txBody>
      </p:sp>
      <p:sp>
        <p:nvSpPr>
          <p:cNvPr id="387" name="Shape 5"/>
          <p:cNvSpPr/>
          <p:nvPr/>
        </p:nvSpPr>
        <p:spPr>
          <a:xfrm>
            <a:off x="6172200" y="1691638"/>
            <a:ext cx="5257800" cy="4160524"/>
          </a:xfrm>
          <a:prstGeom prst="roundRect">
            <a:avLst>
              <a:gd name="adj" fmla="val 2198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8" name="Text 6"/>
          <p:cNvSpPr txBox="1"/>
          <p:nvPr/>
        </p:nvSpPr>
        <p:spPr>
          <a:xfrm>
            <a:off x="6537959" y="2019807"/>
            <a:ext cx="4526282" cy="29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4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Filter, Abs_objects, Absorption_sample</a:t>
            </a:r>
          </a:p>
        </p:txBody>
      </p:sp>
      <p:sp>
        <p:nvSpPr>
          <p:cNvPr id="389" name="Text 7"/>
          <p:cNvSpPr txBox="1"/>
          <p:nvPr/>
        </p:nvSpPr>
        <p:spPr>
          <a:xfrm>
            <a:off x="6537959" y="3394887"/>
            <a:ext cx="4526282" cy="13941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Absorption only — no fluorescence, Compton or Rayleigh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Require pre-made absorption data files, and only handle pure, mono-atomic materials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Abs_objects and Absorption_sample can combine several OFF/PLY shapes/materials in one component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Much faster — the right choice when fluorescence itself isn't of interest</a:t>
            </a:r>
          </a:p>
        </p:txBody>
      </p:sp>
      <p:sp>
        <p:nvSpPr>
          <p:cNvPr id="390" name="Text 8"/>
          <p:cNvSpPr txBox="1"/>
          <p:nvPr/>
        </p:nvSpPr>
        <p:spPr>
          <a:xfrm>
            <a:off x="594358" y="6059347"/>
            <a:ext cx="10972804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i="1" sz="11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All of these support concentric geometry (a sample inside a can or cryostat) the same way PowderN does.</a:t>
            </a:r>
          </a:p>
        </p:txBody>
      </p:sp>
      <p:sp>
        <p:nvSpPr>
          <p:cNvPr id="391" name="Text 9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392" name="Text 10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12</a:t>
            </a:r>
          </a:p>
        </p:txBody>
      </p:sp>
      <p:grpSp>
        <p:nvGrpSpPr>
          <p:cNvPr id="397" name="Group 14"/>
          <p:cNvGrpSpPr/>
          <p:nvPr/>
        </p:nvGrpSpPr>
        <p:grpSpPr>
          <a:xfrm>
            <a:off x="9224998" y="124300"/>
            <a:ext cx="790204" cy="708382"/>
            <a:chOff x="0" y="-1"/>
            <a:chExt cx="790202" cy="708380"/>
          </a:xfrm>
        </p:grpSpPr>
        <p:pic>
          <p:nvPicPr>
            <p:cNvPr id="393" name="Picture 16" descr="Picture 16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37056" y="-2"/>
              <a:ext cx="716668" cy="424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grpSp>
          <p:nvGrpSpPr>
            <p:cNvPr id="396" name="Group 32"/>
            <p:cNvGrpSpPr/>
            <p:nvPr/>
          </p:nvGrpSpPr>
          <p:grpSpPr>
            <a:xfrm>
              <a:off x="0" y="407055"/>
              <a:ext cx="790203" cy="301324"/>
              <a:chOff x="0" y="-1"/>
              <a:chExt cx="790202" cy="301323"/>
            </a:xfrm>
          </p:grpSpPr>
          <p:pic>
            <p:nvPicPr>
              <p:cNvPr id="394" name="Picture 29" descr="Picture 29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-1" y="-2"/>
                <a:ext cx="547924" cy="26460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95" name="Picture 30" descr="Picture 30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589321" y="5040"/>
                <a:ext cx="200882" cy="296283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400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D97A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MCXTRACE — WORKED EXAMPLES</a:t>
            </a:r>
          </a:p>
        </p:txBody>
      </p:sp>
      <p:sp>
        <p:nvSpPr>
          <p:cNvPr id="401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Two beamlines, built from these samples</a:t>
            </a:r>
          </a:p>
        </p:txBody>
      </p:sp>
      <p:sp>
        <p:nvSpPr>
          <p:cNvPr id="402" name="Shape 2"/>
          <p:cNvSpPr/>
          <p:nvPr/>
        </p:nvSpPr>
        <p:spPr>
          <a:xfrm>
            <a:off x="548640" y="1691638"/>
            <a:ext cx="5257802" cy="4206244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3" name="Text 3"/>
          <p:cNvSpPr txBox="1"/>
          <p:nvPr/>
        </p:nvSpPr>
        <p:spPr>
          <a:xfrm>
            <a:off x="914398" y="1922017"/>
            <a:ext cx="4526284" cy="307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500">
                <a:solidFill>
                  <a:srgbClr val="A6591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ROCK · absorption edge</a:t>
            </a:r>
          </a:p>
        </p:txBody>
      </p:sp>
      <p:sp>
        <p:nvSpPr>
          <p:cNvPr id="404" name="Text 4"/>
          <p:cNvSpPr txBox="1"/>
          <p:nvPr/>
        </p:nvSpPr>
        <p:spPr>
          <a:xfrm>
            <a:off x="914398" y="3317415"/>
            <a:ext cx="4526284" cy="14576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Bending magnet source, 4–40 keV white beam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 channel-cut DCM (two Bragg_crystal, Si 111) selects the energy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 Fluorescence sample (“ZnCu”, 2×10×1 mm) sits after the monochromator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An energy monitor after the sample shows the absorption shadow and the fluorescence lines together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Scanning energy 8–10 keV sweeps straight across the Zn/Cu edges</a:t>
            </a:r>
          </a:p>
        </p:txBody>
      </p:sp>
      <p:sp>
        <p:nvSpPr>
          <p:cNvPr id="405" name="Shape 5"/>
          <p:cNvSpPr/>
          <p:nvPr/>
        </p:nvSpPr>
        <p:spPr>
          <a:xfrm>
            <a:off x="6172200" y="1691638"/>
            <a:ext cx="5257800" cy="4206244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6" name="Text 6"/>
          <p:cNvSpPr txBox="1"/>
          <p:nvPr/>
        </p:nvSpPr>
        <p:spPr>
          <a:xfrm>
            <a:off x="6537959" y="1922017"/>
            <a:ext cx="4526282" cy="307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500">
                <a:solidFill>
                  <a:srgbClr val="A6591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LUCIA · hyperspectral fluorescence</a:t>
            </a:r>
          </a:p>
        </p:txBody>
      </p:sp>
      <p:sp>
        <p:nvSpPr>
          <p:cNvPr id="407" name="Text 7"/>
          <p:cNvSpPr txBox="1"/>
          <p:nvPr/>
        </p:nvSpPr>
        <p:spPr>
          <a:xfrm>
            <a:off x="6537959" y="3285665"/>
            <a:ext cx="4526282" cy="15211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HU52 undulator source, feeding a 0.5×0.5 mm slit and a Si(111) DCM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 Fluorescence sample stage — a wire-shaped inclusion (geometry="wire.ply") inside a different bulk material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The two materials are combined so only one “fires” per ray — an advanced-grammar detail we won't dwell on here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 position-resolved energy monitor turns the result into a hyperspectral map — composition read out from fluorescence lines, point by point</a:t>
            </a:r>
          </a:p>
        </p:txBody>
      </p:sp>
      <p:sp>
        <p:nvSpPr>
          <p:cNvPr id="408" name="Text 8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409" name="Text 9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13</a:t>
            </a:r>
          </a:p>
        </p:txBody>
      </p:sp>
      <p:grpSp>
        <p:nvGrpSpPr>
          <p:cNvPr id="414" name="Group 13"/>
          <p:cNvGrpSpPr/>
          <p:nvPr/>
        </p:nvGrpSpPr>
        <p:grpSpPr>
          <a:xfrm>
            <a:off x="9224998" y="124300"/>
            <a:ext cx="790204" cy="708382"/>
            <a:chOff x="0" y="-1"/>
            <a:chExt cx="790202" cy="708380"/>
          </a:xfrm>
        </p:grpSpPr>
        <p:pic>
          <p:nvPicPr>
            <p:cNvPr id="410" name="Picture 15" descr="Picture 15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37056" y="-2"/>
              <a:ext cx="716668" cy="424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grpSp>
          <p:nvGrpSpPr>
            <p:cNvPr id="413" name="Group 32"/>
            <p:cNvGrpSpPr/>
            <p:nvPr/>
          </p:nvGrpSpPr>
          <p:grpSpPr>
            <a:xfrm>
              <a:off x="0" y="407055"/>
              <a:ext cx="790203" cy="301324"/>
              <a:chOff x="0" y="-1"/>
              <a:chExt cx="790202" cy="301323"/>
            </a:xfrm>
          </p:grpSpPr>
          <p:pic>
            <p:nvPicPr>
              <p:cNvPr id="411" name="Picture 29" descr="Picture 29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-1" y="-2"/>
                <a:ext cx="547924" cy="26460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412" name="Picture 30" descr="Picture 30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589321" y="5040"/>
                <a:ext cx="200882" cy="296283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6" name="Screenshot 2026-09-19 at 16.49.55.png" descr="Screenshot 2026-09-19 at 16.49.5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207390" y="1166385"/>
            <a:ext cx="3231620" cy="5400565"/>
          </a:xfrm>
          <a:prstGeom prst="rect">
            <a:avLst/>
          </a:prstGeom>
          <a:ln w="12700">
            <a:miter lim="400000"/>
          </a:ln>
        </p:spPr>
      </p:pic>
      <p:pic>
        <p:nvPicPr>
          <p:cNvPr id="417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418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— NEUTRONS ONLY</a:t>
            </a:r>
          </a:p>
        </p:txBody>
      </p:sp>
      <p:sp>
        <p:nvSpPr>
          <p:cNvPr id="419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Neutron imaging</a:t>
            </a:r>
          </a:p>
        </p:txBody>
      </p:sp>
      <p:sp>
        <p:nvSpPr>
          <p:cNvPr id="420" name="Text 2"/>
          <p:cNvSpPr txBox="1"/>
          <p:nvPr/>
        </p:nvSpPr>
        <p:spPr>
          <a:xfrm>
            <a:off x="594359" y="1493960"/>
            <a:ext cx="10789922" cy="25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3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Absorption-contrast radiography and tomography — built from the same shapes as everything else.</a:t>
            </a:r>
          </a:p>
        </p:txBody>
      </p:sp>
      <p:sp>
        <p:nvSpPr>
          <p:cNvPr id="421" name="Text 3"/>
          <p:cNvSpPr txBox="1"/>
          <p:nvPr/>
        </p:nvSpPr>
        <p:spPr>
          <a:xfrm>
            <a:off x="594358" y="2394257"/>
            <a:ext cx="9143686" cy="1429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 single-phase absorbing “block” — box, cylinder, sphere, or an arbitrary OFF/PLY mesh — stands in for the imaged object.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The same complex-geometry engine used for diffraction and spectroscopy samples renders detailed shapes: a chess piece, a bracket with drilled holes, and so on.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Contrast comes purely from attenuation — how much of the beam a given path length and material absorbs.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Rotate the object (or the source/detector) between exposures to build up a tomographic reconstruction.</a:t>
            </a:r>
          </a:p>
        </p:txBody>
      </p:sp>
      <p:sp>
        <p:nvSpPr>
          <p:cNvPr id="422" name="Shape 4"/>
          <p:cNvSpPr/>
          <p:nvPr/>
        </p:nvSpPr>
        <p:spPr>
          <a:xfrm>
            <a:off x="548640" y="4480559"/>
            <a:ext cx="7057963" cy="914402"/>
          </a:xfrm>
          <a:prstGeom prst="roundRect">
            <a:avLst>
              <a:gd name="adj" fmla="val 8000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3" name="Text 5"/>
          <p:cNvSpPr txBox="1"/>
          <p:nvPr/>
        </p:nvSpPr>
        <p:spPr>
          <a:xfrm>
            <a:off x="758149" y="4718357"/>
            <a:ext cx="6692204" cy="4388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>
              <a:defRPr b="1" sz="1200">
                <a:solidFill>
                  <a:srgbClr val="12506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Recent additions:  </a:t>
            </a:r>
            <a:r>
              <a:rPr b="0">
                <a:solidFill>
                  <a:srgbClr val="20242B"/>
                </a:solidFill>
              </a:rPr>
              <a:t>multi-phase materials, refractive effects / phase-contrast imaging sample solutions. </a:t>
            </a:r>
            <a:br>
              <a:rPr b="0">
                <a:solidFill>
                  <a:srgbClr val="20242B"/>
                </a:solidFill>
              </a:rPr>
            </a:br>
            <a:r>
              <a:rPr b="0">
                <a:solidFill>
                  <a:srgbClr val="20242B"/>
                </a:solidFill>
              </a:rPr>
              <a:t>For complex arrangements it is recommended to use the McStas Union framework.</a:t>
            </a:r>
          </a:p>
        </p:txBody>
      </p:sp>
      <p:sp>
        <p:nvSpPr>
          <p:cNvPr id="424" name="Text 6"/>
          <p:cNvSpPr txBox="1"/>
          <p:nvPr/>
        </p:nvSpPr>
        <p:spPr>
          <a:xfrm>
            <a:off x="594358" y="5611037"/>
            <a:ext cx="7402401" cy="390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>
              <a:defRPr i="1" sz="11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Why neutron-only in this session? X-ray imaging exists in principle (attenuation is attenuation) — but McXtrace's sample library </a:t>
            </a:r>
            <a:br/>
            <a:r>
              <a:t>so far has focused on more spectroscopy and scattering rather than dedicated imaging phantoms. See Airport_scanner though…</a:t>
            </a:r>
          </a:p>
        </p:txBody>
      </p:sp>
      <p:sp>
        <p:nvSpPr>
          <p:cNvPr id="425" name="Text 7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426" name="Text 8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14</a:t>
            </a:r>
          </a:p>
        </p:txBody>
      </p:sp>
      <p:pic>
        <p:nvPicPr>
          <p:cNvPr id="427" name="Picture 31" descr="Picture 3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399043" y="119520"/>
            <a:ext cx="736202" cy="7488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430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WHAT ELSE EXISTS — BRIEFLY</a:t>
            </a:r>
          </a:p>
        </p:txBody>
      </p:sp>
      <p:sp>
        <p:nvSpPr>
          <p:cNvPr id="431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Reflectometry &amp; inelastic scattering</a:t>
            </a:r>
          </a:p>
        </p:txBody>
      </p:sp>
      <p:sp>
        <p:nvSpPr>
          <p:cNvPr id="432" name="Shape 2"/>
          <p:cNvSpPr/>
          <p:nvPr/>
        </p:nvSpPr>
        <p:spPr>
          <a:xfrm>
            <a:off x="548640" y="1691638"/>
            <a:ext cx="5257802" cy="4206244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3" name="Text 3"/>
          <p:cNvSpPr txBox="1"/>
          <p:nvPr/>
        </p:nvSpPr>
        <p:spPr>
          <a:xfrm>
            <a:off x="914398" y="1909317"/>
            <a:ext cx="4526284" cy="332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600">
                <a:solidFill>
                  <a:srgbClr val="1250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Reflectometry</a:t>
            </a:r>
          </a:p>
        </p:txBody>
      </p:sp>
      <p:sp>
        <p:nvSpPr>
          <p:cNvPr id="434" name="Text 4"/>
          <p:cNvSpPr txBox="1"/>
          <p:nvPr/>
        </p:nvSpPr>
        <p:spPr>
          <a:xfrm>
            <a:off x="914398" y="3266615"/>
            <a:ext cx="4526284" cy="15592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Probes surfaces &amp; interfaces, solid or liquid, via specular and off-specular reflection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McStas: Multilayer_Sample — phase-matrix formalism plus an incoherent background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Or the simpler route: attach a measured reflectivity curve directly to a Mirror-type component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Today's choice is deliberately small — not a rich library like SANS</a:t>
            </a:r>
          </a:p>
        </p:txBody>
      </p:sp>
      <p:sp>
        <p:nvSpPr>
          <p:cNvPr id="435" name="Shape 5"/>
          <p:cNvSpPr/>
          <p:nvPr/>
        </p:nvSpPr>
        <p:spPr>
          <a:xfrm>
            <a:off x="6172200" y="1691638"/>
            <a:ext cx="5257800" cy="4206244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6" name="Text 6"/>
          <p:cNvSpPr txBox="1"/>
          <p:nvPr/>
        </p:nvSpPr>
        <p:spPr>
          <a:xfrm>
            <a:off x="6537959" y="1909317"/>
            <a:ext cx="4526282" cy="332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600">
                <a:solidFill>
                  <a:srgbClr val="1250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Inelastic scattering S(q,ω)</a:t>
            </a:r>
          </a:p>
        </p:txBody>
      </p:sp>
      <p:sp>
        <p:nvSpPr>
          <p:cNvPr id="437" name="Text 7"/>
          <p:cNvSpPr txBox="1"/>
          <p:nvPr/>
        </p:nvSpPr>
        <p:spPr>
          <a:xfrm>
            <a:off x="6537959" y="3406315"/>
            <a:ext cx="4526282" cy="12798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McStas: Phonon_simple, Magnon_bcc, Isotropic_Sqw (inelastic mode), Single_crystal_inelastic, Tunneling_sample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McXtrace: Isotropic_Sqw in an experimental Thomson (IXS) mode — no RIXS or single-crystal inelastic yet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Computationally demanding: only a small fraction of rays land in a given (q,ω) window, so large ray counts are needed</a:t>
            </a:r>
          </a:p>
        </p:txBody>
      </p:sp>
      <p:sp>
        <p:nvSpPr>
          <p:cNvPr id="438" name="Text 8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439" name="Text 9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15</a:t>
            </a:r>
          </a:p>
        </p:txBody>
      </p:sp>
      <p:grpSp>
        <p:nvGrpSpPr>
          <p:cNvPr id="446" name="Group 12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444" name="Group 13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440" name="Picture 15" descr="Picture 15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443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441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442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445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449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WHAT ELSE EXISTS — BRIEFLY</a:t>
            </a:r>
          </a:p>
        </p:txBody>
      </p:sp>
      <p:sp>
        <p:nvSpPr>
          <p:cNvPr id="450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Generic tools &amp; advanced assemblies</a:t>
            </a:r>
          </a:p>
        </p:txBody>
      </p:sp>
      <p:sp>
        <p:nvSpPr>
          <p:cNvPr id="451" name="Shape 2"/>
          <p:cNvSpPr/>
          <p:nvPr/>
        </p:nvSpPr>
        <p:spPr>
          <a:xfrm>
            <a:off x="548640" y="1828800"/>
            <a:ext cx="3520441" cy="384048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2" name="Shape 3"/>
          <p:cNvSpPr/>
          <p:nvPr/>
        </p:nvSpPr>
        <p:spPr>
          <a:xfrm>
            <a:off x="548638" y="1828799"/>
            <a:ext cx="3520444" cy="73155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3" name="Text 4"/>
          <p:cNvSpPr txBox="1"/>
          <p:nvPr/>
        </p:nvSpPr>
        <p:spPr>
          <a:xfrm>
            <a:off x="822960" y="2230052"/>
            <a:ext cx="2971801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3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Resolution samples</a:t>
            </a:r>
          </a:p>
        </p:txBody>
      </p:sp>
      <p:sp>
        <p:nvSpPr>
          <p:cNvPr id="454" name="Text 5"/>
          <p:cNvSpPr txBox="1"/>
          <p:nvPr/>
        </p:nvSpPr>
        <p:spPr>
          <a:xfrm>
            <a:off x="822960" y="3655773"/>
            <a:ext cx="2971801" cy="8266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25000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Res_sample, TOFRes_sample, Spot_sample — synthetic, delta-function-like scatterers used to study an instrument's resolution function, independent of any real material.</a:t>
            </a:r>
          </a:p>
        </p:txBody>
      </p:sp>
      <p:sp>
        <p:nvSpPr>
          <p:cNvPr id="455" name="Shape 6"/>
          <p:cNvSpPr/>
          <p:nvPr/>
        </p:nvSpPr>
        <p:spPr>
          <a:xfrm>
            <a:off x="4343400" y="1828800"/>
            <a:ext cx="3520441" cy="384048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6" name="Shape 7"/>
          <p:cNvSpPr/>
          <p:nvPr/>
        </p:nvSpPr>
        <p:spPr>
          <a:xfrm>
            <a:off x="4343398" y="1828799"/>
            <a:ext cx="3520443" cy="73155"/>
          </a:xfrm>
          <a:prstGeom prst="rect">
            <a:avLst/>
          </a:prstGeom>
          <a:solidFill>
            <a:srgbClr val="D97A2B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7" name="Text 8"/>
          <p:cNvSpPr txBox="1"/>
          <p:nvPr/>
        </p:nvSpPr>
        <p:spPr>
          <a:xfrm>
            <a:off x="4617720" y="2230052"/>
            <a:ext cx="2971801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3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Union framework</a:t>
            </a:r>
          </a:p>
        </p:txBody>
      </p:sp>
      <p:sp>
        <p:nvSpPr>
          <p:cNvPr id="458" name="Text 9"/>
          <p:cNvSpPr txBox="1"/>
          <p:nvPr/>
        </p:nvSpPr>
        <p:spPr>
          <a:xfrm>
            <a:off x="4617720" y="3157354"/>
            <a:ext cx="2971801" cy="18234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25000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Small physics-process components — Incoherent_process, Powder_process, Single_crystal_process, NCrystal_process (McStas); Incoherent_process, Powder_process, plus X-ray-specific Compton_xrl_process &amp; Rayleigh_xrl_process (McXtrace) — combined via Union_master into complex multi-material assemblies. Present in both codes; its assembly grammar is a topic for a dedicated advanced session.</a:t>
            </a:r>
          </a:p>
        </p:txBody>
      </p:sp>
      <p:sp>
        <p:nvSpPr>
          <p:cNvPr id="459" name="Shape 10"/>
          <p:cNvSpPr/>
          <p:nvPr/>
        </p:nvSpPr>
        <p:spPr>
          <a:xfrm>
            <a:off x="8138159" y="1828800"/>
            <a:ext cx="3520441" cy="384048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0" name="Shape 11"/>
          <p:cNvSpPr/>
          <p:nvPr/>
        </p:nvSpPr>
        <p:spPr>
          <a:xfrm>
            <a:off x="8138159" y="1828799"/>
            <a:ext cx="3520442" cy="73155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1" name="Text 12"/>
          <p:cNvSpPr txBox="1"/>
          <p:nvPr/>
        </p:nvSpPr>
        <p:spPr>
          <a:xfrm>
            <a:off x="8412478" y="2230052"/>
            <a:ext cx="2971802" cy="25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300">
                <a:solidFill>
                  <a:srgbClr val="2024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sasmodels &amp; PDB</a:t>
            </a:r>
          </a:p>
        </p:txBody>
      </p:sp>
      <p:sp>
        <p:nvSpPr>
          <p:cNvPr id="462" name="Text 13"/>
          <p:cNvSpPr txBox="1"/>
          <p:nvPr/>
        </p:nvSpPr>
        <p:spPr>
          <a:xfrm>
            <a:off x="8412478" y="3655773"/>
            <a:ext cx="2971802" cy="8266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25000"/>
              </a:lnSpc>
              <a:defRPr sz="10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92 identically-named SasView_* components in both codes' sasmodels library, plus the SANSPDB / SAXSPDB macromolecule components — already introduced under SANS/SAXS, noted here for completeness.</a:t>
            </a:r>
          </a:p>
        </p:txBody>
      </p:sp>
      <p:sp>
        <p:nvSpPr>
          <p:cNvPr id="463" name="Text 14"/>
          <p:cNvSpPr txBox="1"/>
          <p:nvPr/>
        </p:nvSpPr>
        <p:spPr>
          <a:xfrm>
            <a:off x="594358" y="5931076"/>
            <a:ext cx="10972804" cy="390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i="1" sz="11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 note on advanced grammar: concentric, GROUP, WHEN and EXTEND all let you combine sample components into richer assemblies. We've kept today's overview to the physics — ask if you'd like a pointer into the syntax.</a:t>
            </a:r>
          </a:p>
        </p:txBody>
      </p:sp>
      <p:sp>
        <p:nvSpPr>
          <p:cNvPr id="464" name="Text 15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465" name="Text 16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16</a:t>
            </a:r>
          </a:p>
        </p:txBody>
      </p:sp>
      <p:grpSp>
        <p:nvGrpSpPr>
          <p:cNvPr id="472" name="Group 19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470" name="Group 20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466" name="Picture 22" descr="Picture 22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469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467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468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471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475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SUMMARY</a:t>
            </a:r>
          </a:p>
        </p:txBody>
      </p:sp>
      <p:sp>
        <p:nvSpPr>
          <p:cNvPr id="476" name="Text 1"/>
          <p:cNvSpPr txBox="1"/>
          <p:nvPr/>
        </p:nvSpPr>
        <p:spPr>
          <a:xfrm>
            <a:off x="594358" y="795529"/>
            <a:ext cx="969264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The full picture</a:t>
            </a:r>
          </a:p>
        </p:txBody>
      </p:sp>
      <p:graphicFrame>
        <p:nvGraphicFramePr>
          <p:cNvPr id="477" name="Table 0"/>
          <p:cNvGraphicFramePr/>
          <p:nvPr/>
        </p:nvGraphicFramePr>
        <p:xfrm>
          <a:off x="457200" y="1417319"/>
          <a:ext cx="11292841" cy="48006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31720"/>
                <a:gridCol w="2880360"/>
                <a:gridCol w="288036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sym typeface="Aptos"/>
                        </a:rPr>
                        <a:t>Technique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sym typeface="Aptos"/>
                        </a:rPr>
                        <a:t>McStas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sym typeface="Aptos"/>
                        </a:rPr>
                        <a:t>McXtrace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A659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sym typeface="Aptos"/>
                        </a:rPr>
                        <a:t>Notes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20242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  <a:sym typeface="Aptos"/>
                        </a:rPr>
                        <a:t>Powder diffraction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PowderN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PowderN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  <a:sym typeface="Aptos"/>
                        </a:rPr>
                        <a:t>Shared name &amp; file format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  <a:sym typeface="Aptos"/>
                        </a:rPr>
                        <a:t>Single-crystal diffraction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Single_crystal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Single_crystal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  <a:sym typeface="Aptos"/>
                        </a:rPr>
                        <a:t>Shared name; mosaic model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  <a:sym typeface="Aptos"/>
                        </a:rPr>
                        <a:t>Isotropic structure/dynamics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Isotropic_Sqw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Isotropic_Sqw (exp.)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  <a:sym typeface="Aptos"/>
                        </a:rPr>
                        <a:t>Elastic or inelastic, S(q) / S(q,ω)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  <a:sym typeface="Aptos"/>
                        </a:rPr>
                        <a:t>Library-backed diffraction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NCrystal_sample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  <a:sym typeface="Aptos"/>
                        </a:rPr>
                        <a:t>Via the NCrystal library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  <a:sym typeface="Aptos"/>
                        </a:rPr>
                        <a:t>SANS / SAXS (analytic)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Sans_spheres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Saxs_spheres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  <a:sym typeface="Aptos"/>
                        </a:rPr>
                        <a:t>Exact naming parallel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  <a:sym typeface="Aptos"/>
                        </a:rPr>
                        <a:t>SANS / SAXS (full library)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SasView_* (92 comps)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SasView_* (92 comps)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  <a:sym typeface="Aptos"/>
                        </a:rPr>
                        <a:t>File-for-file identical set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  <a:sym typeface="Aptos"/>
                        </a:rPr>
                        <a:t>SANS / SAXS (macromolecule)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SANSPDB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SAXSPDB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  <a:sym typeface="Aptos"/>
                        </a:rPr>
                        <a:t>Direct from a PDB file (contrib)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  <a:sym typeface="Aptos"/>
                        </a:rPr>
                        <a:t>Absorption spectroscopy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Filter, Abs_objects, Absorption_sample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  <a:sym typeface="Aptos"/>
                        </a:rPr>
                        <a:t>X-ray only; mono-atomic, fast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  <a:sym typeface="Aptos"/>
                        </a:rPr>
                        <a:t>Fluorescence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Fluorescence, FluoCrystal, FluoPowder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  <a:sym typeface="Aptos"/>
                        </a:rPr>
                        <a:t>X-ray only; any shape/compound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  <a:sym typeface="Aptos"/>
                        </a:rPr>
                        <a:t>Imaging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absorbing blocks / OFF meshes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  <a:sym typeface="Aptos"/>
                        </a:rPr>
                        <a:t>Neutron only, in practice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  <a:sym typeface="Aptos"/>
                        </a:rPr>
                        <a:t>Reflectometry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Multilayer_Sample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  <a:sym typeface="Aptos"/>
                        </a:rPr>
                        <a:t>Small library (contrib)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  <a:sym typeface="Aptos"/>
                        </a:rPr>
                        <a:t>Inelastic scattering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Phonon_simple, Magnon_bcc, …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Isotropic_Sqw (IXS, exp.)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  <a:sym typeface="Aptos"/>
                        </a:rPr>
                        <a:t>Richer on the neutron side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  <a:sym typeface="Aptos"/>
                        </a:rPr>
                        <a:t>Resolution / generic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Res_sample, TOFRes_sample, Spot_sample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  <a:sym typeface="Aptos"/>
                        </a:rPr>
                        <a:t>Synthetic, for resolution studies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  <a:sym typeface="Aptos"/>
                        </a:rPr>
                        <a:t>Advanced assemblies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Union components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Union components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  <a:sym typeface="Aptos"/>
                        </a:rPr>
                        <a:t>Shared framework, both codes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78" name="Text 2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479" name="Text 3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17</a:t>
            </a:r>
          </a:p>
        </p:txBody>
      </p:sp>
      <p:grpSp>
        <p:nvGrpSpPr>
          <p:cNvPr id="486" name="Group 4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484" name="Group 7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480" name="Picture 9" descr="Picture 9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483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481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482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485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Shape 0"/>
          <p:cNvSpPr/>
          <p:nvPr/>
        </p:nvSpPr>
        <p:spPr>
          <a:xfrm>
            <a:off x="9418318" y="-1463040"/>
            <a:ext cx="4754884" cy="4754880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9" name="Shape 1"/>
          <p:cNvSpPr/>
          <p:nvPr/>
        </p:nvSpPr>
        <p:spPr>
          <a:xfrm>
            <a:off x="-1828802" y="4206240"/>
            <a:ext cx="4206244" cy="4206243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0" name="Text 2"/>
          <p:cNvSpPr txBox="1"/>
          <p:nvPr/>
        </p:nvSpPr>
        <p:spPr>
          <a:xfrm>
            <a:off x="868680" y="1301750"/>
            <a:ext cx="9052561" cy="688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4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Where to go deeper</a:t>
            </a:r>
          </a:p>
        </p:txBody>
      </p:sp>
      <p:sp>
        <p:nvSpPr>
          <p:cNvPr id="491" name="Shape 3"/>
          <p:cNvSpPr/>
          <p:nvPr/>
        </p:nvSpPr>
        <p:spPr>
          <a:xfrm>
            <a:off x="822960" y="2286000"/>
            <a:ext cx="5120641" cy="2880362"/>
          </a:xfrm>
          <a:prstGeom prst="roundRect">
            <a:avLst>
              <a:gd name="adj" fmla="val 3175"/>
            </a:avLst>
          </a:prstGeom>
          <a:solidFill>
            <a:srgbClr val="141A4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2" name="Text 4"/>
          <p:cNvSpPr txBox="1"/>
          <p:nvPr/>
        </p:nvSpPr>
        <p:spPr>
          <a:xfrm>
            <a:off x="1188719" y="2531110"/>
            <a:ext cx="4389122" cy="332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600">
                <a:solidFill>
                  <a:srgbClr val="8FE3C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McStas</a:t>
            </a:r>
          </a:p>
        </p:txBody>
      </p:sp>
      <p:sp>
        <p:nvSpPr>
          <p:cNvPr id="493" name="Text 5"/>
          <p:cNvSpPr txBox="1"/>
          <p:nvPr/>
        </p:nvSpPr>
        <p:spPr>
          <a:xfrm>
            <a:off x="1188719" y="3201846"/>
            <a:ext cx="4389122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mcdoc sample  /  mcdoc -c</a:t>
            </a:r>
          </a:p>
        </p:txBody>
      </p:sp>
      <p:sp>
        <p:nvSpPr>
          <p:cNvPr id="494" name="Text 6"/>
          <p:cNvSpPr txBox="1"/>
          <p:nvPr/>
        </p:nvSpPr>
        <p:spPr>
          <a:xfrm>
            <a:off x="1188719" y="3750486"/>
            <a:ext cx="4389122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Data: $MCSTAS/data (Lau/Laz/Sqw/PDB/ncmat)</a:t>
            </a:r>
          </a:p>
        </p:txBody>
      </p:sp>
      <p:sp>
        <p:nvSpPr>
          <p:cNvPr id="495" name="Text 7"/>
          <p:cNvSpPr txBox="1"/>
          <p:nvPr/>
        </p:nvSpPr>
        <p:spPr>
          <a:xfrm>
            <a:off x="1188719" y="4299126"/>
            <a:ext cx="4389122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cif2hkl --powder / --xtal file.cif</a:t>
            </a:r>
          </a:p>
        </p:txBody>
      </p:sp>
      <p:sp>
        <p:nvSpPr>
          <p:cNvPr id="496" name="Shape 8"/>
          <p:cNvSpPr/>
          <p:nvPr/>
        </p:nvSpPr>
        <p:spPr>
          <a:xfrm>
            <a:off x="6309359" y="2286000"/>
            <a:ext cx="5120641" cy="2880362"/>
          </a:xfrm>
          <a:prstGeom prst="roundRect">
            <a:avLst>
              <a:gd name="adj" fmla="val 3175"/>
            </a:avLst>
          </a:prstGeom>
          <a:solidFill>
            <a:srgbClr val="141A4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7" name="Text 9"/>
          <p:cNvSpPr txBox="1"/>
          <p:nvPr/>
        </p:nvSpPr>
        <p:spPr>
          <a:xfrm>
            <a:off x="6675119" y="2531110"/>
            <a:ext cx="4389121" cy="332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600">
                <a:solidFill>
                  <a:srgbClr val="FFD79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McXtrace</a:t>
            </a:r>
          </a:p>
        </p:txBody>
      </p:sp>
      <p:sp>
        <p:nvSpPr>
          <p:cNvPr id="498" name="Text 10"/>
          <p:cNvSpPr txBox="1"/>
          <p:nvPr/>
        </p:nvSpPr>
        <p:spPr>
          <a:xfrm>
            <a:off x="6675119" y="3201846"/>
            <a:ext cx="4389121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mxdoc sample  /  mxdoc -c</a:t>
            </a:r>
          </a:p>
        </p:txBody>
      </p:sp>
      <p:sp>
        <p:nvSpPr>
          <p:cNvPr id="499" name="Text 11"/>
          <p:cNvSpPr txBox="1"/>
          <p:nvPr/>
        </p:nvSpPr>
        <p:spPr>
          <a:xfrm>
            <a:off x="6675119" y="3750486"/>
            <a:ext cx="4389121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Practicals: absorption (ROCK), fluorescence (LUCIA)</a:t>
            </a:r>
          </a:p>
        </p:txBody>
      </p:sp>
      <p:sp>
        <p:nvSpPr>
          <p:cNvPr id="500" name="Text 12"/>
          <p:cNvSpPr txBox="1"/>
          <p:nvPr/>
        </p:nvSpPr>
        <p:spPr>
          <a:xfrm>
            <a:off x="6675119" y="4299126"/>
            <a:ext cx="4389121" cy="225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McCode wiki: generating Single_crystal/PowderN files</a:t>
            </a:r>
          </a:p>
        </p:txBody>
      </p:sp>
      <p:sp>
        <p:nvSpPr>
          <p:cNvPr id="501" name="Shape 13"/>
          <p:cNvSpPr/>
          <p:nvPr/>
        </p:nvSpPr>
        <p:spPr>
          <a:xfrm>
            <a:off x="822958" y="5440679"/>
            <a:ext cx="2926083" cy="2"/>
          </a:xfrm>
          <a:prstGeom prst="line">
            <a:avLst/>
          </a:prstGeom>
          <a:ln w="12700">
            <a:solidFill>
              <a:srgbClr val="3C4A8C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02" name="Text 14"/>
          <p:cNvSpPr txBox="1"/>
          <p:nvPr/>
        </p:nvSpPr>
        <p:spPr>
          <a:xfrm>
            <a:off x="868680" y="5567987"/>
            <a:ext cx="7223760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200">
                <a:solidFill>
                  <a:srgbClr val="AAB6DE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Peter Willendrup   ·   pkwi@fysik.dtu.dk   ·   DTU Physics</a:t>
            </a:r>
          </a:p>
        </p:txBody>
      </p:sp>
      <p:sp>
        <p:nvSpPr>
          <p:cNvPr id="503" name="Text 15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504" name="Text 16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