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org&amp;utm_campaign=index&amp;utm_content=thumbnail&amp;_=20091118202128" ContentType="image/png"/>
  <Default Extension="org&amp;utm_campaign=index&amp;utm_content=thumbnail&amp;_=20250831083433" ContentType="image/png"/>
  <Default Extension="png" ContentType="image/png"/>
  <Default Extension="rels" ContentType="application/vnd.openxmlformats-package.relationships+xml"/>
  <Default Extension="tif" ContentType="image/ti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400308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org&amp;utm_campaign=index&amp;utm_content=thumbnail&amp;_=20091118202128"/><Relationship Id="rId13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10.org&amp;utm_campaign=index&amp;utm_content=thumbnail&amp;_=20250831083433"/><Relationship Id="rId12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14.jpg"/><Relationship Id="rId5" Type="http://schemas.openxmlformats.org/officeDocument/2006/relationships/image" Target="../media/image8.tif"/><Relationship Id="rId15" Type="http://schemas.openxmlformats.org/officeDocument/2006/relationships/image" Target="../media/image6.png"/><Relationship Id="rId10" Type="http://schemas.openxmlformats.org/officeDocument/2006/relationships/image" Target="../media/image13.jp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5.gi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1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jpeg"/><Relationship Id="rId11" Type="http://schemas.openxmlformats.org/officeDocument/2006/relationships/image" Target="../media/image6.png"/><Relationship Id="rId5" Type="http://schemas.openxmlformats.org/officeDocument/2006/relationships/image" Target="../media/image16.png"/><Relationship Id="rId10" Type="http://schemas.openxmlformats.org/officeDocument/2006/relationships/image" Target="../media/image5.gif"/><Relationship Id="rId4" Type="http://schemas.openxmlformats.org/officeDocument/2006/relationships/image" Target="../media/image15.png"/><Relationship Id="rId9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463040"/>
            <a:ext cx="4754880" cy="4754880"/>
          </a:xfrm>
          <a:prstGeom prst="ellipse">
            <a:avLst/>
          </a:prstGeom>
          <a:solidFill>
            <a:srgbClr val="141A47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3" name="Shape 1"/>
          <p:cNvSpPr/>
          <p:nvPr/>
        </p:nvSpPr>
        <p:spPr>
          <a:xfrm>
            <a:off x="-1828800" y="4206240"/>
            <a:ext cx="4206240" cy="4206240"/>
          </a:xfrm>
          <a:prstGeom prst="ellipse">
            <a:avLst/>
          </a:prstGeom>
          <a:solidFill>
            <a:srgbClr val="141A47"/>
          </a:solidFill>
          <a:ln/>
        </p:spPr>
        <p:txBody>
          <a:bodyPr/>
          <a:lstStyle/>
          <a:p>
            <a:endParaRPr lang="en-DK"/>
          </a:p>
        </p:txBody>
      </p:sp>
      <p:pic>
        <p:nvPicPr>
          <p:cNvPr id="4" name="Image 0" descr="/home/claude/work/assets/panrai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57200"/>
            <a:ext cx="1397203" cy="71689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1600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9FB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COMPONENTS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777240" y="2011680"/>
            <a:ext cx="96012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physics at the heart</a:t>
            </a:r>
            <a:endParaRPr lang="en-US" sz="44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 the beamline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822960" y="370332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C7D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Diffraction, small-angle scattering, spectroscopy &amp; imaging in McStas &amp; McXtrace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822960" y="4480560"/>
            <a:ext cx="141732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9" name="Text 6"/>
          <p:cNvSpPr/>
          <p:nvPr/>
        </p:nvSpPr>
        <p:spPr>
          <a:xfrm>
            <a:off x="822960" y="4480560"/>
            <a:ext cx="1417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— neutrons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377440" y="4480560"/>
            <a:ext cx="141732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1" name="Text 8"/>
          <p:cNvSpPr/>
          <p:nvPr/>
        </p:nvSpPr>
        <p:spPr>
          <a:xfrm>
            <a:off x="2377440" y="4480560"/>
            <a:ext cx="1417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McXtrace — X-rays</a:t>
            </a:r>
            <a:endParaRPr lang="en-US" sz="1100" dirty="0"/>
          </a:p>
        </p:txBody>
      </p:sp>
      <p:pic>
        <p:nvPicPr>
          <p:cNvPr id="12" name="Image 1" descr="/home/claude/work/assets/mcstas_mcxtrace_locku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9598" y="4018788"/>
            <a:ext cx="3150108" cy="979322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822960" y="5806440"/>
            <a:ext cx="2926080" cy="0"/>
          </a:xfrm>
          <a:prstGeom prst="line">
            <a:avLst/>
          </a:prstGeom>
          <a:noFill/>
          <a:ln w="12700">
            <a:solidFill>
              <a:srgbClr val="3C4A8C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14" name="Text 10"/>
          <p:cNvSpPr/>
          <p:nvPr/>
        </p:nvSpPr>
        <p:spPr>
          <a:xfrm>
            <a:off x="822960" y="589788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AAB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 Willendrup   ·   DTU Physics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822960" y="6172200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D8A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PaNRAID School  ·  supported by PEPR DIADEM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panrai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6611" y="355702"/>
            <a:ext cx="1270102" cy="65151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84048"/>
            <a:ext cx="896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658368"/>
            <a:ext cx="9784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we'll cover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1417320"/>
            <a:ext cx="9692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techniques in focus, plus a map of everything else on offer.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2176272"/>
            <a:ext cx="329184" cy="329184"/>
          </a:xfrm>
          <a:prstGeom prst="ellipse">
            <a:avLst/>
          </a:prstGeom>
          <a:solidFill>
            <a:srgbClr val="E3EEF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7" name="Text 4"/>
          <p:cNvSpPr/>
          <p:nvPr/>
        </p:nvSpPr>
        <p:spPr>
          <a:xfrm>
            <a:off x="548640" y="217627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024128" y="2112264"/>
            <a:ext cx="4846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sample does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1024128" y="24231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quick recap, and the sample menu at a glance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355080" y="2176272"/>
            <a:ext cx="329184" cy="329184"/>
          </a:xfrm>
          <a:prstGeom prst="ellipse">
            <a:avLst/>
          </a:prstGeom>
          <a:solidFill>
            <a:srgbClr val="FBEBD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1" name="Text 8"/>
          <p:cNvSpPr/>
          <p:nvPr/>
        </p:nvSpPr>
        <p:spPr>
          <a:xfrm>
            <a:off x="6355080" y="217627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97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830568" y="2112264"/>
            <a:ext cx="4846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Diffraction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830568" y="24231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Powders and single crystals — neutrons and X-rays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48640" y="3200400"/>
            <a:ext cx="329184" cy="329184"/>
          </a:xfrm>
          <a:prstGeom prst="ellipse">
            <a:avLst/>
          </a:prstGeom>
          <a:solidFill>
            <a:srgbClr val="E3EEF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5" name="Text 12"/>
          <p:cNvSpPr/>
          <p:nvPr/>
        </p:nvSpPr>
        <p:spPr>
          <a:xfrm>
            <a:off x="548640" y="320040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024128" y="3136392"/>
            <a:ext cx="4846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Small-angle scattering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1024128" y="3447288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and SAXS, side by side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355080" y="3200400"/>
            <a:ext cx="329184" cy="329184"/>
          </a:xfrm>
          <a:prstGeom prst="ellipse">
            <a:avLst/>
          </a:prstGeom>
          <a:solidFill>
            <a:srgbClr val="FBEBD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9" name="Text 16"/>
          <p:cNvSpPr/>
          <p:nvPr/>
        </p:nvSpPr>
        <p:spPr>
          <a:xfrm>
            <a:off x="6355080" y="320040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97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830568" y="3136392"/>
            <a:ext cx="4846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Absorption &amp; fluorescence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6830568" y="3447288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X-ray-only spectroscopy, with two worked examples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48640" y="4224528"/>
            <a:ext cx="329184" cy="329184"/>
          </a:xfrm>
          <a:prstGeom prst="ellipse">
            <a:avLst/>
          </a:prstGeom>
          <a:solidFill>
            <a:srgbClr val="E3EEF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23" name="Text 20"/>
          <p:cNvSpPr/>
          <p:nvPr/>
        </p:nvSpPr>
        <p:spPr>
          <a:xfrm>
            <a:off x="548640" y="422452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024128" y="4160520"/>
            <a:ext cx="4846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Imaging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1024128" y="4471416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Neutron-only absorption-contrast radiography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355080" y="4224528"/>
            <a:ext cx="329184" cy="329184"/>
          </a:xfrm>
          <a:prstGeom prst="ellipse">
            <a:avLst/>
          </a:prstGeom>
          <a:solidFill>
            <a:srgbClr val="FBEBD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27" name="Text 24"/>
          <p:cNvSpPr/>
          <p:nvPr/>
        </p:nvSpPr>
        <p:spPr>
          <a:xfrm>
            <a:off x="6355080" y="422452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97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830568" y="4160520"/>
            <a:ext cx="4846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Reflectometry &amp; inelastic scattering</a:t>
            </a:r>
            <a:endParaRPr lang="en-US" sz="1450" dirty="0"/>
          </a:p>
        </p:txBody>
      </p:sp>
      <p:sp>
        <p:nvSpPr>
          <p:cNvPr id="29" name="Text 26"/>
          <p:cNvSpPr/>
          <p:nvPr/>
        </p:nvSpPr>
        <p:spPr>
          <a:xfrm>
            <a:off x="6830568" y="4471416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Briefly — what's available today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548640" y="5248656"/>
            <a:ext cx="329184" cy="329184"/>
          </a:xfrm>
          <a:prstGeom prst="ellipse">
            <a:avLst/>
          </a:prstGeom>
          <a:solidFill>
            <a:srgbClr val="E3EEF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31" name="Text 28"/>
          <p:cNvSpPr/>
          <p:nvPr/>
        </p:nvSpPr>
        <p:spPr>
          <a:xfrm>
            <a:off x="548640" y="524865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1024128" y="5184648"/>
            <a:ext cx="4846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&amp; advanced assemblies</a:t>
            </a:r>
            <a:endParaRPr lang="en-US" sz="1450" dirty="0"/>
          </a:p>
        </p:txBody>
      </p:sp>
      <p:sp>
        <p:nvSpPr>
          <p:cNvPr id="33" name="Text 30"/>
          <p:cNvSpPr/>
          <p:nvPr/>
        </p:nvSpPr>
        <p:spPr>
          <a:xfrm>
            <a:off x="1024128" y="5495544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 samples, Union, and the sasmodels library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6355080" y="5248656"/>
            <a:ext cx="329184" cy="329184"/>
          </a:xfrm>
          <a:prstGeom prst="ellipse">
            <a:avLst/>
          </a:prstGeom>
          <a:solidFill>
            <a:srgbClr val="FBEBD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35" name="Text 32"/>
          <p:cNvSpPr/>
          <p:nvPr/>
        </p:nvSpPr>
        <p:spPr>
          <a:xfrm>
            <a:off x="6355080" y="524865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97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6830568" y="5184648"/>
            <a:ext cx="4846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picture</a:t>
            </a:r>
            <a:endParaRPr lang="en-US" sz="1450" dirty="0"/>
          </a:p>
        </p:txBody>
      </p:sp>
      <p:sp>
        <p:nvSpPr>
          <p:cNvPr id="37" name="Text 34"/>
          <p:cNvSpPr/>
          <p:nvPr/>
        </p:nvSpPr>
        <p:spPr>
          <a:xfrm>
            <a:off x="6830568" y="5495544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table, every technique, both codes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Sample Components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9945A44F-59DA-9A0B-09BE-ABE2C26A0024}"/>
              </a:ext>
            </a:extLst>
          </p:cNvPr>
          <p:cNvGrpSpPr/>
          <p:nvPr/>
        </p:nvGrpSpPr>
        <p:grpSpPr>
          <a:xfrm>
            <a:off x="8424360" y="119520"/>
            <a:ext cx="1590840" cy="748800"/>
            <a:chOff x="8424360" y="119520"/>
            <a:chExt cx="1590840" cy="748800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EA6A9E9D-ED62-ADB3-4004-B189CEE614F8}"/>
                </a:ext>
              </a:extLst>
            </p:cNvPr>
            <p:cNvGrpSpPr/>
            <p:nvPr/>
          </p:nvGrpSpPr>
          <p:grpSpPr>
            <a:xfrm>
              <a:off x="9225000" y="124302"/>
              <a:ext cx="790200" cy="708378"/>
              <a:chOff x="9225000" y="124302"/>
              <a:chExt cx="790200" cy="708378"/>
            </a:xfrm>
          </p:grpSpPr>
          <p:pic>
            <p:nvPicPr>
              <p:cNvPr id="43" name="Picture 42">
                <a:extLst>
                  <a:ext uri="{FF2B5EF4-FFF2-40B4-BE49-F238E27FC236}">
                    <a16:creationId xmlns:a16="http://schemas.microsoft.com/office/drawing/2014/main" id="{664B30D3-A4C7-EF4E-35F8-74A1890ADD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262056" y="124302"/>
                <a:ext cx="716666" cy="424533"/>
              </a:xfrm>
              <a:prstGeom prst="rect">
                <a:avLst/>
              </a:prstGeom>
            </p:spPr>
          </p:pic>
          <p:grpSp>
            <p:nvGrpSpPr>
              <p:cNvPr id="44" name="Group 32">
                <a:extLst>
                  <a:ext uri="{FF2B5EF4-FFF2-40B4-BE49-F238E27FC236}">
                    <a16:creationId xmlns:a16="http://schemas.microsoft.com/office/drawing/2014/main" id="{794B8F21-7D66-E3F2-F57B-49823AD9D8C6}"/>
                  </a:ext>
                </a:extLst>
              </p:cNvPr>
              <p:cNvGrpSpPr/>
              <p:nvPr/>
            </p:nvGrpSpPr>
            <p:grpSpPr>
              <a:xfrm>
                <a:off x="9225000" y="531360"/>
                <a:ext cx="790200" cy="301320"/>
                <a:chOff x="9225000" y="531360"/>
                <a:chExt cx="790200" cy="301320"/>
              </a:xfrm>
            </p:grpSpPr>
            <p:pic>
              <p:nvPicPr>
                <p:cNvPr id="45" name="Picture 29" descr="Synchrotron SOLEIL">
                  <a:extLst>
                    <a:ext uri="{FF2B5EF4-FFF2-40B4-BE49-F238E27FC236}">
                      <a16:creationId xmlns:a16="http://schemas.microsoft.com/office/drawing/2014/main" id="{8919DCC2-1E41-8555-31EB-411D655B25CE}"/>
                    </a:ext>
                  </a:extLst>
                </p:cNvPr>
                <p:cNvPicPr/>
                <p:nvPr/>
              </p:nvPicPr>
              <p:blipFill>
                <a:blip r:embed="rId5"/>
                <a:stretch/>
              </p:blipFill>
              <p:spPr>
                <a:xfrm>
                  <a:off x="9225000" y="531360"/>
                  <a:ext cx="547920" cy="264600"/>
                </a:xfrm>
                <a:prstGeom prst="rect">
                  <a:avLst/>
                </a:prstGeom>
                <a:noFill/>
                <a:ln w="0">
                  <a:noFill/>
                </a:ln>
              </p:spPr>
            </p:pic>
            <p:pic>
              <p:nvPicPr>
                <p:cNvPr id="46" name="Picture 30" descr="DTU Physics">
                  <a:extLst>
                    <a:ext uri="{FF2B5EF4-FFF2-40B4-BE49-F238E27FC236}">
                      <a16:creationId xmlns:a16="http://schemas.microsoft.com/office/drawing/2014/main" id="{43E8829B-09DF-0DB2-B47F-8AEA8057D158}"/>
                    </a:ext>
                  </a:extLst>
                </p:cNvPr>
                <p:cNvPicPr/>
                <p:nvPr/>
              </p:nvPicPr>
              <p:blipFill>
                <a:blip r:embed="rId6"/>
                <a:stretch/>
              </p:blipFill>
              <p:spPr>
                <a:xfrm>
                  <a:off x="9814320" y="536400"/>
                  <a:ext cx="200880" cy="296280"/>
                </a:xfrm>
                <a:prstGeom prst="rect">
                  <a:avLst/>
                </a:prstGeom>
                <a:noFill/>
                <a:ln w="0">
                  <a:noFill/>
                </a:ln>
              </p:spPr>
            </p:pic>
          </p:grpSp>
        </p:grpSp>
        <p:pic>
          <p:nvPicPr>
            <p:cNvPr id="42" name="Picture 31">
              <a:extLst>
                <a:ext uri="{FF2B5EF4-FFF2-40B4-BE49-F238E27FC236}">
                  <a16:creationId xmlns:a16="http://schemas.microsoft.com/office/drawing/2014/main" id="{65CA6C7A-6594-AC55-378B-04E097E60551}"/>
                </a:ext>
              </a:extLst>
            </p:cNvPr>
            <p:cNvPicPr/>
            <p:nvPr/>
          </p:nvPicPr>
          <p:blipFill>
            <a:blip r:embed="rId7"/>
            <a:stretch/>
          </p:blipFill>
          <p:spPr>
            <a:xfrm>
              <a:off x="8424360" y="119520"/>
              <a:ext cx="736200" cy="74880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panrai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6611" y="355702"/>
            <a:ext cx="1270102" cy="65151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84048"/>
            <a:ext cx="896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CONCEPT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658368"/>
            <a:ext cx="9784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sample component does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1600200"/>
            <a:ext cx="576072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sample intercepts the ray, decides — statistically — whether it scatters, transmits, or is absorbed, and updates the ray's state accordingly.</a:t>
            </a:r>
            <a:endParaRPr lang="en-US" sz="12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p_interact lets you force a chosen fraction of rays to scatter, improving statistics without biasing the physical intensity.</a:t>
            </a:r>
            <a:endParaRPr lang="en-US" sz="12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samples support several shapes out of the box: box, cylinder, sphere — or a hollow version of each via thickness.</a:t>
            </a:r>
            <a:endParaRPr lang="en-US" sz="12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also accept an arbitrary OFF/PLY mesh (geometry=file) for a truly custom shape — the same complex-geometry engine underneath the diffraction, spectroscopy and imaging samples we'll see today.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6537960" y="1737360"/>
            <a:ext cx="5120640" cy="4023360"/>
          </a:xfrm>
          <a:prstGeom prst="roundRect">
            <a:avLst>
              <a:gd name="adj" fmla="val 2273"/>
            </a:avLst>
          </a:prstGeom>
          <a:solidFill>
            <a:srgbClr val="F7F8FA"/>
          </a:solidFill>
          <a:ln w="9525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7" name="Text 4"/>
          <p:cNvSpPr/>
          <p:nvPr/>
        </p:nvSpPr>
        <p:spPr>
          <a:xfrm>
            <a:off x="6537960" y="192024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ray, three possible fates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995160" y="3566160"/>
            <a:ext cx="1463040" cy="0"/>
          </a:xfrm>
          <a:prstGeom prst="line">
            <a:avLst/>
          </a:prstGeom>
          <a:noFill/>
          <a:ln w="25400">
            <a:solidFill>
              <a:srgbClr val="20242B"/>
            </a:solidFill>
            <a:prstDash val="solid"/>
            <a:tailEnd type="triangle"/>
          </a:ln>
        </p:spPr>
        <p:txBody>
          <a:bodyPr/>
          <a:lstStyle/>
          <a:p>
            <a:endParaRPr lang="en-DK"/>
          </a:p>
        </p:txBody>
      </p:sp>
      <p:sp>
        <p:nvSpPr>
          <p:cNvPr id="9" name="Shape 6"/>
          <p:cNvSpPr/>
          <p:nvPr/>
        </p:nvSpPr>
        <p:spPr>
          <a:xfrm>
            <a:off x="8458200" y="2926080"/>
            <a:ext cx="914400" cy="1280160"/>
          </a:xfrm>
          <a:prstGeom prst="roundRect">
            <a:avLst>
              <a:gd name="adj" fmla="val 6000"/>
            </a:avLst>
          </a:prstGeom>
          <a:solidFill>
            <a:srgbClr val="E3EEF2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10" name="Text 7"/>
          <p:cNvSpPr/>
          <p:nvPr/>
        </p:nvSpPr>
        <p:spPr>
          <a:xfrm>
            <a:off x="8458200" y="34015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2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9372600" y="3566160"/>
            <a:ext cx="1554480" cy="0"/>
          </a:xfrm>
          <a:prstGeom prst="line">
            <a:avLst/>
          </a:prstGeom>
          <a:noFill/>
          <a:ln w="25400">
            <a:solidFill>
              <a:srgbClr val="D97A2B"/>
            </a:solidFill>
            <a:prstDash val="solid"/>
            <a:tailEnd type="triangle"/>
          </a:ln>
        </p:spPr>
        <p:txBody>
          <a:bodyPr/>
          <a:lstStyle/>
          <a:p>
            <a:endParaRPr lang="en-DK"/>
          </a:p>
        </p:txBody>
      </p:sp>
      <p:sp>
        <p:nvSpPr>
          <p:cNvPr id="12" name="Text 9"/>
          <p:cNvSpPr/>
          <p:nvPr/>
        </p:nvSpPr>
        <p:spPr>
          <a:xfrm>
            <a:off x="10195560" y="2350008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scattered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9372600" y="3566160"/>
            <a:ext cx="155448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tailEnd type="triangle"/>
          </a:ln>
        </p:spPr>
        <p:txBody>
          <a:bodyPr/>
          <a:lstStyle/>
          <a:p>
            <a:endParaRPr lang="en-DK"/>
          </a:p>
        </p:txBody>
      </p:sp>
      <p:sp>
        <p:nvSpPr>
          <p:cNvPr id="14" name="Text 11"/>
          <p:cNvSpPr/>
          <p:nvPr/>
        </p:nvSpPr>
        <p:spPr>
          <a:xfrm>
            <a:off x="10195560" y="3236976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transmitted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9372600" y="3566160"/>
            <a:ext cx="1554480" cy="868680"/>
          </a:xfrm>
          <a:prstGeom prst="line">
            <a:avLst/>
          </a:prstGeom>
          <a:noFill/>
          <a:ln w="25400">
            <a:solidFill>
              <a:srgbClr val="6E7580"/>
            </a:solidFill>
            <a:prstDash val="solid"/>
            <a:tailEnd type="triangle"/>
          </a:ln>
        </p:spPr>
        <p:txBody>
          <a:bodyPr/>
          <a:lstStyle/>
          <a:p>
            <a:endParaRPr lang="en-DK"/>
          </a:p>
        </p:txBody>
      </p:sp>
      <p:sp>
        <p:nvSpPr>
          <p:cNvPr id="16" name="Text 13"/>
          <p:cNvSpPr/>
          <p:nvPr/>
        </p:nvSpPr>
        <p:spPr>
          <a:xfrm>
            <a:off x="10195560" y="452628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absorbed (removed)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858000" y="4983480"/>
            <a:ext cx="4480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Whichever happens, the ray's weight p is adjusted so the statistics stay correct on average.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Sample Components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3CBC061-181F-F613-404A-215C3E533AEC}"/>
              </a:ext>
            </a:extLst>
          </p:cNvPr>
          <p:cNvGrpSpPr/>
          <p:nvPr/>
        </p:nvGrpSpPr>
        <p:grpSpPr>
          <a:xfrm>
            <a:off x="8424360" y="119520"/>
            <a:ext cx="1590840" cy="748800"/>
            <a:chOff x="8424360" y="119520"/>
            <a:chExt cx="1590840" cy="748800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2F86901B-E4FB-5832-F1E9-8ECB5C31454D}"/>
                </a:ext>
              </a:extLst>
            </p:cNvPr>
            <p:cNvGrpSpPr/>
            <p:nvPr/>
          </p:nvGrpSpPr>
          <p:grpSpPr>
            <a:xfrm>
              <a:off x="9225000" y="124302"/>
              <a:ext cx="790200" cy="708378"/>
              <a:chOff x="9225000" y="124302"/>
              <a:chExt cx="790200" cy="708378"/>
            </a:xfrm>
          </p:grpSpPr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2065E747-08C4-69D9-0166-1BE19017F4E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262056" y="124302"/>
                <a:ext cx="716666" cy="424533"/>
              </a:xfrm>
              <a:prstGeom prst="rect">
                <a:avLst/>
              </a:prstGeom>
            </p:spPr>
          </p:pic>
          <p:grpSp>
            <p:nvGrpSpPr>
              <p:cNvPr id="24" name="Group 32">
                <a:extLst>
                  <a:ext uri="{FF2B5EF4-FFF2-40B4-BE49-F238E27FC236}">
                    <a16:creationId xmlns:a16="http://schemas.microsoft.com/office/drawing/2014/main" id="{3E17E26D-6A00-036A-51EC-280B669CEA85}"/>
                  </a:ext>
                </a:extLst>
              </p:cNvPr>
              <p:cNvGrpSpPr/>
              <p:nvPr/>
            </p:nvGrpSpPr>
            <p:grpSpPr>
              <a:xfrm>
                <a:off x="9225000" y="531360"/>
                <a:ext cx="790200" cy="301320"/>
                <a:chOff x="9225000" y="531360"/>
                <a:chExt cx="790200" cy="301320"/>
              </a:xfrm>
            </p:grpSpPr>
            <p:pic>
              <p:nvPicPr>
                <p:cNvPr id="25" name="Picture 29" descr="Synchrotron SOLEIL">
                  <a:extLst>
                    <a:ext uri="{FF2B5EF4-FFF2-40B4-BE49-F238E27FC236}">
                      <a16:creationId xmlns:a16="http://schemas.microsoft.com/office/drawing/2014/main" id="{C4F37FF7-CD88-B884-8190-591BA8F566A1}"/>
                    </a:ext>
                  </a:extLst>
                </p:cNvPr>
                <p:cNvPicPr/>
                <p:nvPr/>
              </p:nvPicPr>
              <p:blipFill>
                <a:blip r:embed="rId5"/>
                <a:stretch/>
              </p:blipFill>
              <p:spPr>
                <a:xfrm>
                  <a:off x="9225000" y="531360"/>
                  <a:ext cx="547920" cy="264600"/>
                </a:xfrm>
                <a:prstGeom prst="rect">
                  <a:avLst/>
                </a:prstGeom>
                <a:noFill/>
                <a:ln w="0">
                  <a:noFill/>
                </a:ln>
              </p:spPr>
            </p:pic>
            <p:pic>
              <p:nvPicPr>
                <p:cNvPr id="26" name="Picture 30" descr="DTU Physics">
                  <a:extLst>
                    <a:ext uri="{FF2B5EF4-FFF2-40B4-BE49-F238E27FC236}">
                      <a16:creationId xmlns:a16="http://schemas.microsoft.com/office/drawing/2014/main" id="{767FD2D4-B923-A303-6ACF-A6499B9FCF67}"/>
                    </a:ext>
                  </a:extLst>
                </p:cNvPr>
                <p:cNvPicPr/>
                <p:nvPr/>
              </p:nvPicPr>
              <p:blipFill>
                <a:blip r:embed="rId6"/>
                <a:stretch/>
              </p:blipFill>
              <p:spPr>
                <a:xfrm>
                  <a:off x="9814320" y="536400"/>
                  <a:ext cx="200880" cy="296280"/>
                </a:xfrm>
                <a:prstGeom prst="rect">
                  <a:avLst/>
                </a:prstGeom>
                <a:noFill/>
                <a:ln w="0">
                  <a:noFill/>
                </a:ln>
              </p:spPr>
            </p:pic>
          </p:grpSp>
        </p:grpSp>
        <p:pic>
          <p:nvPicPr>
            <p:cNvPr id="22" name="Picture 31">
              <a:extLst>
                <a:ext uri="{FF2B5EF4-FFF2-40B4-BE49-F238E27FC236}">
                  <a16:creationId xmlns:a16="http://schemas.microsoft.com/office/drawing/2014/main" id="{CFFE2491-8488-A4A0-C77E-8A2CF07A71F2}"/>
                </a:ext>
              </a:extLst>
            </p:cNvPr>
            <p:cNvPicPr/>
            <p:nvPr/>
          </p:nvPicPr>
          <p:blipFill>
            <a:blip r:embed="rId7"/>
            <a:stretch/>
          </p:blipFill>
          <p:spPr>
            <a:xfrm>
              <a:off x="8424360" y="119520"/>
              <a:ext cx="736200" cy="74880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panrai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6611" y="355702"/>
            <a:ext cx="1270102" cy="65151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84048"/>
            <a:ext cx="896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FRAMING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658368"/>
            <a:ext cx="9784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sample menu, at a glance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1417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techniques get the spotlight today — with a map of what else exists at the end.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2057400"/>
            <a:ext cx="2084832" cy="3429000"/>
          </a:xfrm>
          <a:prstGeom prst="roundRect">
            <a:avLst>
              <a:gd name="adj" fmla="val 3947"/>
            </a:avLst>
          </a:prstGeom>
          <a:solidFill>
            <a:srgbClr val="F7F8F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7" name="Shape 4"/>
          <p:cNvSpPr/>
          <p:nvPr/>
        </p:nvSpPr>
        <p:spPr>
          <a:xfrm>
            <a:off x="548640" y="2057400"/>
            <a:ext cx="2084832" cy="50292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8" name="Text 5"/>
          <p:cNvSpPr/>
          <p:nvPr/>
        </p:nvSpPr>
        <p:spPr>
          <a:xfrm>
            <a:off x="621792" y="2057400"/>
            <a:ext cx="19385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Diffraction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13232" y="2743200"/>
            <a:ext cx="1755648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Powders &amp; single crystals. Both probes, both codes.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13232" y="4983480"/>
            <a:ext cx="175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NEUTRON + X-RAY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2798064" y="2057400"/>
            <a:ext cx="2084832" cy="3429000"/>
          </a:xfrm>
          <a:prstGeom prst="roundRect">
            <a:avLst>
              <a:gd name="adj" fmla="val 3947"/>
            </a:avLst>
          </a:prstGeom>
          <a:solidFill>
            <a:srgbClr val="F7F8FA"/>
          </a:solidFill>
          <a:ln/>
        </p:spPr>
        <p:txBody>
          <a:bodyPr/>
          <a:lstStyle/>
          <a:p>
            <a:endParaRPr lang="en-DK" dirty="0"/>
          </a:p>
        </p:txBody>
      </p:sp>
      <p:sp>
        <p:nvSpPr>
          <p:cNvPr id="12" name="Shape 9"/>
          <p:cNvSpPr/>
          <p:nvPr/>
        </p:nvSpPr>
        <p:spPr>
          <a:xfrm>
            <a:off x="2798064" y="2057400"/>
            <a:ext cx="2084832" cy="502920"/>
          </a:xfrm>
          <a:prstGeom prst="rect">
            <a:avLst/>
          </a:prstGeom>
          <a:solidFill>
            <a:srgbClr val="D97A2B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3" name="Text 10"/>
          <p:cNvSpPr/>
          <p:nvPr/>
        </p:nvSpPr>
        <p:spPr>
          <a:xfrm>
            <a:off x="2871216" y="2057400"/>
            <a:ext cx="19385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SANS / SAXS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2962656" y="2743200"/>
            <a:ext cx="1755648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Molecular-scale structure from small-angle scattering.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2962656" y="4983480"/>
            <a:ext cx="175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NEUTRON + X-RAY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5047488" y="2057400"/>
            <a:ext cx="2066544" cy="2240280"/>
          </a:xfrm>
          <a:prstGeom prst="roundRect">
            <a:avLst>
              <a:gd name="adj" fmla="val 3947"/>
            </a:avLst>
          </a:prstGeom>
          <a:solidFill>
            <a:srgbClr val="F7F8F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7" name="Shape 14"/>
          <p:cNvSpPr/>
          <p:nvPr/>
        </p:nvSpPr>
        <p:spPr>
          <a:xfrm>
            <a:off x="5047488" y="2057400"/>
            <a:ext cx="2084832" cy="502920"/>
          </a:xfrm>
          <a:prstGeom prst="rect">
            <a:avLst/>
          </a:prstGeom>
          <a:solidFill>
            <a:srgbClr val="D97A2B"/>
          </a:solidFill>
          <a:ln/>
        </p:spPr>
        <p:txBody>
          <a:bodyPr/>
          <a:lstStyle/>
          <a:p>
            <a:endParaRPr lang="en-DK" dirty="0"/>
          </a:p>
        </p:txBody>
      </p:sp>
      <p:sp>
        <p:nvSpPr>
          <p:cNvPr id="18" name="Text 15"/>
          <p:cNvSpPr/>
          <p:nvPr/>
        </p:nvSpPr>
        <p:spPr>
          <a:xfrm>
            <a:off x="5120640" y="2057400"/>
            <a:ext cx="19385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X-ray Spectroscopy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5212080" y="2743200"/>
            <a:ext cx="1755648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Absorption edges and fluorescence lines.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5193792" y="3970844"/>
            <a:ext cx="175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X-RAY ONLY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7296912" y="2057400"/>
            <a:ext cx="2084832" cy="4663440"/>
          </a:xfrm>
          <a:prstGeom prst="roundRect">
            <a:avLst>
              <a:gd name="adj" fmla="val 3947"/>
            </a:avLst>
          </a:prstGeom>
          <a:solidFill>
            <a:srgbClr val="F7F8FA"/>
          </a:solidFill>
          <a:ln/>
        </p:spPr>
        <p:txBody>
          <a:bodyPr/>
          <a:lstStyle/>
          <a:p>
            <a:endParaRPr lang="en-DK" dirty="0"/>
          </a:p>
        </p:txBody>
      </p:sp>
      <p:sp>
        <p:nvSpPr>
          <p:cNvPr id="22" name="Shape 19"/>
          <p:cNvSpPr/>
          <p:nvPr/>
        </p:nvSpPr>
        <p:spPr>
          <a:xfrm>
            <a:off x="7296912" y="2057400"/>
            <a:ext cx="2084832" cy="50292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23" name="Text 20"/>
          <p:cNvSpPr/>
          <p:nvPr/>
        </p:nvSpPr>
        <p:spPr>
          <a:xfrm>
            <a:off x="7370064" y="2057400"/>
            <a:ext cx="19385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Imaging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7461504" y="2743200"/>
            <a:ext cx="1755648" cy="6509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Absorption-contrast radiography &amp; tomography.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7443216" y="4379976"/>
            <a:ext cx="175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NEUTRONS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9546336" y="2057400"/>
            <a:ext cx="2084832" cy="3429000"/>
          </a:xfrm>
          <a:prstGeom prst="roundRect">
            <a:avLst>
              <a:gd name="adj" fmla="val 3947"/>
            </a:avLst>
          </a:prstGeom>
          <a:solidFill>
            <a:srgbClr val="F7F8FA"/>
          </a:solidFill>
          <a:ln/>
        </p:spPr>
        <p:txBody>
          <a:bodyPr/>
          <a:lstStyle/>
          <a:p>
            <a:endParaRPr lang="en-DK" dirty="0"/>
          </a:p>
        </p:txBody>
      </p:sp>
      <p:sp>
        <p:nvSpPr>
          <p:cNvPr id="27" name="Shape 24"/>
          <p:cNvSpPr/>
          <p:nvPr/>
        </p:nvSpPr>
        <p:spPr>
          <a:xfrm>
            <a:off x="9546336" y="2057400"/>
            <a:ext cx="2084832" cy="502920"/>
          </a:xfrm>
          <a:prstGeom prst="rect">
            <a:avLst/>
          </a:prstGeom>
          <a:solidFill>
            <a:srgbClr val="6E7580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28" name="Text 25"/>
          <p:cNvSpPr/>
          <p:nvPr/>
        </p:nvSpPr>
        <p:spPr>
          <a:xfrm>
            <a:off x="9619488" y="2057400"/>
            <a:ext cx="19385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…and more</a:t>
            </a:r>
            <a:endParaRPr lang="en-US" sz="1350" dirty="0"/>
          </a:p>
        </p:txBody>
      </p:sp>
      <p:sp>
        <p:nvSpPr>
          <p:cNvPr id="29" name="Text 26"/>
          <p:cNvSpPr/>
          <p:nvPr/>
        </p:nvSpPr>
        <p:spPr>
          <a:xfrm>
            <a:off x="9710928" y="2743200"/>
            <a:ext cx="1755648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Reflectometry, inelastic scattering, generic &amp; advanced tools.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9710928" y="4983480"/>
            <a:ext cx="175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SUMMARY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Sample Components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33" name="Shape 13">
            <a:extLst>
              <a:ext uri="{FF2B5EF4-FFF2-40B4-BE49-F238E27FC236}">
                <a16:creationId xmlns:a16="http://schemas.microsoft.com/office/drawing/2014/main" id="{18140B85-CCD5-BC29-E338-2AECD89B10DD}"/>
              </a:ext>
            </a:extLst>
          </p:cNvPr>
          <p:cNvSpPr/>
          <p:nvPr/>
        </p:nvSpPr>
        <p:spPr>
          <a:xfrm>
            <a:off x="5038344" y="4971960"/>
            <a:ext cx="2084832" cy="1748880"/>
          </a:xfrm>
          <a:prstGeom prst="roundRect">
            <a:avLst>
              <a:gd name="adj" fmla="val 3947"/>
            </a:avLst>
          </a:prstGeom>
          <a:solidFill>
            <a:srgbClr val="F7F8F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37" name="Shape 14">
            <a:extLst>
              <a:ext uri="{FF2B5EF4-FFF2-40B4-BE49-F238E27FC236}">
                <a16:creationId xmlns:a16="http://schemas.microsoft.com/office/drawing/2014/main" id="{DCC055D7-2609-78ED-62B4-168CAB1C8F37}"/>
              </a:ext>
            </a:extLst>
          </p:cNvPr>
          <p:cNvSpPr/>
          <p:nvPr/>
        </p:nvSpPr>
        <p:spPr>
          <a:xfrm>
            <a:off x="5029200" y="4421048"/>
            <a:ext cx="2084832" cy="502920"/>
          </a:xfrm>
          <a:prstGeom prst="rect">
            <a:avLst/>
          </a:prstGeom>
          <a:solidFill>
            <a:srgbClr val="D97A2B"/>
          </a:solidFill>
          <a:ln/>
        </p:spPr>
        <p:txBody>
          <a:bodyPr/>
          <a:lstStyle/>
          <a:p>
            <a:endParaRPr lang="en-DK" dirty="0"/>
          </a:p>
        </p:txBody>
      </p:sp>
      <p:sp>
        <p:nvSpPr>
          <p:cNvPr id="38" name="Text 15">
            <a:extLst>
              <a:ext uri="{FF2B5EF4-FFF2-40B4-BE49-F238E27FC236}">
                <a16:creationId xmlns:a16="http://schemas.microsoft.com/office/drawing/2014/main" id="{607FB4FE-54CA-F3AA-DA04-254DEEFE0674}"/>
              </a:ext>
            </a:extLst>
          </p:cNvPr>
          <p:cNvSpPr/>
          <p:nvPr/>
        </p:nvSpPr>
        <p:spPr>
          <a:xfrm>
            <a:off x="5102352" y="4421048"/>
            <a:ext cx="19385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Inelastic neutron  Scattering</a:t>
            </a:r>
            <a:endParaRPr lang="en-US" sz="1350" dirty="0"/>
          </a:p>
        </p:txBody>
      </p:sp>
      <p:sp>
        <p:nvSpPr>
          <p:cNvPr id="41" name="Text 22">
            <a:extLst>
              <a:ext uri="{FF2B5EF4-FFF2-40B4-BE49-F238E27FC236}">
                <a16:creationId xmlns:a16="http://schemas.microsoft.com/office/drawing/2014/main" id="{0A804B77-04D8-9FF1-207A-144975AA7FA8}"/>
              </a:ext>
            </a:extLst>
          </p:cNvPr>
          <p:cNvSpPr/>
          <p:nvPr/>
        </p:nvSpPr>
        <p:spPr>
          <a:xfrm>
            <a:off x="5120640" y="6465824"/>
            <a:ext cx="175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NEUTRON ONLY</a:t>
            </a:r>
            <a:endParaRPr lang="en-US" sz="850" dirty="0"/>
          </a:p>
        </p:txBody>
      </p:sp>
      <p:sp>
        <p:nvSpPr>
          <p:cNvPr id="43" name="Text 16">
            <a:extLst>
              <a:ext uri="{FF2B5EF4-FFF2-40B4-BE49-F238E27FC236}">
                <a16:creationId xmlns:a16="http://schemas.microsoft.com/office/drawing/2014/main" id="{C6D7DEF2-E328-FB12-E2D0-30EC2DCE48B7}"/>
              </a:ext>
            </a:extLst>
          </p:cNvPr>
          <p:cNvSpPr/>
          <p:nvPr/>
        </p:nvSpPr>
        <p:spPr>
          <a:xfrm>
            <a:off x="5158587" y="4972140"/>
            <a:ext cx="1755648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Phonons, Magnons, </a:t>
            </a:r>
            <a:r>
              <a:rPr lang="en-US" sz="1050" dirty="0" err="1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Spinwaves</a:t>
            </a:r>
            <a:r>
              <a:rPr lang="en-US" sz="10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</a:t>
            </a:r>
            <a:br>
              <a:rPr lang="en-US" sz="10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br>
              <a:rPr lang="en-US" sz="10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endParaRPr lang="en-US" sz="1050" dirty="0"/>
          </a:p>
        </p:txBody>
      </p:sp>
      <p:sp>
        <p:nvSpPr>
          <p:cNvPr id="44" name="Text 16">
            <a:extLst>
              <a:ext uri="{FF2B5EF4-FFF2-40B4-BE49-F238E27FC236}">
                <a16:creationId xmlns:a16="http://schemas.microsoft.com/office/drawing/2014/main" id="{DDCC997D-A377-77F3-9A52-3300D2B34808}"/>
              </a:ext>
            </a:extLst>
          </p:cNvPr>
          <p:cNvSpPr/>
          <p:nvPr/>
        </p:nvSpPr>
        <p:spPr>
          <a:xfrm>
            <a:off x="7379208" y="4585972"/>
            <a:ext cx="1755648" cy="11862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X-ray imaging can of course also be done – but is left out of </a:t>
            </a:r>
            <a:r>
              <a:rPr lang="en-US" sz="1050" dirty="0" err="1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PaNRAID</a:t>
            </a:r>
            <a:r>
              <a:rPr lang="en-US" sz="10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reduce school </a:t>
            </a:r>
            <a:r>
              <a:rPr lang="en-US" sz="1050" dirty="0" err="1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scppe</a:t>
            </a:r>
            <a:r>
              <a:rPr lang="en-US" sz="10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</a:t>
            </a:r>
            <a:endParaRPr lang="en-US" sz="1050" dirty="0"/>
          </a:p>
        </p:txBody>
      </p:sp>
      <p:pic>
        <p:nvPicPr>
          <p:cNvPr id="48" name="Potassium_Humate_Shiny_Powder.tiff" descr="Potassium_Humate_Shiny_Powder.tiff">
            <a:extLst>
              <a:ext uri="{FF2B5EF4-FFF2-40B4-BE49-F238E27FC236}">
                <a16:creationId xmlns:a16="http://schemas.microsoft.com/office/drawing/2014/main" id="{7EF42EE2-9B1C-0826-1B8E-95FA4A297D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8028" y="3947984"/>
            <a:ext cx="1758888" cy="989776"/>
          </a:xfrm>
          <a:prstGeom prst="rect">
            <a:avLst/>
          </a:prstGeom>
          <a:ln w="12700">
            <a:miter lim="400000"/>
          </a:ln>
        </p:spPr>
      </p:pic>
      <p:pic>
        <p:nvPicPr>
          <p:cNvPr id="47" name="pasted-image.tiff" descr="pasted-image.tiff">
            <a:extLst>
              <a:ext uri="{FF2B5EF4-FFF2-40B4-BE49-F238E27FC236}">
                <a16:creationId xmlns:a16="http://schemas.microsoft.com/office/drawing/2014/main" id="{54A39FBD-9E0B-56D9-F649-43530D2FBD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655" y="3950045"/>
            <a:ext cx="681711" cy="942006"/>
          </a:xfrm>
          <a:prstGeom prst="rect">
            <a:avLst/>
          </a:prstGeom>
          <a:ln w="12700">
            <a:miter lim="400000"/>
          </a:ln>
        </p:spPr>
      </p:pic>
      <p:pic>
        <p:nvPicPr>
          <p:cNvPr id="49" name="Picture 48" descr="File:Micelle.svg">
            <a:extLst>
              <a:ext uri="{FF2B5EF4-FFF2-40B4-BE49-F238E27FC236}">
                <a16:creationId xmlns:a16="http://schemas.microsoft.com/office/drawing/2014/main" id="{AFB9414C-9D39-4A8F-4AD2-DAE3C6DE05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07208" y="3877310"/>
            <a:ext cx="762000" cy="977900"/>
          </a:xfrm>
          <a:prstGeom prst="rect">
            <a:avLst/>
          </a:prstGeom>
        </p:spPr>
      </p:pic>
      <p:pic>
        <p:nvPicPr>
          <p:cNvPr id="50" name="Picture 49" descr="File:Micelle scheme-en.svg">
            <a:extLst>
              <a:ext uri="{FF2B5EF4-FFF2-40B4-BE49-F238E27FC236}">
                <a16:creationId xmlns:a16="http://schemas.microsoft.com/office/drawing/2014/main" id="{CE4DF622-CB6A-9B65-1DA1-268B5A43C69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72382" y="3942788"/>
            <a:ext cx="1260230" cy="892663"/>
          </a:xfrm>
          <a:prstGeom prst="rect">
            <a:avLst/>
          </a:prstGeom>
        </p:spPr>
      </p:pic>
      <p:pic>
        <p:nvPicPr>
          <p:cNvPr id="60" name="Picture 59" descr="File:X-ray fluorescence simple figure.svg">
            <a:extLst>
              <a:ext uri="{FF2B5EF4-FFF2-40B4-BE49-F238E27FC236}">
                <a16:creationId xmlns:a16="http://schemas.microsoft.com/office/drawing/2014/main" id="{19B7AEBD-0457-4A63-DF07-3ED379DF6CE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38344" y="2575840"/>
            <a:ext cx="2084832" cy="760095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121E1D36-2AE9-B884-2E62-DC3FDF55F34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89840" y="5349240"/>
            <a:ext cx="1581839" cy="1200121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B402F27C-468C-FB2F-5CB1-149AF9F63D5E}"/>
              </a:ext>
            </a:extLst>
          </p:cNvPr>
          <p:cNvSpPr txBox="1"/>
          <p:nvPr/>
        </p:nvSpPr>
        <p:spPr>
          <a:xfrm>
            <a:off x="5485770" y="6127270"/>
            <a:ext cx="1146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out of </a:t>
            </a:r>
            <a:r>
              <a:rPr lang="en-US" sz="8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PaNRAID</a:t>
            </a:r>
            <a:r>
              <a:rPr lang="en-US" sz="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</a:t>
            </a:r>
            <a:br>
              <a:rPr lang="en-US" sz="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school scope…</a:t>
            </a:r>
            <a:endParaRPr lang="en-DK" sz="800" dirty="0">
              <a:solidFill>
                <a:schemeClr val="bg1"/>
              </a:solidFill>
            </a:endParaRPr>
          </a:p>
        </p:txBody>
      </p:sp>
      <p:pic>
        <p:nvPicPr>
          <p:cNvPr id="64" name="Picture 63" descr="X-ray of a 35 mm film SLR camera">
            <a:extLst>
              <a:ext uri="{FF2B5EF4-FFF2-40B4-BE49-F238E27FC236}">
                <a16:creationId xmlns:a16="http://schemas.microsoft.com/office/drawing/2014/main" id="{3EE5A702-6A95-6EFC-CE68-BDBF0ED5AAF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25607" y="5592928"/>
            <a:ext cx="1427441" cy="872896"/>
          </a:xfrm>
          <a:prstGeom prst="rect">
            <a:avLst/>
          </a:prstGeom>
        </p:spPr>
      </p:pic>
      <p:sp>
        <p:nvSpPr>
          <p:cNvPr id="66" name="Text 17">
            <a:extLst>
              <a:ext uri="{FF2B5EF4-FFF2-40B4-BE49-F238E27FC236}">
                <a16:creationId xmlns:a16="http://schemas.microsoft.com/office/drawing/2014/main" id="{8E855E08-DBC5-A935-B596-B78D4F39F970}"/>
              </a:ext>
            </a:extLst>
          </p:cNvPr>
          <p:cNvSpPr/>
          <p:nvPr/>
        </p:nvSpPr>
        <p:spPr>
          <a:xfrm>
            <a:off x="7333488" y="6472858"/>
            <a:ext cx="175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X-RAYS</a:t>
            </a:r>
            <a:endParaRPr lang="en-US" sz="850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C1B416C-5F7E-E569-B264-7F127405AC8A}"/>
              </a:ext>
            </a:extLst>
          </p:cNvPr>
          <p:cNvSpPr txBox="1"/>
          <p:nvPr/>
        </p:nvSpPr>
        <p:spPr>
          <a:xfrm>
            <a:off x="7863840" y="6479542"/>
            <a:ext cx="1146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out of </a:t>
            </a:r>
            <a:r>
              <a:rPr lang="en-US" sz="800" dirty="0" err="1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PaNRAID</a:t>
            </a:r>
            <a:r>
              <a:rPr lang="en-US" sz="80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</a:t>
            </a:r>
            <a:br>
              <a:rPr lang="en-US" sz="80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80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school scope…</a:t>
            </a:r>
            <a:endParaRPr lang="en-DK" sz="800" dirty="0">
              <a:solidFill>
                <a:srgbClr val="FF0000"/>
              </a:solidFill>
            </a:endParaRPr>
          </a:p>
        </p:txBody>
      </p:sp>
      <p:pic>
        <p:nvPicPr>
          <p:cNvPr id="68" name="Picture 67" descr="Neutron radiography of a 35 mm film SLR camera">
            <a:extLst>
              <a:ext uri="{FF2B5EF4-FFF2-40B4-BE49-F238E27FC236}">
                <a16:creationId xmlns:a16="http://schemas.microsoft.com/office/drawing/2014/main" id="{25B920A7-99B1-D0E2-AC8C-E2C1CCDE1D4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25607" y="3414881"/>
            <a:ext cx="1302238" cy="796333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4417D9DA-6EEF-C8BA-4DEC-6396B7149728}"/>
              </a:ext>
            </a:extLst>
          </p:cNvPr>
          <p:cNvSpPr txBox="1"/>
          <p:nvPr/>
        </p:nvSpPr>
        <p:spPr>
          <a:xfrm>
            <a:off x="9896316" y="4214295"/>
            <a:ext cx="1289539" cy="3716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dirty="0"/>
              <a:t>All the rest!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469B2627-F30E-2B9B-48F4-798F1CDB73A3}"/>
              </a:ext>
            </a:extLst>
          </p:cNvPr>
          <p:cNvGrpSpPr/>
          <p:nvPr/>
        </p:nvGrpSpPr>
        <p:grpSpPr>
          <a:xfrm>
            <a:off x="8424360" y="119520"/>
            <a:ext cx="1590840" cy="748800"/>
            <a:chOff x="8424360" y="119520"/>
            <a:chExt cx="1590840" cy="748800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8827837B-B589-47B1-8A80-7D06428CA701}"/>
                </a:ext>
              </a:extLst>
            </p:cNvPr>
            <p:cNvGrpSpPr/>
            <p:nvPr/>
          </p:nvGrpSpPr>
          <p:grpSpPr>
            <a:xfrm>
              <a:off x="9225000" y="124302"/>
              <a:ext cx="790200" cy="708378"/>
              <a:chOff x="9225000" y="124302"/>
              <a:chExt cx="790200" cy="708378"/>
            </a:xfrm>
          </p:grpSpPr>
          <p:pic>
            <p:nvPicPr>
              <p:cNvPr id="39" name="Picture 38">
                <a:extLst>
                  <a:ext uri="{FF2B5EF4-FFF2-40B4-BE49-F238E27FC236}">
                    <a16:creationId xmlns:a16="http://schemas.microsoft.com/office/drawing/2014/main" id="{BD18A53A-27FB-FE19-DE79-A6A6A27D94C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9262056" y="124302"/>
                <a:ext cx="716666" cy="424533"/>
              </a:xfrm>
              <a:prstGeom prst="rect">
                <a:avLst/>
              </a:prstGeom>
            </p:spPr>
          </p:pic>
          <p:grpSp>
            <p:nvGrpSpPr>
              <p:cNvPr id="40" name="Group 32">
                <a:extLst>
                  <a:ext uri="{FF2B5EF4-FFF2-40B4-BE49-F238E27FC236}">
                    <a16:creationId xmlns:a16="http://schemas.microsoft.com/office/drawing/2014/main" id="{49CF8340-3A2A-23E8-CBA8-4A22584F66FC}"/>
                  </a:ext>
                </a:extLst>
              </p:cNvPr>
              <p:cNvGrpSpPr/>
              <p:nvPr/>
            </p:nvGrpSpPr>
            <p:grpSpPr>
              <a:xfrm>
                <a:off x="9225000" y="531360"/>
                <a:ext cx="790200" cy="301320"/>
                <a:chOff x="9225000" y="531360"/>
                <a:chExt cx="790200" cy="301320"/>
              </a:xfrm>
            </p:grpSpPr>
            <p:pic>
              <p:nvPicPr>
                <p:cNvPr id="42" name="Picture 29" descr="Synchrotron SOLEIL">
                  <a:extLst>
                    <a:ext uri="{FF2B5EF4-FFF2-40B4-BE49-F238E27FC236}">
                      <a16:creationId xmlns:a16="http://schemas.microsoft.com/office/drawing/2014/main" id="{FEF0BC0B-5747-17B7-7D0B-BF5D5D592B09}"/>
                    </a:ext>
                  </a:extLst>
                </p:cNvPr>
                <p:cNvPicPr/>
                <p:nvPr/>
              </p:nvPicPr>
              <p:blipFill>
                <a:blip r:embed="rId13"/>
                <a:stretch/>
              </p:blipFill>
              <p:spPr>
                <a:xfrm>
                  <a:off x="9225000" y="531360"/>
                  <a:ext cx="547920" cy="264600"/>
                </a:xfrm>
                <a:prstGeom prst="rect">
                  <a:avLst/>
                </a:prstGeom>
                <a:noFill/>
                <a:ln w="0">
                  <a:noFill/>
                </a:ln>
              </p:spPr>
            </p:pic>
            <p:pic>
              <p:nvPicPr>
                <p:cNvPr id="45" name="Picture 30" descr="DTU Physics">
                  <a:extLst>
                    <a:ext uri="{FF2B5EF4-FFF2-40B4-BE49-F238E27FC236}">
                      <a16:creationId xmlns:a16="http://schemas.microsoft.com/office/drawing/2014/main" id="{1B81BFE8-47EE-5511-9597-BBAB6FF0ECE3}"/>
                    </a:ext>
                  </a:extLst>
                </p:cNvPr>
                <p:cNvPicPr/>
                <p:nvPr/>
              </p:nvPicPr>
              <p:blipFill>
                <a:blip r:embed="rId14"/>
                <a:stretch/>
              </p:blipFill>
              <p:spPr>
                <a:xfrm>
                  <a:off x="9814320" y="536400"/>
                  <a:ext cx="200880" cy="296280"/>
                </a:xfrm>
                <a:prstGeom prst="rect">
                  <a:avLst/>
                </a:prstGeom>
                <a:noFill/>
                <a:ln w="0">
                  <a:noFill/>
                </a:ln>
              </p:spPr>
            </p:pic>
          </p:grpSp>
        </p:grpSp>
        <p:pic>
          <p:nvPicPr>
            <p:cNvPr id="36" name="Picture 31">
              <a:extLst>
                <a:ext uri="{FF2B5EF4-FFF2-40B4-BE49-F238E27FC236}">
                  <a16:creationId xmlns:a16="http://schemas.microsoft.com/office/drawing/2014/main" id="{B3EF9257-40D8-F4A0-4CEC-70CE4C329B99}"/>
                </a:ext>
              </a:extLst>
            </p:cNvPr>
            <p:cNvPicPr/>
            <p:nvPr/>
          </p:nvPicPr>
          <p:blipFill>
            <a:blip r:embed="rId15"/>
            <a:stretch/>
          </p:blipFill>
          <p:spPr>
            <a:xfrm>
              <a:off x="8424360" y="119520"/>
              <a:ext cx="736200" cy="74880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panrai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6611" y="355702"/>
            <a:ext cx="1270102" cy="65151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84048"/>
            <a:ext cx="896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DIFFRACTION · SHARED PHYSICS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658368"/>
            <a:ext cx="9784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single crystal to powder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1417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spectrum of disorder — the same underlying lattice, sampled differently.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210312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7F8F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7" name="Shape 4"/>
          <p:cNvSpPr/>
          <p:nvPr/>
        </p:nvSpPr>
        <p:spPr>
          <a:xfrm>
            <a:off x="2144268" y="2871216"/>
            <a:ext cx="329184" cy="109728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8" name="Text 5"/>
          <p:cNvSpPr/>
          <p:nvPr/>
        </p:nvSpPr>
        <p:spPr>
          <a:xfrm>
            <a:off x="731520" y="35204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crystal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77240" y="388620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orientation, up to a small mosaic spread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114800" y="3246120"/>
            <a:ext cx="182880" cy="0"/>
          </a:xfrm>
          <a:prstGeom prst="line">
            <a:avLst/>
          </a:prstGeom>
          <a:noFill/>
          <a:ln w="19050">
            <a:solidFill>
              <a:srgbClr val="6E7580"/>
            </a:solidFill>
            <a:prstDash val="solid"/>
            <a:tailEnd type="triangle"/>
          </a:ln>
        </p:spPr>
        <p:txBody>
          <a:bodyPr/>
          <a:lstStyle/>
          <a:p>
            <a:endParaRPr lang="en-DK"/>
          </a:p>
        </p:txBody>
      </p:sp>
      <p:sp>
        <p:nvSpPr>
          <p:cNvPr id="11" name="Shape 8"/>
          <p:cNvSpPr/>
          <p:nvPr/>
        </p:nvSpPr>
        <p:spPr>
          <a:xfrm>
            <a:off x="4343400" y="210312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7F8F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2" name="Shape 9"/>
          <p:cNvSpPr/>
          <p:nvPr/>
        </p:nvSpPr>
        <p:spPr>
          <a:xfrm rot="-960000">
            <a:off x="6240780" y="2871216"/>
            <a:ext cx="329184" cy="109728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3" name="Shape 10"/>
          <p:cNvSpPr/>
          <p:nvPr/>
        </p:nvSpPr>
        <p:spPr>
          <a:xfrm rot="-480000">
            <a:off x="5716518" y="3000921"/>
            <a:ext cx="329184" cy="109728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4" name="Shape 11"/>
          <p:cNvSpPr/>
          <p:nvPr/>
        </p:nvSpPr>
        <p:spPr>
          <a:xfrm>
            <a:off x="5965431" y="2679928"/>
            <a:ext cx="329184" cy="109728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5" name="Shape 12"/>
          <p:cNvSpPr/>
          <p:nvPr/>
        </p:nvSpPr>
        <p:spPr>
          <a:xfrm rot="480000">
            <a:off x="6122599" y="3023619"/>
            <a:ext cx="329184" cy="109728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6" name="Shape 13"/>
          <p:cNvSpPr/>
          <p:nvPr/>
        </p:nvSpPr>
        <p:spPr>
          <a:xfrm rot="960000">
            <a:off x="5641896" y="2837741"/>
            <a:ext cx="329184" cy="109728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7" name="Text 14"/>
          <p:cNvSpPr/>
          <p:nvPr/>
        </p:nvSpPr>
        <p:spPr>
          <a:xfrm>
            <a:off x="4526280" y="35204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Textured polycrystal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572000" y="388620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crystallites, with a preferred orientation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7909560" y="3246120"/>
            <a:ext cx="182880" cy="0"/>
          </a:xfrm>
          <a:prstGeom prst="line">
            <a:avLst/>
          </a:prstGeom>
          <a:noFill/>
          <a:ln w="19050">
            <a:solidFill>
              <a:srgbClr val="6E7580"/>
            </a:solidFill>
            <a:prstDash val="solid"/>
            <a:tailEnd type="triangle"/>
          </a:ln>
        </p:spPr>
        <p:txBody>
          <a:bodyPr/>
          <a:lstStyle/>
          <a:p>
            <a:endParaRPr lang="en-DK"/>
          </a:p>
        </p:txBody>
      </p:sp>
      <p:sp>
        <p:nvSpPr>
          <p:cNvPr id="20" name="Shape 17"/>
          <p:cNvSpPr/>
          <p:nvPr/>
        </p:nvSpPr>
        <p:spPr>
          <a:xfrm>
            <a:off x="8138160" y="210312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7F8F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21" name="Shape 18"/>
          <p:cNvSpPr/>
          <p:nvPr/>
        </p:nvSpPr>
        <p:spPr>
          <a:xfrm>
            <a:off x="10236708" y="2871216"/>
            <a:ext cx="329184" cy="109728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22" name="Shape 19"/>
          <p:cNvSpPr/>
          <p:nvPr/>
        </p:nvSpPr>
        <p:spPr>
          <a:xfrm rot="2220000">
            <a:off x="9362938" y="3087391"/>
            <a:ext cx="329184" cy="109728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23" name="Shape 20"/>
          <p:cNvSpPr/>
          <p:nvPr/>
        </p:nvSpPr>
        <p:spPr>
          <a:xfrm rot="4440000">
            <a:off x="9777793" y="2552403"/>
            <a:ext cx="329184" cy="109728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24" name="Shape 21"/>
          <p:cNvSpPr/>
          <p:nvPr/>
        </p:nvSpPr>
        <p:spPr>
          <a:xfrm rot="6660000">
            <a:off x="10039740" y="3125221"/>
            <a:ext cx="329184" cy="109728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25" name="Shape 22"/>
          <p:cNvSpPr/>
          <p:nvPr/>
        </p:nvSpPr>
        <p:spPr>
          <a:xfrm rot="8880000">
            <a:off x="9238569" y="2815424"/>
            <a:ext cx="329184" cy="109728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26" name="Shape 23"/>
          <p:cNvSpPr/>
          <p:nvPr/>
        </p:nvSpPr>
        <p:spPr>
          <a:xfrm rot="11100000">
            <a:off x="10158179" y="2699491"/>
            <a:ext cx="329184" cy="109728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27" name="Shape 24"/>
          <p:cNvSpPr/>
          <p:nvPr/>
        </p:nvSpPr>
        <p:spPr>
          <a:xfrm rot="13320000">
            <a:off x="9603121" y="3180265"/>
            <a:ext cx="329184" cy="109728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28" name="Shape 25"/>
          <p:cNvSpPr/>
          <p:nvPr/>
        </p:nvSpPr>
        <p:spPr>
          <a:xfrm rot="15540000">
            <a:off x="9502104" y="2587159"/>
            <a:ext cx="329184" cy="109728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29" name="Shape 26"/>
          <p:cNvSpPr/>
          <p:nvPr/>
        </p:nvSpPr>
        <p:spPr>
          <a:xfrm rot="17760000">
            <a:off x="10206141" y="2981091"/>
            <a:ext cx="329184" cy="109728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30" name="Text 27"/>
          <p:cNvSpPr/>
          <p:nvPr/>
        </p:nvSpPr>
        <p:spPr>
          <a:xfrm>
            <a:off x="8321040" y="35204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Powder</a:t>
            </a:r>
            <a:endParaRPr lang="en-US" sz="1350" dirty="0"/>
          </a:p>
        </p:txBody>
      </p:sp>
      <p:sp>
        <p:nvSpPr>
          <p:cNvPr id="31" name="Text 28"/>
          <p:cNvSpPr/>
          <p:nvPr/>
        </p:nvSpPr>
        <p:spPr>
          <a:xfrm>
            <a:off x="8366760" y="388620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orientational disorder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548640" y="47091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McStas's Single_crystal component sits at the ordered end and can itself model a mosaic spread; PowderN sits at the fully disordered end — both exist, under the same names, in McXtrace.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Sample Components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A6D76104-3099-5AEE-02BA-8487D12848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4933" y="4983480"/>
            <a:ext cx="2790787" cy="1939400"/>
          </a:xfrm>
          <a:prstGeom prst="rect">
            <a:avLst/>
          </a:prstGeom>
        </p:spPr>
      </p:pic>
      <p:pic>
        <p:nvPicPr>
          <p:cNvPr id="36" name="pasted-image.png" descr="pasted-image.png">
            <a:extLst>
              <a:ext uri="{FF2B5EF4-FFF2-40B4-BE49-F238E27FC236}">
                <a16:creationId xmlns:a16="http://schemas.microsoft.com/office/drawing/2014/main" id="{B2839AD8-AB0E-B965-2D45-ABF577EAAF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65892" y="1372972"/>
            <a:ext cx="1555913" cy="1292182"/>
          </a:xfrm>
          <a:prstGeom prst="rect">
            <a:avLst/>
          </a:prstGeom>
          <a:ln w="12700">
            <a:miter lim="400000"/>
          </a:ln>
        </p:spPr>
      </p:pic>
      <p:pic>
        <p:nvPicPr>
          <p:cNvPr id="37" name="figure7.jpg" descr="figure7.jpg">
            <a:extLst>
              <a:ext uri="{FF2B5EF4-FFF2-40B4-BE49-F238E27FC236}">
                <a16:creationId xmlns:a16="http://schemas.microsoft.com/office/drawing/2014/main" id="{D1EEE4C2-8015-0473-5AD2-4F4B84C960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0680" y="5213198"/>
            <a:ext cx="1493450" cy="1474138"/>
          </a:xfrm>
          <a:prstGeom prst="rect">
            <a:avLst/>
          </a:prstGeom>
          <a:ln w="12700">
            <a:miter lim="400000"/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620661C1-66EB-7FDB-E84C-CF8D8144627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73232" y="5023490"/>
            <a:ext cx="2271255" cy="1853553"/>
          </a:xfrm>
          <a:prstGeom prst="rect">
            <a:avLst/>
          </a:prstGeom>
        </p:spPr>
      </p:pic>
      <p:grpSp>
        <p:nvGrpSpPr>
          <p:cNvPr id="38" name="Group 37">
            <a:extLst>
              <a:ext uri="{FF2B5EF4-FFF2-40B4-BE49-F238E27FC236}">
                <a16:creationId xmlns:a16="http://schemas.microsoft.com/office/drawing/2014/main" id="{33743711-068C-4EE1-CF5B-172649E60F98}"/>
              </a:ext>
            </a:extLst>
          </p:cNvPr>
          <p:cNvGrpSpPr/>
          <p:nvPr/>
        </p:nvGrpSpPr>
        <p:grpSpPr>
          <a:xfrm>
            <a:off x="8424360" y="119520"/>
            <a:ext cx="1590840" cy="748800"/>
            <a:chOff x="8424360" y="119520"/>
            <a:chExt cx="1590840" cy="748800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CF00A524-0360-CC93-77C5-9558E56AA496}"/>
                </a:ext>
              </a:extLst>
            </p:cNvPr>
            <p:cNvGrpSpPr/>
            <p:nvPr/>
          </p:nvGrpSpPr>
          <p:grpSpPr>
            <a:xfrm>
              <a:off x="9225000" y="124302"/>
              <a:ext cx="790200" cy="708378"/>
              <a:chOff x="9225000" y="124302"/>
              <a:chExt cx="790200" cy="708378"/>
            </a:xfrm>
          </p:grpSpPr>
          <p:pic>
            <p:nvPicPr>
              <p:cNvPr id="42" name="Picture 41">
                <a:extLst>
                  <a:ext uri="{FF2B5EF4-FFF2-40B4-BE49-F238E27FC236}">
                    <a16:creationId xmlns:a16="http://schemas.microsoft.com/office/drawing/2014/main" id="{564708C1-7255-ABE4-3E39-F7F6B3F28B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9262056" y="124302"/>
                <a:ext cx="716666" cy="424533"/>
              </a:xfrm>
              <a:prstGeom prst="rect">
                <a:avLst/>
              </a:prstGeom>
            </p:spPr>
          </p:pic>
          <p:grpSp>
            <p:nvGrpSpPr>
              <p:cNvPr id="43" name="Group 32">
                <a:extLst>
                  <a:ext uri="{FF2B5EF4-FFF2-40B4-BE49-F238E27FC236}">
                    <a16:creationId xmlns:a16="http://schemas.microsoft.com/office/drawing/2014/main" id="{A35E5D25-E8CB-55E6-DBE4-3CE623D7CD93}"/>
                  </a:ext>
                </a:extLst>
              </p:cNvPr>
              <p:cNvGrpSpPr/>
              <p:nvPr/>
            </p:nvGrpSpPr>
            <p:grpSpPr>
              <a:xfrm>
                <a:off x="9225000" y="531360"/>
                <a:ext cx="790200" cy="301320"/>
                <a:chOff x="9225000" y="531360"/>
                <a:chExt cx="790200" cy="301320"/>
              </a:xfrm>
            </p:grpSpPr>
            <p:pic>
              <p:nvPicPr>
                <p:cNvPr id="44" name="Picture 29" descr="Synchrotron SOLEIL">
                  <a:extLst>
                    <a:ext uri="{FF2B5EF4-FFF2-40B4-BE49-F238E27FC236}">
                      <a16:creationId xmlns:a16="http://schemas.microsoft.com/office/drawing/2014/main" id="{8C847270-992D-76D2-18A5-8BA65C43AF1B}"/>
                    </a:ext>
                  </a:extLst>
                </p:cNvPr>
                <p:cNvPicPr/>
                <p:nvPr/>
              </p:nvPicPr>
              <p:blipFill>
                <a:blip r:embed="rId9"/>
                <a:stretch/>
              </p:blipFill>
              <p:spPr>
                <a:xfrm>
                  <a:off x="9225000" y="531360"/>
                  <a:ext cx="547920" cy="264600"/>
                </a:xfrm>
                <a:prstGeom prst="rect">
                  <a:avLst/>
                </a:prstGeom>
                <a:noFill/>
                <a:ln w="0">
                  <a:noFill/>
                </a:ln>
              </p:spPr>
            </p:pic>
            <p:pic>
              <p:nvPicPr>
                <p:cNvPr id="45" name="Picture 30" descr="DTU Physics">
                  <a:extLst>
                    <a:ext uri="{FF2B5EF4-FFF2-40B4-BE49-F238E27FC236}">
                      <a16:creationId xmlns:a16="http://schemas.microsoft.com/office/drawing/2014/main" id="{9452043E-CCE0-6B02-4BF0-84EF3F15BD3D}"/>
                    </a:ext>
                  </a:extLst>
                </p:cNvPr>
                <p:cNvPicPr/>
                <p:nvPr/>
              </p:nvPicPr>
              <p:blipFill>
                <a:blip r:embed="rId10"/>
                <a:stretch/>
              </p:blipFill>
              <p:spPr>
                <a:xfrm>
                  <a:off x="9814320" y="536400"/>
                  <a:ext cx="200880" cy="296280"/>
                </a:xfrm>
                <a:prstGeom prst="rect">
                  <a:avLst/>
                </a:prstGeom>
                <a:noFill/>
                <a:ln w="0">
                  <a:noFill/>
                </a:ln>
              </p:spPr>
            </p:pic>
          </p:grpSp>
        </p:grpSp>
        <p:pic>
          <p:nvPicPr>
            <p:cNvPr id="41" name="Picture 31">
              <a:extLst>
                <a:ext uri="{FF2B5EF4-FFF2-40B4-BE49-F238E27FC236}">
                  <a16:creationId xmlns:a16="http://schemas.microsoft.com/office/drawing/2014/main" id="{EB263C8E-115E-A7A6-FF36-A8D22A4A087F}"/>
                </a:ext>
              </a:extLst>
            </p:cNvPr>
            <p:cNvPicPr/>
            <p:nvPr/>
          </p:nvPicPr>
          <p:blipFill>
            <a:blip r:embed="rId11"/>
            <a:stretch/>
          </p:blipFill>
          <p:spPr>
            <a:xfrm>
              <a:off x="8424360" y="119520"/>
              <a:ext cx="736200" cy="74880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panrai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6611" y="355702"/>
            <a:ext cx="1270102" cy="65151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84048"/>
            <a:ext cx="896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COMPONENT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658368"/>
            <a:ext cx="9784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Powder diffraction: PowderN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141732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component, same reflection-file format, in both McStas and McXtrace.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1920240"/>
            <a:ext cx="56692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a list of (hkl, d-spacing, structure factor) reflections from a data file — the physics is entirely data-driven.</a:t>
            </a:r>
            <a:endParaRPr lang="en-US" sz="12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concentric=1 lets a PowderN act as an outer container (e.g. a sample can) around an inner sample, sharing one coordinate position.</a:t>
            </a:r>
            <a:endParaRPr lang="en-US" sz="12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d_phi and related focusing parameters restrict scattering to a chosen slice of 4π — useful when only a detector bank at certain angles exists.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48640" y="4572000"/>
            <a:ext cx="5669280" cy="1554480"/>
          </a:xfrm>
          <a:prstGeom prst="roundRect">
            <a:avLst>
              <a:gd name="adj" fmla="val 4706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8" name="Text 5"/>
          <p:cNvSpPr/>
          <p:nvPr/>
        </p:nvSpPr>
        <p:spPr>
          <a:xfrm>
            <a:off x="822960" y="4736592"/>
            <a:ext cx="5120640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8FE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COMPONENT can = PowderN(reflections="Al.laz",
  radius=0.02, yheight=0.05, thickness=0.005, concentric=1)
COMPONENT sample = PowderN(reflections="Al2O3.laz", ...)
COMPONENT can2 = COPY(can)(concentric=0)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492240" y="1920240"/>
            <a:ext cx="5166360" cy="4206240"/>
          </a:xfrm>
          <a:prstGeom prst="roundRect">
            <a:avLst>
              <a:gd name="adj" fmla="val 2174"/>
            </a:avLst>
          </a:prstGeom>
          <a:solidFill>
            <a:srgbClr val="F7F8FA"/>
          </a:solidFill>
          <a:ln w="9525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10" name="Text 7"/>
          <p:cNvSpPr/>
          <p:nvPr/>
        </p:nvSpPr>
        <p:spPr>
          <a:xfrm>
            <a:off x="6492240" y="2103120"/>
            <a:ext cx="5166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concentric container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886700" y="3017520"/>
            <a:ext cx="2377440" cy="2377440"/>
          </a:xfrm>
          <a:prstGeom prst="ellipse">
            <a:avLst/>
          </a:prstGeom>
          <a:solidFill>
            <a:srgbClr val="E3EEF2"/>
          </a:solidFill>
          <a:ln w="1905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12" name="Shape 9"/>
          <p:cNvSpPr/>
          <p:nvPr/>
        </p:nvSpPr>
        <p:spPr>
          <a:xfrm>
            <a:off x="8526780" y="3657600"/>
            <a:ext cx="1097280" cy="1097280"/>
          </a:xfrm>
          <a:prstGeom prst="ellipse">
            <a:avLst/>
          </a:prstGeom>
          <a:solidFill>
            <a:srgbClr val="FBEBDA"/>
          </a:solidFill>
          <a:ln w="19050">
            <a:solidFill>
              <a:srgbClr val="D97A2B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13" name="Text 10"/>
          <p:cNvSpPr/>
          <p:nvPr/>
        </p:nvSpPr>
        <p:spPr>
          <a:xfrm>
            <a:off x="7886700" y="26060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2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(Al)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526780" y="402336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A65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A65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(Al2O3)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6812280" y="5257800"/>
            <a:ext cx="4526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layer computes its own scattering — the can's diffraction lines and the sample's appear together, correctly weighted.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Sample Components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3786827-D341-46D3-8283-9F63684DE3A7}"/>
              </a:ext>
            </a:extLst>
          </p:cNvPr>
          <p:cNvGrpSpPr/>
          <p:nvPr/>
        </p:nvGrpSpPr>
        <p:grpSpPr>
          <a:xfrm>
            <a:off x="8424360" y="119520"/>
            <a:ext cx="1590840" cy="748800"/>
            <a:chOff x="8424360" y="119520"/>
            <a:chExt cx="1590840" cy="74880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D33835F9-D489-14A7-4185-72F95A4F9254}"/>
                </a:ext>
              </a:extLst>
            </p:cNvPr>
            <p:cNvGrpSpPr/>
            <p:nvPr/>
          </p:nvGrpSpPr>
          <p:grpSpPr>
            <a:xfrm>
              <a:off x="9225000" y="124302"/>
              <a:ext cx="790200" cy="708378"/>
              <a:chOff x="9225000" y="124302"/>
              <a:chExt cx="790200" cy="708378"/>
            </a:xfrm>
          </p:grpSpPr>
          <p:pic>
            <p:nvPicPr>
              <p:cNvPr id="21" name="Picture 20">
                <a:extLst>
                  <a:ext uri="{FF2B5EF4-FFF2-40B4-BE49-F238E27FC236}">
                    <a16:creationId xmlns:a16="http://schemas.microsoft.com/office/drawing/2014/main" id="{F670C8A2-59BD-817A-AF4D-85AD7DD642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262056" y="124302"/>
                <a:ext cx="716666" cy="424533"/>
              </a:xfrm>
              <a:prstGeom prst="rect">
                <a:avLst/>
              </a:prstGeom>
            </p:spPr>
          </p:pic>
          <p:grpSp>
            <p:nvGrpSpPr>
              <p:cNvPr id="22" name="Group 32">
                <a:extLst>
                  <a:ext uri="{FF2B5EF4-FFF2-40B4-BE49-F238E27FC236}">
                    <a16:creationId xmlns:a16="http://schemas.microsoft.com/office/drawing/2014/main" id="{A8B18D8B-D7A0-ECA4-6BFC-45A95EBB25D0}"/>
                  </a:ext>
                </a:extLst>
              </p:cNvPr>
              <p:cNvGrpSpPr/>
              <p:nvPr/>
            </p:nvGrpSpPr>
            <p:grpSpPr>
              <a:xfrm>
                <a:off x="9225000" y="531360"/>
                <a:ext cx="790200" cy="301320"/>
                <a:chOff x="9225000" y="531360"/>
                <a:chExt cx="790200" cy="301320"/>
              </a:xfrm>
            </p:grpSpPr>
            <p:pic>
              <p:nvPicPr>
                <p:cNvPr id="23" name="Picture 29" descr="Synchrotron SOLEIL">
                  <a:extLst>
                    <a:ext uri="{FF2B5EF4-FFF2-40B4-BE49-F238E27FC236}">
                      <a16:creationId xmlns:a16="http://schemas.microsoft.com/office/drawing/2014/main" id="{96BA3FFC-0EC3-1388-EE60-1652D82E965A}"/>
                    </a:ext>
                  </a:extLst>
                </p:cNvPr>
                <p:cNvPicPr/>
                <p:nvPr/>
              </p:nvPicPr>
              <p:blipFill>
                <a:blip r:embed="rId5"/>
                <a:stretch/>
              </p:blipFill>
              <p:spPr>
                <a:xfrm>
                  <a:off x="9225000" y="531360"/>
                  <a:ext cx="547920" cy="264600"/>
                </a:xfrm>
                <a:prstGeom prst="rect">
                  <a:avLst/>
                </a:prstGeom>
                <a:noFill/>
                <a:ln w="0">
                  <a:noFill/>
                </a:ln>
              </p:spPr>
            </p:pic>
            <p:pic>
              <p:nvPicPr>
                <p:cNvPr id="24" name="Picture 30" descr="DTU Physics">
                  <a:extLst>
                    <a:ext uri="{FF2B5EF4-FFF2-40B4-BE49-F238E27FC236}">
                      <a16:creationId xmlns:a16="http://schemas.microsoft.com/office/drawing/2014/main" id="{A805DCF5-93A8-196E-61BB-ABC2337E6AC7}"/>
                    </a:ext>
                  </a:extLst>
                </p:cNvPr>
                <p:cNvPicPr/>
                <p:nvPr/>
              </p:nvPicPr>
              <p:blipFill>
                <a:blip r:embed="rId6"/>
                <a:stretch/>
              </p:blipFill>
              <p:spPr>
                <a:xfrm>
                  <a:off x="9814320" y="536400"/>
                  <a:ext cx="200880" cy="296280"/>
                </a:xfrm>
                <a:prstGeom prst="rect">
                  <a:avLst/>
                </a:prstGeom>
                <a:noFill/>
                <a:ln w="0">
                  <a:noFill/>
                </a:ln>
              </p:spPr>
            </p:pic>
          </p:grpSp>
        </p:grpSp>
        <p:pic>
          <p:nvPicPr>
            <p:cNvPr id="20" name="Picture 31">
              <a:extLst>
                <a:ext uri="{FF2B5EF4-FFF2-40B4-BE49-F238E27FC236}">
                  <a16:creationId xmlns:a16="http://schemas.microsoft.com/office/drawing/2014/main" id="{AEF74BA3-753A-A757-1167-CB3A089C54E9}"/>
                </a:ext>
              </a:extLst>
            </p:cNvPr>
            <p:cNvPicPr/>
            <p:nvPr/>
          </p:nvPicPr>
          <p:blipFill>
            <a:blip r:embed="rId7"/>
            <a:stretch/>
          </p:blipFill>
          <p:spPr>
            <a:xfrm>
              <a:off x="8424360" y="119520"/>
              <a:ext cx="736200" cy="74880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panrai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6611" y="355702"/>
            <a:ext cx="1270102" cy="65151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84048"/>
            <a:ext cx="896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COMPONENT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658368"/>
            <a:ext cx="9784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Single-crystal diffraction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141732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Single_crystal models an ideally imperfect crystal — peak broadening dominated by mosaic, not appropriate for near-perfect crystals.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548640" y="21488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Orientation:  </a:t>
            </a:r>
            <a:r>
              <a:rPr lang="en-US" sz="12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unit-cell vectors (ax,ay,az, bx,by,bz, cx,cy,cz) encode the crystal's orientation relative to the component's own frame — no assumption about cell shape or symmetry is made.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48640" y="3108960"/>
            <a:ext cx="3520440" cy="2377440"/>
          </a:xfrm>
          <a:prstGeom prst="roundRect">
            <a:avLst>
              <a:gd name="adj" fmla="val 3462"/>
            </a:avLst>
          </a:prstGeom>
          <a:solidFill>
            <a:srgbClr val="E3EEF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8" name="Text 5"/>
          <p:cNvSpPr/>
          <p:nvPr/>
        </p:nvSpPr>
        <p:spPr>
          <a:xfrm>
            <a:off x="777240" y="3337560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Isotropic mosaic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77240" y="3886200"/>
            <a:ext cx="30632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Gaussian spread of rotation angle around a random axis — one mosaic parameter for the whole crystal.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43400" y="3108960"/>
            <a:ext cx="3520440" cy="2377440"/>
          </a:xfrm>
          <a:prstGeom prst="roundRect">
            <a:avLst>
              <a:gd name="adj" fmla="val 3462"/>
            </a:avLst>
          </a:prstGeom>
          <a:solidFill>
            <a:srgbClr val="E3EEF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1" name="Text 8"/>
          <p:cNvSpPr/>
          <p:nvPr/>
        </p:nvSpPr>
        <p:spPr>
          <a:xfrm>
            <a:off x="4572000" y="3337560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Anisotropic mosaic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0" y="3886200"/>
            <a:ext cx="30632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separate Gaussian spread around each unit-cell axis (mosaic_a, mosaic_b, mosaic_c).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138160" y="3108960"/>
            <a:ext cx="3520440" cy="2377440"/>
          </a:xfrm>
          <a:prstGeom prst="roundRect">
            <a:avLst>
              <a:gd name="adj" fmla="val 3462"/>
            </a:avLst>
          </a:prstGeom>
          <a:solidFill>
            <a:srgbClr val="E3EEF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4" name="Text 11"/>
          <p:cNvSpPr/>
          <p:nvPr/>
        </p:nvSpPr>
        <p:spPr>
          <a:xfrm>
            <a:off x="8366760" y="3337560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Rocking-curve mosaic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366760" y="3886200"/>
            <a:ext cx="30632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Mosaic derived from the measured widths of two Bragg peaks — give σ and hkl for each.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Sample Components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0E60292-BE53-D6FF-11FD-C7EE393B131B}"/>
              </a:ext>
            </a:extLst>
          </p:cNvPr>
          <p:cNvGrpSpPr/>
          <p:nvPr/>
        </p:nvGrpSpPr>
        <p:grpSpPr>
          <a:xfrm>
            <a:off x="8424360" y="119520"/>
            <a:ext cx="1590840" cy="748800"/>
            <a:chOff x="8424360" y="119520"/>
            <a:chExt cx="1590840" cy="74880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19FDED0B-EE0A-394E-99AF-FE4BDFF17FE6}"/>
                </a:ext>
              </a:extLst>
            </p:cNvPr>
            <p:cNvGrpSpPr/>
            <p:nvPr/>
          </p:nvGrpSpPr>
          <p:grpSpPr>
            <a:xfrm>
              <a:off x="9225000" y="124302"/>
              <a:ext cx="790200" cy="708378"/>
              <a:chOff x="9225000" y="124302"/>
              <a:chExt cx="790200" cy="708378"/>
            </a:xfrm>
          </p:grpSpPr>
          <p:pic>
            <p:nvPicPr>
              <p:cNvPr id="21" name="Picture 20">
                <a:extLst>
                  <a:ext uri="{FF2B5EF4-FFF2-40B4-BE49-F238E27FC236}">
                    <a16:creationId xmlns:a16="http://schemas.microsoft.com/office/drawing/2014/main" id="{DECF9752-ECED-0FC9-A036-49BB00EE650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262056" y="124302"/>
                <a:ext cx="716666" cy="424533"/>
              </a:xfrm>
              <a:prstGeom prst="rect">
                <a:avLst/>
              </a:prstGeom>
            </p:spPr>
          </p:pic>
          <p:grpSp>
            <p:nvGrpSpPr>
              <p:cNvPr id="22" name="Group 32">
                <a:extLst>
                  <a:ext uri="{FF2B5EF4-FFF2-40B4-BE49-F238E27FC236}">
                    <a16:creationId xmlns:a16="http://schemas.microsoft.com/office/drawing/2014/main" id="{1CE6A2C8-4B47-313E-63A3-1DF73EB52652}"/>
                  </a:ext>
                </a:extLst>
              </p:cNvPr>
              <p:cNvGrpSpPr/>
              <p:nvPr/>
            </p:nvGrpSpPr>
            <p:grpSpPr>
              <a:xfrm>
                <a:off x="9225000" y="531360"/>
                <a:ext cx="790200" cy="301320"/>
                <a:chOff x="9225000" y="531360"/>
                <a:chExt cx="790200" cy="301320"/>
              </a:xfrm>
            </p:grpSpPr>
            <p:pic>
              <p:nvPicPr>
                <p:cNvPr id="23" name="Picture 29" descr="Synchrotron SOLEIL">
                  <a:extLst>
                    <a:ext uri="{FF2B5EF4-FFF2-40B4-BE49-F238E27FC236}">
                      <a16:creationId xmlns:a16="http://schemas.microsoft.com/office/drawing/2014/main" id="{5BDC64DA-F4A4-067E-298E-36402B2EC569}"/>
                    </a:ext>
                  </a:extLst>
                </p:cNvPr>
                <p:cNvPicPr/>
                <p:nvPr/>
              </p:nvPicPr>
              <p:blipFill>
                <a:blip r:embed="rId5"/>
                <a:stretch/>
              </p:blipFill>
              <p:spPr>
                <a:xfrm>
                  <a:off x="9225000" y="531360"/>
                  <a:ext cx="547920" cy="264600"/>
                </a:xfrm>
                <a:prstGeom prst="rect">
                  <a:avLst/>
                </a:prstGeom>
                <a:noFill/>
                <a:ln w="0">
                  <a:noFill/>
                </a:ln>
              </p:spPr>
            </p:pic>
            <p:pic>
              <p:nvPicPr>
                <p:cNvPr id="24" name="Picture 30" descr="DTU Physics">
                  <a:extLst>
                    <a:ext uri="{FF2B5EF4-FFF2-40B4-BE49-F238E27FC236}">
                      <a16:creationId xmlns:a16="http://schemas.microsoft.com/office/drawing/2014/main" id="{722AAF9B-147F-4B23-6F86-70AF28D5BBF5}"/>
                    </a:ext>
                  </a:extLst>
                </p:cNvPr>
                <p:cNvPicPr/>
                <p:nvPr/>
              </p:nvPicPr>
              <p:blipFill>
                <a:blip r:embed="rId6"/>
                <a:stretch/>
              </p:blipFill>
              <p:spPr>
                <a:xfrm>
                  <a:off x="9814320" y="536400"/>
                  <a:ext cx="200880" cy="296280"/>
                </a:xfrm>
                <a:prstGeom prst="rect">
                  <a:avLst/>
                </a:prstGeom>
                <a:noFill/>
                <a:ln w="0">
                  <a:noFill/>
                </a:ln>
              </p:spPr>
            </p:pic>
          </p:grpSp>
        </p:grpSp>
        <p:pic>
          <p:nvPicPr>
            <p:cNvPr id="20" name="Picture 31">
              <a:extLst>
                <a:ext uri="{FF2B5EF4-FFF2-40B4-BE49-F238E27FC236}">
                  <a16:creationId xmlns:a16="http://schemas.microsoft.com/office/drawing/2014/main" id="{BD7012D7-DC32-98BF-EAA1-441B9D33EE38}"/>
                </a:ext>
              </a:extLst>
            </p:cNvPr>
            <p:cNvPicPr/>
            <p:nvPr/>
          </p:nvPicPr>
          <p:blipFill>
            <a:blip r:embed="rId7"/>
            <a:stretch/>
          </p:blipFill>
          <p:spPr>
            <a:xfrm>
              <a:off x="8424360" y="119520"/>
              <a:ext cx="736200" cy="74880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panrai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6611" y="355702"/>
            <a:ext cx="1270102" cy="65151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84048"/>
            <a:ext cx="896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WORKFLOW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658368"/>
            <a:ext cx="9784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Getting reflection data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1920240"/>
            <a:ext cx="3108960" cy="1005840"/>
          </a:xfrm>
          <a:prstGeom prst="roundRect">
            <a:avLst>
              <a:gd name="adj" fmla="val 7273"/>
            </a:avLst>
          </a:prstGeom>
          <a:solidFill>
            <a:srgbClr val="F7F8FA"/>
          </a:solidFill>
          <a:ln w="12700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6" name="Text 3"/>
          <p:cNvSpPr/>
          <p:nvPr/>
        </p:nvSpPr>
        <p:spPr>
          <a:xfrm>
            <a:off x="548640" y="2048256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 structure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685800" y="2395728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 file from ICSD</a:t>
            </a:r>
            <a:endParaRPr lang="en-US" sz="10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Crystallography Open DB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712464" y="2423160"/>
            <a:ext cx="774040" cy="0"/>
          </a:xfrm>
          <a:prstGeom prst="line">
            <a:avLst/>
          </a:prstGeom>
          <a:noFill/>
          <a:ln w="19050">
            <a:solidFill>
              <a:srgbClr val="6E7580"/>
            </a:solidFill>
            <a:prstDash val="solid"/>
            <a:tailEnd type="triangle"/>
          </a:ln>
        </p:spPr>
        <p:txBody>
          <a:bodyPr/>
          <a:lstStyle/>
          <a:p>
            <a:endParaRPr lang="en-DK"/>
          </a:p>
        </p:txBody>
      </p:sp>
      <p:sp>
        <p:nvSpPr>
          <p:cNvPr id="9" name="Shape 6"/>
          <p:cNvSpPr/>
          <p:nvPr/>
        </p:nvSpPr>
        <p:spPr>
          <a:xfrm>
            <a:off x="4541368" y="1920240"/>
            <a:ext cx="3108960" cy="1005840"/>
          </a:xfrm>
          <a:prstGeom prst="roundRect">
            <a:avLst>
              <a:gd name="adj" fmla="val 7273"/>
            </a:avLst>
          </a:prstGeom>
          <a:solidFill>
            <a:srgbClr val="F7F8FA"/>
          </a:solidFill>
          <a:ln w="12700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10" name="Text 7"/>
          <p:cNvSpPr/>
          <p:nvPr/>
        </p:nvSpPr>
        <p:spPr>
          <a:xfrm>
            <a:off x="4541368" y="2048256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cif2hkl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4678528" y="2395728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--powder or --xtal</a:t>
            </a:r>
            <a:endParaRPr lang="en-US" sz="10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ships with McStas/McXtrace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7705192" y="2423160"/>
            <a:ext cx="774040" cy="0"/>
          </a:xfrm>
          <a:prstGeom prst="line">
            <a:avLst/>
          </a:prstGeom>
          <a:noFill/>
          <a:ln w="19050">
            <a:solidFill>
              <a:srgbClr val="6E7580"/>
            </a:solidFill>
            <a:prstDash val="solid"/>
            <a:tailEnd type="triangle"/>
          </a:ln>
        </p:spPr>
        <p:txBody>
          <a:bodyPr/>
          <a:lstStyle/>
          <a:p>
            <a:endParaRPr lang="en-DK"/>
          </a:p>
        </p:txBody>
      </p:sp>
      <p:sp>
        <p:nvSpPr>
          <p:cNvPr id="13" name="Shape 10"/>
          <p:cNvSpPr/>
          <p:nvPr/>
        </p:nvSpPr>
        <p:spPr>
          <a:xfrm>
            <a:off x="8534095" y="1920240"/>
            <a:ext cx="3108960" cy="1005840"/>
          </a:xfrm>
          <a:prstGeom prst="roundRect">
            <a:avLst>
              <a:gd name="adj" fmla="val 7273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14" name="Text 11"/>
          <p:cNvSpPr/>
          <p:nvPr/>
        </p:nvSpPr>
        <p:spPr>
          <a:xfrm>
            <a:off x="8534095" y="2048256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.laz / .lau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8671255" y="2395728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00" dirty="0">
                <a:solidFill>
                  <a:srgbClr val="E7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 + reflection list,</a:t>
            </a:r>
            <a:endParaRPr lang="en-US" sz="10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000" dirty="0">
                <a:solidFill>
                  <a:srgbClr val="E7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use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48640" y="310896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12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by: PowderN, Single_crystal, Isotropic_Sqw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548640" y="3657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formats in McStas &amp; McXtrace</a:t>
            </a:r>
            <a:endParaRPr lang="en-US" sz="17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11064240" cy="2304288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4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Used by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4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024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.lau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6E75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Single_crystal, PowderN, Isotropic_Sqw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024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.laz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6E75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PowderN, Isotropic_Sqw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024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.sqw / qSq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6E75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Isotropic_Sqw (qSq mostly for liquids)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024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PDB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6E75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SANSPDB / SAXSPDB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024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ncmat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6E75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NCrystal-backed samples (McStas)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9" name="Text 15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Sample Components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C6DC5C4-72BD-2D0F-6331-7A6A3B792632}"/>
              </a:ext>
            </a:extLst>
          </p:cNvPr>
          <p:cNvGrpSpPr/>
          <p:nvPr/>
        </p:nvGrpSpPr>
        <p:grpSpPr>
          <a:xfrm>
            <a:off x="8424360" y="119520"/>
            <a:ext cx="1590840" cy="748800"/>
            <a:chOff x="8424360" y="119520"/>
            <a:chExt cx="1590840" cy="748800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8755AEE9-7FAE-EB6B-FC40-080EA03645E0}"/>
                </a:ext>
              </a:extLst>
            </p:cNvPr>
            <p:cNvGrpSpPr/>
            <p:nvPr/>
          </p:nvGrpSpPr>
          <p:grpSpPr>
            <a:xfrm>
              <a:off x="9225000" y="124302"/>
              <a:ext cx="790200" cy="708378"/>
              <a:chOff x="9225000" y="124302"/>
              <a:chExt cx="790200" cy="708378"/>
            </a:xfrm>
          </p:grpSpPr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81CD64F2-1AEB-2719-0360-AE4EEA4D5E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262056" y="124302"/>
                <a:ext cx="716666" cy="424533"/>
              </a:xfrm>
              <a:prstGeom prst="rect">
                <a:avLst/>
              </a:prstGeom>
            </p:spPr>
          </p:pic>
          <p:grpSp>
            <p:nvGrpSpPr>
              <p:cNvPr id="25" name="Group 32">
                <a:extLst>
                  <a:ext uri="{FF2B5EF4-FFF2-40B4-BE49-F238E27FC236}">
                    <a16:creationId xmlns:a16="http://schemas.microsoft.com/office/drawing/2014/main" id="{1AEE7D7B-1C13-E28A-8E0B-4A4C316A0781}"/>
                  </a:ext>
                </a:extLst>
              </p:cNvPr>
              <p:cNvGrpSpPr/>
              <p:nvPr/>
            </p:nvGrpSpPr>
            <p:grpSpPr>
              <a:xfrm>
                <a:off x="9225000" y="531360"/>
                <a:ext cx="790200" cy="301320"/>
                <a:chOff x="9225000" y="531360"/>
                <a:chExt cx="790200" cy="301320"/>
              </a:xfrm>
            </p:grpSpPr>
            <p:pic>
              <p:nvPicPr>
                <p:cNvPr id="26" name="Picture 29" descr="Synchrotron SOLEIL">
                  <a:extLst>
                    <a:ext uri="{FF2B5EF4-FFF2-40B4-BE49-F238E27FC236}">
                      <a16:creationId xmlns:a16="http://schemas.microsoft.com/office/drawing/2014/main" id="{0F5F5F8F-A1C6-7AE3-507D-242277EF7D44}"/>
                    </a:ext>
                  </a:extLst>
                </p:cNvPr>
                <p:cNvPicPr/>
                <p:nvPr/>
              </p:nvPicPr>
              <p:blipFill>
                <a:blip r:embed="rId5"/>
                <a:stretch/>
              </p:blipFill>
              <p:spPr>
                <a:xfrm>
                  <a:off x="9225000" y="531360"/>
                  <a:ext cx="547920" cy="264600"/>
                </a:xfrm>
                <a:prstGeom prst="rect">
                  <a:avLst/>
                </a:prstGeom>
                <a:noFill/>
                <a:ln w="0">
                  <a:noFill/>
                </a:ln>
              </p:spPr>
            </p:pic>
            <p:pic>
              <p:nvPicPr>
                <p:cNvPr id="27" name="Picture 30" descr="DTU Physics">
                  <a:extLst>
                    <a:ext uri="{FF2B5EF4-FFF2-40B4-BE49-F238E27FC236}">
                      <a16:creationId xmlns:a16="http://schemas.microsoft.com/office/drawing/2014/main" id="{AEE6B865-A493-37D0-D471-90AE3BD07B8D}"/>
                    </a:ext>
                  </a:extLst>
                </p:cNvPr>
                <p:cNvPicPr/>
                <p:nvPr/>
              </p:nvPicPr>
              <p:blipFill>
                <a:blip r:embed="rId6"/>
                <a:stretch/>
              </p:blipFill>
              <p:spPr>
                <a:xfrm>
                  <a:off x="9814320" y="536400"/>
                  <a:ext cx="200880" cy="296280"/>
                </a:xfrm>
                <a:prstGeom prst="rect">
                  <a:avLst/>
                </a:prstGeom>
                <a:noFill/>
                <a:ln w="0">
                  <a:noFill/>
                </a:ln>
              </p:spPr>
            </p:pic>
          </p:grpSp>
        </p:grpSp>
        <p:pic>
          <p:nvPicPr>
            <p:cNvPr id="23" name="Picture 31">
              <a:extLst>
                <a:ext uri="{FF2B5EF4-FFF2-40B4-BE49-F238E27FC236}">
                  <a16:creationId xmlns:a16="http://schemas.microsoft.com/office/drawing/2014/main" id="{C55818D0-20E8-366C-E62E-634B440D700C}"/>
                </a:ext>
              </a:extLst>
            </p:cNvPr>
            <p:cNvPicPr/>
            <p:nvPr/>
          </p:nvPicPr>
          <p:blipFill>
            <a:blip r:embed="rId7"/>
            <a:stretch/>
          </p:blipFill>
          <p:spPr>
            <a:xfrm>
              <a:off x="8424360" y="119520"/>
              <a:ext cx="736200" cy="74880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panrai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6611" y="355702"/>
            <a:ext cx="1270102" cy="65151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84048"/>
            <a:ext cx="896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/ SAXS · SHARED PHYSICS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658368"/>
            <a:ext cx="9784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Small-angle scattering, the shared idea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1691640"/>
            <a:ext cx="576072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 scattering at small angles — small scattering vector q means sensitivity to big real-space distances r.</a:t>
            </a:r>
            <a:endParaRPr lang="en-US" sz="12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Probes molecular-scale structure, typically 10–100 Å: proteins, polymers, nanoparticles, pores.</a:t>
            </a:r>
            <a:endParaRPr lang="en-US" sz="12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a dilute molecule-in-solvent system: a small contrast in scattering density against a buffer/background.</a:t>
            </a:r>
            <a:endParaRPr lang="en-US" sz="12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Usually isotropic scattering — the signal only depends on |q|, not its direction.</a:t>
            </a:r>
            <a:endParaRPr lang="en-US" sz="12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good collimation and a long flight path after the sample, to resolve the small angles involved.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6492240" y="1737360"/>
            <a:ext cx="5166360" cy="4114800"/>
          </a:xfrm>
          <a:prstGeom prst="roundRect">
            <a:avLst>
              <a:gd name="adj" fmla="val 2222"/>
            </a:avLst>
          </a:prstGeom>
          <a:solidFill>
            <a:srgbClr val="F7F8FA"/>
          </a:solidFill>
          <a:ln w="9525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7" name="Text 4"/>
          <p:cNvSpPr/>
          <p:nvPr/>
        </p:nvSpPr>
        <p:spPr>
          <a:xfrm>
            <a:off x="6492240" y="1920240"/>
            <a:ext cx="5166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q, big r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611112" y="3364992"/>
            <a:ext cx="1133856" cy="1133856"/>
          </a:xfrm>
          <a:prstGeom prst="ellipse">
            <a:avLst/>
          </a:prstGeom>
          <a:solidFill>
            <a:srgbClr val="E3EEF2"/>
          </a:solidFill>
          <a:ln w="1905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9" name="Text 6"/>
          <p:cNvSpPr/>
          <p:nvPr/>
        </p:nvSpPr>
        <p:spPr>
          <a:xfrm>
            <a:off x="6611112" y="3474720"/>
            <a:ext cx="11338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2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178040" y="3931920"/>
            <a:ext cx="3840480" cy="0"/>
          </a:xfrm>
          <a:prstGeom prst="line">
            <a:avLst/>
          </a:prstGeom>
          <a:noFill/>
          <a:ln w="15875">
            <a:solidFill>
              <a:srgbClr val="6E7580"/>
            </a:solidFill>
            <a:prstDash val="dash"/>
          </a:ln>
        </p:spPr>
        <p:txBody>
          <a:bodyPr/>
          <a:lstStyle/>
          <a:p>
            <a:endParaRPr lang="en-DK"/>
          </a:p>
        </p:txBody>
      </p:sp>
      <p:sp>
        <p:nvSpPr>
          <p:cNvPr id="11" name="Shape 8"/>
          <p:cNvSpPr/>
          <p:nvPr/>
        </p:nvSpPr>
        <p:spPr>
          <a:xfrm>
            <a:off x="7178040" y="3931920"/>
            <a:ext cx="3456432" cy="0"/>
          </a:xfrm>
          <a:prstGeom prst="line">
            <a:avLst/>
          </a:prstGeom>
          <a:noFill/>
          <a:ln w="19050">
            <a:solidFill>
              <a:srgbClr val="D97A2B"/>
            </a:solidFill>
            <a:prstDash val="solid"/>
            <a:tailEnd type="triangle"/>
          </a:ln>
        </p:spPr>
        <p:txBody>
          <a:bodyPr/>
          <a:lstStyle/>
          <a:p>
            <a:endParaRPr lang="en-DK"/>
          </a:p>
        </p:txBody>
      </p:sp>
      <p:sp>
        <p:nvSpPr>
          <p:cNvPr id="12" name="Shape 9"/>
          <p:cNvSpPr/>
          <p:nvPr/>
        </p:nvSpPr>
        <p:spPr>
          <a:xfrm>
            <a:off x="7178040" y="3931920"/>
            <a:ext cx="3456432" cy="351130"/>
          </a:xfrm>
          <a:prstGeom prst="line">
            <a:avLst/>
          </a:prstGeom>
          <a:noFill/>
          <a:ln w="19050">
            <a:solidFill>
              <a:srgbClr val="D97A2B"/>
            </a:solidFill>
            <a:prstDash val="solid"/>
            <a:tailEnd type="triangle"/>
          </a:ln>
        </p:spPr>
        <p:txBody>
          <a:bodyPr/>
          <a:lstStyle/>
          <a:p>
            <a:endParaRPr lang="en-DK"/>
          </a:p>
        </p:txBody>
      </p:sp>
      <p:sp>
        <p:nvSpPr>
          <p:cNvPr id="13" name="Shape 10"/>
          <p:cNvSpPr/>
          <p:nvPr/>
        </p:nvSpPr>
        <p:spPr>
          <a:xfrm>
            <a:off x="7178040" y="3931920"/>
            <a:ext cx="3456432" cy="0"/>
          </a:xfrm>
          <a:prstGeom prst="line">
            <a:avLst/>
          </a:prstGeom>
          <a:noFill/>
          <a:ln w="19050">
            <a:solidFill>
              <a:srgbClr val="D97A2B"/>
            </a:solidFill>
            <a:prstDash val="solid"/>
            <a:tailEnd type="triangle"/>
          </a:ln>
        </p:spPr>
        <p:txBody>
          <a:bodyPr/>
          <a:lstStyle/>
          <a:p>
            <a:endParaRPr lang="en-DK"/>
          </a:p>
        </p:txBody>
      </p:sp>
      <p:sp>
        <p:nvSpPr>
          <p:cNvPr id="14" name="Shape 11"/>
          <p:cNvSpPr/>
          <p:nvPr/>
        </p:nvSpPr>
        <p:spPr>
          <a:xfrm>
            <a:off x="7178040" y="3931920"/>
            <a:ext cx="3456432" cy="819302"/>
          </a:xfrm>
          <a:prstGeom prst="line">
            <a:avLst/>
          </a:prstGeom>
          <a:noFill/>
          <a:ln w="19050">
            <a:solidFill>
              <a:srgbClr val="D97A2B"/>
            </a:solidFill>
            <a:prstDash val="solid"/>
            <a:tailEnd type="triangle"/>
          </a:ln>
        </p:spPr>
        <p:txBody>
          <a:bodyPr/>
          <a:lstStyle/>
          <a:p>
            <a:endParaRPr lang="en-DK"/>
          </a:p>
        </p:txBody>
      </p:sp>
      <p:sp>
        <p:nvSpPr>
          <p:cNvPr id="15" name="Shape 12"/>
          <p:cNvSpPr/>
          <p:nvPr/>
        </p:nvSpPr>
        <p:spPr>
          <a:xfrm>
            <a:off x="7178040" y="3931920"/>
            <a:ext cx="3456432" cy="0"/>
          </a:xfrm>
          <a:prstGeom prst="line">
            <a:avLst/>
          </a:prstGeom>
          <a:noFill/>
          <a:ln w="19050">
            <a:solidFill>
              <a:srgbClr val="D97A2B"/>
            </a:solidFill>
            <a:prstDash val="solid"/>
            <a:tailEnd type="triangle"/>
          </a:ln>
        </p:spPr>
        <p:txBody>
          <a:bodyPr/>
          <a:lstStyle/>
          <a:p>
            <a:endParaRPr lang="en-DK"/>
          </a:p>
        </p:txBody>
      </p:sp>
      <p:sp>
        <p:nvSpPr>
          <p:cNvPr id="16" name="Shape 13"/>
          <p:cNvSpPr/>
          <p:nvPr/>
        </p:nvSpPr>
        <p:spPr>
          <a:xfrm>
            <a:off x="7178040" y="3931920"/>
            <a:ext cx="3456432" cy="1463040"/>
          </a:xfrm>
          <a:prstGeom prst="line">
            <a:avLst/>
          </a:prstGeom>
          <a:noFill/>
          <a:ln w="19050">
            <a:solidFill>
              <a:srgbClr val="D97A2B"/>
            </a:solidFill>
            <a:prstDash val="solid"/>
            <a:tailEnd type="triangle"/>
          </a:ln>
        </p:spPr>
        <p:txBody>
          <a:bodyPr/>
          <a:lstStyle/>
          <a:p>
            <a:endParaRPr lang="en-DK"/>
          </a:p>
        </p:txBody>
      </p:sp>
      <p:sp>
        <p:nvSpPr>
          <p:cNvPr id="17" name="Shape 14"/>
          <p:cNvSpPr/>
          <p:nvPr/>
        </p:nvSpPr>
        <p:spPr>
          <a:xfrm>
            <a:off x="11018520" y="2468880"/>
            <a:ext cx="137160" cy="2926080"/>
          </a:xfrm>
          <a:prstGeom prst="rect">
            <a:avLst/>
          </a:prstGeom>
          <a:solidFill>
            <a:srgbClr val="20242B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8" name="Text 15"/>
          <p:cNvSpPr/>
          <p:nvPr/>
        </p:nvSpPr>
        <p:spPr>
          <a:xfrm>
            <a:off x="10561320" y="548640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detector,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downstream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726680" y="21945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65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angles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A65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the beam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Sample Components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22D0DF1-744C-00BA-1099-8D6A3211DE55}"/>
              </a:ext>
            </a:extLst>
          </p:cNvPr>
          <p:cNvGrpSpPr/>
          <p:nvPr/>
        </p:nvGrpSpPr>
        <p:grpSpPr>
          <a:xfrm>
            <a:off x="8424360" y="119520"/>
            <a:ext cx="1590840" cy="748800"/>
            <a:chOff x="8424360" y="119520"/>
            <a:chExt cx="1590840" cy="748800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A461CC2F-65E3-94B4-5957-69294BC1C388}"/>
                </a:ext>
              </a:extLst>
            </p:cNvPr>
            <p:cNvGrpSpPr/>
            <p:nvPr/>
          </p:nvGrpSpPr>
          <p:grpSpPr>
            <a:xfrm>
              <a:off x="9225000" y="124302"/>
              <a:ext cx="790200" cy="708378"/>
              <a:chOff x="9225000" y="124302"/>
              <a:chExt cx="790200" cy="708378"/>
            </a:xfrm>
          </p:grpSpPr>
          <p:pic>
            <p:nvPicPr>
              <p:cNvPr id="25" name="Picture 24">
                <a:extLst>
                  <a:ext uri="{FF2B5EF4-FFF2-40B4-BE49-F238E27FC236}">
                    <a16:creationId xmlns:a16="http://schemas.microsoft.com/office/drawing/2014/main" id="{B210ED8D-DE9A-68BA-8783-8CFCC2E65D9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262056" y="124302"/>
                <a:ext cx="716666" cy="424533"/>
              </a:xfrm>
              <a:prstGeom prst="rect">
                <a:avLst/>
              </a:prstGeom>
            </p:spPr>
          </p:pic>
          <p:grpSp>
            <p:nvGrpSpPr>
              <p:cNvPr id="26" name="Group 32">
                <a:extLst>
                  <a:ext uri="{FF2B5EF4-FFF2-40B4-BE49-F238E27FC236}">
                    <a16:creationId xmlns:a16="http://schemas.microsoft.com/office/drawing/2014/main" id="{2A68B4E6-1124-E51A-B2F4-6E8ACB733C3D}"/>
                  </a:ext>
                </a:extLst>
              </p:cNvPr>
              <p:cNvGrpSpPr/>
              <p:nvPr/>
            </p:nvGrpSpPr>
            <p:grpSpPr>
              <a:xfrm>
                <a:off x="9225000" y="531360"/>
                <a:ext cx="790200" cy="301320"/>
                <a:chOff x="9225000" y="531360"/>
                <a:chExt cx="790200" cy="301320"/>
              </a:xfrm>
            </p:grpSpPr>
            <p:pic>
              <p:nvPicPr>
                <p:cNvPr id="27" name="Picture 29" descr="Synchrotron SOLEIL">
                  <a:extLst>
                    <a:ext uri="{FF2B5EF4-FFF2-40B4-BE49-F238E27FC236}">
                      <a16:creationId xmlns:a16="http://schemas.microsoft.com/office/drawing/2014/main" id="{7819BDE4-F8F9-3BA2-9DD9-D125BC2A4C8F}"/>
                    </a:ext>
                  </a:extLst>
                </p:cNvPr>
                <p:cNvPicPr/>
                <p:nvPr/>
              </p:nvPicPr>
              <p:blipFill>
                <a:blip r:embed="rId5"/>
                <a:stretch/>
              </p:blipFill>
              <p:spPr>
                <a:xfrm>
                  <a:off x="9225000" y="531360"/>
                  <a:ext cx="547920" cy="264600"/>
                </a:xfrm>
                <a:prstGeom prst="rect">
                  <a:avLst/>
                </a:prstGeom>
                <a:noFill/>
                <a:ln w="0">
                  <a:noFill/>
                </a:ln>
              </p:spPr>
            </p:pic>
            <p:pic>
              <p:nvPicPr>
                <p:cNvPr id="28" name="Picture 30" descr="DTU Physics">
                  <a:extLst>
                    <a:ext uri="{FF2B5EF4-FFF2-40B4-BE49-F238E27FC236}">
                      <a16:creationId xmlns:a16="http://schemas.microsoft.com/office/drawing/2014/main" id="{7442111A-E467-A7FA-2673-CC809155B85F}"/>
                    </a:ext>
                  </a:extLst>
                </p:cNvPr>
                <p:cNvPicPr/>
                <p:nvPr/>
              </p:nvPicPr>
              <p:blipFill>
                <a:blip r:embed="rId6"/>
                <a:stretch/>
              </p:blipFill>
              <p:spPr>
                <a:xfrm>
                  <a:off x="9814320" y="536400"/>
                  <a:ext cx="200880" cy="296280"/>
                </a:xfrm>
                <a:prstGeom prst="rect">
                  <a:avLst/>
                </a:prstGeom>
                <a:noFill/>
                <a:ln w="0">
                  <a:noFill/>
                </a:ln>
              </p:spPr>
            </p:pic>
          </p:grpSp>
        </p:grpSp>
        <p:pic>
          <p:nvPicPr>
            <p:cNvPr id="24" name="Picture 31">
              <a:extLst>
                <a:ext uri="{FF2B5EF4-FFF2-40B4-BE49-F238E27FC236}">
                  <a16:creationId xmlns:a16="http://schemas.microsoft.com/office/drawing/2014/main" id="{AAA8D621-A933-31AC-265B-AB67D972F9F4}"/>
                </a:ext>
              </a:extLst>
            </p:cNvPr>
            <p:cNvPicPr/>
            <p:nvPr/>
          </p:nvPicPr>
          <p:blipFill>
            <a:blip r:embed="rId7"/>
            <a:stretch/>
          </p:blipFill>
          <p:spPr>
            <a:xfrm>
              <a:off x="8424360" y="119520"/>
              <a:ext cx="736200" cy="74880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panrai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6611" y="355702"/>
            <a:ext cx="1270102" cy="65151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84048"/>
            <a:ext cx="896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TOOLKIT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658368"/>
            <a:ext cx="9784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SANS &amp; SAXS models, side by side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141732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tiers of model, available under matching names in both codes.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64240" cy="3108960"/>
        </p:xfrm>
        <a:graphic>
          <a:graphicData uri="http://schemas.openxmlformats.org/drawingml/2006/table">
            <a:tbl>
              <a:tblPr/>
              <a:tblGrid>
                <a:gridCol w="1965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69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4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McStas (SANS)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50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McXtrace (SAXS)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59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4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Analytic shapes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024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Sans_spheres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024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Saxs_spheres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E75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 naming parallel; dilute, monodisperse hard spheres, given contrast &amp; radius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Benchmarked set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024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SANS_benchmark2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024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E75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Experimentally-benchmarked model set (McStas, contrib library)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sasmodels library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024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SasView_* (92 components)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024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SasView_* (92 components)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E75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File-for-file identical set in both codes — sphere, cylinder, core-shell, fractal, …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Macromolecules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024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SANSPDB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024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SAXSPDB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E75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Scattering directly from a PDB structure file (contrib library, both codes)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34924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E3EEF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8" name="Text 4"/>
          <p:cNvSpPr/>
          <p:nvPr/>
        </p:nvSpPr>
        <p:spPr>
          <a:xfrm>
            <a:off x="822960" y="534924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2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hood:  </a:t>
            </a:r>
            <a:r>
              <a:rPr lang="en-US" sz="11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sasmodels components are generated from the same SasView/sasmodels project (sasview.org) for both codes — 92 identically-named .comp files in mcstas-comps/sasmodels and mcxtrace-comps/sasmodels, sphere through triaxial ellipsoid.</a:t>
            </a:r>
            <a:endParaRPr lang="en-US" sz="1150" dirty="0"/>
          </a:p>
        </p:txBody>
      </p:sp>
      <p:sp>
        <p:nvSpPr>
          <p:cNvPr id="9" name="Text 5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Sample Components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58BCF44-7E39-6F70-3F7D-8314B948745C}"/>
              </a:ext>
            </a:extLst>
          </p:cNvPr>
          <p:cNvGrpSpPr/>
          <p:nvPr/>
        </p:nvGrpSpPr>
        <p:grpSpPr>
          <a:xfrm>
            <a:off x="8424360" y="119520"/>
            <a:ext cx="1590840" cy="748800"/>
            <a:chOff x="8424360" y="119520"/>
            <a:chExt cx="1590840" cy="748800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2FAFAB46-3143-E907-4481-1A903267DDCE}"/>
                </a:ext>
              </a:extLst>
            </p:cNvPr>
            <p:cNvGrpSpPr/>
            <p:nvPr/>
          </p:nvGrpSpPr>
          <p:grpSpPr>
            <a:xfrm>
              <a:off x="9225000" y="124302"/>
              <a:ext cx="790200" cy="708378"/>
              <a:chOff x="9225000" y="124302"/>
              <a:chExt cx="790200" cy="708378"/>
            </a:xfrm>
          </p:grpSpPr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09CA1488-7BDA-07BD-534D-2B6D9D8275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262056" y="124302"/>
                <a:ext cx="716666" cy="424533"/>
              </a:xfrm>
              <a:prstGeom prst="rect">
                <a:avLst/>
              </a:prstGeom>
            </p:spPr>
          </p:pic>
          <p:grpSp>
            <p:nvGrpSpPr>
              <p:cNvPr id="15" name="Group 32">
                <a:extLst>
                  <a:ext uri="{FF2B5EF4-FFF2-40B4-BE49-F238E27FC236}">
                    <a16:creationId xmlns:a16="http://schemas.microsoft.com/office/drawing/2014/main" id="{AEDAC8EF-E524-7604-F68D-A26D5446605B}"/>
                  </a:ext>
                </a:extLst>
              </p:cNvPr>
              <p:cNvGrpSpPr/>
              <p:nvPr/>
            </p:nvGrpSpPr>
            <p:grpSpPr>
              <a:xfrm>
                <a:off x="9225000" y="531360"/>
                <a:ext cx="790200" cy="301320"/>
                <a:chOff x="9225000" y="531360"/>
                <a:chExt cx="790200" cy="301320"/>
              </a:xfrm>
            </p:grpSpPr>
            <p:pic>
              <p:nvPicPr>
                <p:cNvPr id="16" name="Picture 29" descr="Synchrotron SOLEIL">
                  <a:extLst>
                    <a:ext uri="{FF2B5EF4-FFF2-40B4-BE49-F238E27FC236}">
                      <a16:creationId xmlns:a16="http://schemas.microsoft.com/office/drawing/2014/main" id="{F89568F2-CCA8-9C66-A464-EA7EF9EC2D19}"/>
                    </a:ext>
                  </a:extLst>
                </p:cNvPr>
                <p:cNvPicPr/>
                <p:nvPr/>
              </p:nvPicPr>
              <p:blipFill>
                <a:blip r:embed="rId5"/>
                <a:stretch/>
              </p:blipFill>
              <p:spPr>
                <a:xfrm>
                  <a:off x="9225000" y="531360"/>
                  <a:ext cx="547920" cy="264600"/>
                </a:xfrm>
                <a:prstGeom prst="rect">
                  <a:avLst/>
                </a:prstGeom>
                <a:noFill/>
                <a:ln w="0">
                  <a:noFill/>
                </a:ln>
              </p:spPr>
            </p:pic>
            <p:pic>
              <p:nvPicPr>
                <p:cNvPr id="17" name="Picture 30" descr="DTU Physics">
                  <a:extLst>
                    <a:ext uri="{FF2B5EF4-FFF2-40B4-BE49-F238E27FC236}">
                      <a16:creationId xmlns:a16="http://schemas.microsoft.com/office/drawing/2014/main" id="{B36EF1EA-4205-AD1E-8C42-9134DE9C0217}"/>
                    </a:ext>
                  </a:extLst>
                </p:cNvPr>
                <p:cNvPicPr/>
                <p:nvPr/>
              </p:nvPicPr>
              <p:blipFill>
                <a:blip r:embed="rId6"/>
                <a:stretch/>
              </p:blipFill>
              <p:spPr>
                <a:xfrm>
                  <a:off x="9814320" y="536400"/>
                  <a:ext cx="200880" cy="296280"/>
                </a:xfrm>
                <a:prstGeom prst="rect">
                  <a:avLst/>
                </a:prstGeom>
                <a:noFill/>
                <a:ln w="0">
                  <a:noFill/>
                </a:ln>
              </p:spPr>
            </p:pic>
          </p:grpSp>
        </p:grpSp>
        <p:pic>
          <p:nvPicPr>
            <p:cNvPr id="13" name="Picture 31">
              <a:extLst>
                <a:ext uri="{FF2B5EF4-FFF2-40B4-BE49-F238E27FC236}">
                  <a16:creationId xmlns:a16="http://schemas.microsoft.com/office/drawing/2014/main" id="{346C37D1-8677-4EB8-D8E8-681F48001BDE}"/>
                </a:ext>
              </a:extLst>
            </p:cNvPr>
            <p:cNvPicPr/>
            <p:nvPr/>
          </p:nvPicPr>
          <p:blipFill>
            <a:blip r:embed="rId7"/>
            <a:stretch/>
          </p:blipFill>
          <p:spPr>
            <a:xfrm>
              <a:off x="8424360" y="119520"/>
              <a:ext cx="736200" cy="74880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panrai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6611" y="355702"/>
            <a:ext cx="1270102" cy="65151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84048"/>
            <a:ext cx="896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X-RAY ONLY · PHYSICS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658368"/>
            <a:ext cx="9784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Absorption &amp; fluorescence: the physics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1645920"/>
            <a:ext cx="56692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photon excites a core electron (e.g. the K shell). If the photon energy exceeds the binding energy, the electron is ejected — a photoelectron.</a:t>
            </a:r>
            <a:endParaRPr lang="en-US" sz="12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resulting core hole is filled by an electron from a higher shell — that transition emits a characteristic fluorescence line.</a:t>
            </a:r>
            <a:endParaRPr lang="en-US" sz="12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absorption edge, the transmitted intensity drops sharply, and a fluorescence line appears at a lower, element-specific energy.</a:t>
            </a:r>
            <a:endParaRPr lang="en-US" sz="12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 (Rayleigh) and inelastic (Compton) scattering can accompany absorption — all part of the same interaction budget.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6400800" y="1737360"/>
            <a:ext cx="5257800" cy="3749040"/>
          </a:xfrm>
          <a:prstGeom prst="roundRect">
            <a:avLst>
              <a:gd name="adj" fmla="val 2439"/>
            </a:avLst>
          </a:prstGeom>
          <a:solidFill>
            <a:srgbClr val="F7F8FA"/>
          </a:solidFill>
          <a:ln w="9525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7" name="Text 4"/>
          <p:cNvSpPr/>
          <p:nvPr/>
        </p:nvSpPr>
        <p:spPr>
          <a:xfrm>
            <a:off x="6400800" y="1920240"/>
            <a:ext cx="5257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transmission vs. photon energy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086600" y="2423160"/>
            <a:ext cx="0" cy="2194560"/>
          </a:xfrm>
          <a:prstGeom prst="line">
            <a:avLst/>
          </a:prstGeom>
          <a:noFill/>
          <a:ln w="15875">
            <a:solidFill>
              <a:srgbClr val="20242B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9" name="Shape 6"/>
          <p:cNvSpPr/>
          <p:nvPr/>
        </p:nvSpPr>
        <p:spPr>
          <a:xfrm>
            <a:off x="7086600" y="4617720"/>
            <a:ext cx="4343400" cy="0"/>
          </a:xfrm>
          <a:prstGeom prst="line">
            <a:avLst/>
          </a:prstGeom>
          <a:noFill/>
          <a:ln w="15875">
            <a:solidFill>
              <a:srgbClr val="20242B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10" name="Shape 7"/>
          <p:cNvSpPr/>
          <p:nvPr/>
        </p:nvSpPr>
        <p:spPr>
          <a:xfrm>
            <a:off x="7086600" y="2788920"/>
            <a:ext cx="1965960" cy="365760"/>
          </a:xfrm>
          <a:prstGeom prst="line">
            <a:avLst/>
          </a:prstGeom>
          <a:noFill/>
          <a:ln w="31750">
            <a:solidFill>
              <a:srgbClr val="D97A2B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11" name="Shape 8"/>
          <p:cNvSpPr/>
          <p:nvPr/>
        </p:nvSpPr>
        <p:spPr>
          <a:xfrm>
            <a:off x="9052560" y="3154680"/>
            <a:ext cx="0" cy="1005840"/>
          </a:xfrm>
          <a:prstGeom prst="line">
            <a:avLst/>
          </a:prstGeom>
          <a:noFill/>
          <a:ln w="31750">
            <a:solidFill>
              <a:srgbClr val="D97A2B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12" name="Shape 9"/>
          <p:cNvSpPr/>
          <p:nvPr/>
        </p:nvSpPr>
        <p:spPr>
          <a:xfrm>
            <a:off x="9052560" y="4160520"/>
            <a:ext cx="2103120" cy="0"/>
          </a:xfrm>
          <a:prstGeom prst="line">
            <a:avLst/>
          </a:prstGeom>
          <a:noFill/>
          <a:ln w="31750">
            <a:solidFill>
              <a:srgbClr val="D97A2B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13" name="Shape 10"/>
          <p:cNvSpPr/>
          <p:nvPr/>
        </p:nvSpPr>
        <p:spPr>
          <a:xfrm>
            <a:off x="9052560" y="3154680"/>
            <a:ext cx="0" cy="1463040"/>
          </a:xfrm>
          <a:prstGeom prst="line">
            <a:avLst/>
          </a:prstGeom>
          <a:noFill/>
          <a:ln w="12700">
            <a:solidFill>
              <a:srgbClr val="6E7580"/>
            </a:solidFill>
            <a:prstDash val="dash"/>
          </a:ln>
        </p:spPr>
        <p:txBody>
          <a:bodyPr/>
          <a:lstStyle/>
          <a:p>
            <a:endParaRPr lang="en-DK"/>
          </a:p>
        </p:txBody>
      </p:sp>
      <p:sp>
        <p:nvSpPr>
          <p:cNvPr id="14" name="Text 11"/>
          <p:cNvSpPr/>
          <p:nvPr/>
        </p:nvSpPr>
        <p:spPr>
          <a:xfrm>
            <a:off x="8686800" y="4672584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040880" y="2130552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transmission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10789920" y="4672584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675120" y="4983480"/>
            <a:ext cx="4709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the honest limit: today's absorption samples model the edge itself — not the fine pre-edge or EXAFS oscillations.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Sample Components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1F79D1B6-547F-DC19-5C4A-9F8061C86BEA}"/>
              </a:ext>
            </a:extLst>
          </p:cNvPr>
          <p:cNvGrpSpPr/>
          <p:nvPr/>
        </p:nvGrpSpPr>
        <p:grpSpPr>
          <a:xfrm>
            <a:off x="9225000" y="124302"/>
            <a:ext cx="790200" cy="708378"/>
            <a:chOff x="9225000" y="124302"/>
            <a:chExt cx="790200" cy="708378"/>
          </a:xfrm>
        </p:grpSpPr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C536FA04-C705-635E-E28E-00F516AF564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262056" y="124302"/>
              <a:ext cx="716666" cy="424533"/>
            </a:xfrm>
            <a:prstGeom prst="rect">
              <a:avLst/>
            </a:prstGeom>
          </p:spPr>
        </p:pic>
        <p:grpSp>
          <p:nvGrpSpPr>
            <p:cNvPr id="24" name="Group 32">
              <a:extLst>
                <a:ext uri="{FF2B5EF4-FFF2-40B4-BE49-F238E27FC236}">
                  <a16:creationId xmlns:a16="http://schemas.microsoft.com/office/drawing/2014/main" id="{EC544938-C016-D828-3943-FB499F73320C}"/>
                </a:ext>
              </a:extLst>
            </p:cNvPr>
            <p:cNvGrpSpPr/>
            <p:nvPr/>
          </p:nvGrpSpPr>
          <p:grpSpPr>
            <a:xfrm>
              <a:off x="9225000" y="531360"/>
              <a:ext cx="790200" cy="301320"/>
              <a:chOff x="9225000" y="531360"/>
              <a:chExt cx="790200" cy="301320"/>
            </a:xfrm>
          </p:grpSpPr>
          <p:pic>
            <p:nvPicPr>
              <p:cNvPr id="25" name="Picture 29" descr="Synchrotron SOLEIL">
                <a:extLst>
                  <a:ext uri="{FF2B5EF4-FFF2-40B4-BE49-F238E27FC236}">
                    <a16:creationId xmlns:a16="http://schemas.microsoft.com/office/drawing/2014/main" id="{D11648BD-E382-9533-810C-F22C64A57FDA}"/>
                  </a:ext>
                </a:extLst>
              </p:cNvPr>
              <p:cNvPicPr/>
              <p:nvPr/>
            </p:nvPicPr>
            <p:blipFill>
              <a:blip r:embed="rId5"/>
              <a:stretch/>
            </p:blipFill>
            <p:spPr>
              <a:xfrm>
                <a:off x="9225000" y="531360"/>
                <a:ext cx="547920" cy="264600"/>
              </a:xfrm>
              <a:prstGeom prst="rect">
                <a:avLst/>
              </a:prstGeom>
              <a:noFill/>
              <a:ln w="0">
                <a:noFill/>
              </a:ln>
            </p:spPr>
          </p:pic>
          <p:pic>
            <p:nvPicPr>
              <p:cNvPr id="26" name="Picture 30" descr="DTU Physics">
                <a:extLst>
                  <a:ext uri="{FF2B5EF4-FFF2-40B4-BE49-F238E27FC236}">
                    <a16:creationId xmlns:a16="http://schemas.microsoft.com/office/drawing/2014/main" id="{B80F1315-2187-9DBD-F5A5-F2E1F0EA6AFF}"/>
                  </a:ext>
                </a:extLst>
              </p:cNvPr>
              <p:cNvPicPr/>
              <p:nvPr/>
            </p:nvPicPr>
            <p:blipFill>
              <a:blip r:embed="rId6"/>
              <a:stretch/>
            </p:blipFill>
            <p:spPr>
              <a:xfrm>
                <a:off x="9814320" y="536400"/>
                <a:ext cx="200880" cy="296280"/>
              </a:xfrm>
              <a:prstGeom prst="rect">
                <a:avLst/>
              </a:prstGeom>
              <a:noFill/>
              <a:ln w="0">
                <a:noFill/>
              </a:ln>
            </p:spPr>
          </p:pic>
        </p:grp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panrai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6611" y="355702"/>
            <a:ext cx="1270102" cy="65151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84048"/>
            <a:ext cx="896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MCXTRACE — X-RAYS ONLY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658368"/>
            <a:ext cx="9784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Fluorescence component &amp; friends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1691640"/>
            <a:ext cx="5257800" cy="4160520"/>
          </a:xfrm>
          <a:prstGeom prst="roundRect">
            <a:avLst>
              <a:gd name="adj" fmla="val 2198"/>
            </a:avLst>
          </a:prstGeom>
          <a:solidFill>
            <a:srgbClr val="FBEBD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6" name="Text 3"/>
          <p:cNvSpPr/>
          <p:nvPr/>
        </p:nvSpPr>
        <p:spPr>
          <a:xfrm>
            <a:off x="868680" y="1892808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65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Fluorescence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68680" y="2377440"/>
            <a:ext cx="461772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all four processes at once: absorption, fluorescence, Compton and Rayleigh scattering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shape (box, cylinder, sphere, or OFF/PLY mesh) and any compound material, e.g. “CaCO3” or “ZnCu”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Computed via XRayLib — about 10× slower than the simpler components, in exchange for real chemistry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FluoCrystal and FluoPowder specialise the same physics for crystalline and powder samples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72200" y="1691640"/>
            <a:ext cx="5257800" cy="4160520"/>
          </a:xfrm>
          <a:prstGeom prst="roundRect">
            <a:avLst>
              <a:gd name="adj" fmla="val 2198"/>
            </a:avLst>
          </a:prstGeom>
          <a:solidFill>
            <a:srgbClr val="F7F8F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9" name="Text 6"/>
          <p:cNvSpPr/>
          <p:nvPr/>
        </p:nvSpPr>
        <p:spPr>
          <a:xfrm>
            <a:off x="6492240" y="1892808"/>
            <a:ext cx="4617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Filter, Abs_objects, Absorption_sample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6492240" y="2514600"/>
            <a:ext cx="461772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Absorption only — no fluorescence, Compton or Rayleigh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 pre-made absorption data files, and only handle pure, mono-atomic materials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Abs_objects and Absorption_sample can combine several OFF/PLY shapes/materials in one component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Much faster — the right choice when fluorescence itself isn't of interest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these support concentric geometry (a sample inside a can or cryostat) the same way PowderN does.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Sample Components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AC619F2-DBDF-EB65-D8A5-08CE610E74A4}"/>
              </a:ext>
            </a:extLst>
          </p:cNvPr>
          <p:cNvGrpSpPr/>
          <p:nvPr/>
        </p:nvGrpSpPr>
        <p:grpSpPr>
          <a:xfrm>
            <a:off x="9225000" y="124302"/>
            <a:ext cx="790200" cy="708378"/>
            <a:chOff x="9225000" y="124302"/>
            <a:chExt cx="790200" cy="708378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F6F1C707-3185-6D6B-A3AF-0E7023954C9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262056" y="124302"/>
              <a:ext cx="716666" cy="424533"/>
            </a:xfrm>
            <a:prstGeom prst="rect">
              <a:avLst/>
            </a:prstGeom>
          </p:spPr>
        </p:pic>
        <p:grpSp>
          <p:nvGrpSpPr>
            <p:cNvPr id="18" name="Group 32">
              <a:extLst>
                <a:ext uri="{FF2B5EF4-FFF2-40B4-BE49-F238E27FC236}">
                  <a16:creationId xmlns:a16="http://schemas.microsoft.com/office/drawing/2014/main" id="{C95CE538-F011-699E-3493-1D60002E6B09}"/>
                </a:ext>
              </a:extLst>
            </p:cNvPr>
            <p:cNvGrpSpPr/>
            <p:nvPr/>
          </p:nvGrpSpPr>
          <p:grpSpPr>
            <a:xfrm>
              <a:off x="9225000" y="531360"/>
              <a:ext cx="790200" cy="301320"/>
              <a:chOff x="9225000" y="531360"/>
              <a:chExt cx="790200" cy="301320"/>
            </a:xfrm>
          </p:grpSpPr>
          <p:pic>
            <p:nvPicPr>
              <p:cNvPr id="19" name="Picture 29" descr="Synchrotron SOLEIL">
                <a:extLst>
                  <a:ext uri="{FF2B5EF4-FFF2-40B4-BE49-F238E27FC236}">
                    <a16:creationId xmlns:a16="http://schemas.microsoft.com/office/drawing/2014/main" id="{23A0C2F7-04A9-D825-0665-96D128D82423}"/>
                  </a:ext>
                </a:extLst>
              </p:cNvPr>
              <p:cNvPicPr/>
              <p:nvPr/>
            </p:nvPicPr>
            <p:blipFill>
              <a:blip r:embed="rId5"/>
              <a:stretch/>
            </p:blipFill>
            <p:spPr>
              <a:xfrm>
                <a:off x="9225000" y="531360"/>
                <a:ext cx="547920" cy="264600"/>
              </a:xfrm>
              <a:prstGeom prst="rect">
                <a:avLst/>
              </a:prstGeom>
              <a:noFill/>
              <a:ln w="0">
                <a:noFill/>
              </a:ln>
            </p:spPr>
          </p:pic>
          <p:pic>
            <p:nvPicPr>
              <p:cNvPr id="20" name="Picture 30" descr="DTU Physics">
                <a:extLst>
                  <a:ext uri="{FF2B5EF4-FFF2-40B4-BE49-F238E27FC236}">
                    <a16:creationId xmlns:a16="http://schemas.microsoft.com/office/drawing/2014/main" id="{ED40B9F1-89DF-6CA9-4A65-E2850FAE3F2E}"/>
                  </a:ext>
                </a:extLst>
              </p:cNvPr>
              <p:cNvPicPr/>
              <p:nvPr/>
            </p:nvPicPr>
            <p:blipFill>
              <a:blip r:embed="rId6"/>
              <a:stretch/>
            </p:blipFill>
            <p:spPr>
              <a:xfrm>
                <a:off x="9814320" y="536400"/>
                <a:ext cx="200880" cy="296280"/>
              </a:xfrm>
              <a:prstGeom prst="rect">
                <a:avLst/>
              </a:prstGeom>
              <a:noFill/>
              <a:ln w="0">
                <a:noFill/>
              </a:ln>
            </p:spPr>
          </p:pic>
        </p:grp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panrai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6611" y="355702"/>
            <a:ext cx="1270102" cy="65151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84048"/>
            <a:ext cx="896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MCXTRACE — WORKED EXAMPLES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658368"/>
            <a:ext cx="9784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beamlines, built from these samples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1691640"/>
            <a:ext cx="5257800" cy="4206240"/>
          </a:xfrm>
          <a:prstGeom prst="roundRect">
            <a:avLst>
              <a:gd name="adj" fmla="val 2174"/>
            </a:avLst>
          </a:prstGeom>
          <a:solidFill>
            <a:srgbClr val="F7F8F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6" name="Text 3"/>
          <p:cNvSpPr/>
          <p:nvPr/>
        </p:nvSpPr>
        <p:spPr>
          <a:xfrm>
            <a:off x="868680" y="1892808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65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ROCK · absorption edge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68680" y="2377440"/>
            <a:ext cx="4617720" cy="3337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Bending magnet source, 4–40 keV white beam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channel-cut DCM (two Bragg_crystal, Si 111) selects the energy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Fluorescence sample (“ZnCu”, 2×10×1 mm) sits after the monochromator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energy monitor after the sample shows the absorption shadow and the fluorescence lines together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Scanning energy 8–10 keV sweeps straight across the Zn/Cu edges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72200" y="1691640"/>
            <a:ext cx="5257800" cy="4206240"/>
          </a:xfrm>
          <a:prstGeom prst="roundRect">
            <a:avLst>
              <a:gd name="adj" fmla="val 2174"/>
            </a:avLst>
          </a:prstGeom>
          <a:solidFill>
            <a:srgbClr val="F7F8F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9" name="Text 6"/>
          <p:cNvSpPr/>
          <p:nvPr/>
        </p:nvSpPr>
        <p:spPr>
          <a:xfrm>
            <a:off x="6492240" y="1892808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65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LUCIA · hyperspectral fluorescence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492240" y="2377440"/>
            <a:ext cx="4617720" cy="3337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HU52 undulator source, feeding a 0.5×0.5 mm slit and a Si(111) DCM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Fluorescence sample stage — a wire-shaped inclusion (geometry="wire.ply") inside a different bulk material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materials are combined so only one “fires” per ray — an advanced-grammar detail we won't dwell on here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position-resolved energy monitor turns the result into a hyperspectral map — composition read out from fluorescence lines, point by point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Sample Components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790CC56-EF1C-3A64-B147-CD5FCF9B6B07}"/>
              </a:ext>
            </a:extLst>
          </p:cNvPr>
          <p:cNvGrpSpPr/>
          <p:nvPr/>
        </p:nvGrpSpPr>
        <p:grpSpPr>
          <a:xfrm>
            <a:off x="9225000" y="124302"/>
            <a:ext cx="790200" cy="708378"/>
            <a:chOff x="9225000" y="124302"/>
            <a:chExt cx="790200" cy="708378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9318915A-1B3E-ACC2-57FD-FA56E445B3F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262056" y="124302"/>
              <a:ext cx="716666" cy="424533"/>
            </a:xfrm>
            <a:prstGeom prst="rect">
              <a:avLst/>
            </a:prstGeom>
          </p:spPr>
        </p:pic>
        <p:grpSp>
          <p:nvGrpSpPr>
            <p:cNvPr id="17" name="Group 32">
              <a:extLst>
                <a:ext uri="{FF2B5EF4-FFF2-40B4-BE49-F238E27FC236}">
                  <a16:creationId xmlns:a16="http://schemas.microsoft.com/office/drawing/2014/main" id="{81AB9923-945C-4F68-FCC4-6E2EE3AC7269}"/>
                </a:ext>
              </a:extLst>
            </p:cNvPr>
            <p:cNvGrpSpPr/>
            <p:nvPr/>
          </p:nvGrpSpPr>
          <p:grpSpPr>
            <a:xfrm>
              <a:off x="9225000" y="531360"/>
              <a:ext cx="790200" cy="301320"/>
              <a:chOff x="9225000" y="531360"/>
              <a:chExt cx="790200" cy="301320"/>
            </a:xfrm>
          </p:grpSpPr>
          <p:pic>
            <p:nvPicPr>
              <p:cNvPr id="18" name="Picture 29" descr="Synchrotron SOLEIL">
                <a:extLst>
                  <a:ext uri="{FF2B5EF4-FFF2-40B4-BE49-F238E27FC236}">
                    <a16:creationId xmlns:a16="http://schemas.microsoft.com/office/drawing/2014/main" id="{F0BFA450-2347-A8E6-797E-AF277F832478}"/>
                  </a:ext>
                </a:extLst>
              </p:cNvPr>
              <p:cNvPicPr/>
              <p:nvPr/>
            </p:nvPicPr>
            <p:blipFill>
              <a:blip r:embed="rId5"/>
              <a:stretch/>
            </p:blipFill>
            <p:spPr>
              <a:xfrm>
                <a:off x="9225000" y="531360"/>
                <a:ext cx="547920" cy="264600"/>
              </a:xfrm>
              <a:prstGeom prst="rect">
                <a:avLst/>
              </a:prstGeom>
              <a:noFill/>
              <a:ln w="0">
                <a:noFill/>
              </a:ln>
            </p:spPr>
          </p:pic>
          <p:pic>
            <p:nvPicPr>
              <p:cNvPr id="19" name="Picture 30" descr="DTU Physics">
                <a:extLst>
                  <a:ext uri="{FF2B5EF4-FFF2-40B4-BE49-F238E27FC236}">
                    <a16:creationId xmlns:a16="http://schemas.microsoft.com/office/drawing/2014/main" id="{29B825C0-11D5-CE51-73A1-1D0E4F1F8247}"/>
                  </a:ext>
                </a:extLst>
              </p:cNvPr>
              <p:cNvPicPr/>
              <p:nvPr/>
            </p:nvPicPr>
            <p:blipFill>
              <a:blip r:embed="rId6"/>
              <a:stretch/>
            </p:blipFill>
            <p:spPr>
              <a:xfrm>
                <a:off x="9814320" y="536400"/>
                <a:ext cx="200880" cy="296280"/>
              </a:xfrm>
              <a:prstGeom prst="rect">
                <a:avLst/>
              </a:prstGeom>
              <a:noFill/>
              <a:ln w="0">
                <a:noFill/>
              </a:ln>
            </p:spPr>
          </p:pic>
        </p:grp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panrai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6611" y="355702"/>
            <a:ext cx="1270102" cy="65151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84048"/>
            <a:ext cx="896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— NEUTRONS ONLY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658368"/>
            <a:ext cx="9784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Neutron imaging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141732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Absorption-contrast radiography and tomography — built from the same shapes as everything else.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1965960"/>
            <a:ext cx="110642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single-phase absorbing “block” — box, cylinder, sphere, or an arbitrary OFF/PLY mesh — stands in for the imaged object.</a:t>
            </a:r>
            <a:endParaRPr lang="en-US" sz="12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complex-geometry engine used for diffraction and spectroscopy samples renders detailed shapes: a chess piece, a bracket with drilled holes, and so on.</a:t>
            </a:r>
            <a:endParaRPr lang="en-US" sz="12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 comes purely from attenuation — how much of the beam a given path length and material absorbs.</a:t>
            </a:r>
            <a:endParaRPr lang="en-US" sz="12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Rotate the object (or the source/detector) between exposures to build up a tomographic reconstruction.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548640" y="448056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E3EEF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8" name="Text 5"/>
          <p:cNvSpPr/>
          <p:nvPr/>
        </p:nvSpPr>
        <p:spPr>
          <a:xfrm>
            <a:off x="822960" y="44805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2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roadmap:  </a:t>
            </a:r>
            <a:r>
              <a:rPr lang="en-US" sz="12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multi-phase materials, refractive effects, and phase-contrast imaging are being developed but aren't ready yet — today's imaging samples are single-phase, absorption-contrast only.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48640" y="55321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neutron-only in this session? X-ray imaging exists in principle (attenuation is attenuation) — but McXtrace's sample library so far has focused on spectroscopy and scattering rather than dedicated imaging phantoms.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Sample Components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pic>
        <p:nvPicPr>
          <p:cNvPr id="14" name="Picture 31">
            <a:extLst>
              <a:ext uri="{FF2B5EF4-FFF2-40B4-BE49-F238E27FC236}">
                <a16:creationId xmlns:a16="http://schemas.microsoft.com/office/drawing/2014/main" id="{885A4803-1004-DE73-57A8-1464EF7489B7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9399043" y="119520"/>
            <a:ext cx="736200" cy="7488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panrai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6611" y="355702"/>
            <a:ext cx="1270102" cy="65151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84048"/>
            <a:ext cx="896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ELSE EXISTS — BRIEFLY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658368"/>
            <a:ext cx="9784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Reflectometry &amp; inelastic scattering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1691640"/>
            <a:ext cx="5257800" cy="4206240"/>
          </a:xfrm>
          <a:prstGeom prst="roundRect">
            <a:avLst>
              <a:gd name="adj" fmla="val 2174"/>
            </a:avLst>
          </a:prstGeom>
          <a:solidFill>
            <a:srgbClr val="F7F8F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6" name="Text 3"/>
          <p:cNvSpPr/>
          <p:nvPr/>
        </p:nvSpPr>
        <p:spPr>
          <a:xfrm>
            <a:off x="868680" y="1892808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50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Reflectometry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68680" y="2377440"/>
            <a:ext cx="4617720" cy="3337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Probes surfaces &amp; interfaces, solid or liquid, via specular and off-specular reflection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McStas: Multilayer_Sample — phase-matrix formalism plus an incoherent background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the simpler route: attach a measured reflectivity curve directly to a Mirror-type component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choice is deliberately small — not a rich library like SANS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172200" y="1691640"/>
            <a:ext cx="5257800" cy="4206240"/>
          </a:xfrm>
          <a:prstGeom prst="roundRect">
            <a:avLst>
              <a:gd name="adj" fmla="val 2174"/>
            </a:avLst>
          </a:prstGeom>
          <a:solidFill>
            <a:srgbClr val="F7F8F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9" name="Text 6"/>
          <p:cNvSpPr/>
          <p:nvPr/>
        </p:nvSpPr>
        <p:spPr>
          <a:xfrm>
            <a:off x="6492240" y="1892808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50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Inelastic scattering S(q,ω)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492240" y="2377440"/>
            <a:ext cx="4617720" cy="3337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McStas: Phonon_simple, Magnon_bcc, Isotropic_Sqw (inelastic mode), Single_crystal_inelastic, Tunneling_sample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McXtrace: Isotropic_Sqw in an experimental Thomson (IXS) mode — no RIXS or single-crystal inelastic yet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Computationally demanding: only a small fraction of rays land in a given (q,ω) window, so large ray counts are needed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Sample Components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48E10A1-2FF7-4020-5134-351632D4E4FB}"/>
              </a:ext>
            </a:extLst>
          </p:cNvPr>
          <p:cNvGrpSpPr/>
          <p:nvPr/>
        </p:nvGrpSpPr>
        <p:grpSpPr>
          <a:xfrm>
            <a:off x="8424360" y="119520"/>
            <a:ext cx="1590840" cy="748800"/>
            <a:chOff x="8424360" y="119520"/>
            <a:chExt cx="1590840" cy="748800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D0E84F2-47EB-5D69-FDFE-8178A1D096D7}"/>
                </a:ext>
              </a:extLst>
            </p:cNvPr>
            <p:cNvGrpSpPr/>
            <p:nvPr/>
          </p:nvGrpSpPr>
          <p:grpSpPr>
            <a:xfrm>
              <a:off x="9225000" y="124302"/>
              <a:ext cx="790200" cy="708378"/>
              <a:chOff x="9225000" y="124302"/>
              <a:chExt cx="790200" cy="708378"/>
            </a:xfrm>
          </p:grpSpPr>
          <p:pic>
            <p:nvPicPr>
              <p:cNvPr id="16" name="Picture 15">
                <a:extLst>
                  <a:ext uri="{FF2B5EF4-FFF2-40B4-BE49-F238E27FC236}">
                    <a16:creationId xmlns:a16="http://schemas.microsoft.com/office/drawing/2014/main" id="{3FD9FFF2-910E-8011-12BC-24D8F6D03C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262056" y="124302"/>
                <a:ext cx="716666" cy="424533"/>
              </a:xfrm>
              <a:prstGeom prst="rect">
                <a:avLst/>
              </a:prstGeom>
            </p:spPr>
          </p:pic>
          <p:grpSp>
            <p:nvGrpSpPr>
              <p:cNvPr id="17" name="Group 32">
                <a:extLst>
                  <a:ext uri="{FF2B5EF4-FFF2-40B4-BE49-F238E27FC236}">
                    <a16:creationId xmlns:a16="http://schemas.microsoft.com/office/drawing/2014/main" id="{C9ACEB7D-A11A-7722-2E95-90BFEA4C17D3}"/>
                  </a:ext>
                </a:extLst>
              </p:cNvPr>
              <p:cNvGrpSpPr/>
              <p:nvPr/>
            </p:nvGrpSpPr>
            <p:grpSpPr>
              <a:xfrm>
                <a:off x="9225000" y="531360"/>
                <a:ext cx="790200" cy="301320"/>
                <a:chOff x="9225000" y="531360"/>
                <a:chExt cx="790200" cy="301320"/>
              </a:xfrm>
            </p:grpSpPr>
            <p:pic>
              <p:nvPicPr>
                <p:cNvPr id="18" name="Picture 29" descr="Synchrotron SOLEIL">
                  <a:extLst>
                    <a:ext uri="{FF2B5EF4-FFF2-40B4-BE49-F238E27FC236}">
                      <a16:creationId xmlns:a16="http://schemas.microsoft.com/office/drawing/2014/main" id="{CEC33025-513C-EC28-3FA1-C1872FCF5721}"/>
                    </a:ext>
                  </a:extLst>
                </p:cNvPr>
                <p:cNvPicPr/>
                <p:nvPr/>
              </p:nvPicPr>
              <p:blipFill>
                <a:blip r:embed="rId5"/>
                <a:stretch/>
              </p:blipFill>
              <p:spPr>
                <a:xfrm>
                  <a:off x="9225000" y="531360"/>
                  <a:ext cx="547920" cy="264600"/>
                </a:xfrm>
                <a:prstGeom prst="rect">
                  <a:avLst/>
                </a:prstGeom>
                <a:noFill/>
                <a:ln w="0">
                  <a:noFill/>
                </a:ln>
              </p:spPr>
            </p:pic>
            <p:pic>
              <p:nvPicPr>
                <p:cNvPr id="19" name="Picture 30" descr="DTU Physics">
                  <a:extLst>
                    <a:ext uri="{FF2B5EF4-FFF2-40B4-BE49-F238E27FC236}">
                      <a16:creationId xmlns:a16="http://schemas.microsoft.com/office/drawing/2014/main" id="{0430F828-8840-B021-8490-3D250A6DDBE1}"/>
                    </a:ext>
                  </a:extLst>
                </p:cNvPr>
                <p:cNvPicPr/>
                <p:nvPr/>
              </p:nvPicPr>
              <p:blipFill>
                <a:blip r:embed="rId6"/>
                <a:stretch/>
              </p:blipFill>
              <p:spPr>
                <a:xfrm>
                  <a:off x="9814320" y="536400"/>
                  <a:ext cx="200880" cy="296280"/>
                </a:xfrm>
                <a:prstGeom prst="rect">
                  <a:avLst/>
                </a:prstGeom>
                <a:noFill/>
                <a:ln w="0">
                  <a:noFill/>
                </a:ln>
              </p:spPr>
            </p:pic>
          </p:grpSp>
        </p:grpSp>
        <p:pic>
          <p:nvPicPr>
            <p:cNvPr id="15" name="Picture 31">
              <a:extLst>
                <a:ext uri="{FF2B5EF4-FFF2-40B4-BE49-F238E27FC236}">
                  <a16:creationId xmlns:a16="http://schemas.microsoft.com/office/drawing/2014/main" id="{EE79E22C-CA38-80E8-48FF-2B2DEA7C8289}"/>
                </a:ext>
              </a:extLst>
            </p:cNvPr>
            <p:cNvPicPr/>
            <p:nvPr/>
          </p:nvPicPr>
          <p:blipFill>
            <a:blip r:embed="rId7"/>
            <a:stretch/>
          </p:blipFill>
          <p:spPr>
            <a:xfrm>
              <a:off x="8424360" y="119520"/>
              <a:ext cx="736200" cy="74880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panrai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6611" y="355702"/>
            <a:ext cx="1270102" cy="65151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84048"/>
            <a:ext cx="896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ELSE EXISTS — BRIEFLY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658368"/>
            <a:ext cx="9784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Generic tools &amp; advanced assemblies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1828800"/>
            <a:ext cx="3520440" cy="3840480"/>
          </a:xfrm>
          <a:prstGeom prst="roundRect">
            <a:avLst>
              <a:gd name="adj" fmla="val 2338"/>
            </a:avLst>
          </a:prstGeom>
          <a:solidFill>
            <a:srgbClr val="F7F8F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3520440" cy="73152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7" name="Text 4"/>
          <p:cNvSpPr/>
          <p:nvPr/>
        </p:nvSpPr>
        <p:spPr>
          <a:xfrm>
            <a:off x="777240" y="2084832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 samples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777240" y="2697480"/>
            <a:ext cx="30632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Res_sample, TOFRes_sample, Spot_sample — synthetic, delta-function-like scatterers used to study an instrument's resolution function, independent of any real material.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343400" y="1828800"/>
            <a:ext cx="3520440" cy="3840480"/>
          </a:xfrm>
          <a:prstGeom prst="roundRect">
            <a:avLst>
              <a:gd name="adj" fmla="val 2338"/>
            </a:avLst>
          </a:prstGeom>
          <a:solidFill>
            <a:srgbClr val="F7F8F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0" name="Shape 7"/>
          <p:cNvSpPr/>
          <p:nvPr/>
        </p:nvSpPr>
        <p:spPr>
          <a:xfrm>
            <a:off x="4343400" y="1828800"/>
            <a:ext cx="3520440" cy="73152"/>
          </a:xfrm>
          <a:prstGeom prst="rect">
            <a:avLst/>
          </a:prstGeom>
          <a:solidFill>
            <a:srgbClr val="D97A2B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1" name="Text 8"/>
          <p:cNvSpPr/>
          <p:nvPr/>
        </p:nvSpPr>
        <p:spPr>
          <a:xfrm>
            <a:off x="4572000" y="2084832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 framework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72000" y="2697480"/>
            <a:ext cx="30632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physics-process components — Incoherent_process, Powder_process, Single_crystal_process, NCrystal_process (McStas); Incoherent_process, Powder_process, plus X-ray-specific Compton_xrl_process &amp; Rayleigh_xrl_process (McXtrace) — combined via Union_master into complex multi-material assemblies. Present in both codes; its assembly grammar is a topic for a dedicated advanced session.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8138160" y="1828800"/>
            <a:ext cx="3520440" cy="3840480"/>
          </a:xfrm>
          <a:prstGeom prst="roundRect">
            <a:avLst>
              <a:gd name="adj" fmla="val 2338"/>
            </a:avLst>
          </a:prstGeom>
          <a:solidFill>
            <a:srgbClr val="F7F8F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4" name="Shape 11"/>
          <p:cNvSpPr/>
          <p:nvPr/>
        </p:nvSpPr>
        <p:spPr>
          <a:xfrm>
            <a:off x="8138160" y="1828800"/>
            <a:ext cx="3520440" cy="73152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5" name="Text 12"/>
          <p:cNvSpPr/>
          <p:nvPr/>
        </p:nvSpPr>
        <p:spPr>
          <a:xfrm>
            <a:off x="8366760" y="2084832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sasmodels &amp; PDB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8366760" y="2697480"/>
            <a:ext cx="30632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 identically-named SasView_* components in both codes' sasmodels library, plus the SANSPDB / SAXSPDB macromolecule components — already introduced under SANS/SAXS, noted here for completeness.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note on advanced grammar: concentric, GROUP, WHEN and EXTEND all let you combine sample components into richer assemblies. We've kept today's overview to the physics — ask if you'd like a pointer into the syntax.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Sample Components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5FD1DEE-3647-F596-AA14-3D6524A9579C}"/>
              </a:ext>
            </a:extLst>
          </p:cNvPr>
          <p:cNvGrpSpPr/>
          <p:nvPr/>
        </p:nvGrpSpPr>
        <p:grpSpPr>
          <a:xfrm>
            <a:off x="8424360" y="119520"/>
            <a:ext cx="1590840" cy="748800"/>
            <a:chOff x="8424360" y="119520"/>
            <a:chExt cx="1590840" cy="748800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25B3C309-1B96-C2EE-4E8B-263C83879F67}"/>
                </a:ext>
              </a:extLst>
            </p:cNvPr>
            <p:cNvGrpSpPr/>
            <p:nvPr/>
          </p:nvGrpSpPr>
          <p:grpSpPr>
            <a:xfrm>
              <a:off x="9225000" y="124302"/>
              <a:ext cx="790200" cy="708378"/>
              <a:chOff x="9225000" y="124302"/>
              <a:chExt cx="790200" cy="708378"/>
            </a:xfrm>
          </p:grpSpPr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5E2C61CE-3AAA-2147-56AC-AC0B1D88E45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262056" y="124302"/>
                <a:ext cx="716666" cy="424533"/>
              </a:xfrm>
              <a:prstGeom prst="rect">
                <a:avLst/>
              </a:prstGeom>
            </p:spPr>
          </p:pic>
          <p:grpSp>
            <p:nvGrpSpPr>
              <p:cNvPr id="24" name="Group 32">
                <a:extLst>
                  <a:ext uri="{FF2B5EF4-FFF2-40B4-BE49-F238E27FC236}">
                    <a16:creationId xmlns:a16="http://schemas.microsoft.com/office/drawing/2014/main" id="{49DD0AEC-9777-1A82-E530-04E240937B63}"/>
                  </a:ext>
                </a:extLst>
              </p:cNvPr>
              <p:cNvGrpSpPr/>
              <p:nvPr/>
            </p:nvGrpSpPr>
            <p:grpSpPr>
              <a:xfrm>
                <a:off x="9225000" y="531360"/>
                <a:ext cx="790200" cy="301320"/>
                <a:chOff x="9225000" y="531360"/>
                <a:chExt cx="790200" cy="301320"/>
              </a:xfrm>
            </p:grpSpPr>
            <p:pic>
              <p:nvPicPr>
                <p:cNvPr id="25" name="Picture 29" descr="Synchrotron SOLEIL">
                  <a:extLst>
                    <a:ext uri="{FF2B5EF4-FFF2-40B4-BE49-F238E27FC236}">
                      <a16:creationId xmlns:a16="http://schemas.microsoft.com/office/drawing/2014/main" id="{31070D82-4B41-A701-E8B4-0302A2840703}"/>
                    </a:ext>
                  </a:extLst>
                </p:cNvPr>
                <p:cNvPicPr/>
                <p:nvPr/>
              </p:nvPicPr>
              <p:blipFill>
                <a:blip r:embed="rId5"/>
                <a:stretch/>
              </p:blipFill>
              <p:spPr>
                <a:xfrm>
                  <a:off x="9225000" y="531360"/>
                  <a:ext cx="547920" cy="264600"/>
                </a:xfrm>
                <a:prstGeom prst="rect">
                  <a:avLst/>
                </a:prstGeom>
                <a:noFill/>
                <a:ln w="0">
                  <a:noFill/>
                </a:ln>
              </p:spPr>
            </p:pic>
            <p:pic>
              <p:nvPicPr>
                <p:cNvPr id="26" name="Picture 30" descr="DTU Physics">
                  <a:extLst>
                    <a:ext uri="{FF2B5EF4-FFF2-40B4-BE49-F238E27FC236}">
                      <a16:creationId xmlns:a16="http://schemas.microsoft.com/office/drawing/2014/main" id="{1EB85B9C-44BA-48E6-A702-8E30A8D3C2A8}"/>
                    </a:ext>
                  </a:extLst>
                </p:cNvPr>
                <p:cNvPicPr/>
                <p:nvPr/>
              </p:nvPicPr>
              <p:blipFill>
                <a:blip r:embed="rId6"/>
                <a:stretch/>
              </p:blipFill>
              <p:spPr>
                <a:xfrm>
                  <a:off x="9814320" y="536400"/>
                  <a:ext cx="200880" cy="296280"/>
                </a:xfrm>
                <a:prstGeom prst="rect">
                  <a:avLst/>
                </a:prstGeom>
                <a:noFill/>
                <a:ln w="0">
                  <a:noFill/>
                </a:ln>
              </p:spPr>
            </p:pic>
          </p:grpSp>
        </p:grpSp>
        <p:pic>
          <p:nvPicPr>
            <p:cNvPr id="22" name="Picture 31">
              <a:extLst>
                <a:ext uri="{FF2B5EF4-FFF2-40B4-BE49-F238E27FC236}">
                  <a16:creationId xmlns:a16="http://schemas.microsoft.com/office/drawing/2014/main" id="{D65088BA-4DB0-D788-1954-640BB23CED0C}"/>
                </a:ext>
              </a:extLst>
            </p:cNvPr>
            <p:cNvPicPr/>
            <p:nvPr/>
          </p:nvPicPr>
          <p:blipFill>
            <a:blip r:embed="rId7"/>
            <a:stretch/>
          </p:blipFill>
          <p:spPr>
            <a:xfrm>
              <a:off x="8424360" y="119520"/>
              <a:ext cx="736200" cy="74880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panrai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6611" y="355702"/>
            <a:ext cx="1270102" cy="65151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84048"/>
            <a:ext cx="896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658368"/>
            <a:ext cx="9784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full picture</a:t>
            </a:r>
            <a:endParaRPr lang="en-US" sz="3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92840" cy="4800600"/>
        </p:xfrm>
        <a:graphic>
          <a:graphicData uri="http://schemas.openxmlformats.org/drawingml/2006/table">
            <a:tbl>
              <a:tblPr/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Technique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4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McStas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50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McXtrace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59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4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Powder diffraction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024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PowderN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024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PowderN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6E75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name &amp; file format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Single-crystal diffraction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024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Single_crystal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024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Single_crystal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6E75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name; mosaic model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Isotropic structure/dynamics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024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Isotropic_Sqw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024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Isotropic_Sqw (exp.)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6E75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Elastic or inelastic, S(q) / S(q,ω)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Library-backed diffraction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024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NCrystal_sample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024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6E75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Via the NCrystal library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SANS / SAXS (analytic)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024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Sans_spheres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024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Saxs_spheres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6E75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 naming parallel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SANS / SAXS (full library)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024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SasView_* (92 comps)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024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SasView_* (92 comps)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6E75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File-for-file identical set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SANS / SAXS (macromolecule)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024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SANSPDB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024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SAXSPDB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6E75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from a PDB file (contrib)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Absorption spectroscopy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024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024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Filter, Abs_objects, Absorption_sample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6E75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X-ray only; mono-atomic, fast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Fluorescence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024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024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Fluorescence, FluoCrystal, FluoPowder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6E75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X-ray only; any shape/compound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024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absorbing blocks / OFF meshes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024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6E75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Neutron only, in practice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Reflectometry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024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Multilayer_Sample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024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6E75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library (contrib)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Inelastic scattering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024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Phonon_simple, Magnon_bcc, …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024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Isotropic_Sqw (IXS, exp.)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6E75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Richer on the neutron side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Resolution / generic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024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Res_sample, TOFRes_sample, Spot_sample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024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6E75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Synthetic, for resolution studies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Advanced assemblies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024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Union components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024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Union components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6E75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framework, both codes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Sample Components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642A4E8-5743-A923-4ECD-7FF90BA31384}"/>
              </a:ext>
            </a:extLst>
          </p:cNvPr>
          <p:cNvGrpSpPr/>
          <p:nvPr/>
        </p:nvGrpSpPr>
        <p:grpSpPr>
          <a:xfrm>
            <a:off x="8424360" y="119520"/>
            <a:ext cx="1590840" cy="748800"/>
            <a:chOff x="8424360" y="119520"/>
            <a:chExt cx="1590840" cy="74880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2199A2C3-7789-5A95-542A-6AB2077F60C4}"/>
                </a:ext>
              </a:extLst>
            </p:cNvPr>
            <p:cNvGrpSpPr/>
            <p:nvPr/>
          </p:nvGrpSpPr>
          <p:grpSpPr>
            <a:xfrm>
              <a:off x="9225000" y="124302"/>
              <a:ext cx="790200" cy="708378"/>
              <a:chOff x="9225000" y="124302"/>
              <a:chExt cx="790200" cy="708378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FA613894-98E4-8D3A-33C1-248DDF02A86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262056" y="124302"/>
                <a:ext cx="716666" cy="424533"/>
              </a:xfrm>
              <a:prstGeom prst="rect">
                <a:avLst/>
              </a:prstGeom>
            </p:spPr>
          </p:pic>
          <p:grpSp>
            <p:nvGrpSpPr>
              <p:cNvPr id="11" name="Group 32">
                <a:extLst>
                  <a:ext uri="{FF2B5EF4-FFF2-40B4-BE49-F238E27FC236}">
                    <a16:creationId xmlns:a16="http://schemas.microsoft.com/office/drawing/2014/main" id="{AEB349EF-9D7E-B815-3D43-2CE1F3C74009}"/>
                  </a:ext>
                </a:extLst>
              </p:cNvPr>
              <p:cNvGrpSpPr/>
              <p:nvPr/>
            </p:nvGrpSpPr>
            <p:grpSpPr>
              <a:xfrm>
                <a:off x="9225000" y="531360"/>
                <a:ext cx="790200" cy="301320"/>
                <a:chOff x="9225000" y="531360"/>
                <a:chExt cx="790200" cy="301320"/>
              </a:xfrm>
            </p:grpSpPr>
            <p:pic>
              <p:nvPicPr>
                <p:cNvPr id="12" name="Picture 29" descr="Synchrotron SOLEIL">
                  <a:extLst>
                    <a:ext uri="{FF2B5EF4-FFF2-40B4-BE49-F238E27FC236}">
                      <a16:creationId xmlns:a16="http://schemas.microsoft.com/office/drawing/2014/main" id="{6B5B046A-F2B4-24BC-1ED8-A301C7F7345D}"/>
                    </a:ext>
                  </a:extLst>
                </p:cNvPr>
                <p:cNvPicPr/>
                <p:nvPr/>
              </p:nvPicPr>
              <p:blipFill>
                <a:blip r:embed="rId5"/>
                <a:stretch/>
              </p:blipFill>
              <p:spPr>
                <a:xfrm>
                  <a:off x="9225000" y="531360"/>
                  <a:ext cx="547920" cy="264600"/>
                </a:xfrm>
                <a:prstGeom prst="rect">
                  <a:avLst/>
                </a:prstGeom>
                <a:noFill/>
                <a:ln w="0">
                  <a:noFill/>
                </a:ln>
              </p:spPr>
            </p:pic>
            <p:pic>
              <p:nvPicPr>
                <p:cNvPr id="13" name="Picture 30" descr="DTU Physics">
                  <a:extLst>
                    <a:ext uri="{FF2B5EF4-FFF2-40B4-BE49-F238E27FC236}">
                      <a16:creationId xmlns:a16="http://schemas.microsoft.com/office/drawing/2014/main" id="{A13CB6AB-E2DB-1D2F-5413-BAF7968F1773}"/>
                    </a:ext>
                  </a:extLst>
                </p:cNvPr>
                <p:cNvPicPr/>
                <p:nvPr/>
              </p:nvPicPr>
              <p:blipFill>
                <a:blip r:embed="rId6"/>
                <a:stretch/>
              </p:blipFill>
              <p:spPr>
                <a:xfrm>
                  <a:off x="9814320" y="536400"/>
                  <a:ext cx="200880" cy="296280"/>
                </a:xfrm>
                <a:prstGeom prst="rect">
                  <a:avLst/>
                </a:prstGeom>
                <a:noFill/>
                <a:ln w="0">
                  <a:noFill/>
                </a:ln>
              </p:spPr>
            </p:pic>
          </p:grpSp>
        </p:grpSp>
        <p:pic>
          <p:nvPicPr>
            <p:cNvPr id="9" name="Picture 31">
              <a:extLst>
                <a:ext uri="{FF2B5EF4-FFF2-40B4-BE49-F238E27FC236}">
                  <a16:creationId xmlns:a16="http://schemas.microsoft.com/office/drawing/2014/main" id="{34D0A1E2-DAB8-ED4A-A623-17C8E641EC22}"/>
                </a:ext>
              </a:extLst>
            </p:cNvPr>
            <p:cNvPicPr/>
            <p:nvPr/>
          </p:nvPicPr>
          <p:blipFill>
            <a:blip r:embed="rId7"/>
            <a:stretch/>
          </p:blipFill>
          <p:spPr>
            <a:xfrm>
              <a:off x="8424360" y="119520"/>
              <a:ext cx="736200" cy="74880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463040"/>
            <a:ext cx="4754880" cy="4754880"/>
          </a:xfrm>
          <a:prstGeom prst="ellipse">
            <a:avLst/>
          </a:prstGeom>
          <a:solidFill>
            <a:srgbClr val="141A47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3" name="Shape 1"/>
          <p:cNvSpPr/>
          <p:nvPr/>
        </p:nvSpPr>
        <p:spPr>
          <a:xfrm>
            <a:off x="-1828800" y="4206240"/>
            <a:ext cx="4206240" cy="4206240"/>
          </a:xfrm>
          <a:prstGeom prst="ellipse">
            <a:avLst/>
          </a:prstGeom>
          <a:solidFill>
            <a:srgbClr val="141A47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to go deeper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822960" y="2286000"/>
            <a:ext cx="5120640" cy="2880360"/>
          </a:xfrm>
          <a:prstGeom prst="roundRect">
            <a:avLst>
              <a:gd name="adj" fmla="val 3175"/>
            </a:avLst>
          </a:prstGeom>
          <a:solidFill>
            <a:srgbClr val="141A47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6" name="Text 4"/>
          <p:cNvSpPr/>
          <p:nvPr/>
        </p:nvSpPr>
        <p:spPr>
          <a:xfrm>
            <a:off x="1143000" y="251460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FE3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McStas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43000" y="3063240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6E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mcdoc sample  /  mcdoc -c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143000" y="3611880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6E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Data: $MCSTAS/data (Lau/Laz/Sqw/PDB/ncmat)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143000" y="4160520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6E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cif2hkl --powder / --xtal file.cif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309360" y="2286000"/>
            <a:ext cx="5120640" cy="2880360"/>
          </a:xfrm>
          <a:prstGeom prst="roundRect">
            <a:avLst>
              <a:gd name="adj" fmla="val 3175"/>
            </a:avLst>
          </a:prstGeom>
          <a:solidFill>
            <a:srgbClr val="141A47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1" name="Text 9"/>
          <p:cNvSpPr/>
          <p:nvPr/>
        </p:nvSpPr>
        <p:spPr>
          <a:xfrm>
            <a:off x="6629400" y="251460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D7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McXtrace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629400" y="3063240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6E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mxdoc sample  /  mxdoc -c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629400" y="3611880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6E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Practicals: absorption (ROCK), fluorescence (LUCIA)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629400" y="4160520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6E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McCode wiki: generating Single_crystal/PowderN files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22960" y="5440680"/>
            <a:ext cx="2926080" cy="0"/>
          </a:xfrm>
          <a:prstGeom prst="line">
            <a:avLst/>
          </a:prstGeom>
          <a:noFill/>
          <a:ln w="12700">
            <a:solidFill>
              <a:srgbClr val="3C4A8C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16" name="Text 14"/>
          <p:cNvSpPr/>
          <p:nvPr/>
        </p:nvSpPr>
        <p:spPr>
          <a:xfrm>
            <a:off x="822960" y="55321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AB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 Willendrup   ·   pkwi@fysik.dtu.dk   ·   DTU Physics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Sample Components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</TotalTime>
  <Words>2646</Words>
  <Application>Microsoft Macintosh PowerPoint</Application>
  <PresentationFormat>Widescreen</PresentationFormat>
  <Paragraphs>357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Peter Willendrup</cp:lastModifiedBy>
  <cp:revision>17</cp:revision>
  <dcterms:created xsi:type="dcterms:W3CDTF">2026-08-22T11:33:32Z</dcterms:created>
  <dcterms:modified xsi:type="dcterms:W3CDTF">2026-09-19T06:13:37Z</dcterms:modified>
</cp:coreProperties>
</file>