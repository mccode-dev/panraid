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thumbnail&amp;_=20091118202128" ContentType="image/png"/>
  <Default Extension="org&amp;utm_campaign=index&amp;utm_content=thumbnail&amp;_=20250831083433" ContentType="image/pn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218" d="100"/>
          <a:sy n="218" d="100"/>
        </p:scale>
        <p:origin x="-6600" y="-2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030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org&amp;utm_campaign=index&amp;utm_content=thumbnail&amp;_=20091118202128"/><Relationship Id="rId3" Type="http://schemas.openxmlformats.org/officeDocument/2006/relationships/image" Target="../media/image1.png"/><Relationship Id="rId7" Type="http://schemas.openxmlformats.org/officeDocument/2006/relationships/image" Target="../media/image6.org&amp;utm_campaign=index&amp;utm_content=thumbnail&amp;_=20250831083433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tif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COMPONENTS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at the heart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beamline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Diffraction, small-angle scattering, spectroscopy &amp; imaging in McStas &amp; McXtrace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 in focus, plus a map of everything else on offer.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sample does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recap, and the sample menu at a glance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Powders and single crystals — neutrons and X-rays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Small-angle scattering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and SAXS, side by side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&amp; fluorescence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X-ray-only spectroscopy, with two worked examples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Neutron-only absorption-contrast radiography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Reflectometry &amp; inelastic scattering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— what's available today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&amp; advanced assemblies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samples, Union, and the sasmodels library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every technique, both codes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sample component does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intercepts the ray, decides — statistically — whether it scatters, transmits, or is absorbed, and updates the ray's state accordingly.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p_interact lets you force a chosen fraction of rays to scatter, improving statistics without biasing the physical intensity.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samples support several shapes out of the box: box, cylinder, sphere — or a hollow version of each via thickness.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also accept an arbitrary OFF/PLY mesh (geometry=file) for a truly custom shape — the same complex-geometry engine underneath the diffraction, spectroscopy and imaging samples we'll see today.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37960" y="17373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53796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ray, three possible fates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95160" y="3566160"/>
            <a:ext cx="1463040" cy="0"/>
          </a:xfrm>
          <a:prstGeom prst="line">
            <a:avLst/>
          </a:prstGeom>
          <a:noFill/>
          <a:ln w="25400">
            <a:solidFill>
              <a:srgbClr val="2024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8458200" y="2926080"/>
            <a:ext cx="914400" cy="1280160"/>
          </a:xfrm>
          <a:prstGeom prst="roundRect">
            <a:avLst>
              <a:gd name="adj" fmla="val 6000"/>
            </a:avLst>
          </a:prstGeom>
          <a:solidFill>
            <a:srgbClr val="E3EE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8458200" y="3401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372600" y="3566160"/>
            <a:ext cx="1554480" cy="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10195560" y="2350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372600" y="3566160"/>
            <a:ext cx="1554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10195560" y="32369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372600" y="3566160"/>
            <a:ext cx="1554480" cy="868680"/>
          </a:xfrm>
          <a:prstGeom prst="line">
            <a:avLst/>
          </a:prstGeom>
          <a:noFill/>
          <a:ln w="2540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1019556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(removed)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4983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happens, the ray's weight p is adjusted so the statistics stay correct on average.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sample menu, at a glance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 get the spotlight today — with a map of what else exists at the end.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08483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21792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Diffraction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Powders &amp; single crystals. Both probes, both codes.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3232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+ X-RAY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98064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12" name="Shape 9"/>
          <p:cNvSpPr/>
          <p:nvPr/>
        </p:nvSpPr>
        <p:spPr>
          <a:xfrm>
            <a:off x="2798064" y="2057400"/>
            <a:ext cx="2084832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2871216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/ SAXS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62656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Molecular-scale structure from small-angle scattering.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62656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+ X-RAY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47488" y="2057400"/>
            <a:ext cx="2066544" cy="224028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5047488" y="2057400"/>
            <a:ext cx="2084832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18" name="Text 15"/>
          <p:cNvSpPr/>
          <p:nvPr/>
        </p:nvSpPr>
        <p:spPr>
          <a:xfrm>
            <a:off x="5120640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 Spectroscopy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212080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edges and fluorescence lines.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93792" y="397084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ONLY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296912" y="2057400"/>
            <a:ext cx="2084832" cy="46634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22" name="Shape 19"/>
          <p:cNvSpPr/>
          <p:nvPr/>
        </p:nvSpPr>
        <p:spPr>
          <a:xfrm>
            <a:off x="7296912" y="2057400"/>
            <a:ext cx="208483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7370064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461504" y="2743200"/>
            <a:ext cx="1755648" cy="650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Absorption-contrast radiography &amp; tomography.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43216" y="437997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546336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27" name="Shape 24"/>
          <p:cNvSpPr/>
          <p:nvPr/>
        </p:nvSpPr>
        <p:spPr>
          <a:xfrm>
            <a:off x="9546336" y="2057400"/>
            <a:ext cx="2084832" cy="502920"/>
          </a:xfrm>
          <a:prstGeom prst="rect">
            <a:avLst/>
          </a:prstGeom>
          <a:solidFill>
            <a:srgbClr val="6E758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Text 25"/>
          <p:cNvSpPr/>
          <p:nvPr/>
        </p:nvSpPr>
        <p:spPr>
          <a:xfrm>
            <a:off x="9619488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more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710928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Reflectometry, inelastic scattering, generic &amp; advanced tools.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710928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SUMMARY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18140B85-CCD5-BC29-E338-2AECD89B10DD}"/>
              </a:ext>
            </a:extLst>
          </p:cNvPr>
          <p:cNvSpPr/>
          <p:nvPr/>
        </p:nvSpPr>
        <p:spPr>
          <a:xfrm>
            <a:off x="5038344" y="4971960"/>
            <a:ext cx="2084832" cy="174888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DCC055D7-2609-78ED-62B4-168CAB1C8F37}"/>
              </a:ext>
            </a:extLst>
          </p:cNvPr>
          <p:cNvSpPr/>
          <p:nvPr/>
        </p:nvSpPr>
        <p:spPr>
          <a:xfrm>
            <a:off x="5029200" y="4421048"/>
            <a:ext cx="2084832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607FB4FE-54CA-F3AA-DA04-254DEEFE0674}"/>
              </a:ext>
            </a:extLst>
          </p:cNvPr>
          <p:cNvSpPr/>
          <p:nvPr/>
        </p:nvSpPr>
        <p:spPr>
          <a:xfrm>
            <a:off x="5102352" y="442104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 neutron  Scattering</a:t>
            </a:r>
            <a:endParaRPr lang="en-US" sz="135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0A804B77-04D8-9FF1-207A-144975AA7FA8}"/>
              </a:ext>
            </a:extLst>
          </p:cNvPr>
          <p:cNvSpPr/>
          <p:nvPr/>
        </p:nvSpPr>
        <p:spPr>
          <a:xfrm>
            <a:off x="5120640" y="646582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ONLY</a:t>
            </a:r>
            <a:endParaRPr lang="en-US" sz="8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C6D7DEF2-E328-FB12-E2D0-30EC2DCE48B7}"/>
              </a:ext>
            </a:extLst>
          </p:cNvPr>
          <p:cNvSpPr/>
          <p:nvPr/>
        </p:nvSpPr>
        <p:spPr>
          <a:xfrm>
            <a:off x="5158587" y="4972140"/>
            <a:ext cx="1755648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Phonons, Magnons, </a:t>
            </a:r>
            <a:r>
              <a:rPr lang="en-US" sz="1050" dirty="0" err="1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Spinwaves</a:t>
            </a: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</a:t>
            </a:r>
            <a:b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5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DDCC997D-A377-77F3-9A52-3300D2B34808}"/>
              </a:ext>
            </a:extLst>
          </p:cNvPr>
          <p:cNvSpPr/>
          <p:nvPr/>
        </p:nvSpPr>
        <p:spPr>
          <a:xfrm>
            <a:off x="7379208" y="4585972"/>
            <a:ext cx="1755648" cy="1186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imaging can of course also be done – but is left out of </a:t>
            </a:r>
            <a:r>
              <a:rPr lang="en-US" sz="1050" dirty="0" err="1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</a:t>
            </a: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reduce school </a:t>
            </a:r>
            <a:r>
              <a:rPr lang="en-US" sz="1050" dirty="0" err="1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scppe</a:t>
            </a: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50" dirty="0"/>
          </a:p>
        </p:txBody>
      </p:sp>
      <p:pic>
        <p:nvPicPr>
          <p:cNvPr id="48" name="Potassium_Humate_Shiny_Powder.tiff" descr="Potassium_Humate_Shiny_Powder.tiff">
            <a:extLst>
              <a:ext uri="{FF2B5EF4-FFF2-40B4-BE49-F238E27FC236}">
                <a16:creationId xmlns:a16="http://schemas.microsoft.com/office/drawing/2014/main" id="{7EF42EE2-9B1C-0826-1B8E-95FA4A297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28" y="3947984"/>
            <a:ext cx="1758888" cy="9897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pasted-image.tiff" descr="pasted-image.tiff">
            <a:extLst>
              <a:ext uri="{FF2B5EF4-FFF2-40B4-BE49-F238E27FC236}">
                <a16:creationId xmlns:a16="http://schemas.microsoft.com/office/drawing/2014/main" id="{54A39FBD-9E0B-56D9-F649-43530D2FB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655" y="3950045"/>
            <a:ext cx="681711" cy="942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Picture 48" descr="File:Micelle.svg">
            <a:extLst>
              <a:ext uri="{FF2B5EF4-FFF2-40B4-BE49-F238E27FC236}">
                <a16:creationId xmlns:a16="http://schemas.microsoft.com/office/drawing/2014/main" id="{AFB9414C-9D39-4A8F-4AD2-DAE3C6DE0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3877310"/>
            <a:ext cx="762000" cy="977900"/>
          </a:xfrm>
          <a:prstGeom prst="rect">
            <a:avLst/>
          </a:prstGeom>
        </p:spPr>
      </p:pic>
      <p:pic>
        <p:nvPicPr>
          <p:cNvPr id="50" name="Picture 49" descr="File:Micelle scheme-en.svg">
            <a:extLst>
              <a:ext uri="{FF2B5EF4-FFF2-40B4-BE49-F238E27FC236}">
                <a16:creationId xmlns:a16="http://schemas.microsoft.com/office/drawing/2014/main" id="{CE4DF622-CB6A-9B65-1DA1-268B5A43C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2382" y="3942788"/>
            <a:ext cx="1260230" cy="892663"/>
          </a:xfrm>
          <a:prstGeom prst="rect">
            <a:avLst/>
          </a:prstGeom>
        </p:spPr>
      </p:pic>
      <p:pic>
        <p:nvPicPr>
          <p:cNvPr id="60" name="Picture 59" descr="File:X-ray fluorescence simple figure.svg">
            <a:extLst>
              <a:ext uri="{FF2B5EF4-FFF2-40B4-BE49-F238E27FC236}">
                <a16:creationId xmlns:a16="http://schemas.microsoft.com/office/drawing/2014/main" id="{19B7AEBD-0457-4A63-DF07-3ED379DF6C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2575840"/>
            <a:ext cx="2084832" cy="76009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21E1D36-2AE9-B884-2E62-DC3FDF55F3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9840" y="5349240"/>
            <a:ext cx="1581839" cy="120012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402F27C-468C-FB2F-5CB1-149AF9F63D5E}"/>
              </a:ext>
            </a:extLst>
          </p:cNvPr>
          <p:cNvSpPr txBox="1"/>
          <p:nvPr/>
        </p:nvSpPr>
        <p:spPr>
          <a:xfrm>
            <a:off x="5485770" y="6127270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of </a:t>
            </a:r>
            <a:r>
              <a:rPr lang="en-US" sz="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</a:t>
            </a: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b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school scope…</a:t>
            </a:r>
            <a:endParaRPr lang="en-DK" sz="800" dirty="0">
              <a:solidFill>
                <a:schemeClr val="bg1"/>
              </a:solidFill>
            </a:endParaRPr>
          </a:p>
        </p:txBody>
      </p:sp>
      <p:pic>
        <p:nvPicPr>
          <p:cNvPr id="64" name="Picture 63" descr="X-ray of a 35 mm film SLR camera">
            <a:extLst>
              <a:ext uri="{FF2B5EF4-FFF2-40B4-BE49-F238E27FC236}">
                <a16:creationId xmlns:a16="http://schemas.microsoft.com/office/drawing/2014/main" id="{3EE5A702-6A95-6EFC-CE68-BDBF0ED5AA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5607" y="5592928"/>
            <a:ext cx="1427441" cy="872896"/>
          </a:xfrm>
          <a:prstGeom prst="rect">
            <a:avLst/>
          </a:prstGeom>
        </p:spPr>
      </p:pic>
      <p:sp>
        <p:nvSpPr>
          <p:cNvPr id="66" name="Text 17">
            <a:extLst>
              <a:ext uri="{FF2B5EF4-FFF2-40B4-BE49-F238E27FC236}">
                <a16:creationId xmlns:a16="http://schemas.microsoft.com/office/drawing/2014/main" id="{8E855E08-DBC5-A935-B596-B78D4F39F970}"/>
              </a:ext>
            </a:extLst>
          </p:cNvPr>
          <p:cNvSpPr/>
          <p:nvPr/>
        </p:nvSpPr>
        <p:spPr>
          <a:xfrm>
            <a:off x="7333488" y="647285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</a:t>
            </a:r>
            <a:endParaRPr lang="en-US" sz="8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1B416C-5F7E-E569-B264-7F127405AC8A}"/>
              </a:ext>
            </a:extLst>
          </p:cNvPr>
          <p:cNvSpPr txBox="1"/>
          <p:nvPr/>
        </p:nvSpPr>
        <p:spPr>
          <a:xfrm>
            <a:off x="7863840" y="6479542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of </a:t>
            </a:r>
            <a:r>
              <a:rPr lang="en-US" sz="8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</a:t>
            </a:r>
            <a:r>
              <a:rPr lang="en-US" sz="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br>
              <a:rPr lang="en-US" sz="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school scope…</a:t>
            </a:r>
            <a:endParaRPr lang="en-DK" sz="800" dirty="0">
              <a:solidFill>
                <a:srgbClr val="FF0000"/>
              </a:solidFill>
            </a:endParaRPr>
          </a:p>
        </p:txBody>
      </p:sp>
      <p:pic>
        <p:nvPicPr>
          <p:cNvPr id="68" name="Picture 67" descr="Neutron radiography of a 35 mm film SLR camera">
            <a:extLst>
              <a:ext uri="{FF2B5EF4-FFF2-40B4-BE49-F238E27FC236}">
                <a16:creationId xmlns:a16="http://schemas.microsoft.com/office/drawing/2014/main" id="{25B920A7-99B1-D0E2-AC8C-E2C1CCDE1D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5607" y="3414881"/>
            <a:ext cx="1302238" cy="79633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4417D9DA-6EEF-C8BA-4DEC-6396B7149728}"/>
              </a:ext>
            </a:extLst>
          </p:cNvPr>
          <p:cNvSpPr txBox="1"/>
          <p:nvPr/>
        </p:nvSpPr>
        <p:spPr>
          <a:xfrm>
            <a:off x="9896316" y="4214295"/>
            <a:ext cx="1289539" cy="371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All the rest!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· 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single crystal to powder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spectrum of disorder — the same underlying lattice, sampled differently.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2144268" y="2871216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crystal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orientation, up to a small mosaic spread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324612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 rot="-960000">
            <a:off x="6240780" y="2871216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 rot="-480000">
            <a:off x="5716518" y="300092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5965431" y="2679928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 rot="480000">
            <a:off x="6122599" y="3023619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Shape 13"/>
          <p:cNvSpPr/>
          <p:nvPr/>
        </p:nvSpPr>
        <p:spPr>
          <a:xfrm rot="960000">
            <a:off x="5641896" y="283774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452628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Textured polycrystal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0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crystallites, with a preferred orientation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09560" y="324612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7"/>
          <p:cNvSpPr/>
          <p:nvPr/>
        </p:nvSpPr>
        <p:spPr>
          <a:xfrm>
            <a:off x="8138160" y="21031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Shape 18"/>
          <p:cNvSpPr/>
          <p:nvPr/>
        </p:nvSpPr>
        <p:spPr>
          <a:xfrm>
            <a:off x="10236708" y="2871216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Shape 19"/>
          <p:cNvSpPr/>
          <p:nvPr/>
        </p:nvSpPr>
        <p:spPr>
          <a:xfrm rot="2220000">
            <a:off x="9362938" y="308739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Shape 20"/>
          <p:cNvSpPr/>
          <p:nvPr/>
        </p:nvSpPr>
        <p:spPr>
          <a:xfrm rot="4440000">
            <a:off x="9777793" y="2552403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4" name="Shape 21"/>
          <p:cNvSpPr/>
          <p:nvPr/>
        </p:nvSpPr>
        <p:spPr>
          <a:xfrm rot="6660000">
            <a:off x="10039740" y="312522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Shape 22"/>
          <p:cNvSpPr/>
          <p:nvPr/>
        </p:nvSpPr>
        <p:spPr>
          <a:xfrm rot="8880000">
            <a:off x="9238569" y="2815424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6" name="Shape 23"/>
          <p:cNvSpPr/>
          <p:nvPr/>
        </p:nvSpPr>
        <p:spPr>
          <a:xfrm rot="11100000">
            <a:off x="10158179" y="269949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 rot="13320000">
            <a:off x="9603121" y="3180265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Shape 25"/>
          <p:cNvSpPr/>
          <p:nvPr/>
        </p:nvSpPr>
        <p:spPr>
          <a:xfrm rot="15540000">
            <a:off x="9502104" y="2587159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9" name="Shape 26"/>
          <p:cNvSpPr/>
          <p:nvPr/>
        </p:nvSpPr>
        <p:spPr>
          <a:xfrm rot="17760000">
            <a:off x="10206141" y="298109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0" name="Text 27"/>
          <p:cNvSpPr/>
          <p:nvPr/>
        </p:nvSpPr>
        <p:spPr>
          <a:xfrm>
            <a:off x="832104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366760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orientational disorder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McStas's Single_crystal component sits at the ordered end and can itself model a mosaic spread; PowderN sits at the fully disordered end — both exist, under the same names, in McXtrace.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6D76104-3099-5AEE-02BA-8487D1284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933" y="4983480"/>
            <a:ext cx="2790787" cy="1939400"/>
          </a:xfrm>
          <a:prstGeom prst="rect">
            <a:avLst/>
          </a:prstGeom>
        </p:spPr>
      </p:pic>
      <p:pic>
        <p:nvPicPr>
          <p:cNvPr id="36" name="pasted-image.png" descr="pasted-image.png">
            <a:extLst>
              <a:ext uri="{FF2B5EF4-FFF2-40B4-BE49-F238E27FC236}">
                <a16:creationId xmlns:a16="http://schemas.microsoft.com/office/drawing/2014/main" id="{B2839AD8-AB0E-B965-2D45-ABF577EAA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1372972"/>
            <a:ext cx="1555913" cy="12921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figure7.jpg" descr="figure7.jpg">
            <a:extLst>
              <a:ext uri="{FF2B5EF4-FFF2-40B4-BE49-F238E27FC236}">
                <a16:creationId xmlns:a16="http://schemas.microsoft.com/office/drawing/2014/main" id="{D1EEE4C2-8015-0473-5AD2-4F4B84C96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5213198"/>
            <a:ext cx="1493450" cy="1474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20661C1-66EB-7FDB-E84C-CF8D814462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3232" y="5023490"/>
            <a:ext cx="2271255" cy="18535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Powder diffraction: PowderN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component, same reflection-file format, in both McStas and McXtrace.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list of (hkl, d-spacing, structure factor) reflections from a data file — the physics is entirely data-driven.</a:t>
            </a:r>
            <a:endParaRPr lang="en-US" sz="12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concentric=1 lets a PowderN act as an outer container (e.g. a sample can) around an inner sample, sharing one coordinate position.</a:t>
            </a:r>
            <a:endParaRPr lang="en-US" sz="12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d_phi and related focusing parameters restrict scattering to a chosen slice of 4π — useful when only a detector bank at certain angles exists.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4736592"/>
            <a:ext cx="5120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can = PowderN(reflections="Al.laz",
  radius=0.02, yheight=0.05, thickness=0.005, concentric=1)
COMPONENT sample = PowderN(reflections="Al2O3.laz", ...)
COMPONENT can2 = COPY(can)(concentric=0)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031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concentric container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86700" y="3017520"/>
            <a:ext cx="2377440" cy="2377440"/>
          </a:xfrm>
          <a:prstGeom prst="ellipse">
            <a:avLst/>
          </a:prstGeom>
          <a:solidFill>
            <a:srgbClr val="E3EEF2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8526780" y="3657600"/>
            <a:ext cx="1097280" cy="1097280"/>
          </a:xfrm>
          <a:prstGeom prst="ellipse">
            <a:avLst/>
          </a:prstGeom>
          <a:solidFill>
            <a:srgbClr val="FBEBDA"/>
          </a:solidFill>
          <a:ln w="190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788670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(Al)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2678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(Al2O3)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12280" y="525780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computes its own scattering — the can's diffraction lines and the sample's appear together, correctly weighted.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Single-crystal diffraction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Single_crystal models an ideally imperfect crystal — peak broadening dominated by mosaic, not appropriate for near-perfect crystals.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unit-cell vectors (ax,ay,az, bx,by,bz, cx,cy,cz) encode the crystal's orientation relative to the component's own frame — no assumption about cell shape or symmetry is made.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mosaic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spread of rotation angle around a random axis — one mosaic parameter for the whole crystal.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31089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457200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mosaic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Gaussian spread around each unit-cell axis (mosaic_a, mosaic_b, mosaic_c).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31089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36676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Rocking-curve mosaic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derived from the measured widths of two Bragg peaks — give σ and hkl for each.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reflection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548640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structure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file from ICSD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Crystallography Open DB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12464" y="2423160"/>
            <a:ext cx="77404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4541368" y="19202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4541368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cif2hkl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78528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--powder or --xtal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McStas/McXtrace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05192" y="2423160"/>
            <a:ext cx="77404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8534095" y="19202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534095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.laz / .lau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71255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reflection list,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108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PowderN, Single_crystal, Isotropic_Sqw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formats in McStas &amp; McXtrace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.lau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Single_crystal, PowderN, Isotropic_Sqw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.laz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PowderN, Isotropic_Sqw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.sqw / qSq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Isotropic_Sqw (qSq mostly for liquids)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SANSPDB / SAXSPDB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ncmat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NCrystal-backed samples (McStas)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/ SAXS · 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Small-angle scattering, the shared idea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scattering at small angles — small scattering vector q means sensitivity to big real-space distances r.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molecular-scale structure, typically 10–100 Å: proteins, polymers, nanoparticles, pores.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dilute molecule-in-solvent system: a small contrast in scattering density against a buffer/background.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isotropic scattering — the signal only depends on |q|, not its direction.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good collimation and a long flight path after the sample, to resolve the small angles involved.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92240" y="173736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92240" y="19202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q, big 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11112" y="3364992"/>
            <a:ext cx="1133856" cy="1133856"/>
          </a:xfrm>
          <a:prstGeom prst="ellipse">
            <a:avLst/>
          </a:prstGeom>
          <a:solidFill>
            <a:srgbClr val="E3EEF2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611112" y="347472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3931920"/>
            <a:ext cx="3840480" cy="0"/>
          </a:xfrm>
          <a:prstGeom prst="line">
            <a:avLst/>
          </a:prstGeom>
          <a:noFill/>
          <a:ln w="15875">
            <a:solidFill>
              <a:srgbClr val="6E758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7178040" y="3931920"/>
            <a:ext cx="3456432" cy="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7178040" y="3931920"/>
            <a:ext cx="3456432" cy="35113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7178040" y="3931920"/>
            <a:ext cx="3456432" cy="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7178040" y="3931920"/>
            <a:ext cx="3456432" cy="819302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7178040" y="3931920"/>
            <a:ext cx="3456432" cy="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3"/>
          <p:cNvSpPr/>
          <p:nvPr/>
        </p:nvSpPr>
        <p:spPr>
          <a:xfrm>
            <a:off x="7178040" y="3931920"/>
            <a:ext cx="3456432" cy="146304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11018520" y="2468880"/>
            <a:ext cx="137160" cy="2926080"/>
          </a:xfrm>
          <a:prstGeom prst="rect">
            <a:avLst/>
          </a:prstGeom>
          <a:solidFill>
            <a:srgbClr val="2024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10561320" y="5486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downstream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266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angles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beam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&amp; SAXS models, side by side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of model, available under matching names in both codes.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108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 (SANS)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 (SAXS)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 shapes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Sans_spheres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Saxs_spheres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naming parallel; dilute, monodisperse hard spheres, given contrast &amp; radius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Benchmarked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SANS_benchmark2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Experimentally-benchmarked model set (McStas, contrib library)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sasmodels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components)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components)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File-for-file identical set in both codes — sphere, cylinder, core-shell, fractal,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Macromolecules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SANSPDB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SAXSPDB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Scattering directly from a PDB structure file (contrib library, both codes)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 </a:t>
            </a: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sasmodels components are generated from the same SasView/sasmodels project (sasview.org) for both codes — 92 identically-named .comp files in mcstas-comps/sasmodels and mcxtrace-comps/sasmodels, sphere through triaxial ellipsoid.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ONLY ·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Absorption &amp; fluorescence: the physics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photon excites a core electron (e.g. the K shell). If the photon energy exceeds the binding energy, the electron is ejected — a photoelectron.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core hole is filled by an electron from a higher shell — that transition emits a characteristic fluorescence line.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absorption edge, the transmitted intensity drops sharply, and a fluorescence line appears at a lower, element-specific energy.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(Rayleigh) and inelastic (Compton) scattering can accompany absorption — all part of the same interaction budget.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0" y="173736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00800" y="19202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vs. photon energy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86600" y="2423160"/>
            <a:ext cx="0" cy="2194560"/>
          </a:xfrm>
          <a:prstGeom prst="line">
            <a:avLst/>
          </a:prstGeom>
          <a:noFill/>
          <a:ln w="15875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7086600" y="4617720"/>
            <a:ext cx="4343400" cy="0"/>
          </a:xfrm>
          <a:prstGeom prst="line">
            <a:avLst/>
          </a:prstGeom>
          <a:noFill/>
          <a:ln w="15875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7086600" y="2788920"/>
            <a:ext cx="1965960" cy="365760"/>
          </a:xfrm>
          <a:prstGeom prst="line">
            <a:avLst/>
          </a:prstGeom>
          <a:noFill/>
          <a:ln w="317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9052560" y="3154680"/>
            <a:ext cx="0" cy="1005840"/>
          </a:xfrm>
          <a:prstGeom prst="line">
            <a:avLst/>
          </a:prstGeom>
          <a:noFill/>
          <a:ln w="317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9052560" y="4160520"/>
            <a:ext cx="2103120" cy="0"/>
          </a:xfrm>
          <a:prstGeom prst="line">
            <a:avLst/>
          </a:prstGeom>
          <a:noFill/>
          <a:ln w="317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9052560" y="3154680"/>
            <a:ext cx="0" cy="1463040"/>
          </a:xfrm>
          <a:prstGeom prst="line">
            <a:avLst/>
          </a:prstGeom>
          <a:noFill/>
          <a:ln w="12700">
            <a:solidFill>
              <a:srgbClr val="6E758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686800" y="46725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0" y="2130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789920" y="46725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4983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honest limit: today's absorption samples model the edge itself — not the fine pre-edge or EXAFS oscillations.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Fluorescence component &amp; friends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Fluorescence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all four processes at once: absorption, fluorescence, Compton and Rayleigh scattering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(box, cylinder, sphere, or OFF/PLY mesh) and any compound material, e.g. “CaCO3” or “ZnCu”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XRayLib — about 10× slower than the simpler components, in exchange for real chemistry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FluoCrystal and FluoPowder specialise the same physics for crystalline and powder samples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8928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Abs_objects, Absorption_sample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92240" y="2514600"/>
            <a:ext cx="46177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only — no fluorescence, Compton or Rayleigh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pre-made absorption data files, and only handle pure, mono-atomic materials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Abs_objects and Absorption_sample can combine several OFF/PLY shapes/materials in one component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— the right choice when fluorescence itself isn't of interest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support concentric geometry (a sample inside a can or cryostat) the same way PowderN does.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WORKED EXAMPLES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beamlines, built from these samples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 · absorption edge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magnet source, 4–40 keV white beam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channel-cut DCM (two Bragg_crystal, Si 111) selects the energy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Fluorescence sample (“ZnCu”, 2×10×1 mm) sits after the monochromator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energy monitor after the sample shows the absorption shadow and the fluorescence lines together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energy 8–10 keV sweeps straight across the Zn/Cu edges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LUCIA · hyperspectral fluorescence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HU52 undulator source, feeding a 0.5×0.5 mm slit and a Si(111) DCM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Fluorescence sample stage — a wire-shaped inclusion (geometry="wire.ply") inside a different bulk material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materials are combined so only one “fires” per ray — an advanced-grammar detail we won't dwell on here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position-resolved energy monitor turns the result into a hyperspectral map — composition read out from fluorescence lines, point by point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 imaging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Absorption-contrast radiography and tomography — built from the same shapes as everything else.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single-phase absorbing “block” — box, cylinder, sphere, or an arbitrary OFF/PLY mesh — stands in for the imaged object.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complex-geometry engine used for diffraction and spectroscopy samples renders detailed shapes: a chess piece, a bracket with drilled holes, and so on.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comes purely from attenuation — how much of the beam a given path length and material absorbs.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object (or the source/detector) between exposures to build up a tomographic reconstruction.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materials, refractive effects, and phase-contrast imaging are being developed but aren't ready yet — today's imaging samples are single-phase, absorption-contrast only.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neutron-only in this session? X-ray imaging exists in principle (attenuation is attenuation) — but McXtrace's sample library so far has focused on spectroscopy and scattering rather than dedicated imaging phantoms.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EXISTS — BRIEFLY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Reflectometry &amp; inelastic scattering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Reflectometry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surfaces &amp; interfaces, solid or liquid, via specular and off-specular reflection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McStas: Multilayer_Sample — phase-matrix formalism plus an incoherent background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simpler route: attach a measured reflectivity curve directly to a Mirror-type component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choice is deliberately small — not a rich library like SANS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 scattering S(q,ω)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McStas: Phonon_simple, Magnon_bcc, Isotropic_Sqw (inelastic mode), Single_crystal_inelastic, Tunneling_sample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McXtrace: Isotropic_Sqw in an experimental Thomson (IXS) mode — no RIXS or single-crystal inelastic yet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demanding: only a small fraction of rays land in a given (q,ω) window, so large ray counts are needed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EXISTS — BRIEFLY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tools &amp; advanced assemblies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777240" y="2084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samples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Res_sample, TOFRes_sample, Spot_sample — synthetic, delta-function-like scatterers used to study an instrument's resolution function, independent of any real material.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520440" cy="73152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4572000" y="2084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framework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0" y="26974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physics-process components — Incoherent_process, Powder_process, Single_crystal_process, NCrystal_process (McStas); Incoherent_process, Powder_process, plus X-ray-specific Compton_xrl_process &amp; Rayleigh_xrl_process (McXtrace) — combined via Union_master into complex multi-material assemblies. Present in both codes; its assembly grammar is a topic for a dedicated advanced session.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8138160" y="182880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sasmodels &amp; PDB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66760" y="26974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identically-named SasView_* components in both codes' sasmodels library, plus the SANSPDB / SAXSPDB macromolecule components — already introduced under SANS/SAXS, noted here for completeness.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advanced grammar: concentric, GROUP, WHEN and EXTEND all let you combine sample components into richer assemblies. We've kept today's overview to the physics — ask if you'd like a pointer into the syntax.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800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Powder diffraction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PowderN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PowderN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name &amp; file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Single-crystal diffraction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Single_crystal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Single_crystal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name; mosaic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 structure/dynamics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Isotropic_Sqw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Isotropic_Sqw (exp.)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or inelastic, S(q) / S(q,ω)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Library-backed diffraction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NCrystal_sample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the NCrystal library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/ SAXS (analytic)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Sans_spheres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Saxs_spheres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naming parallel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/ SAXS (full library)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File-for-file identical 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/ SAXS (macromolecule)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SANSPDB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SAXSPDB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from a PDB file (contrib)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 spectroscopy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Filter, Abs_objects, Absorption_sample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only; mono-atomic, 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Fluorescence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Fluorescence, FluoCrystal, FluoPowder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only; any shape/compound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absorbing blocks / OFF meshes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 only, in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Reflectometry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Multilayer_Sample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library (contrib)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Inelastic scattering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Phonon_simple, Magnon_bcc, …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Isotropic_Sqw (IXS, exp.)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on the neutron 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/ generic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Res_sample, TOFRes_sample, Spot_sample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for resolution studies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assemblies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Union components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Union components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framework, both codes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sample  /  mcdoc -c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$MCSTAS/data (Lau/Laz/Sqw/PDB/ncmat)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cif2hkl --powder / --xtal file.cif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mxdoc sample  /  mxdoc -c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611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Practicals: absorption (ROCK), fluorescence (LUCIA)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4160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McCode wiki: generating Single_crystal/PowderN files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2646</Words>
  <Application>Microsoft Macintosh PowerPoint</Application>
  <PresentationFormat>Widescreen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14</cp:revision>
  <dcterms:created xsi:type="dcterms:W3CDTF">2026-08-22T11:33:32Z</dcterms:created>
  <dcterms:modified xsi:type="dcterms:W3CDTF">2026-09-12T21:04:10Z</dcterms:modified>
</cp:coreProperties>
</file>