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0030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4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"/>
            <a:ext cx="1397203" cy="7168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COMPONENTS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physics at the heart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the beamline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9326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Diffraction, small-angle scattering, spectroscopy &amp; imaging in McStas &amp; McXtrace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2296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237744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100" dirty="0"/>
          </a:p>
        </p:txBody>
      </p:sp>
      <p:pic>
        <p:nvPicPr>
          <p:cNvPr id="12" name="Image 1" descr="/home/claude/work/assets/mcstas_mcxtrace_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598" y="4018788"/>
            <a:ext cx="3150108" cy="97932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0"/>
          <p:cNvSpPr/>
          <p:nvPr/>
        </p:nvSpPr>
        <p:spPr>
          <a:xfrm>
            <a:off x="822960" y="5897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DTU Physics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 School  ·  supported by PEPR DIADEM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techniques in focus, plus a map of everything else on offer.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54864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sample does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412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recap, and the sample menu at a glance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176272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35508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3056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3056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Powders and single crystals — neutrons and X-rays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412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Small-angle scattering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2412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and SAXS, side by side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3200400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Text 16"/>
          <p:cNvSpPr/>
          <p:nvPr/>
        </p:nvSpPr>
        <p:spPr>
          <a:xfrm>
            <a:off x="635508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3056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&amp; fluorescence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83056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X-ray-only spectroscopy, with two worked examples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54864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412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2412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Neutron-only absorption-contrast radiography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4224528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Text 24"/>
          <p:cNvSpPr/>
          <p:nvPr/>
        </p:nvSpPr>
        <p:spPr>
          <a:xfrm>
            <a:off x="63550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3056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Reflectometry &amp; inelastic scattering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83056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— what's available today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5248656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1" name="Text 28"/>
          <p:cNvSpPr/>
          <p:nvPr/>
        </p:nvSpPr>
        <p:spPr>
          <a:xfrm>
            <a:off x="54864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2412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&amp; advanced assemblies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102412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samples, Union, and the sasmodels library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55080" y="5248656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5" name="Text 32"/>
          <p:cNvSpPr/>
          <p:nvPr/>
        </p:nvSpPr>
        <p:spPr>
          <a:xfrm>
            <a:off x="635508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83056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picture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83056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table, every technique, both codes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sample component does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7607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intercepts the ray, decides — statistically — whether it scatters, transmits, or is absorbed, and updates the ray's state accordingly.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p_interact lets you force a chosen fraction of rays to scatter, improving statistics without biasing the physical intensity.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samples support several shapes out of the box: box, cylinder, sphere — or a hollow version of each via thickness.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also accept an arbitrary OFF/PLY mesh (geometry=file) for a truly custom shape — the same complex-geometry engine underneath the diffraction, spectroscopy and imaging samples we'll see today.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537960" y="1737360"/>
            <a:ext cx="5120640" cy="4023360"/>
          </a:xfrm>
          <a:prstGeom prst="roundRect">
            <a:avLst>
              <a:gd name="adj" fmla="val 2273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537960" y="19202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ray, three possible fates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995160" y="3566160"/>
            <a:ext cx="1463040" cy="0"/>
          </a:xfrm>
          <a:prstGeom prst="line">
            <a:avLst/>
          </a:prstGeom>
          <a:noFill/>
          <a:ln w="25400">
            <a:solidFill>
              <a:srgbClr val="2024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8458200" y="2926080"/>
            <a:ext cx="914400" cy="1280160"/>
          </a:xfrm>
          <a:prstGeom prst="roundRect">
            <a:avLst>
              <a:gd name="adj" fmla="val 6000"/>
            </a:avLst>
          </a:prstGeom>
          <a:solidFill>
            <a:srgbClr val="E3EEF2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8458200" y="34015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372600" y="3566160"/>
            <a:ext cx="1554480" cy="0"/>
          </a:xfrm>
          <a:prstGeom prst="line">
            <a:avLst/>
          </a:prstGeom>
          <a:noFill/>
          <a:ln w="2540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10195560" y="235000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9372600" y="3566160"/>
            <a:ext cx="1554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10195560" y="32369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transmitted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9372600" y="3566160"/>
            <a:ext cx="1554480" cy="868680"/>
          </a:xfrm>
          <a:prstGeom prst="line">
            <a:avLst/>
          </a:prstGeom>
          <a:noFill/>
          <a:ln w="2540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3"/>
          <p:cNvSpPr/>
          <p:nvPr/>
        </p:nvSpPr>
        <p:spPr>
          <a:xfrm>
            <a:off x="10195560" y="45262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absorbed (removed)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498348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Whichever happens, the ray's weight p is adjusted so the statistics stay correct on average.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sample menu, at a glance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techniques get the spotlight today — with a map of what else exists at the end.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2084832" cy="342900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548640" y="2057400"/>
            <a:ext cx="2084832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621792" y="205740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Diffraction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13232" y="274320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Powders &amp; single crystals. Both probes, both codes.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13232" y="4983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+ X-RAY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798064" y="2057400"/>
            <a:ext cx="2084832" cy="342900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2798064" y="2057400"/>
            <a:ext cx="2084832" cy="50292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2871216" y="205740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/ SAXS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2962656" y="274320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Molecular-scale structure from small-angle scattering.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962656" y="4983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+ X-RAY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5047488" y="2057400"/>
            <a:ext cx="2084832" cy="342900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Shape 14"/>
          <p:cNvSpPr/>
          <p:nvPr/>
        </p:nvSpPr>
        <p:spPr>
          <a:xfrm>
            <a:off x="5047488" y="2057400"/>
            <a:ext cx="2084832" cy="50292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8" name="Text 15"/>
          <p:cNvSpPr/>
          <p:nvPr/>
        </p:nvSpPr>
        <p:spPr>
          <a:xfrm>
            <a:off x="5120640" y="205740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Spectroscopy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212080" y="274320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edges and fluorescence lines.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212080" y="4983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ONLY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7296912" y="2057400"/>
            <a:ext cx="2084832" cy="342900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2" name="Shape 19"/>
          <p:cNvSpPr/>
          <p:nvPr/>
        </p:nvSpPr>
        <p:spPr>
          <a:xfrm>
            <a:off x="7296912" y="2057400"/>
            <a:ext cx="2084832" cy="5029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7370064" y="205740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Imaging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7461504" y="274320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Absorption-contrast radiography &amp; tomography.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461504" y="4983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ONLY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9546336" y="2057400"/>
            <a:ext cx="2084832" cy="342900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Shape 24"/>
          <p:cNvSpPr/>
          <p:nvPr/>
        </p:nvSpPr>
        <p:spPr>
          <a:xfrm>
            <a:off x="9546336" y="2057400"/>
            <a:ext cx="2084832" cy="502920"/>
          </a:xfrm>
          <a:prstGeom prst="rect">
            <a:avLst/>
          </a:prstGeom>
          <a:solidFill>
            <a:srgbClr val="6E7580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8" name="Text 25"/>
          <p:cNvSpPr/>
          <p:nvPr/>
        </p:nvSpPr>
        <p:spPr>
          <a:xfrm>
            <a:off x="9619488" y="2057400"/>
            <a:ext cx="19385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…and more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9710928" y="2743200"/>
            <a:ext cx="175564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Reflectometry, inelastic scattering, generic &amp; advanced tools.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710928" y="498348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SUMMARY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· 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single crystal to powder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spectrum of disorder — the same underlying lattice, sampled differently.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2144268" y="2871216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crystal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orientation, up to a small mosaic spread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114800" y="3246120"/>
            <a:ext cx="18288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8"/>
          <p:cNvSpPr/>
          <p:nvPr/>
        </p:nvSpPr>
        <p:spPr>
          <a:xfrm>
            <a:off x="4343400" y="21031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 rot="-960000">
            <a:off x="6240780" y="2871216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 rot="-480000">
            <a:off x="5716518" y="300092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Shape 11"/>
          <p:cNvSpPr/>
          <p:nvPr/>
        </p:nvSpPr>
        <p:spPr>
          <a:xfrm>
            <a:off x="5965431" y="2679928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 rot="480000">
            <a:off x="6122599" y="3023619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Shape 13"/>
          <p:cNvSpPr/>
          <p:nvPr/>
        </p:nvSpPr>
        <p:spPr>
          <a:xfrm rot="960000">
            <a:off x="5641896" y="283774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Text 14"/>
          <p:cNvSpPr/>
          <p:nvPr/>
        </p:nvSpPr>
        <p:spPr>
          <a:xfrm>
            <a:off x="4526280" y="3520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Textured polycrystal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4572000" y="3886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crystallites, with a preferred orientation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909560" y="3246120"/>
            <a:ext cx="18288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20" name="Shape 17"/>
          <p:cNvSpPr/>
          <p:nvPr/>
        </p:nvSpPr>
        <p:spPr>
          <a:xfrm>
            <a:off x="8138160" y="210312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1" name="Shape 18"/>
          <p:cNvSpPr/>
          <p:nvPr/>
        </p:nvSpPr>
        <p:spPr>
          <a:xfrm>
            <a:off x="10236708" y="2871216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2" name="Shape 19"/>
          <p:cNvSpPr/>
          <p:nvPr/>
        </p:nvSpPr>
        <p:spPr>
          <a:xfrm rot="2220000">
            <a:off x="9362938" y="308739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Shape 20"/>
          <p:cNvSpPr/>
          <p:nvPr/>
        </p:nvSpPr>
        <p:spPr>
          <a:xfrm rot="4440000">
            <a:off x="9777793" y="2552403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4" name="Shape 21"/>
          <p:cNvSpPr/>
          <p:nvPr/>
        </p:nvSpPr>
        <p:spPr>
          <a:xfrm rot="6660000">
            <a:off x="10039740" y="312522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5" name="Shape 22"/>
          <p:cNvSpPr/>
          <p:nvPr/>
        </p:nvSpPr>
        <p:spPr>
          <a:xfrm rot="8880000">
            <a:off x="9238569" y="2815424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6" name="Shape 23"/>
          <p:cNvSpPr/>
          <p:nvPr/>
        </p:nvSpPr>
        <p:spPr>
          <a:xfrm rot="11100000">
            <a:off x="10158179" y="269949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Shape 24"/>
          <p:cNvSpPr/>
          <p:nvPr/>
        </p:nvSpPr>
        <p:spPr>
          <a:xfrm rot="13320000">
            <a:off x="9603121" y="3180265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8" name="Shape 25"/>
          <p:cNvSpPr/>
          <p:nvPr/>
        </p:nvSpPr>
        <p:spPr>
          <a:xfrm rot="15540000">
            <a:off x="9502104" y="2587159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9" name="Shape 26"/>
          <p:cNvSpPr/>
          <p:nvPr/>
        </p:nvSpPr>
        <p:spPr>
          <a:xfrm rot="17760000">
            <a:off x="10206141" y="2981091"/>
            <a:ext cx="329184" cy="10972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0" name="Text 27"/>
          <p:cNvSpPr/>
          <p:nvPr/>
        </p:nvSpPr>
        <p:spPr>
          <a:xfrm>
            <a:off x="8321040" y="35204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8366760" y="38862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orientational disorder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McStas's Single_crystal component sits at the ordered end and can itself model a mosaic spread; PowderN sits at the fully disordered end — both exist, under the same names, in McXtrace.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Powder diffraction: PowderN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component, same reflection-file format, in both McStas and McXtrace.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 list of (hkl, d-spacing, structure factor) reflections from a data file — the physics is entirely data-driven.</a:t>
            </a:r>
            <a:endParaRPr lang="en-US" sz="12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concentric=1 lets a PowderN act as an outer container (e.g. a sample can) around an inner sample, sharing one coordinate position.</a:t>
            </a:r>
            <a:endParaRPr lang="en-US" sz="12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d_phi and related focusing parameters restrict scattering to a chosen slice of 4π — useful when only a detector bank at certain angles exists.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4572000"/>
            <a:ext cx="566928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822960" y="4736592"/>
            <a:ext cx="51206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can = PowderN(reflections="Al.laz",
  radius=0.02, yheight=0.05, thickness=0.005, concentric=1)
COMPONENT sample = PowderN(reflections="Al2O3.laz", ...)
COMPONENT can2 = COPY(can)(concentric=0)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92240" y="1920240"/>
            <a:ext cx="516636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0312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concentric container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886700" y="3017520"/>
            <a:ext cx="2377440" cy="2377440"/>
          </a:xfrm>
          <a:prstGeom prst="ellipse">
            <a:avLst/>
          </a:prstGeom>
          <a:solidFill>
            <a:srgbClr val="E3EEF2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8526780" y="3657600"/>
            <a:ext cx="1097280" cy="1097280"/>
          </a:xfrm>
          <a:prstGeom prst="ellipse">
            <a:avLst/>
          </a:prstGeom>
          <a:solidFill>
            <a:srgbClr val="FBEBDA"/>
          </a:solidFill>
          <a:ln w="19050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7886700" y="2606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(Al)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526780" y="402336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(Al2O3)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812280" y="5257800"/>
            <a:ext cx="4526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computes its own scattering — the can's diffraction lines and the sample's appear together, correctly weighted.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COMPONENT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Single-crystal diffraction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Single_crystal models an ideally imperfect crystal — peak broadening dominated by mosaic, not appropriate for near-perfect crystals.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2148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unit-cell vectors (ax,ay,az, bx,by,bz, cx,cy,cz) encode the crystal's orientation relative to the component's own frame — no assumption about cell shape or symmetry is made.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10896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777240" y="3337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Isotropic mosaic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spread of rotation angle around a random axis — one mosaic parameter for the whole crystal.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43400" y="310896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4572000" y="3337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Anisotropic mosaic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7200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Gaussian spread around each unit-cell axis (mosaic_a, mosaic_b, mosaic_c).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138160" y="3108960"/>
            <a:ext cx="3520440" cy="2377440"/>
          </a:xfrm>
          <a:prstGeom prst="roundRect">
            <a:avLst>
              <a:gd name="adj" fmla="val 346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8366760" y="333756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Rocking-curve mosaic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366760" y="388620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derived from the measured widths of two Bragg peaks — give σ and hkl for each.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WORKFLOW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reflection data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92024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548640" y="20482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structure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395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 file from ICSD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Crystallography Open DB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712464" y="2423160"/>
            <a:ext cx="77404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4541368" y="192024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F7F8FA"/>
          </a:solidFill>
          <a:ln w="12700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4541368" y="20482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cif2hkl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678528" y="2395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--powder or --xtal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with McStas/McXtrace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705192" y="2423160"/>
            <a:ext cx="774040" cy="0"/>
          </a:xfrm>
          <a:prstGeom prst="line">
            <a:avLst/>
          </a:prstGeom>
          <a:noFill/>
          <a:ln w="19050">
            <a:solidFill>
              <a:srgbClr val="6E7580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8534095" y="1920240"/>
            <a:ext cx="310896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8534095" y="204825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.laz / .lau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671255" y="2395728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+ reflection list,</a:t>
            </a:r>
            <a:endParaRPr lang="en-US" sz="1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000" dirty="0">
                <a:solidFill>
                  <a:srgbClr val="E7F1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use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31089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by: PowderN, Single_crystal, Isotropic_Sqw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formats in McStas &amp; McXtrace</a:t>
            </a:r>
            <a:endParaRPr lang="en-US" sz="17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9080"/>
          <a:ext cx="11064240" cy="230428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by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.lau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Single_crystal, PowderN, Isotropic_Sqw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.laz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PowderN, Isotropic_Sqw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.sqw / qSq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Isotropic_Sqw (qSq mostly for liquids)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PDB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SANSPDB / SAXSPDB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ncmat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NCrystal-backed samples (McStas)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/ SAXS · 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Small-angle scattering, the shared idea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576072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scattering at small angles — small scattering vector q means sensitivity to big real-space distances r.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molecular-scale structure, typically 10–100 Å: proteins, polymers, nanoparticles, pores.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a dilute molecule-in-solvent system: a small contrast in scattering density against a buffer/background.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isotropic scattering — the signal only depends on |q|, not its direction.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good collimation and a long flight path after the sample, to resolve the small angles involved.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92240" y="173736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492240" y="192024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q, big 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11112" y="3364992"/>
            <a:ext cx="1133856" cy="1133856"/>
          </a:xfrm>
          <a:prstGeom prst="ellipse">
            <a:avLst/>
          </a:prstGeom>
          <a:solidFill>
            <a:srgbClr val="E3EEF2"/>
          </a:solidFill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611112" y="3474720"/>
            <a:ext cx="1133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178040" y="3931920"/>
            <a:ext cx="3840480" cy="0"/>
          </a:xfrm>
          <a:prstGeom prst="line">
            <a:avLst/>
          </a:prstGeom>
          <a:noFill/>
          <a:ln w="15875">
            <a:solidFill>
              <a:srgbClr val="6E7580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8"/>
          <p:cNvSpPr/>
          <p:nvPr/>
        </p:nvSpPr>
        <p:spPr>
          <a:xfrm>
            <a:off x="7178040" y="3931920"/>
            <a:ext cx="3456432" cy="0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7178040" y="3931920"/>
            <a:ext cx="3456432" cy="351130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7178040" y="3931920"/>
            <a:ext cx="3456432" cy="0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4" name="Shape 11"/>
          <p:cNvSpPr/>
          <p:nvPr/>
        </p:nvSpPr>
        <p:spPr>
          <a:xfrm>
            <a:off x="7178040" y="3931920"/>
            <a:ext cx="3456432" cy="819302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>
            <a:off x="7178040" y="3931920"/>
            <a:ext cx="3456432" cy="0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6" name="Shape 13"/>
          <p:cNvSpPr/>
          <p:nvPr/>
        </p:nvSpPr>
        <p:spPr>
          <a:xfrm>
            <a:off x="7178040" y="3931920"/>
            <a:ext cx="3456432" cy="1463040"/>
          </a:xfrm>
          <a:prstGeom prst="line">
            <a:avLst/>
          </a:prstGeom>
          <a:noFill/>
          <a:ln w="1905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7" name="Shape 14"/>
          <p:cNvSpPr/>
          <p:nvPr/>
        </p:nvSpPr>
        <p:spPr>
          <a:xfrm>
            <a:off x="11018520" y="2468880"/>
            <a:ext cx="137160" cy="2926080"/>
          </a:xfrm>
          <a:prstGeom prst="rect">
            <a:avLst/>
          </a:prstGeom>
          <a:solidFill>
            <a:srgbClr val="2024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8" name="Text 15"/>
          <p:cNvSpPr/>
          <p:nvPr/>
        </p:nvSpPr>
        <p:spPr>
          <a:xfrm>
            <a:off x="10561320" y="5486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downstream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726680" y="21945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angles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the beam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TOOLKIT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SANS &amp; SAXS models, side by side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of model, available under matching names in both codes.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31089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McStas (SANS)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McXtrace (SAXS)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 shapes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Sans_spheres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Saxs_spheres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naming parallel; dilute, monodisperse hard spheres, given contrast &amp; radius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Benchmarked 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SANS_benchmark2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Experimentally-benchmarked model set (McStas, contrib library)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sasmodels library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SasView_* (92 components)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SasView_* (92 components)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File-for-file identical set in both codes — sphere, cylinder, core-shell, fractal, 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Macromolecules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SANSPDB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SAXSPDB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Scattering directly from a PDB structure file (contrib library, both codes)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4"/>
          <p:cNvSpPr/>
          <p:nvPr/>
        </p:nvSpPr>
        <p:spPr>
          <a:xfrm>
            <a:off x="822960" y="534924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 </a:t>
            </a: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sasmodels components are generated from the same SasView/sasmodels project (sasview.org) for both codes — 92 identically-named .comp files in mcstas-comps/sasmodels and mcxtrace-comps/sasmodels, sphere through triaxial ellipsoid.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ONLY ·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Absorption &amp; fluorescence: the physics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45920"/>
            <a:ext cx="56692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photon excites a core electron (e.g. the K shell). If the photon energy exceeds the binding energy, the electron is ejected — a photoelectron.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resulting core hole is filled by an electron from a higher shell — that transition emits a characteristic fluorescence line.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absorption edge, the transmitted intensity drops sharply, and a fluorescence line appears at a lower, element-specific energy.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(Rayleigh) and inelastic (Compton) scattering can accompany absorption — all part of the same interaction budget.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400800" y="173736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400800" y="192024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 vs. photon energy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086600" y="2423160"/>
            <a:ext cx="0" cy="2194560"/>
          </a:xfrm>
          <a:prstGeom prst="line">
            <a:avLst/>
          </a:prstGeom>
          <a:noFill/>
          <a:ln w="15875">
            <a:solidFill>
              <a:srgbClr val="2024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6"/>
          <p:cNvSpPr/>
          <p:nvPr/>
        </p:nvSpPr>
        <p:spPr>
          <a:xfrm>
            <a:off x="7086600" y="4617720"/>
            <a:ext cx="4343400" cy="0"/>
          </a:xfrm>
          <a:prstGeom prst="line">
            <a:avLst/>
          </a:prstGeom>
          <a:noFill/>
          <a:ln w="15875">
            <a:solidFill>
              <a:srgbClr val="2024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7"/>
          <p:cNvSpPr/>
          <p:nvPr/>
        </p:nvSpPr>
        <p:spPr>
          <a:xfrm>
            <a:off x="7086600" y="2788920"/>
            <a:ext cx="1965960" cy="365760"/>
          </a:xfrm>
          <a:prstGeom prst="line">
            <a:avLst/>
          </a:prstGeom>
          <a:noFill/>
          <a:ln w="31750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8"/>
          <p:cNvSpPr/>
          <p:nvPr/>
        </p:nvSpPr>
        <p:spPr>
          <a:xfrm>
            <a:off x="9052560" y="3154680"/>
            <a:ext cx="0" cy="1005840"/>
          </a:xfrm>
          <a:prstGeom prst="line">
            <a:avLst/>
          </a:prstGeom>
          <a:noFill/>
          <a:ln w="31750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9052560" y="4160520"/>
            <a:ext cx="2103120" cy="0"/>
          </a:xfrm>
          <a:prstGeom prst="line">
            <a:avLst/>
          </a:prstGeom>
          <a:noFill/>
          <a:ln w="31750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9052560" y="3154680"/>
            <a:ext cx="0" cy="1463040"/>
          </a:xfrm>
          <a:prstGeom prst="line">
            <a:avLst/>
          </a:prstGeom>
          <a:noFill/>
          <a:ln w="12700">
            <a:solidFill>
              <a:srgbClr val="6E7580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8686800" y="4672584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040880" y="2130552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0789920" y="46725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75120" y="498348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honest limit: today's absorption samples model the edge itself — not the fine pre-edge or EXAFS oscillations.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 ONLY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Fluorescence component &amp; friends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Fluorescence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all four processes at once: absorption, fluorescence, Compton and Rayleigh scattering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shape (box, cylinder, sphere, or OFF/PLY mesh) and any compound material, e.g. “CaCO3” or “ZnCu”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via XRayLib — about 10× slower than the simpler components, in exchange for real chemistry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FluoCrystal and FluoPowder specialise the same physics for crystalline and powder samples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892808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Filter, Abs_objects, Absorption_sample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92240" y="2514600"/>
            <a:ext cx="4617720" cy="3154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 only — no fluorescence, Compton or Rayleigh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pre-made absorption data files, and only handle pure, mono-atomic materials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Abs_objects and Absorption_sample can combine several OFF/PLY shapes/materials in one component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faster — the right choice when fluorescence itself isn't of interest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support concentric geometry (a sample inside a can or cryostat) the same way PowderN does.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WORKED EXAMPLES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beamlines, built from these samples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ROCK · absorption edge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6177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 magnet source, 4–40 keV white beam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channel-cut DCM (two Bragg_crystal, Si 111) selects the energy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Fluorescence sample (“ZnCu”, 2×10×1 mm) sits after the monochromator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energy monitor after the sample shows the absorption shadow and the fluorescence lines together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energy 8–10 keV sweeps straight across the Zn/Cu edges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LUCIA · hyperspectral fluorescence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92240" y="2377440"/>
            <a:ext cx="46177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HU52 undulator source, feeding a 0.5×0.5 mm slit and a Si(111) DCM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Fluorescence sample stage — a wire-shaped inclusion (geometry="wire.ply") inside a different bulk material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materials are combined so only one “fires” per ray — an advanced-grammar detail we won't dwell on here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position-resolved energy monitor turns the result into a hyperspectral map — composition read out from fluorescence lines, point by point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 ONLY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 imaging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Absorption-contrast radiography and tomography — built from the same shapes as everything else.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965960"/>
            <a:ext cx="11064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single-phase absorbing “block” — box, cylinder, sphere, or an arbitrary OFF/PLY mesh — stands in for the imaged object.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complex-geometry engine used for diffraction and spectroscopy samples renders detailed shapes: a chess piece, a bracket with drilled holes, and so on.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comes purely from attenuation — how much of the beam a given path length and material absorbs.</a:t>
            </a:r>
            <a:endParaRPr lang="en-US" sz="125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 the object (or the source/detector) between exposures to build up a tomographic reconstruction.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4805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822960" y="44805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roadmap: 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multi-phase materials, refractive effects, and phase-contrast imaging are being developed but aren't ready yet — today's imaging samples are single-phase, absorption-contrast only.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neutron-only in this session? X-ray imaging exists in principle (attenuation is attenuation) — but McXtrace's sample library so far has focused on spectroscopy and scattering rather than dedicated imaging phantoms.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EXISTS — BRIEFLY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Reflectometry &amp; inelastic scattering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Reflectometry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377440"/>
            <a:ext cx="46177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Probes surfaces &amp; interfaces, solid or liquid, via specular and off-specular reflection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McStas: Multilayer_Sample — phase-matrix formalism plus an incoherent background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the simpler route: attach a measured reflectivity curve directly to a Mirror-type component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choice is deliberately small — not a rich library like SANS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8928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Inelastic scattering S(q,ω)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2377440"/>
            <a:ext cx="461772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McStas: Phonon_simple, Magnon_bcc, Isotropic_Sqw (inelastic mode), Single_crystal_inelastic, Tunneling_sample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McXtrace: Isotropic_Sqw in an experimental Thomson (IXS) mode — no RIXS or single-crystal inelastic yet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demanding: only a small fraction of rays land in a given (q,ω) window, so large ray counts are needed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ELSE EXISTS — BRIEFLY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tools &amp; advanced assemblies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777240" y="20848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samples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69748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Res_sample, TOFRes_sample, Spot_sample — synthetic, delta-function-like scatterers used to study an instrument's resolution function, independent of any real material.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8288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Shape 7"/>
          <p:cNvSpPr/>
          <p:nvPr/>
        </p:nvSpPr>
        <p:spPr>
          <a:xfrm>
            <a:off x="4343400" y="1828800"/>
            <a:ext cx="3520440" cy="73152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4572000" y="20848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framework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0" y="269748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physics-process components — Incoherent_process, Powder_process, Single_crystal_process, NCrystal_process (McStas); Incoherent_process, Powder_process, plus X-ray-specific Compton_xrl_process &amp; Rayleigh_xrl_process (McXtrace) — combined via Union_master into complex multi-material assemblies. Present in both codes; its assembly grammar is a topic for a dedicated advanced session.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138160" y="1828800"/>
            <a:ext cx="3520440" cy="3840480"/>
          </a:xfrm>
          <a:prstGeom prst="roundRect">
            <a:avLst>
              <a:gd name="adj" fmla="val 2338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4" name="Shape 11"/>
          <p:cNvSpPr/>
          <p:nvPr/>
        </p:nvSpPr>
        <p:spPr>
          <a:xfrm>
            <a:off x="8138160" y="1828800"/>
            <a:ext cx="3520440" cy="73152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8366760" y="20848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sasmodels &amp; PDB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366760" y="2697480"/>
            <a:ext cx="3063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 identically-named SasView_* components in both codes' sasmodels library, plus the SANSPDB / SAXSPDB macromolecule components — already introduced under SANS/SAXS, noted here for completeness.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advanced grammar: concentric, GROUP, WHEN and EXTEND all let you combine sample components into richer assemblies. We've kept today's overview to the physics — ask if you'd like a pointer into the syntax.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full picture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92840" cy="48006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McStas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McXtrace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Powder diffraction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PowderN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PowderN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name &amp; file format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Single-crystal diffraction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Single_crystal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Single_crystal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name; mosaic 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Isotropic structure/dynamics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Isotropic_Sqw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Isotropic_Sqw (exp.)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 or inelastic, S(q) / S(q,ω)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Library-backed diffraction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NCrystal_sample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Via the NCrystal library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/ SAXS (analytic)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Sans_spheres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Saxs_spheres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naming parallel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/ SAXS (full library)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SasView_* (92 comps)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SasView_* (92 comps)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File-for-file identical 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SANS / SAXS (macromolecule)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SANSPDB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SAXSPDB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from a PDB file (contrib)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Absorption spectroscopy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Filter, Abs_objects, Absorption_sample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 only; mono-atomic, fast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Fluorescence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Fluorescence, FluoCrystal, FluoPowder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 only; any shape/compound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absorbing blocks / OFF meshes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Neutron only, in practice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Reflectometry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Multilayer_Sample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library (contrib)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Inelastic scattering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Phonon_simple, Magnon_bcc, …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Isotropic_Sqw (IXS, exp.)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Richer on the neutron side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 / generic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Res_sample, TOFRes_sample, Spot_sample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—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Synthetic, for resolution studies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assemblies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Union components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Union components</a:t>
                      </a:r>
                      <a:endParaRPr lang="en-US" sz="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Shared framework, both codes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deeper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sample  /  mcdoc -c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611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$MCSTAS/data (Lau/Laz/Sqw/PDB/ncmat)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4160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cif2hkl --powder / --xtal file.cif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mxdoc sample  /  mxdoc -c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36118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Practicals: absorption (ROCK), fluorescence (LUCIA)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9400" y="41605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McCode wiki: generating Single_crystal/PowderN files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pkwi@fysik.dtu.dk   ·   DTU Physics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Sample Components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2588</Words>
  <Application>Microsoft Macintosh PowerPoint</Application>
  <PresentationFormat>Widescreen</PresentationFormat>
  <Paragraphs>349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Willendrup</cp:lastModifiedBy>
  <cp:revision>2</cp:revision>
  <dcterms:created xsi:type="dcterms:W3CDTF">2026-08-22T11:33:32Z</dcterms:created>
  <dcterms:modified xsi:type="dcterms:W3CDTF">2026-08-22T12:05:50Z</dcterms:modified>
</cp:coreProperties>
</file>