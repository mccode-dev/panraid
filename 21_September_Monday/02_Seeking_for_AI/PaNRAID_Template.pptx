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webextensions/taskpanes.xml" ContentType="application/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media/image1.jpeg" ContentType="image/jpeg"/>
  <Override PartName="/ppt/media/image6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gif" ContentType="image/gif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microsoft.com/office/2011/relationships/webextensiontaskpanes" Target="ppt/webextensions/taskpanes.xml"/><Relationship Id="rId5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fr-F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Cliquez pour déplacer la diapo</a:t>
            </a:r>
            <a:endParaRPr b="0" lang="fr-F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Cliquez pour modifier le format des notes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CA6382AF-C200-4703-8304-F6D235EB1428}" type="slidenum"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AB0F0DA-6CB9-4A06-901F-EF92BD525825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fr-FR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5E02D63-D6EE-4BBE-8EBE-0A5E2FC859EA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fr-FR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720" cy="720"/>
          </a:xfrm>
          <a:prstGeom prst="rect">
            <a:avLst/>
          </a:prstGeom>
          <a:ln w="0">
            <a:noFill/>
          </a:ln>
        </p:spPr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7180C88-3C33-4CC1-BC73-15D206D0EF17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fr-FR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720" cy="720"/>
          </a:xfrm>
          <a:prstGeom prst="rect">
            <a:avLst/>
          </a:prstGeom>
          <a:ln w="0">
            <a:noFill/>
          </a:ln>
        </p:spPr>
      </p:sp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A4FE262-3ACD-489C-B425-DE3A877030D7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fr-FR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720" cy="720"/>
          </a:xfrm>
          <a:prstGeom prst="rect">
            <a:avLst/>
          </a:prstGeom>
          <a:ln w="0">
            <a:noFill/>
          </a:ln>
        </p:spPr>
      </p:sp>
      <p:sp>
        <p:nvSpPr>
          <p:cNvPr id="9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34EEE29-BFEF-4A43-920D-F100A5E4135D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fr-FR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720" cy="720"/>
          </a:xfrm>
          <a:prstGeom prst="rect">
            <a:avLst/>
          </a:prstGeom>
          <a:ln w="0">
            <a:noFill/>
          </a:ln>
        </p:spPr>
      </p:sp>
      <p:sp>
        <p:nvSpPr>
          <p:cNvPr id="10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1C082BE-0895-41C2-BE70-0299A7F22874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fr-FR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720" cy="720"/>
          </a:xfrm>
          <a:prstGeom prst="rect">
            <a:avLst/>
          </a:prstGeom>
          <a:ln w="0">
            <a:noFill/>
          </a:ln>
        </p:spPr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213A2BD-7145-431A-B144-86C832ED4078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fr-FR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720" cy="720"/>
          </a:xfrm>
          <a:prstGeom prst="rect">
            <a:avLst/>
          </a:prstGeom>
          <a:ln w="0">
            <a:noFill/>
          </a:ln>
        </p:spPr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F86D252-406F-44F4-94DA-5F082544BFA7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fr-FR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720" cy="720"/>
          </a:xfrm>
          <a:prstGeom prst="rect">
            <a:avLst/>
          </a:prstGeom>
          <a:ln w="0">
            <a:noFill/>
          </a:ln>
        </p:spPr>
      </p:sp>
      <p:sp>
        <p:nvSpPr>
          <p:cNvPr id="11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9726F98-89C6-4AE7-9C75-56A166F0109B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fr-FR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1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 type="sldNum" idx="1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196EE6C-78D3-4EA5-BF00-E7F4DE7F9F28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b="0" lang="fr-FR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fr-F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texte-titre</a:t>
            </a:r>
            <a:endParaRPr b="0" lang="fr-F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b="0" lang="fr-F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  <a:endParaRPr b="0" lang="fr-F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Text 14"/>
          <p:cNvSpPr/>
          <p:nvPr/>
        </p:nvSpPr>
        <p:spPr>
          <a:xfrm>
            <a:off x="548640" y="644688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{presentation title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Text 15"/>
          <p:cNvSpPr/>
          <p:nvPr/>
        </p:nvSpPr>
        <p:spPr>
          <a:xfrm>
            <a:off x="11185920" y="644688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2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" name="Copied Picture 1" descr=""/>
          <p:cNvPicPr/>
          <p:nvPr/>
        </p:nvPicPr>
        <p:blipFill>
          <a:blip r:embed="rId2"/>
          <a:srcRect l="11719" t="16991" r="0" b="0"/>
          <a:stretch/>
        </p:blipFill>
        <p:spPr>
          <a:xfrm>
            <a:off x="10375920" y="356040"/>
            <a:ext cx="1269360" cy="65088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gif"/><Relationship Id="rId6" Type="http://schemas.openxmlformats.org/officeDocument/2006/relationships/image" Target="../media/image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.jpe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gif"/><Relationship Id="rId6" Type="http://schemas.openxmlformats.org/officeDocument/2006/relationships/image" Target="../media/image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0"/>
          <p:cNvSpPr/>
          <p:nvPr/>
        </p:nvSpPr>
        <p:spPr>
          <a:xfrm>
            <a:off x="9392760" y="-1425960"/>
            <a:ext cx="4754160" cy="4754160"/>
          </a:xfrm>
          <a:prstGeom prst="ellipse">
            <a:avLst/>
          </a:prstGeom>
          <a:solidFill>
            <a:srgbClr val="141a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DK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Shape 1"/>
          <p:cNvSpPr/>
          <p:nvPr/>
        </p:nvSpPr>
        <p:spPr>
          <a:xfrm>
            <a:off x="-1828800" y="4206240"/>
            <a:ext cx="4205520" cy="4205520"/>
          </a:xfrm>
          <a:prstGeom prst="ellipse">
            <a:avLst/>
          </a:prstGeom>
          <a:solidFill>
            <a:srgbClr val="141a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DK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Text 3"/>
          <p:cNvSpPr/>
          <p:nvPr/>
        </p:nvSpPr>
        <p:spPr>
          <a:xfrm>
            <a:off x="777240" y="1828800"/>
            <a:ext cx="10514880" cy="155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4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Where AI can help</a:t>
            </a:r>
            <a:endParaRPr b="0" lang="fr-FR" sz="5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822960" y="3246120"/>
            <a:ext cx="63493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-US" sz="1900" strike="noStrike" u="none">
                <a:solidFill>
                  <a:srgbClr val="c7d3f0"/>
                </a:solidFill>
                <a:effectLst/>
                <a:uFillTx/>
                <a:latin typeface="Calibri"/>
                <a:ea typeface="Calibri"/>
              </a:rPr>
              <a:t>Realistic Datasets for Photons and Neutrons AI methodologies</a:t>
            </a:r>
            <a:endParaRPr b="0" lang="fr-FR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5"/>
          <p:cNvSpPr/>
          <p:nvPr/>
        </p:nvSpPr>
        <p:spPr>
          <a:xfrm>
            <a:off x="822960" y="4160520"/>
            <a:ext cx="1416600" cy="31032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DK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Text 6"/>
          <p:cNvSpPr/>
          <p:nvPr/>
        </p:nvSpPr>
        <p:spPr>
          <a:xfrm>
            <a:off x="822960" y="4160520"/>
            <a:ext cx="141660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McStas — neutrons</a:t>
            </a:r>
            <a:endParaRPr b="0" lang="fr-F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7"/>
          <p:cNvSpPr/>
          <p:nvPr/>
        </p:nvSpPr>
        <p:spPr>
          <a:xfrm>
            <a:off x="2377440" y="4160520"/>
            <a:ext cx="1416600" cy="31032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DK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Text 8"/>
          <p:cNvSpPr/>
          <p:nvPr/>
        </p:nvSpPr>
        <p:spPr>
          <a:xfrm>
            <a:off x="2377440" y="4160520"/>
            <a:ext cx="141660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d97a2b"/>
                </a:solidFill>
                <a:effectLst/>
                <a:uFillTx/>
                <a:latin typeface="Calibri"/>
                <a:ea typeface="Calibri"/>
              </a:rPr>
              <a:t>McXtrace — X-rays</a:t>
            </a:r>
            <a:endParaRPr b="0" lang="fr-F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9"/>
          <p:cNvSpPr/>
          <p:nvPr/>
        </p:nvSpPr>
        <p:spPr>
          <a:xfrm>
            <a:off x="822960" y="5806440"/>
            <a:ext cx="2926080" cy="360"/>
          </a:xfrm>
          <a:prstGeom prst="line">
            <a:avLst/>
          </a:prstGeom>
          <a:ln w="12700">
            <a:solidFill>
              <a:srgbClr val="3c4a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DK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Text 10"/>
          <p:cNvSpPr/>
          <p:nvPr/>
        </p:nvSpPr>
        <p:spPr>
          <a:xfrm>
            <a:off x="822960" y="5897880"/>
            <a:ext cx="5485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aab6de"/>
                </a:solidFill>
                <a:effectLst/>
                <a:uFillTx/>
                <a:latin typeface="Calibri"/>
                <a:ea typeface="Calibri"/>
              </a:rPr>
              <a:t>Emmanuel FARHI   ·   Synchrotron SOLEIL</a:t>
            </a:r>
            <a:endParaRPr b="0" lang="fr-FR" sz="12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LogoCard"/>
          <p:cNvSpPr/>
          <p:nvPr/>
        </p:nvSpPr>
        <p:spPr>
          <a:xfrm>
            <a:off x="7429680" y="3759120"/>
            <a:ext cx="3809160" cy="1497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horzOverflow="clip" vertOverflow="clip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DK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" name="SchoolCredit"/>
          <p:cNvSpPr/>
          <p:nvPr/>
        </p:nvSpPr>
        <p:spPr>
          <a:xfrm>
            <a:off x="7429680" y="5384880"/>
            <a:ext cx="3809160" cy="27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GB" sz="1300" strike="noStrike" u="none">
                <a:solidFill>
                  <a:srgbClr val="c9d2ee"/>
                </a:solidFill>
                <a:effectLst/>
                <a:uFillTx/>
                <a:latin typeface="Calibri"/>
              </a:rPr>
              <a:t>PaNRAID School  ·  supported by PEPR DIADEM</a:t>
            </a:r>
            <a:endParaRPr b="0" lang="fr-F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3" name="Picture 17" descr=""/>
          <p:cNvPicPr/>
          <p:nvPr/>
        </p:nvPicPr>
        <p:blipFill>
          <a:blip r:embed="rId1"/>
          <a:srcRect l="11719" t="16991" r="0" b="0"/>
          <a:stretch/>
        </p:blipFill>
        <p:spPr>
          <a:xfrm>
            <a:off x="825480" y="457200"/>
            <a:ext cx="1396440" cy="716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" name="Picture 15" descr=""/>
          <p:cNvPicPr/>
          <p:nvPr/>
        </p:nvPicPr>
        <p:blipFill>
          <a:blip r:embed="rId2"/>
          <a:stretch/>
        </p:blipFill>
        <p:spPr>
          <a:xfrm>
            <a:off x="7429680" y="478800"/>
            <a:ext cx="4538880" cy="6728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25" name="Group 16"/>
          <p:cNvGrpSpPr/>
          <p:nvPr/>
        </p:nvGrpSpPr>
        <p:grpSpPr>
          <a:xfrm>
            <a:off x="7936200" y="3847680"/>
            <a:ext cx="2795760" cy="1320840"/>
            <a:chOff x="7936200" y="3847680"/>
            <a:chExt cx="2795760" cy="1320840"/>
          </a:xfrm>
        </p:grpSpPr>
        <p:grpSp>
          <p:nvGrpSpPr>
            <p:cNvPr id="26" name="Group 18"/>
            <p:cNvGrpSpPr/>
            <p:nvPr/>
          </p:nvGrpSpPr>
          <p:grpSpPr>
            <a:xfrm>
              <a:off x="9343440" y="3847680"/>
              <a:ext cx="1388520" cy="1257840"/>
              <a:chOff x="9343440" y="3847680"/>
              <a:chExt cx="1388520" cy="1257840"/>
            </a:xfrm>
          </p:grpSpPr>
          <p:pic>
            <p:nvPicPr>
              <p:cNvPr id="27" name="Picture 20" descr=""/>
              <p:cNvPicPr/>
              <p:nvPr/>
            </p:nvPicPr>
            <p:blipFill>
              <a:blip r:embed="rId3"/>
              <a:srcRect l="48137" t="0" r="0" b="0"/>
              <a:stretch/>
            </p:blipFill>
            <p:spPr>
              <a:xfrm>
                <a:off x="9392760" y="3847680"/>
                <a:ext cx="1293840" cy="77544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28" name="Picture 21" descr="Synchrotron SOLEIL"/>
              <p:cNvPicPr/>
              <p:nvPr/>
            </p:nvPicPr>
            <p:blipFill>
              <a:blip r:embed="rId4"/>
              <a:stretch/>
            </p:blipFill>
            <p:spPr>
              <a:xfrm>
                <a:off x="9343440" y="4576320"/>
                <a:ext cx="962640" cy="46476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29" name="Picture 22" descr="DTU Physics"/>
              <p:cNvPicPr/>
              <p:nvPr/>
            </p:nvPicPr>
            <p:blipFill>
              <a:blip r:embed="rId5"/>
              <a:stretch/>
            </p:blipFill>
            <p:spPr>
              <a:xfrm>
                <a:off x="10378800" y="4584960"/>
                <a:ext cx="353160" cy="52056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  <p:pic>
          <p:nvPicPr>
            <p:cNvPr id="30" name="Picture 19" descr=""/>
            <p:cNvPicPr/>
            <p:nvPr/>
          </p:nvPicPr>
          <p:blipFill>
            <a:blip r:embed="rId6"/>
            <a:stretch/>
          </p:blipFill>
          <p:spPr>
            <a:xfrm>
              <a:off x="7936200" y="3852360"/>
              <a:ext cx="1293840" cy="131616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0"/>
          <p:cNvSpPr/>
          <p:nvPr/>
        </p:nvSpPr>
        <p:spPr>
          <a:xfrm>
            <a:off x="548640" y="384120"/>
            <a:ext cx="91432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200" spc="201" strike="noStrike" u="none">
                <a:solidFill>
                  <a:srgbClr val="1c7293"/>
                </a:solidFill>
                <a:effectLst/>
                <a:uFillTx/>
                <a:latin typeface="Calibri"/>
              </a:rPr>
              <a:t>TARGET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"/>
          <p:cNvSpPr/>
          <p:nvPr/>
        </p:nvSpPr>
        <p:spPr>
          <a:xfrm>
            <a:off x="548640" y="658440"/>
            <a:ext cx="110635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GB" sz="3000" strike="noStrike" u="none">
                <a:solidFill>
                  <a:srgbClr val="20242b"/>
                </a:solidFill>
                <a:effectLst/>
                <a:uFillTx/>
                <a:latin typeface="Cambria"/>
              </a:rPr>
              <a:t>This school’s objective</a:t>
            </a:r>
            <a:endParaRPr b="0" lang="fr-F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27"/>
          <p:cNvSpPr/>
          <p:nvPr/>
        </p:nvSpPr>
        <p:spPr>
          <a:xfrm>
            <a:off x="1118592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2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"/>
          <p:cNvSpPr txBox="1"/>
          <p:nvPr/>
        </p:nvSpPr>
        <p:spPr>
          <a:xfrm>
            <a:off x="540000" y="1480680"/>
            <a:ext cx="11520000" cy="4639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defTabSz="343080">
              <a:lnSpc>
                <a:spcPct val="100000"/>
              </a:lnSpc>
              <a:spcBef>
                <a:spcPts val="479"/>
              </a:spcBef>
              <a:tabLst>
                <a:tab algn="l" pos="0"/>
              </a:tabLst>
            </a:pPr>
            <a:r>
              <a:rPr b="1" lang="fr-FR" sz="2400" strike="noStrike" u="none">
                <a:solidFill>
                  <a:srgbClr val="0000ff"/>
                </a:solidFill>
                <a:effectLst/>
                <a:uFillTx/>
                <a:latin typeface="Calibri"/>
              </a:rPr>
              <a:t>Explore how AI can leverage simulated photon and neutron datasets to :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343080">
              <a:lnSpc>
                <a:spcPct val="100000"/>
              </a:lnSpc>
              <a:spcBef>
                <a:spcPts val="479"/>
              </a:spcBef>
              <a:tabLst>
                <a:tab algn="l" pos="0"/>
              </a:tabLst>
            </a:pP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OpenSymbol"/>
              <a:buAutoNum type="arabicParenR"/>
              <a:tabLst>
                <a:tab algn="l" pos="0"/>
              </a:tabLst>
            </a:pP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solve inverse problems (measurement → parameters)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OpenSymbol"/>
              <a:buAutoNum type="arabicParenR"/>
              <a:tabLst>
                <a:tab algn="l" pos="0"/>
              </a:tabLst>
            </a:pP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optimize experiments (find best parameters)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OpenSymbol"/>
              <a:buAutoNum type="arabicParenR"/>
              <a:tabLst>
                <a:tab algn="l" pos="0"/>
              </a:tabLst>
            </a:pP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train surrogate models (parameters → measurement)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343080">
              <a:lnSpc>
                <a:spcPct val="100000"/>
              </a:lnSpc>
              <a:spcBef>
                <a:spcPts val="479"/>
              </a:spcBef>
              <a:tabLst>
                <a:tab algn="l" pos="0"/>
              </a:tabLst>
            </a:pP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343080">
              <a:lnSpc>
                <a:spcPct val="100000"/>
              </a:lnSpc>
              <a:spcBef>
                <a:spcPts val="479"/>
              </a:spcBef>
              <a:tabLst>
                <a:tab algn="l" pos="0"/>
              </a:tabLst>
            </a:pP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For all this, we encourage you to use AI chats.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12"/>
          <p:cNvSpPr/>
          <p:nvPr/>
        </p:nvSpPr>
        <p:spPr>
          <a:xfrm>
            <a:off x="548640" y="384120"/>
            <a:ext cx="91432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200" spc="201" strike="noStrike" u="none">
                <a:solidFill>
                  <a:srgbClr val="1c7293"/>
                </a:solidFill>
                <a:effectLst/>
                <a:uFillTx/>
                <a:latin typeface="Calibri"/>
              </a:rPr>
              <a:t>X/n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3"/>
          <p:cNvSpPr/>
          <p:nvPr/>
        </p:nvSpPr>
        <p:spPr>
          <a:xfrm>
            <a:off x="548640" y="658440"/>
            <a:ext cx="110635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GB" sz="3000" strike="noStrike" u="none">
                <a:solidFill>
                  <a:srgbClr val="20242b"/>
                </a:solidFill>
                <a:effectLst/>
                <a:uFillTx/>
                <a:latin typeface="Cambria"/>
              </a:rPr>
              <a:t>Why "Photons and Neutrons"?</a:t>
            </a:r>
            <a:endParaRPr b="0" lang="fr-F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4"/>
          <p:cNvSpPr/>
          <p:nvPr/>
        </p:nvSpPr>
        <p:spPr>
          <a:xfrm>
            <a:off x="1118592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2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"/>
          <p:cNvSpPr txBox="1"/>
          <p:nvPr/>
        </p:nvSpPr>
        <p:spPr>
          <a:xfrm>
            <a:off x="476280" y="1930680"/>
            <a:ext cx="11239560" cy="3412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fr-FR" sz="2400" strike="noStrike" u="none">
                <a:solidFill>
                  <a:srgbClr val="0000ff"/>
                </a:solidFill>
                <a:effectLst/>
                <a:uFillTx/>
                <a:latin typeface="Calibri"/>
              </a:rPr>
              <a:t>Shared X/n Physics and Simulation Capabilities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1" lang="fr-F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Similar Interaction Processes</a:t>
            </a: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1" lang="fr-FR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Absorption</a:t>
            </a:r>
            <a:r>
              <a:rPr b="0" lang="fr-FR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Energy transfer to the material (e.g., photoelectric effect for X-rays, neutron capture).</a:t>
            </a:r>
            <a:endParaRPr b="0" lang="fr-F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1" lang="fr-FR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Scattering</a:t>
            </a:r>
            <a:r>
              <a:rPr b="0" lang="fr-FR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</a:t>
            </a:r>
            <a:endParaRPr b="0" lang="fr-F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i="1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Elastic</a:t>
            </a: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Structure analysis (e.g., Bragg diffraction for X-rays, neutron diffraction).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i="1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Inelastic</a:t>
            </a: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Dynamics analysis (e.g., Raman scattering for X-rays, neutron inelastic scattering).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1" lang="fr-FR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Decay</a:t>
            </a:r>
            <a:r>
              <a:rPr b="0" lang="fr-FR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Time-resolved studies (e.g., fluorescence, neutron activation).</a:t>
            </a:r>
            <a:endParaRPr b="0" lang="fr-F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15"/>
          <p:cNvSpPr/>
          <p:nvPr/>
        </p:nvSpPr>
        <p:spPr>
          <a:xfrm>
            <a:off x="548640" y="384120"/>
            <a:ext cx="91432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200" spc="201" strike="noStrike" u="none">
                <a:solidFill>
                  <a:srgbClr val="1c7293"/>
                </a:solidFill>
                <a:effectLst/>
                <a:uFillTx/>
                <a:latin typeface="Calibri"/>
              </a:rPr>
              <a:t>X/n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6"/>
          <p:cNvSpPr/>
          <p:nvPr/>
        </p:nvSpPr>
        <p:spPr>
          <a:xfrm>
            <a:off x="548640" y="658440"/>
            <a:ext cx="110635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GB" sz="3000" strike="noStrike" u="none">
                <a:solidFill>
                  <a:srgbClr val="20242b"/>
                </a:solidFill>
                <a:effectLst/>
                <a:uFillTx/>
                <a:latin typeface="Cambria"/>
              </a:rPr>
              <a:t>Why "Photons and Neutrons"?</a:t>
            </a:r>
            <a:endParaRPr b="0" lang="fr-F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7"/>
          <p:cNvSpPr/>
          <p:nvPr/>
        </p:nvSpPr>
        <p:spPr>
          <a:xfrm>
            <a:off x="1118592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2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540000" y="1800000"/>
            <a:ext cx="9477360" cy="482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fr-FR" sz="2400" strike="noStrike" u="none">
                <a:solidFill>
                  <a:srgbClr val="0000ff"/>
                </a:solidFill>
                <a:effectLst/>
                <a:uFillTx/>
                <a:latin typeface="Calibri"/>
              </a:rPr>
              <a:t>Simulation Tools</a:t>
            </a:r>
            <a:r>
              <a:rPr b="0" lang="fr-FR" sz="2400" strike="noStrike" u="none">
                <a:solidFill>
                  <a:srgbClr val="0000ff"/>
                </a:solidFill>
                <a:effectLst/>
                <a:uFillTx/>
                <a:latin typeface="Calibri"/>
              </a:rPr>
              <a:t>: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1" lang="fr-FR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McStas</a:t>
            </a:r>
            <a:r>
              <a:rPr b="0" lang="fr-FR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Monte Carlo simulator for neutron scattering instruments.</a:t>
            </a:r>
            <a:endParaRPr b="0" lang="fr-F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1" lang="fr-FR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McXtrace</a:t>
            </a:r>
            <a:r>
              <a:rPr b="0" lang="fr-FR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Monte Carlo simulator for X-ray instruments.</a:t>
            </a:r>
            <a:endParaRPr b="0" lang="fr-F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fr-FR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Both enable realistic modeling of beamlines, detectors, and sample interactions.</a:t>
            </a:r>
            <a:endParaRPr b="0" lang="fr-F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b="0" lang="fr-F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1" lang="fr-FR" sz="2400" strike="noStrike" u="none">
                <a:solidFill>
                  <a:srgbClr val="0000ff"/>
                </a:solidFill>
                <a:effectLst/>
                <a:uFillTx/>
                <a:latin typeface="Calibri"/>
              </a:rPr>
              <a:t>Why Simulations Matter</a:t>
            </a:r>
            <a:r>
              <a:rPr b="0" lang="fr-FR" sz="2400" strike="noStrike" u="none">
                <a:solidFill>
                  <a:srgbClr val="0000ff"/>
                </a:solidFill>
                <a:effectLst/>
                <a:uFillTx/>
                <a:latin typeface="Calibri"/>
              </a:rPr>
              <a:t>: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1" lang="fr-FR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Realism</a:t>
            </a:r>
            <a:r>
              <a:rPr b="0" lang="fr-FR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Capture complex instrument geometries and material responses.</a:t>
            </a:r>
            <a:endParaRPr b="0" lang="fr-F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1" lang="fr-FR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Flexibility</a:t>
            </a:r>
            <a:r>
              <a:rPr b="0" lang="fr-FR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Test hypothetical setups.</a:t>
            </a:r>
            <a:endParaRPr b="0" lang="fr-F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1" lang="fr-FR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Cost-Effective</a:t>
            </a:r>
            <a:r>
              <a:rPr b="0" lang="fr-FR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Avoid expensive trial-and-error on real instruments/BL.</a:t>
            </a:r>
            <a:endParaRPr b="0" lang="fr-F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b="0" lang="fr-F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 18"/>
          <p:cNvSpPr/>
          <p:nvPr/>
        </p:nvSpPr>
        <p:spPr>
          <a:xfrm>
            <a:off x="548640" y="384120"/>
            <a:ext cx="91432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200" spc="201" strike="noStrike" u="none">
                <a:solidFill>
                  <a:srgbClr val="1c7293"/>
                </a:solidFill>
                <a:effectLst/>
                <a:uFillTx/>
                <a:latin typeface="Calibri"/>
              </a:rPr>
              <a:t>Realistic datasets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19"/>
          <p:cNvSpPr/>
          <p:nvPr/>
        </p:nvSpPr>
        <p:spPr>
          <a:xfrm>
            <a:off x="548640" y="658440"/>
            <a:ext cx="110635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GB" sz="3000" strike="noStrike" u="none">
                <a:solidFill>
                  <a:srgbClr val="20242b"/>
                </a:solidFill>
                <a:effectLst/>
                <a:uFillTx/>
                <a:latin typeface="Cambria"/>
              </a:rPr>
              <a:t>Why Realistic AI Datasets?</a:t>
            </a:r>
            <a:endParaRPr b="0" lang="fr-F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20"/>
          <p:cNvSpPr/>
          <p:nvPr/>
        </p:nvSpPr>
        <p:spPr>
          <a:xfrm>
            <a:off x="1118592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2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540000" y="1800000"/>
            <a:ext cx="9477360" cy="3488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defTabSz="343080">
              <a:lnSpc>
                <a:spcPct val="100000"/>
              </a:lnSpc>
              <a:spcBef>
                <a:spcPts val="2999"/>
              </a:spcBef>
              <a:tabLst>
                <a:tab algn="l" pos="0"/>
              </a:tabLst>
            </a:pPr>
            <a:r>
              <a:rPr b="1" lang="fr-FR" sz="2400" strike="noStrike" u="none">
                <a:solidFill>
                  <a:srgbClr val="0000ff"/>
                </a:solidFill>
                <a:effectLst/>
                <a:uFillTx/>
                <a:latin typeface="Calibri"/>
              </a:rPr>
              <a:t>The Problem with Experimental Data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fr-F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Lack of Annotations</a:t>
            </a: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fr-FR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Raw data often lacks metadata (e.g., sample composition, instrument settings).</a:t>
            </a:r>
            <a:endParaRPr b="0" lang="fr-F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fr-FR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Manual annotation is time-consuming and error-prone.</a:t>
            </a:r>
            <a:endParaRPr b="0" lang="fr-F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fr-F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Publications as Implicit Annotations</a:t>
            </a: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fr-FR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Papers describe experimental conditions, but formats vary widely.</a:t>
            </a:r>
            <a:endParaRPr b="0" lang="fr-F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fr-FR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Not machine-readable or standardized for AI training.</a:t>
            </a:r>
            <a:endParaRPr b="0" lang="fr-F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 21"/>
          <p:cNvSpPr/>
          <p:nvPr/>
        </p:nvSpPr>
        <p:spPr>
          <a:xfrm>
            <a:off x="548640" y="384120"/>
            <a:ext cx="91432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200" spc="201" strike="noStrike" u="none">
                <a:solidFill>
                  <a:srgbClr val="1c7293"/>
                </a:solidFill>
                <a:effectLst/>
                <a:uFillTx/>
                <a:latin typeface="Calibri"/>
              </a:rPr>
              <a:t>Realistic datasets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22"/>
          <p:cNvSpPr/>
          <p:nvPr/>
        </p:nvSpPr>
        <p:spPr>
          <a:xfrm>
            <a:off x="548640" y="658440"/>
            <a:ext cx="110635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GB" sz="3000" strike="noStrike" u="none">
                <a:solidFill>
                  <a:srgbClr val="20242b"/>
                </a:solidFill>
                <a:effectLst/>
                <a:uFillTx/>
                <a:latin typeface="Cambria"/>
              </a:rPr>
              <a:t>Why Realistic AI Datasets?</a:t>
            </a:r>
            <a:endParaRPr b="0" lang="fr-F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23"/>
          <p:cNvSpPr/>
          <p:nvPr/>
        </p:nvSpPr>
        <p:spPr>
          <a:xfrm>
            <a:off x="1118592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2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540000" y="1800000"/>
            <a:ext cx="9477360" cy="4605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defTabSz="343080">
              <a:lnSpc>
                <a:spcPct val="100000"/>
              </a:lnSpc>
              <a:spcBef>
                <a:spcPts val="2999"/>
              </a:spcBef>
              <a:tabLst>
                <a:tab algn="l" pos="0"/>
              </a:tabLst>
            </a:pPr>
            <a:r>
              <a:rPr b="1" lang="fr-FR" sz="2400" strike="noStrike" u="none">
                <a:solidFill>
                  <a:srgbClr val="0000ff"/>
                </a:solidFill>
                <a:effectLst/>
                <a:uFillTx/>
                <a:latin typeface="Calibri"/>
              </a:rPr>
              <a:t>The Power of Simulated Data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fr-F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Controlled Parameters</a:t>
            </a: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fr-FR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Every input (e.g., sample thickness, detector angle) is known and adjustable.</a:t>
            </a:r>
            <a:endParaRPr b="0" lang="fr-F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fr-FR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Outputs (e.g., scattering patterns, spectra) are directly linked to inputs.</a:t>
            </a:r>
            <a:endParaRPr b="0" lang="fr-F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fr-F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Pipeline Workflow</a:t>
            </a: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fr-FR" sz="21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Parameters → [Simulation (McStas/McXtrace)] → Virtual “Measurement”</a:t>
            </a:r>
            <a:endParaRPr b="0" lang="fr-F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defTabSz="343080">
              <a:lnSpc>
                <a:spcPct val="100000"/>
              </a:lnSpc>
              <a:spcBef>
                <a:spcPts val="420"/>
              </a:spcBef>
              <a:tabLst>
                <a:tab algn="l" pos="0"/>
              </a:tabLst>
            </a:pPr>
            <a:r>
              <a:rPr b="0" lang="fr-FR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Example: Simulate an experiment with varying incident energy.</a:t>
            </a:r>
            <a:endParaRPr b="0" lang="fr-F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24"/>
          <p:cNvSpPr/>
          <p:nvPr/>
        </p:nvSpPr>
        <p:spPr>
          <a:xfrm>
            <a:off x="548640" y="384120"/>
            <a:ext cx="91432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200" spc="201" strike="noStrike" u="none">
                <a:solidFill>
                  <a:srgbClr val="1c7293"/>
                </a:solidFill>
                <a:effectLst/>
                <a:uFillTx/>
                <a:latin typeface="Calibri"/>
              </a:rPr>
              <a:t>Realistic datasets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25"/>
          <p:cNvSpPr/>
          <p:nvPr/>
        </p:nvSpPr>
        <p:spPr>
          <a:xfrm>
            <a:off x="548640" y="658440"/>
            <a:ext cx="110635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GB" sz="3000" strike="noStrike" u="none">
                <a:solidFill>
                  <a:srgbClr val="20242b"/>
                </a:solidFill>
                <a:effectLst/>
                <a:uFillTx/>
                <a:latin typeface="Cambria"/>
              </a:rPr>
              <a:t>Why Realistic AI Datasets?</a:t>
            </a:r>
            <a:endParaRPr b="0" lang="fr-F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26"/>
          <p:cNvSpPr/>
          <p:nvPr/>
        </p:nvSpPr>
        <p:spPr>
          <a:xfrm>
            <a:off x="1118592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2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540000" y="1800000"/>
            <a:ext cx="9477360" cy="3100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fr-FR" sz="2400" strike="noStrike" u="none">
                <a:solidFill>
                  <a:srgbClr val="0000ff"/>
                </a:solidFill>
                <a:effectLst/>
                <a:uFillTx/>
                <a:latin typeface="Calibri"/>
              </a:rPr>
              <a:t>Inverse Problem</a:t>
            </a:r>
            <a:r>
              <a:rPr b="0" lang="fr-FR" sz="2400" strike="noStrike" u="none">
                <a:solidFill>
                  <a:srgbClr val="0000ff"/>
                </a:solidFill>
                <a:effectLst/>
                <a:uFillTx/>
                <a:latin typeface="Calibri"/>
              </a:rPr>
              <a:t>: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fr-F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Goal</a:t>
            </a: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Reconstruct input parameters from measured data.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fr-F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AI Approach</a:t>
            </a: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defTabSz="343080">
              <a:lnSpc>
                <a:spcPct val="100000"/>
              </a:lnSpc>
              <a:spcBef>
                <a:spcPts val="420"/>
              </a:spcBef>
              <a:tabLst>
                <a:tab algn="l" pos="0"/>
              </a:tabLst>
            </a:pPr>
            <a:r>
              <a:rPr b="0" lang="fr-FR" sz="21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Measurement → [AI Algorithm] → Parameters</a:t>
            </a:r>
            <a:endParaRPr b="0" lang="fr-F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Example: Predict sample composition from a scattering pattern.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 28"/>
          <p:cNvSpPr/>
          <p:nvPr/>
        </p:nvSpPr>
        <p:spPr>
          <a:xfrm>
            <a:off x="548640" y="384120"/>
            <a:ext cx="91432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200" spc="201" strike="noStrike" u="none">
                <a:solidFill>
                  <a:srgbClr val="1c7293"/>
                </a:solidFill>
                <a:effectLst/>
                <a:uFillTx/>
                <a:latin typeface="Calibri"/>
              </a:rPr>
              <a:t>Realistic datasets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29"/>
          <p:cNvSpPr/>
          <p:nvPr/>
        </p:nvSpPr>
        <p:spPr>
          <a:xfrm>
            <a:off x="548640" y="658440"/>
            <a:ext cx="110635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GB" sz="3000" strike="noStrike" u="none">
                <a:solidFill>
                  <a:srgbClr val="20242b"/>
                </a:solidFill>
                <a:effectLst/>
                <a:uFillTx/>
                <a:latin typeface="Cambria"/>
              </a:rPr>
              <a:t>Why Realistic AI Datasets?</a:t>
            </a:r>
            <a:endParaRPr b="0" lang="fr-F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30"/>
          <p:cNvSpPr/>
          <p:nvPr/>
        </p:nvSpPr>
        <p:spPr>
          <a:xfrm>
            <a:off x="1118592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2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540000" y="1800000"/>
            <a:ext cx="10980000" cy="3100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fr-FR" sz="2400" strike="noStrike" u="none">
                <a:solidFill>
                  <a:srgbClr val="0000ff"/>
                </a:solidFill>
                <a:effectLst/>
                <a:uFillTx/>
                <a:latin typeface="Calibri"/>
              </a:rPr>
              <a:t>Surrogate Models</a:t>
            </a:r>
            <a:r>
              <a:rPr b="0" lang="fr-FR" sz="2400" strike="noStrike" u="none">
                <a:solidFill>
                  <a:srgbClr val="0000ff"/>
                </a:solidFill>
                <a:effectLst/>
                <a:uFillTx/>
                <a:latin typeface="Calibri"/>
              </a:rPr>
              <a:t>: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fr-F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Purpose</a:t>
            </a: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Replace slow simulations with fast AI models.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fr-F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Pipeline</a:t>
            </a: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defTabSz="343080">
              <a:lnSpc>
                <a:spcPct val="100000"/>
              </a:lnSpc>
              <a:spcBef>
                <a:spcPts val="420"/>
              </a:spcBef>
              <a:tabLst>
                <a:tab algn="l" pos="0"/>
              </a:tabLst>
            </a:pPr>
            <a:r>
              <a:rPr b="0" lang="fr-FR" sz="21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Parameters → [AI Model] → Virtual "Measurement" (faster)</a:t>
            </a:r>
            <a:endParaRPr b="0" lang="fr-F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fr-F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Use Case</a:t>
            </a: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Real-time optimization of beamline configurations.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 31"/>
          <p:cNvSpPr/>
          <p:nvPr/>
        </p:nvSpPr>
        <p:spPr>
          <a:xfrm>
            <a:off x="548640" y="384120"/>
            <a:ext cx="91432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200" spc="201" strike="noStrike" u="none">
                <a:solidFill>
                  <a:srgbClr val="1c7293"/>
                </a:solidFill>
                <a:effectLst/>
                <a:uFillTx/>
                <a:latin typeface="Calibri"/>
              </a:rPr>
              <a:t>Realistic datasets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32"/>
          <p:cNvSpPr/>
          <p:nvPr/>
        </p:nvSpPr>
        <p:spPr>
          <a:xfrm>
            <a:off x="548640" y="658440"/>
            <a:ext cx="110635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GB" sz="3000" strike="noStrike" u="none">
                <a:solidFill>
                  <a:srgbClr val="20242b"/>
                </a:solidFill>
                <a:effectLst/>
                <a:uFillTx/>
                <a:latin typeface="Cambria"/>
              </a:rPr>
              <a:t>Why Realistic AI Datasets?</a:t>
            </a:r>
            <a:endParaRPr b="0" lang="fr-F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33"/>
          <p:cNvSpPr/>
          <p:nvPr/>
        </p:nvSpPr>
        <p:spPr>
          <a:xfrm>
            <a:off x="1118592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2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540000" y="1800000"/>
            <a:ext cx="10980000" cy="3100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fr-FR" sz="2400" strike="noStrike" u="none">
                <a:solidFill>
                  <a:srgbClr val="0000ff"/>
                </a:solidFill>
                <a:effectLst/>
                <a:uFillTx/>
                <a:latin typeface="Calibri"/>
              </a:rPr>
              <a:t>Model optimization</a:t>
            </a:r>
            <a:r>
              <a:rPr b="0" lang="fr-FR" sz="2400" strike="noStrike" u="none">
                <a:solidFill>
                  <a:srgbClr val="0000ff"/>
                </a:solidFill>
                <a:effectLst/>
                <a:uFillTx/>
                <a:latin typeface="Calibri"/>
              </a:rPr>
              <a:t>: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fr-F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Purpose</a:t>
            </a: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Find best parameters to get min/max signal.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fr-F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Pipeline</a:t>
            </a: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defTabSz="343080">
              <a:lnSpc>
                <a:spcPct val="100000"/>
              </a:lnSpc>
              <a:spcBef>
                <a:spcPts val="420"/>
              </a:spcBef>
              <a:tabLst>
                <a:tab algn="l" pos="0"/>
              </a:tabLst>
            </a:pPr>
            <a:r>
              <a:rPr b="0" lang="fr-FR" sz="21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Parameters → [AI Model] → Virtual "Measurement" (faster)</a:t>
            </a:r>
            <a:endParaRPr b="0" lang="fr-F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fr-F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Use Case</a:t>
            </a: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Real-time optimization of beamline configurations.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0"/>
          <p:cNvSpPr/>
          <p:nvPr/>
        </p:nvSpPr>
        <p:spPr>
          <a:xfrm>
            <a:off x="9410040" y="-1457640"/>
            <a:ext cx="4754160" cy="4754160"/>
          </a:xfrm>
          <a:prstGeom prst="ellipse">
            <a:avLst/>
          </a:prstGeom>
          <a:solidFill>
            <a:srgbClr val="141a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DK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4" name="Shape 1"/>
          <p:cNvSpPr/>
          <p:nvPr/>
        </p:nvSpPr>
        <p:spPr>
          <a:xfrm>
            <a:off x="-1828800" y="4206240"/>
            <a:ext cx="4205520" cy="4205520"/>
          </a:xfrm>
          <a:prstGeom prst="ellipse">
            <a:avLst/>
          </a:prstGeom>
          <a:solidFill>
            <a:srgbClr val="141a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DK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5" name="Text 2"/>
          <p:cNvSpPr/>
          <p:nvPr/>
        </p:nvSpPr>
        <p:spPr>
          <a:xfrm>
            <a:off x="822960" y="2286000"/>
            <a:ext cx="914328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8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Thank you</a:t>
            </a:r>
            <a:endParaRPr b="0" lang="fr-FR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3"/>
          <p:cNvSpPr/>
          <p:nvPr/>
        </p:nvSpPr>
        <p:spPr>
          <a:xfrm>
            <a:off x="822960" y="3246120"/>
            <a:ext cx="91432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c7d3f0"/>
                </a:solidFill>
                <a:effectLst/>
                <a:uFillTx/>
                <a:latin typeface="Calibri"/>
                <a:ea typeface="Calibri"/>
              </a:rPr>
              <a:t>Questions?</a:t>
            </a:r>
            <a:endParaRPr b="0" lang="fr-F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4"/>
          <p:cNvSpPr/>
          <p:nvPr/>
        </p:nvSpPr>
        <p:spPr>
          <a:xfrm>
            <a:off x="822960" y="4297680"/>
            <a:ext cx="1416600" cy="31032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DK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8" name="Text 5"/>
          <p:cNvSpPr/>
          <p:nvPr/>
        </p:nvSpPr>
        <p:spPr>
          <a:xfrm>
            <a:off x="822960" y="4297680"/>
            <a:ext cx="141660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mcstas.org</a:t>
            </a:r>
            <a:endParaRPr b="0" lang="fr-F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6"/>
          <p:cNvSpPr/>
          <p:nvPr/>
        </p:nvSpPr>
        <p:spPr>
          <a:xfrm>
            <a:off x="2377440" y="4297680"/>
            <a:ext cx="1416600" cy="31032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DK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0" name="Text 7"/>
          <p:cNvSpPr/>
          <p:nvPr/>
        </p:nvSpPr>
        <p:spPr>
          <a:xfrm>
            <a:off x="2377440" y="4297680"/>
            <a:ext cx="141660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d97a2b"/>
                </a:solidFill>
                <a:effectLst/>
                <a:uFillTx/>
                <a:latin typeface="Calibri"/>
                <a:ea typeface="Calibri"/>
              </a:rPr>
              <a:t>mcxtrace.org</a:t>
            </a:r>
            <a:endParaRPr b="0" lang="fr-F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8"/>
          <p:cNvSpPr/>
          <p:nvPr/>
        </p:nvSpPr>
        <p:spPr>
          <a:xfrm>
            <a:off x="822960" y="5806440"/>
            <a:ext cx="2926080" cy="360"/>
          </a:xfrm>
          <a:prstGeom prst="line">
            <a:avLst/>
          </a:prstGeom>
          <a:ln w="12700">
            <a:solidFill>
              <a:srgbClr val="3c4a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DK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2" name="Text 9"/>
          <p:cNvSpPr/>
          <p:nvPr/>
        </p:nvSpPr>
        <p:spPr>
          <a:xfrm>
            <a:off x="822960" y="5897880"/>
            <a:ext cx="73144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aab6de"/>
                </a:solidFill>
                <a:effectLst/>
                <a:uFillTx/>
                <a:latin typeface="Calibri"/>
                <a:ea typeface="Calibri"/>
              </a:rPr>
              <a:t>Peter Willendrup   ·   pkwi@fysik.dtu.dk   ·   DTU Physics</a:t>
            </a:r>
            <a:endParaRPr b="0" lang="fr-FR" sz="12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10"/>
          <p:cNvSpPr/>
          <p:nvPr/>
        </p:nvSpPr>
        <p:spPr>
          <a:xfrm>
            <a:off x="54864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{presentation title</a:t>
            </a:r>
            <a:endParaRPr b="0" lang="fr-FR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11"/>
          <p:cNvSpPr/>
          <p:nvPr/>
        </p:nvSpPr>
        <p:spPr>
          <a:xfrm>
            <a:off x="1118592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17</a:t>
            </a:r>
            <a:endParaRPr b="0" lang="fr-FR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PartnerCard"/>
          <p:cNvSpPr/>
          <p:nvPr/>
        </p:nvSpPr>
        <p:spPr>
          <a:xfrm>
            <a:off x="6603840" y="4165560"/>
            <a:ext cx="4952160" cy="1573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horzOverflow="clip" vertOverflow="clip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DK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" name="PartnerLabel"/>
          <p:cNvSpPr/>
          <p:nvPr/>
        </p:nvSpPr>
        <p:spPr>
          <a:xfrm>
            <a:off x="6921360" y="4368960"/>
            <a:ext cx="43171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GB" sz="1100" strike="noStrike" u="none">
                <a:solidFill>
                  <a:srgbClr val="1c7293"/>
                </a:solidFill>
                <a:effectLst/>
                <a:uFillTx/>
                <a:latin typeface="Calibri"/>
              </a:rPr>
              <a:t>SUPPORTED BY</a:t>
            </a:r>
            <a:endParaRPr b="0" lang="fr-F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7" name="Picture 15" descr=""/>
          <p:cNvPicPr/>
          <p:nvPr/>
        </p:nvPicPr>
        <p:blipFill>
          <a:blip r:embed="rId1"/>
          <a:stretch/>
        </p:blipFill>
        <p:spPr>
          <a:xfrm>
            <a:off x="6921360" y="4749840"/>
            <a:ext cx="4317120" cy="639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8" name="Copied Picture 17" descr=""/>
          <p:cNvPicPr/>
          <p:nvPr/>
        </p:nvPicPr>
        <p:blipFill>
          <a:blip r:embed="rId2"/>
          <a:srcRect l="11719" t="16991" r="0" b="0"/>
          <a:stretch/>
        </p:blipFill>
        <p:spPr>
          <a:xfrm>
            <a:off x="10375920" y="355680"/>
            <a:ext cx="1269360" cy="65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" name="LogoCard"/>
          <p:cNvSpPr/>
          <p:nvPr/>
        </p:nvSpPr>
        <p:spPr>
          <a:xfrm>
            <a:off x="7375680" y="2105640"/>
            <a:ext cx="3809160" cy="1497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horzOverflow="clip" vertOverflow="clip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DK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pSp>
        <p:nvGrpSpPr>
          <p:cNvPr id="80" name="Group 18"/>
          <p:cNvGrpSpPr/>
          <p:nvPr/>
        </p:nvGrpSpPr>
        <p:grpSpPr>
          <a:xfrm>
            <a:off x="7882560" y="2194200"/>
            <a:ext cx="2795760" cy="1320840"/>
            <a:chOff x="7882560" y="2194200"/>
            <a:chExt cx="2795760" cy="1320840"/>
          </a:xfrm>
        </p:grpSpPr>
        <p:grpSp>
          <p:nvGrpSpPr>
            <p:cNvPr id="81" name="Group 19"/>
            <p:cNvGrpSpPr/>
            <p:nvPr/>
          </p:nvGrpSpPr>
          <p:grpSpPr>
            <a:xfrm>
              <a:off x="9289440" y="2194200"/>
              <a:ext cx="1388880" cy="1257840"/>
              <a:chOff x="9289440" y="2194200"/>
              <a:chExt cx="1388880" cy="1257840"/>
            </a:xfrm>
          </p:grpSpPr>
          <p:pic>
            <p:nvPicPr>
              <p:cNvPr id="82" name="Picture 21" descr=""/>
              <p:cNvPicPr/>
              <p:nvPr/>
            </p:nvPicPr>
            <p:blipFill>
              <a:blip r:embed="rId3"/>
              <a:srcRect l="48137" t="0" r="0" b="0"/>
              <a:stretch/>
            </p:blipFill>
            <p:spPr>
              <a:xfrm>
                <a:off x="9339120" y="2194200"/>
                <a:ext cx="1293840" cy="77544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83" name="Picture 22" descr="Synchrotron SOLEIL"/>
              <p:cNvPicPr/>
              <p:nvPr/>
            </p:nvPicPr>
            <p:blipFill>
              <a:blip r:embed="rId4"/>
              <a:stretch/>
            </p:blipFill>
            <p:spPr>
              <a:xfrm>
                <a:off x="9289440" y="2922840"/>
                <a:ext cx="962640" cy="46476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84" name="Picture 23" descr="DTU Physics"/>
              <p:cNvPicPr/>
              <p:nvPr/>
            </p:nvPicPr>
            <p:blipFill>
              <a:blip r:embed="rId5"/>
              <a:stretch/>
            </p:blipFill>
            <p:spPr>
              <a:xfrm>
                <a:off x="10325160" y="2931480"/>
                <a:ext cx="353160" cy="52056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  <p:pic>
          <p:nvPicPr>
            <p:cNvPr id="85" name="Picture 20" descr=""/>
            <p:cNvPicPr/>
            <p:nvPr/>
          </p:nvPicPr>
          <p:blipFill>
            <a:blip r:embed="rId6"/>
            <a:stretch/>
          </p:blipFill>
          <p:spPr>
            <a:xfrm>
              <a:off x="7882560" y="2198880"/>
              <a:ext cx="1293840" cy="131616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240</TotalTime>
  <Application>LibreOffice/25.2.3.2$Linux_X86_64 LibreOffice_project/520$Build-2</Application>
  <AppVersion>15.0000</AppVersion>
  <Words>1713</Words>
  <Paragraphs>325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2026-09-04T14:34:15Z</dcterms:created>
  <dc:creator>Emmanuel FARHI</dc:creator>
  <dc:description/>
  <dc:language>fr-FR</dc:language>
  <cp:lastModifiedBy>Emmanuel FARHI</cp:lastModifiedBy>
  <dcterms:modified xsi:type="dcterms:W3CDTF">2026-09-10T17:32:23Z</dcterms:modified>
  <cp:revision>33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18</vt:i4>
  </property>
  <property fmtid="{D5CDD505-2E9C-101B-9397-08002B2CF9AE}" pid="3" name="PresentationFormat">
    <vt:lpwstr>Widescreen</vt:lpwstr>
  </property>
  <property fmtid="{D5CDD505-2E9C-101B-9397-08002B2CF9AE}" pid="4" name="Slides">
    <vt:i4>18</vt:i4>
  </property>
</Properties>
</file>