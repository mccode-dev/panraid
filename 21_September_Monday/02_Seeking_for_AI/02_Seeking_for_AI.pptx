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2" Type="http://schemas.openxmlformats.org/officeDocument/2006/relationships/viewProps" Target="viewProps.xml" /><Relationship Id="rId1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4" Type="http://schemas.openxmlformats.org/officeDocument/2006/relationships/tableStyles" Target="tableStyles.xml" /><Relationship Id="rId1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Seeking for AI: Realistic Datasets for Photons and Neutrons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PaNRAID School · Supported by PEPR DIADEM</a:t>
            </a:r>
          </a:p>
          <a:p>
            <a:pPr lvl="0" indent="0" marL="0">
              <a:buNone/>
            </a:pPr>
            <a:r>
              <a:rPr b="1"/>
              <a:t>Objective</a:t>
            </a:r>
            <a:r>
              <a:rPr/>
              <a:t>: Explore how AI can leverage simulated photon and neutron datasets to solve inverse problems, optimize experiments, and train surrogate models.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“Photons and Neutrons”?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Shared Physics and Simulation Capabilities</a:t>
            </a:r>
          </a:p>
          <a:p>
            <a:pPr lvl="0"/>
            <a:r>
              <a:rPr b="1"/>
              <a:t>Similar Interaction Processes</a:t>
            </a:r>
            <a:r>
              <a:rPr/>
              <a:t>:</a:t>
            </a:r>
          </a:p>
          <a:p>
            <a:pPr lvl="1"/>
            <a:r>
              <a:rPr b="1"/>
              <a:t>Absorption</a:t>
            </a:r>
            <a:r>
              <a:rPr/>
              <a:t>: Energy transfer to the material (e.g., photoelectric effect for X-rays, neutron capture).</a:t>
            </a:r>
          </a:p>
          <a:p>
            <a:pPr lvl="1"/>
            <a:r>
              <a:rPr b="1"/>
              <a:t>Scattering</a:t>
            </a:r>
            <a:r>
              <a:rPr/>
              <a:t>:</a:t>
            </a:r>
          </a:p>
          <a:p>
            <a:pPr lvl="2"/>
            <a:r>
              <a:rPr i="1"/>
              <a:t>Elastic</a:t>
            </a:r>
            <a:r>
              <a:rPr/>
              <a:t>: Structure analysis (e.g., Bragg diffraction for X-rays, neutron diffraction).</a:t>
            </a:r>
          </a:p>
          <a:p>
            <a:pPr lvl="2"/>
            <a:r>
              <a:rPr i="1"/>
              <a:t>Inelastic</a:t>
            </a:r>
            <a:r>
              <a:rPr/>
              <a:t>: Dynamics analysis (e.g., Raman scattering for X-rays, neutron inelastic scattering).</a:t>
            </a:r>
          </a:p>
          <a:p>
            <a:pPr lvl="1"/>
            <a:r>
              <a:rPr b="1"/>
              <a:t>Decay</a:t>
            </a:r>
            <a:r>
              <a:rPr/>
              <a:t>: Time-resolved studies (e.g., fluorescence, neutron activation).</a:t>
            </a:r>
          </a:p>
          <a:p>
            <a:pPr lvl="0"/>
            <a:r>
              <a:rPr b="1"/>
              <a:t>Simulation Tools</a:t>
            </a:r>
            <a:r>
              <a:rPr/>
              <a:t>:</a:t>
            </a:r>
          </a:p>
          <a:p>
            <a:pPr lvl="1"/>
            <a:r>
              <a:rPr b="1"/>
              <a:t>McStas</a:t>
            </a:r>
            <a:r>
              <a:rPr/>
              <a:t>: Monte Carlo simulator for neutron scattering instruments.</a:t>
            </a:r>
          </a:p>
          <a:p>
            <a:pPr lvl="1"/>
            <a:r>
              <a:rPr b="1"/>
              <a:t>McXtrace</a:t>
            </a:r>
            <a:r>
              <a:rPr/>
              <a:t>: Monte Carlo simulator for X-ray instruments.</a:t>
            </a:r>
          </a:p>
          <a:p>
            <a:pPr lvl="1"/>
            <a:r>
              <a:rPr/>
              <a:t>Both enable realistic modeling of beamlines, detectors, and sample interactions.</a:t>
            </a:r>
          </a:p>
          <a:p>
            <a:pPr lvl="0"/>
            <a:r>
              <a:rPr b="1"/>
              <a:t>Why Simulations Matter</a:t>
            </a:r>
            <a:r>
              <a:rPr/>
              <a:t>:</a:t>
            </a:r>
          </a:p>
          <a:p>
            <a:pPr lvl="1"/>
            <a:r>
              <a:rPr b="1"/>
              <a:t>Realism</a:t>
            </a:r>
            <a:r>
              <a:rPr/>
              <a:t>: Capture complex instrument geometries and material responses.</a:t>
            </a:r>
          </a:p>
          <a:p>
            <a:pPr lvl="1"/>
            <a:r>
              <a:rPr b="1"/>
              <a:t>Flexibility</a:t>
            </a:r>
            <a:r>
              <a:rPr/>
              <a:t>: Test hypothetical setups or extreme conditions (e.g., high pressures, temperatures).</a:t>
            </a:r>
          </a:p>
          <a:p>
            <a:pPr lvl="1"/>
            <a:r>
              <a:rPr b="1"/>
              <a:t>Cost-Effective</a:t>
            </a:r>
            <a:r>
              <a:rPr/>
              <a:t>: Avoid expensive trial-and-error on real instruments.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Realistic AI Datasets?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Problem with Experimental Data</a:t>
            </a:r>
          </a:p>
          <a:p>
            <a:pPr lvl="0"/>
            <a:r>
              <a:rPr b="1"/>
              <a:t>Lack of Annotations</a:t>
            </a:r>
            <a:r>
              <a:rPr/>
              <a:t>:</a:t>
            </a:r>
          </a:p>
          <a:p>
            <a:pPr lvl="1"/>
            <a:r>
              <a:rPr/>
              <a:t>Raw data often lacks metadata (e.g., sample composition, instrument settings).</a:t>
            </a:r>
          </a:p>
          <a:p>
            <a:pPr lvl="1"/>
            <a:r>
              <a:rPr/>
              <a:t>Manual annotation is time-consuming and error-prone.</a:t>
            </a:r>
          </a:p>
          <a:p>
            <a:pPr lvl="0"/>
            <a:r>
              <a:rPr b="1"/>
              <a:t>Publications as Implicit Annotations</a:t>
            </a:r>
            <a:r>
              <a:rPr/>
              <a:t>:</a:t>
            </a:r>
          </a:p>
          <a:p>
            <a:pPr lvl="1"/>
            <a:r>
              <a:rPr/>
              <a:t>Papers describe experimental conditions, but formats vary widely.</a:t>
            </a:r>
          </a:p>
          <a:p>
            <a:pPr lvl="1"/>
            <a:r>
              <a:rPr/>
              <a:t>Not machine-readable or standardized for AI training.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The Power of Simulated Data</a:t>
            </a:r>
          </a:p>
          <a:p>
            <a:pPr lvl="0"/>
            <a:r>
              <a:rPr b="1"/>
              <a:t>Controlled Parameters</a:t>
            </a:r>
            <a:r>
              <a:rPr/>
              <a:t>:</a:t>
            </a:r>
          </a:p>
          <a:p>
            <a:pPr lvl="1"/>
            <a:r>
              <a:rPr/>
              <a:t>Every input (e.g., sample thickness, detector angle) is known and adjustable.</a:t>
            </a:r>
          </a:p>
          <a:p>
            <a:pPr lvl="1"/>
            <a:r>
              <a:rPr/>
              <a:t>Outputs (e.g., scattering patterns, spectra) are directly linked to inputs.</a:t>
            </a:r>
          </a:p>
          <a:p>
            <a:pPr lvl="0"/>
            <a:r>
              <a:rPr b="1"/>
              <a:t>Pipeline Workflow</a:t>
            </a:r>
            <a:r>
              <a:rPr/>
              <a:t>:</a:t>
            </a:r>
          </a:p>
          <a:p>
            <a:pPr lvl="1"/>
            <a:r>
              <a:rPr/>
              <a:t>Parameters → [Simulation (McStas/McXtrace)] → Virtual “Measurement”</a:t>
            </a:r>
          </a:p>
          <a:p>
            <a:pPr lvl="1" indent="0" marL="342900">
              <a:buNone/>
            </a:pPr>
            <a:r>
              <a:rPr/>
              <a:t>Example: Simulate a neutron scattering experiment with varying sample temperatures.</a:t>
            </a:r>
          </a:p>
          <a:p>
            <a:pPr lvl="0"/>
            <a:r>
              <a:rPr b="1"/>
              <a:t>Inverse Problem</a:t>
            </a:r>
            <a:r>
              <a:rPr/>
              <a:t>:</a:t>
            </a:r>
          </a:p>
          <a:p>
            <a:pPr lvl="0"/>
            <a:r>
              <a:rPr b="1"/>
              <a:t>Goal</a:t>
            </a:r>
            <a:r>
              <a:rPr/>
              <a:t>: Reconstruct input parameters from measured data.</a:t>
            </a:r>
          </a:p>
          <a:p>
            <a:pPr lvl="0"/>
            <a:r>
              <a:rPr b="1"/>
              <a:t>AI Approach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Measurement → [AI Algorithm (e.g., CNN, Bayesian Optimization)] → Parameters</a:t>
            </a:r>
          </a:p>
          <a:p>
            <a:pPr lvl="0"/>
            <a:r>
              <a:rPr/>
              <a:t>Example: Predict sample composition from a scattering pattern.</a:t>
            </a:r>
          </a:p>
          <a:p>
            <a:pPr lvl="0"/>
            <a:r>
              <a:rPr b="1"/>
              <a:t>Surrogate Models</a:t>
            </a:r>
            <a:r>
              <a:rPr/>
              <a:t>:</a:t>
            </a:r>
          </a:p>
          <a:p>
            <a:pPr lvl="0"/>
            <a:r>
              <a:rPr b="1"/>
              <a:t>Purpose</a:t>
            </a:r>
            <a:r>
              <a:rPr/>
              <a:t>: Replace slow simulations with fast AI models.</a:t>
            </a:r>
          </a:p>
          <a:p>
            <a:pPr lvl="0"/>
            <a:r>
              <a:rPr b="1"/>
              <a:t>Pipeline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Parameters → [AI Model (e.g., Neural Network)] → Virtual "Measurement" (1000x faster)</a:t>
            </a:r>
          </a:p>
          <a:p>
            <a:pPr lvl="0"/>
            <a:r>
              <a:rPr b="1"/>
              <a:t>Use Case</a:t>
            </a:r>
            <a:r>
              <a:rPr/>
              <a:t>: Real-time optimization of beamline configurations.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General AI Methodology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AI as a Universal Function Approximator</a:t>
            </a:r>
          </a:p>
          <a:p>
            <a:pPr lvl="0"/>
            <a:r>
              <a:rPr b="1"/>
              <a:t>Black Box Concept</a:t>
            </a:r>
            <a:r>
              <a:rPr/>
              <a:t>:</a:t>
            </a:r>
          </a:p>
          <a:p>
            <a:pPr lvl="0"/>
            <a:r>
              <a:rPr/>
              <a:t>Input (e.g., scattering pattern) → [AI Model] → Output (e.g., sample density).</a:t>
            </a:r>
          </a:p>
          <a:p>
            <a:pPr lvl="0"/>
            <a:r>
              <a:rPr b="1"/>
              <a:t>Universal Approximation Theorem</a:t>
            </a:r>
            <a:r>
              <a:rPr/>
              <a:t>: A neural network can approximate any continuous function given sufficient data and complexity.</a:t>
            </a:r>
          </a:p>
          <a:p>
            <a:pPr lvl="0"/>
            <a:r>
              <a:rPr b="1"/>
              <a:t>General Behavior</a:t>
            </a:r>
            <a:r>
              <a:rPr/>
              <a:t>:</a:t>
            </a:r>
          </a:p>
          <a:p>
            <a:pPr lvl="0"/>
            <a:r>
              <a:rPr/>
              <a:t>All AI methods (CNNs, RNNs, SVMs) follow the same principle: </a:t>
            </a:r>
            <a:r>
              <a:rPr b="1"/>
              <a:t>map inputs to outputs via learned weights</a:t>
            </a:r>
            <a:r>
              <a:rPr/>
              <a:t>.</a:t>
            </a:r>
          </a:p>
          <a:p>
            <a:pPr lvl="0"/>
            <a:r>
              <a:rPr/>
              <a:t>Differences lie in architecture, training efficiency, and interpretability.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Training: The Core Process</a:t>
            </a:r>
          </a:p>
          <a:p>
            <a:pPr lvl="0"/>
            <a:r>
              <a:rPr b="1"/>
              <a:t>Objective</a:t>
            </a:r>
            <a:r>
              <a:rPr/>
              <a:t>: Minimize the </a:t>
            </a:r>
            <a:r>
              <a:rPr b="1"/>
              <a:t>loss function</a:t>
            </a:r>
            <a:r>
              <a:rPr/>
              <a:t> (e.g., Mean Squared Error, Cross-Entropy).</a:t>
            </a:r>
          </a:p>
          <a:p>
            <a:pPr lvl="0"/>
            <a:r>
              <a:rPr b="1"/>
              <a:t>Loss Function</a:t>
            </a:r>
            <a:r>
              <a:rPr/>
              <a:t>: Measures the difference between predicted and actual outputs.</a:t>
            </a:r>
          </a:p>
          <a:p>
            <a:pPr lvl="0"/>
            <a:r>
              <a:rPr b="1"/>
              <a:t>Steps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 b="1"/>
              <a:t>Forward Pass</a:t>
            </a:r>
            <a:r>
              <a:rPr/>
              <a:t>: Compute predictions for a batch of training data.</a:t>
            </a:r>
          </a:p>
          <a:p>
            <a:pPr lvl="0" indent="-342900" marL="342900">
              <a:buAutoNum type="arabicPeriod"/>
            </a:pPr>
            <a:r>
              <a:rPr b="1"/>
              <a:t>Loss Calculation</a:t>
            </a:r>
            <a:r>
              <a:rPr/>
              <a:t>: Evaluate how far predictions are from true values.</a:t>
            </a:r>
          </a:p>
          <a:p>
            <a:pPr lvl="0" indent="-342900" marL="342900">
              <a:buAutoNum type="arabicPeriod"/>
            </a:pPr>
            <a:r>
              <a:rPr b="1"/>
              <a:t>Backpropagation</a:t>
            </a:r>
            <a:r>
              <a:rPr/>
              <a:t>: Compute gradients of the loss with respect to weights.</a:t>
            </a:r>
          </a:p>
          <a:p>
            <a:pPr lvl="0" indent="-342900" marL="342900">
              <a:buAutoNum type="arabicPeriod"/>
            </a:pPr>
            <a:r>
              <a:rPr b="1"/>
              <a:t>Optimization</a:t>
            </a:r>
            <a:r>
              <a:rPr/>
              <a:t>: Update weights using an optimizer (e.g., Adam, SGD).</a:t>
            </a:r>
          </a:p>
          <a:p>
            <a:pPr lvl="0"/>
            <a:r>
              <a:rPr b="1"/>
              <a:t>Key Factors for Success</a:t>
            </a:r>
            <a:r>
              <a:rPr/>
              <a:t>:</a:t>
            </a:r>
          </a:p>
          <a:p>
            <a:pPr lvl="0"/>
            <a:r>
              <a:rPr b="1"/>
              <a:t>Data Quality</a:t>
            </a:r>
            <a:r>
              <a:rPr/>
              <a:t>: High-fidelity simulations with diverse parameters.</a:t>
            </a:r>
          </a:p>
          <a:p>
            <a:pPr lvl="0"/>
            <a:r>
              <a:rPr b="1"/>
              <a:t>Model Architecture</a:t>
            </a:r>
            <a:r>
              <a:rPr/>
              <a:t>: Match complexity to the problem (e.g., CNNs for images, Transformers for sequences).</a:t>
            </a:r>
          </a:p>
          <a:p>
            <a:pPr lvl="0"/>
            <a:r>
              <a:rPr b="1"/>
              <a:t>Hyperparameters</a:t>
            </a:r>
            <a:r>
              <a:rPr/>
              <a:t>: Learning rate, batch size, number of epochs.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You Will Learn and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Hands-On Skills</a:t>
            </a:r>
          </a:p>
          <a:p>
            <a:pPr lvl="0" indent="-342900" marL="342900">
              <a:buAutoNum type="arabicPeriod"/>
            </a:pPr>
            <a:r>
              <a:rPr b="1"/>
              <a:t>Setting Up Simulations</a:t>
            </a:r>
            <a:r>
              <a:rPr/>
              <a:t>:</a:t>
            </a:r>
          </a:p>
          <a:p>
            <a:pPr lvl="0"/>
            <a:r>
              <a:rPr/>
              <a:t>Configure beamlines/instruments in </a:t>
            </a:r>
            <a:r>
              <a:rPr b="1"/>
              <a:t>McStas</a:t>
            </a:r>
            <a:r>
              <a:rPr/>
              <a:t> (neutrons) and </a:t>
            </a:r>
            <a:r>
              <a:rPr b="1"/>
              <a:t>McXtrace</a:t>
            </a:r>
            <a:r>
              <a:rPr/>
              <a:t> (X-rays).</a:t>
            </a:r>
          </a:p>
          <a:p>
            <a:pPr lvl="0"/>
            <a:r>
              <a:rPr/>
              <a:t>Define sample properties (e.g., crystal structure, composition).</a:t>
            </a:r>
          </a:p>
          <a:p>
            <a:pPr lvl="0" indent="-342900" marL="342900">
              <a:buAutoNum startAt="2" type="arabicPeriod"/>
            </a:pPr>
            <a:r>
              <a:rPr b="1"/>
              <a:t>Characterizing Models</a:t>
            </a:r>
            <a:r>
              <a:rPr/>
              <a:t>:</a:t>
            </a:r>
          </a:p>
          <a:p>
            <a:pPr lvl="0"/>
            <a:r>
              <a:rPr/>
              <a:t>Analyze geometry (e.g., detector positions, slit sizes).</a:t>
            </a:r>
          </a:p>
          <a:p>
            <a:pPr lvl="0"/>
            <a:r>
              <a:rPr/>
              <a:t>Extract parameters (e.g., resolution, flux) and results (e.g., spectra, diffraction patterns).</a:t>
            </a:r>
          </a:p>
          <a:p>
            <a:pPr lvl="0" indent="-342900" marL="342900">
              <a:buAutoNum startAt="3" type="arabicPeriod"/>
            </a:pPr>
            <a:r>
              <a:rPr b="1"/>
              <a:t>Generating Datasets</a:t>
            </a:r>
            <a:r>
              <a:rPr/>
              <a:t>:</a:t>
            </a:r>
          </a:p>
          <a:p>
            <a:pPr lvl="0"/>
            <a:r>
              <a:rPr/>
              <a:t>Automate simulations across parameter ranges (e.g., vary temperature, pressure).</a:t>
            </a:r>
          </a:p>
          <a:p>
            <a:pPr lvl="0"/>
            <a:r>
              <a:rPr/>
              <a:t>Output: Labeled datasets of </a:t>
            </a:r>
            <a:r>
              <a:rPr>
                <a:latin typeface="Courier"/>
              </a:rPr>
              <a:t>(input_parameters, virtual_measurements)</a:t>
            </a:r>
            <a:r>
              <a:rPr/>
              <a:t>.</a:t>
            </a:r>
          </a:p>
          <a:p>
            <a:pPr lvl="0" indent="-342900" marL="342900">
              <a:buAutoNum startAt="4" type="arabicPeriod"/>
            </a:pPr>
            <a:r>
              <a:rPr b="1"/>
              <a:t>Surrogate Modeling</a:t>
            </a:r>
            <a:r>
              <a:rPr/>
              <a:t>:</a:t>
            </a:r>
          </a:p>
          <a:p>
            <a:pPr lvl="0"/>
            <a:r>
              <a:rPr/>
              <a:t>Train AI models (e.g., neural networks) to mimic simulations.</a:t>
            </a:r>
          </a:p>
          <a:p>
            <a:pPr lvl="0"/>
            <a:r>
              <a:rPr b="1"/>
              <a:t>Example</a:t>
            </a:r>
            <a:r>
              <a:rPr/>
              <a:t>: Replace a 1-hour simulation with a 1-second AI prediction.</a:t>
            </a:r>
          </a:p>
          <a:p>
            <a:pPr lvl="0" indent="-342900" marL="342900">
              <a:buAutoNum startAt="5" type="arabicPeriod"/>
            </a:pPr>
            <a:r>
              <a:rPr b="1"/>
              <a:t>Solving Inverse Problems</a:t>
            </a:r>
            <a:r>
              <a:rPr/>
              <a:t>:</a:t>
            </a:r>
          </a:p>
          <a:p>
            <a:pPr lvl="0"/>
            <a:r>
              <a:rPr/>
              <a:t>Use AI to predict parameters from virtual/real measurements.</a:t>
            </a:r>
          </a:p>
          <a:p>
            <a:pPr lvl="0"/>
            <a:r>
              <a:rPr b="1"/>
              <a:t>Example</a:t>
            </a:r>
            <a:r>
              <a:rPr/>
              <a:t>: Given a scattering pattern, estimate sample thickness and composition.</a:t>
            </a:r>
          </a:p>
          <a:p>
            <a:pPr lvl="0" indent="-342900" marL="342900">
              <a:buAutoNum startAt="6" type="arabicPeriod"/>
            </a:pPr>
            <a:r>
              <a:rPr b="1"/>
              <a:t>Experimenting with Algorithms</a:t>
            </a:r>
            <a:r>
              <a:rPr/>
              <a:t>:</a:t>
            </a:r>
          </a:p>
          <a:p>
            <a:pPr lvl="0"/>
            <a:r>
              <a:rPr/>
              <a:t>Compare methods:</a:t>
            </a:r>
          </a:p>
          <a:p>
            <a:pPr lvl="1"/>
            <a:r>
              <a:rPr b="1"/>
              <a:t>Neural Networks</a:t>
            </a:r>
            <a:r>
              <a:rPr/>
              <a:t>: High accuracy, requires large data.</a:t>
            </a:r>
          </a:p>
          <a:p>
            <a:pPr lvl="1"/>
            <a:r>
              <a:rPr b="1"/>
              <a:t>Gaussian Processes</a:t>
            </a:r>
            <a:r>
              <a:rPr/>
              <a:t>: Uncertainty quantification, slower for large datasets.</a:t>
            </a:r>
          </a:p>
          <a:p>
            <a:pPr lvl="1"/>
            <a:r>
              <a:rPr b="1"/>
              <a:t>Random Forests</a:t>
            </a:r>
            <a:r>
              <a:rPr/>
              <a:t>: Interpretable, robust to noise.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You Will Use (Resources)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Tools and Infrastructure</a:t>
            </a:r>
          </a:p>
          <a:p>
            <a:pPr lvl="0"/>
            <a:r>
              <a:rPr b="1"/>
              <a:t>Your Laptop</a:t>
            </a:r>
            <a:r>
              <a:rPr/>
              <a:t>:</a:t>
            </a:r>
          </a:p>
          <a:p>
            <a:pPr lvl="0"/>
            <a:r>
              <a:rPr/>
              <a:t>Local development and testing.</a:t>
            </a:r>
          </a:p>
          <a:p>
            <a:pPr lvl="0"/>
            <a:r>
              <a:rPr/>
              <a:t>Run lightweight simulations (e.g., small McStas/McXtrace models).</a:t>
            </a:r>
          </a:p>
          <a:p>
            <a:pPr lvl="0"/>
            <a:r>
              <a:rPr b="1"/>
              <a:t>Local Mini-Server</a:t>
            </a:r>
            <a:r>
              <a:rPr/>
              <a:t>:</a:t>
            </a:r>
          </a:p>
          <a:p>
            <a:pPr lvl="0"/>
            <a:r>
              <a:rPr/>
              <a:t>Host datasets and share results with collaborators.</a:t>
            </a:r>
          </a:p>
          <a:p>
            <a:pPr lvl="0"/>
            <a:r>
              <a:rPr/>
              <a:t>Example: JupyterHub for interactive analysis.</a:t>
            </a:r>
          </a:p>
          <a:p>
            <a:pPr lvl="0"/>
            <a:r>
              <a:rPr b="1"/>
              <a:t>Remote Computing Service</a:t>
            </a:r>
            <a:r>
              <a:rPr/>
              <a:t>:</a:t>
            </a:r>
          </a:p>
          <a:p>
            <a:pPr lvl="0"/>
            <a:r>
              <a:rPr b="1"/>
              <a:t>High-Performance Computing (HPC)</a:t>
            </a:r>
            <a:r>
              <a:rPr/>
              <a:t>: Run large-scale simulations (e.g., clusters, cloud).</a:t>
            </a:r>
          </a:p>
          <a:p>
            <a:pPr lvl="0"/>
            <a:r>
              <a:rPr b="1"/>
              <a:t>GPU Nodes</a:t>
            </a:r>
            <a:r>
              <a:rPr/>
              <a:t>: Train deep learning models efficiently.</a:t>
            </a:r>
          </a:p>
          <a:p>
            <a:pPr lvl="0"/>
            <a:r>
              <a:rPr b="1"/>
              <a:t>Your Brain</a:t>
            </a:r>
            <a:r>
              <a:rPr/>
              <a:t>:</a:t>
            </a:r>
          </a:p>
          <a:p>
            <a:pPr lvl="0"/>
            <a:r>
              <a:rPr/>
              <a:t>Design experiments, debug models, and interpret results.</a:t>
            </a:r>
          </a:p>
          <a:p>
            <a:pPr lvl="0"/>
            <a:r>
              <a:rPr/>
              <a:t>Collaborate with peers to tackle complex problems.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Summary and 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Takeaways</a:t>
            </a:r>
          </a:p>
          <a:p>
            <a:pPr lvl="0"/>
            <a:r>
              <a:rPr b="1"/>
              <a:t>AI + Simulations = Powerful Combination</a:t>
            </a:r>
            <a:r>
              <a:rPr/>
              <a:t>:</a:t>
            </a:r>
          </a:p>
          <a:p>
            <a:pPr lvl="0"/>
            <a:r>
              <a:rPr/>
              <a:t>Simulations provide </a:t>
            </a:r>
            <a:r>
              <a:rPr b="1"/>
              <a:t>realistic, labeled data</a:t>
            </a:r>
            <a:r>
              <a:rPr/>
              <a:t> for training AI.</a:t>
            </a:r>
          </a:p>
          <a:p>
            <a:pPr lvl="0"/>
            <a:r>
              <a:rPr/>
              <a:t>AI enables </a:t>
            </a:r>
            <a:r>
              <a:rPr b="1"/>
              <a:t>fast predictions</a:t>
            </a:r>
            <a:r>
              <a:rPr/>
              <a:t> and </a:t>
            </a:r>
            <a:r>
              <a:rPr b="1"/>
              <a:t>inverse problem-solving</a:t>
            </a:r>
            <a:r>
              <a:rPr/>
              <a:t>.</a:t>
            </a:r>
          </a:p>
          <a:p>
            <a:pPr lvl="0"/>
            <a:r>
              <a:rPr b="1"/>
              <a:t>Applications</a:t>
            </a:r>
            <a:r>
              <a:rPr/>
              <a:t>:</a:t>
            </a:r>
          </a:p>
          <a:p>
            <a:pPr lvl="0"/>
            <a:r>
              <a:rPr/>
              <a:t>Optimize beamline designs.</a:t>
            </a:r>
          </a:p>
          <a:p>
            <a:pPr lvl="0"/>
            <a:r>
              <a:rPr/>
              <a:t>Accelerate material discovery (e.g., predict properties from scattering data).</a:t>
            </a:r>
          </a:p>
          <a:p>
            <a:pPr lvl="0"/>
            <a:r>
              <a:rPr/>
              <a:t>Reduce reliance on expensive experimental time.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Next Steps for You</a:t>
            </a:r>
          </a:p>
          <a:p>
            <a:pPr lvl="0" indent="-342900" marL="342900">
              <a:buAutoNum type="arabicPeriod"/>
            </a:pPr>
            <a:r>
              <a:rPr b="1"/>
              <a:t>Start Small</a:t>
            </a:r>
            <a:r>
              <a:rPr/>
              <a:t>: Simulate a simple experiment (e.g., neutron diffraction from a known crystal).</a:t>
            </a:r>
          </a:p>
          <a:p>
            <a:pPr lvl="0" indent="-342900" marL="342900">
              <a:buAutoNum type="arabicPeriod"/>
            </a:pPr>
            <a:r>
              <a:rPr b="1"/>
              <a:t>Generate Data</a:t>
            </a:r>
            <a:r>
              <a:rPr/>
              <a:t>: Create a dataset with 100–1000 parameter combinations.</a:t>
            </a:r>
          </a:p>
          <a:p>
            <a:pPr lvl="0" indent="-342900" marL="342900">
              <a:buAutoNum type="arabicPeriod"/>
            </a:pPr>
            <a:r>
              <a:rPr b="1"/>
              <a:t>Train a Model</a:t>
            </a:r>
            <a:r>
              <a:rPr/>
              <a:t>: Use a neural network to predict parameters from simulated outputs.</a:t>
            </a:r>
          </a:p>
          <a:p>
            <a:pPr lvl="0" indent="-342900" marL="342900">
              <a:buAutoNum type="arabicPeriod"/>
            </a:pPr>
            <a:r>
              <a:rPr b="1"/>
              <a:t>Validate</a:t>
            </a:r>
            <a:r>
              <a:rPr/>
              <a:t>: Test the model on real experimental data (if available).</a:t>
            </a:r>
          </a:p>
          <a:p>
            <a:pPr lvl="0" indent="-342900" marL="342900">
              <a:buAutoNum type="arabicPeriod"/>
            </a:pPr>
            <a:r>
              <a:rPr b="1"/>
              <a:t>Iterate</a:t>
            </a:r>
            <a:r>
              <a:rPr/>
              <a:t>: Refine the model and expand to more complex problems.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Questions?</a:t>
            </a:r>
          </a:p>
          <a:p>
            <a:pPr lvl="0" indent="0" marL="0">
              <a:buNone/>
            </a:pPr>
            <a:r>
              <a:rPr b="1"/>
              <a:t>Contact</a:t>
            </a:r>
            <a:r>
              <a:rPr/>
              <a:t>: Emmanuel Farhi · [Your Affiliation/Email]</a:t>
            </a:r>
          </a:p>
          <a:p>
            <a:pPr lvl="0" indent="0" marL="0">
              <a:buNone/>
            </a:pPr>
            <a:r>
              <a:rPr i="1"/>
              <a:t>Supported by PEPR DIADEM and Partner Organizations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2026-09-04T14:28:36Z</dcterms:created>
  <dcterms:modified xsi:type="dcterms:W3CDTF">2026-09-04T14:28:36Z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