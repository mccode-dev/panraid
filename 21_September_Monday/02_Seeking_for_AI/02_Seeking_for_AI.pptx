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webextensions/taskpanes.xml" ContentType="application/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media/image6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gif" ContentType="image/gif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2F5D849-528E-4EDB-A483-865816AF0A7C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7C9940-2745-4AA6-A221-3469B059659A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D2F56F-8253-4645-BCF2-9020EEBB8A7C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2BEE70-0C02-4303-92F7-402861C26F21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D82108-E693-499C-86C4-7BF74DBD361F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5F8EE8-D20D-4505-9C18-C05B4EAEC7BA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96EACA-C2C9-48AE-8AD0-4F251B3C806E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8C9D67-2ACD-46F0-AE14-1CA2834F3AEA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795EC0-7053-4B42-A96E-39DFF0BC8121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82C3A2-88B0-460F-9D4C-A14BC7D95A8F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636EE3-6E7E-4F20-ADBF-CB8CDC7AD785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ext 14"/>
          <p:cNvSpPr/>
          <p:nvPr/>
        </p:nvSpPr>
        <p:spPr>
          <a:xfrm>
            <a:off x="548640" y="644688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Text 15"/>
          <p:cNvSpPr/>
          <p:nvPr/>
        </p:nvSpPr>
        <p:spPr>
          <a:xfrm>
            <a:off x="11185920" y="644688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8640" cy="65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4"/>
          <p:cNvSpPr/>
          <p:nvPr/>
        </p:nvSpPr>
        <p:spPr>
          <a:xfrm>
            <a:off x="548640" y="644688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 15"/>
          <p:cNvSpPr/>
          <p:nvPr/>
        </p:nvSpPr>
        <p:spPr>
          <a:xfrm>
            <a:off x="11185920" y="644688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8640" cy="65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4"/>
          <p:cNvSpPr/>
          <p:nvPr/>
        </p:nvSpPr>
        <p:spPr>
          <a:xfrm>
            <a:off x="548640" y="644688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Seeking for AI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5"/>
          <p:cNvSpPr/>
          <p:nvPr/>
        </p:nvSpPr>
        <p:spPr>
          <a:xfrm>
            <a:off x="11185920" y="644688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Copied Picture 1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6040"/>
            <a:ext cx="1268640" cy="65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mailto:DARTS@SOLEIL" TargetMode="External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0"/>
          <p:cNvSpPr/>
          <p:nvPr/>
        </p:nvSpPr>
        <p:spPr>
          <a:xfrm>
            <a:off x="9392760" y="-1425960"/>
            <a:ext cx="4753440" cy="475344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Shape 1"/>
          <p:cNvSpPr/>
          <p:nvPr/>
        </p:nvSpPr>
        <p:spPr>
          <a:xfrm>
            <a:off x="-1828800" y="4206240"/>
            <a:ext cx="4204800" cy="420480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3"/>
          <p:cNvSpPr/>
          <p:nvPr/>
        </p:nvSpPr>
        <p:spPr>
          <a:xfrm>
            <a:off x="777240" y="1828800"/>
            <a:ext cx="1051416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Seeking for AI</a:t>
            </a:r>
            <a:endParaRPr b="0" lang="en-US" sz="5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822960" y="3246120"/>
            <a:ext cx="63486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900" strike="noStrike" u="non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Realistic Datasets for Photons and Neutrons AI methodologies</a:t>
            </a:r>
            <a:endParaRPr b="0" lang="en-US" sz="1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822960" y="4160520"/>
            <a:ext cx="1415880" cy="3096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4160520"/>
            <a:ext cx="14158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2377440" y="4160520"/>
            <a:ext cx="1415880" cy="3096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Text 8"/>
          <p:cNvSpPr/>
          <p:nvPr/>
        </p:nvSpPr>
        <p:spPr>
          <a:xfrm>
            <a:off x="2377440" y="4160520"/>
            <a:ext cx="14158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822960" y="58978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Emmanuel FARHI   ·   Synchrotron SOLEIL – Sept 2026</a:t>
            </a:r>
            <a:endParaRPr b="0" lang="en-US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LogoCard"/>
          <p:cNvSpPr/>
          <p:nvPr/>
        </p:nvSpPr>
        <p:spPr>
          <a:xfrm>
            <a:off x="7429680" y="3759120"/>
            <a:ext cx="3808440" cy="1497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" name="SchoolCredit"/>
          <p:cNvSpPr/>
          <p:nvPr/>
        </p:nvSpPr>
        <p:spPr>
          <a:xfrm>
            <a:off x="7429680" y="5384880"/>
            <a:ext cx="3808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300" strike="noStrike" u="non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17" descr=""/>
          <p:cNvPicPr/>
          <p:nvPr/>
        </p:nvPicPr>
        <p:blipFill>
          <a:blip r:embed="rId1"/>
          <a:srcRect l="11719" t="16991" r="0" b="0"/>
          <a:stretch/>
        </p:blipFill>
        <p:spPr>
          <a:xfrm>
            <a:off x="825480" y="457200"/>
            <a:ext cx="1395720" cy="71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Picture 15" descr=""/>
          <p:cNvPicPr/>
          <p:nvPr/>
        </p:nvPicPr>
        <p:blipFill>
          <a:blip r:embed="rId2"/>
          <a:stretch/>
        </p:blipFill>
        <p:spPr>
          <a:xfrm>
            <a:off x="7429680" y="478800"/>
            <a:ext cx="4538160" cy="672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5" name="Group 16"/>
          <p:cNvGrpSpPr/>
          <p:nvPr/>
        </p:nvGrpSpPr>
        <p:grpSpPr>
          <a:xfrm>
            <a:off x="7936200" y="3847680"/>
            <a:ext cx="2795040" cy="1320120"/>
            <a:chOff x="7936200" y="3847680"/>
            <a:chExt cx="2795040" cy="1320120"/>
          </a:xfrm>
        </p:grpSpPr>
        <p:grpSp>
          <p:nvGrpSpPr>
            <p:cNvPr id="36" name="Group 18"/>
            <p:cNvGrpSpPr/>
            <p:nvPr/>
          </p:nvGrpSpPr>
          <p:grpSpPr>
            <a:xfrm>
              <a:off x="9343440" y="3847680"/>
              <a:ext cx="1387800" cy="1257120"/>
              <a:chOff x="9343440" y="3847680"/>
              <a:chExt cx="1387800" cy="1257120"/>
            </a:xfrm>
          </p:grpSpPr>
          <p:pic>
            <p:nvPicPr>
              <p:cNvPr id="37" name="Picture 20" descr="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92760" y="3847680"/>
                <a:ext cx="1293120" cy="7747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38" name="Picture 21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343440" y="4576320"/>
                <a:ext cx="961920" cy="46404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39" name="Picture 22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78800" y="4584960"/>
                <a:ext cx="352440" cy="51984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0" name="Picture 19" descr=""/>
            <p:cNvPicPr/>
            <p:nvPr/>
          </p:nvPicPr>
          <p:blipFill>
            <a:blip r:embed="rId6"/>
            <a:stretch/>
          </p:blipFill>
          <p:spPr>
            <a:xfrm>
              <a:off x="7936200" y="3852360"/>
              <a:ext cx="1293120" cy="13154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TARGET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This school’s objective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7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540000" y="1480680"/>
            <a:ext cx="115192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Explore how AI can leverage simulated photon and neutron datasets to: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Solve inverse problems (measurement → parameters)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Optimize experiments (find best parameters)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Train surrogate models (parameters → measurement)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 all this, we encourage you to use AI chats/agents.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12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X/n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"Photons and Neutrons"?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476280" y="1930680"/>
            <a:ext cx="112388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Shared X/n Physics and Simulation Capabilities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Similar Interaction Processes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Absorption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Energy transfer to the material (e.g., photoelectric effect for X-rays, neutron capture).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Scattering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</a:pPr>
            <a:r>
              <a:rPr b="0" i="1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Elastic</a:t>
            </a: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Structure analysis (e.g., Bragg diffraction for X-rays, neutron diffraction).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</a:pPr>
            <a:r>
              <a:rPr b="0" i="1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Inelastic</a:t>
            </a: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Dynamics analysis (e.g., Raman scattering for X-rays, neutron inelastic scattering).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Decay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Time-resolved studies (e.g., fluorescence, neutron activation).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15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X/n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"Photons and Neutrons"?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540000" y="1800000"/>
            <a:ext cx="1111860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Simulation Tools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McStas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Monte Carlo simulator for neutron scattering instruments.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McXtrace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Monte Carlo simulator for X-ray instruments.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Both enable realistic modeling of beamlines, detectors, and sample interactions.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Why Simulations Matter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Realism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Capture complex instrument geometries and material responses.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Flexibility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Test hypothetical setups.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Cost-Effective</a:t>
            </a: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Avoid expensive trial-and-error on real instruments/BL.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18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540000" y="1800000"/>
            <a:ext cx="10661400" cy="38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Problem with Experimental Data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Lack of Annotations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Raw data often lacks metadata (e.g., sample composition, instrument settings).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Manual annotation is time-consuming and error-prone.</a:t>
            </a:r>
            <a:br>
              <a:rPr sz="2100"/>
            </a:b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Publications as Implicit Annotations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Publications describe experimental conditions, but formats vary widely.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 machine-readable or standardized for AI training.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21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2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3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540000" y="1800000"/>
            <a:ext cx="9476640" cy="46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299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The Power of Simulated Data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Controlled Parameters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Every input (e.g., sample thickness, detector angle) is known and adjustable.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Outputs (e.g., scattering patterns, spectra) are directly linked to inputs.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 Workflow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[Simulation] → Virtual “Measurement”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Example: Simulate an experiment with varying incident energy.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24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5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6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540000" y="1800000"/>
            <a:ext cx="9476640" cy="352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Inverse Problem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Goal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Reconstruct input parameters from measured data.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AI Approach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Measurement → [AI Algorithm] → Parameters</a:t>
            </a:r>
            <a:br>
              <a:rPr sz="2100"/>
            </a:b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Example: Predict sample composition from a scattering pattern.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28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9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0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40000" y="1800000"/>
            <a:ext cx="10979280" cy="31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Surrogate Models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Purpose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Replace slow simulations with fast AI models.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[AI Model] → Virtual "Measurement" (faster)</a:t>
            </a:r>
            <a:br>
              <a:rPr sz="2100"/>
            </a:b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 Case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Fast phase-space exploration.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31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Realistic datasets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2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Why Realistic AI Datasets?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3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40000" y="1800000"/>
            <a:ext cx="10979280" cy="31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343080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Model optimization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Purpose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Find best parameters to get min/max signal.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Pipeline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br>
              <a:rPr sz="2400"/>
            </a:b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defTabSz="343080">
              <a:lnSpc>
                <a:spcPct val="100000"/>
              </a:lnSpc>
              <a:spcBef>
                <a:spcPts val="420"/>
              </a:spcBef>
              <a:tabLst>
                <a:tab algn="l" pos="0"/>
              </a:tabLst>
            </a:pPr>
            <a:r>
              <a:rPr b="1" lang="fr-FR" sz="2100" strike="noStrike" u="none">
                <a:solidFill>
                  <a:srgbClr val="ff00ff"/>
                </a:solidFill>
                <a:effectLst/>
                <a:uFillTx/>
                <a:latin typeface="Courier New"/>
              </a:rPr>
              <a:t>Parameters → [Optimizer] → Best Parameters</a:t>
            </a:r>
            <a:br>
              <a:rPr sz="2100"/>
            </a:b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 Case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Optimization of beamline configurations.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34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35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6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540000" y="1800000"/>
            <a:ext cx="10979280" cy="46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AI as a Universal Function Approximator</a:t>
            </a:r>
            <a:r>
              <a:rPr b="0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Black Box Concept:</a:t>
            </a:r>
            <a:br>
              <a:rPr sz="2400"/>
            </a:b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720000" defTabSz="343080">
              <a:lnSpc>
                <a:spcPct val="100000"/>
              </a:lnSpc>
              <a:tabLst>
                <a:tab algn="l" pos="0"/>
              </a:tabLst>
            </a:pPr>
            <a:r>
              <a:rPr b="1" lang="fr-FR" sz="2400" strike="noStrike" u="none">
                <a:solidFill>
                  <a:srgbClr val="ff00ff"/>
                </a:solidFill>
                <a:effectLst/>
                <a:uFillTx/>
                <a:latin typeface="FreeMono"/>
              </a:rPr>
              <a:t>Input → [AI Model] → Output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Universal Approximation Theorem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: A neural network can </a:t>
            </a:r>
            <a:r>
              <a:rPr b="0" lang="fr-FR" sz="2400" strike="noStrike" u="none">
                <a:solidFill>
                  <a:srgbClr val="008000"/>
                </a:solidFill>
                <a:effectLst/>
                <a:uFillTx/>
                <a:latin typeface="Calibri"/>
              </a:rPr>
              <a:t>approximate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b="0" lang="fr-FR" sz="2400" strike="noStrike" u="none">
                <a:solidFill>
                  <a:srgbClr val="008000"/>
                </a:solidFill>
                <a:effectLst/>
                <a:uFillTx/>
                <a:latin typeface="Calibri"/>
              </a:rPr>
              <a:t>any continuous function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given sufficient data and complexity.</a:t>
            </a:r>
            <a:br>
              <a:rPr sz="2400"/>
            </a:b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General Behavior: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All AI methods (CNNs, RNNs, SVMs) follow the same principle: map inputs to outputs via learned weights.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OpenSymbol"/>
              <a:buChar char="►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Differences lie in architecture, training efficiency, and interpretability.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37"/>
          <p:cNvSpPr/>
          <p:nvPr/>
        </p:nvSpPr>
        <p:spPr>
          <a:xfrm>
            <a:off x="548640" y="38412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8"/>
          <p:cNvSpPr/>
          <p:nvPr/>
        </p:nvSpPr>
        <p:spPr>
          <a:xfrm>
            <a:off x="548640" y="65844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9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540000" y="1800000"/>
            <a:ext cx="10979280" cy="46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Training: The Core Process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Objective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: Minimize the loss function (e.g., Mean Squared Error, Cross-Entropy).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Loss Function: Measures the difference between predicted and actual outputs.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Steps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Forward Pass: Compute predictions for a batch of training data.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Loss Calculation: Evaluate how far predictions are from true values.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Backpropagation: Compute gradients of the loss with respect to weights.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Optimization: Update weights using an optimizer (e.g., Adam, SGD).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40"/>
          <p:cNvSpPr/>
          <p:nvPr/>
        </p:nvSpPr>
        <p:spPr>
          <a:xfrm>
            <a:off x="548640" y="38376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General AI Methodology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1"/>
          <p:cNvSpPr/>
          <p:nvPr/>
        </p:nvSpPr>
        <p:spPr>
          <a:xfrm>
            <a:off x="548640" y="65808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General AI Methodology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2"/>
          <p:cNvSpPr/>
          <p:nvPr/>
        </p:nvSpPr>
        <p:spPr>
          <a:xfrm>
            <a:off x="11185920" y="644616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540000" y="1799640"/>
            <a:ext cx="10979280" cy="27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Training: The Core Process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Key Factors for Success: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Data Quality: High-fidelity simulations with diverse parameters.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Model Architecture: Match complexity to the problem (e.g., CNNs for images, Transformers for sequences).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Hyperparameters: Learning rate, batch size, number of epochs.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46"/>
          <p:cNvSpPr/>
          <p:nvPr/>
        </p:nvSpPr>
        <p:spPr>
          <a:xfrm>
            <a:off x="548640" y="38376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Lessons and praticals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7"/>
          <p:cNvSpPr/>
          <p:nvPr/>
        </p:nvSpPr>
        <p:spPr>
          <a:xfrm>
            <a:off x="548640" y="65808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Learn and Practice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8"/>
          <p:cNvSpPr/>
          <p:nvPr/>
        </p:nvSpPr>
        <p:spPr>
          <a:xfrm>
            <a:off x="11185920" y="644616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40000" y="1799640"/>
            <a:ext cx="10979280" cy="43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Hands-on skills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Setting Up Simulations: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Configure beamlines/instruments in McStas (neutrons) and McXtrace (X-rays).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Define sample properties (e.g., crystal structure, composition).</a:t>
            </a:r>
            <a:br>
              <a:rPr sz="2400"/>
            </a:b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Characterizing Models: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Check geometry (e.g., detector positions, slit sizes).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Extract parameters (e.g., resolution, flux) and results (e.g., spectra, diffraction patterns).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43"/>
          <p:cNvSpPr/>
          <p:nvPr/>
        </p:nvSpPr>
        <p:spPr>
          <a:xfrm>
            <a:off x="548640" y="38376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Lessons and praticals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44"/>
          <p:cNvSpPr/>
          <p:nvPr/>
        </p:nvSpPr>
        <p:spPr>
          <a:xfrm>
            <a:off x="548640" y="65808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Learn and Practice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5"/>
          <p:cNvSpPr/>
          <p:nvPr/>
        </p:nvSpPr>
        <p:spPr>
          <a:xfrm>
            <a:off x="11185920" y="644616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40000" y="1799640"/>
            <a:ext cx="10979280" cy="43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Hands-on skills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Generating Datasets: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Automate simulations across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ranges (e.g., vary samples).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Output: Labeled datasets of [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parameters, virtual_measurements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].</a:t>
            </a:r>
            <a:br>
              <a:rPr sz="1000"/>
            </a:br>
            <a:r>
              <a:rPr b="0" lang="fr-FR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Apply AI 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Surrogate Modeling: generate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virtual_measurements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faster.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Solving Inverse Problems: get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 </a:t>
            </a: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from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 measurements.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  <a:p>
            <a:pPr marL="360000" defTabSz="34308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Optimization: search fpr best </a:t>
            </a:r>
            <a:r>
              <a:rPr b="0" i="1" lang="fr-FR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Unifont"/>
              </a:rPr>
              <a:t>parameters.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49"/>
          <p:cNvSpPr/>
          <p:nvPr/>
        </p:nvSpPr>
        <p:spPr>
          <a:xfrm>
            <a:off x="548640" y="383760"/>
            <a:ext cx="91425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1200" spc="201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Resources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0"/>
          <p:cNvSpPr/>
          <p:nvPr/>
        </p:nvSpPr>
        <p:spPr>
          <a:xfrm>
            <a:off x="548640" y="658080"/>
            <a:ext cx="110628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GB" sz="3000" strike="noStrike" u="none">
                <a:solidFill>
                  <a:srgbClr val="20242b"/>
                </a:solidFill>
                <a:effectLst/>
                <a:uFillTx/>
                <a:latin typeface="Cambria"/>
              </a:rPr>
              <a:t>What You Will Use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1"/>
          <p:cNvSpPr/>
          <p:nvPr/>
        </p:nvSpPr>
        <p:spPr>
          <a:xfrm>
            <a:off x="11185920" y="644616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540000" y="1799640"/>
            <a:ext cx="10979280" cy="27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Your Laptop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High Performance Computing (MesoNET)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Remote Computing Service (</a:t>
            </a: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  <a:hlinkClick r:id="rId1"/>
              </a:rPr>
              <a:t>DARTS@SOLEIL</a:t>
            </a: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fr-FR" sz="2400" strike="noStrike" u="none">
                <a:solidFill>
                  <a:srgbClr val="0000ff"/>
                </a:solidFill>
                <a:effectLst/>
                <a:uFillTx/>
                <a:latin typeface="Calibri"/>
              </a:rPr>
              <a:t>Your Brain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Uni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9410040" y="-1457640"/>
            <a:ext cx="4753440" cy="475344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"/>
          <p:cNvSpPr/>
          <p:nvPr/>
        </p:nvSpPr>
        <p:spPr>
          <a:xfrm>
            <a:off x="-1828800" y="4206240"/>
            <a:ext cx="4204800" cy="420480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 2"/>
          <p:cNvSpPr/>
          <p:nvPr/>
        </p:nvSpPr>
        <p:spPr>
          <a:xfrm>
            <a:off x="822960" y="2286000"/>
            <a:ext cx="9142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b="0" lang="en-US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822960" y="3246120"/>
            <a:ext cx="91425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4"/>
          <p:cNvSpPr/>
          <p:nvPr/>
        </p:nvSpPr>
        <p:spPr>
          <a:xfrm>
            <a:off x="822960" y="4297680"/>
            <a:ext cx="1415880" cy="3096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822960" y="4297680"/>
            <a:ext cx="14158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6"/>
          <p:cNvSpPr/>
          <p:nvPr/>
        </p:nvSpPr>
        <p:spPr>
          <a:xfrm>
            <a:off x="2377440" y="4297680"/>
            <a:ext cx="1415880" cy="3096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2377440" y="4297680"/>
            <a:ext cx="14158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DK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822960" y="5897880"/>
            <a:ext cx="7313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b="0" lang="en-US" sz="12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548640" y="6446520"/>
            <a:ext cx="6399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{presentation title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1118592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PartnerCard"/>
          <p:cNvSpPr/>
          <p:nvPr/>
        </p:nvSpPr>
        <p:spPr>
          <a:xfrm>
            <a:off x="6603840" y="4165560"/>
            <a:ext cx="4951440" cy="157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PartnerLabel"/>
          <p:cNvSpPr/>
          <p:nvPr/>
        </p:nvSpPr>
        <p:spPr>
          <a:xfrm>
            <a:off x="6921360" y="4368960"/>
            <a:ext cx="4316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GB" sz="1100" strike="noStrike" u="non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Picture 15" descr=""/>
          <p:cNvPicPr/>
          <p:nvPr/>
        </p:nvPicPr>
        <p:blipFill>
          <a:blip r:embed="rId1"/>
          <a:stretch/>
        </p:blipFill>
        <p:spPr>
          <a:xfrm>
            <a:off x="6921360" y="4749840"/>
            <a:ext cx="4316400" cy="63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Copied Picture 17" descr=""/>
          <p:cNvPicPr/>
          <p:nvPr/>
        </p:nvPicPr>
        <p:blipFill>
          <a:blip r:embed="rId2"/>
          <a:srcRect l="11719" t="16991" r="0" b="0"/>
          <a:stretch/>
        </p:blipFill>
        <p:spPr>
          <a:xfrm>
            <a:off x="10375920" y="355680"/>
            <a:ext cx="1268640" cy="65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LogoCard"/>
          <p:cNvSpPr/>
          <p:nvPr/>
        </p:nvSpPr>
        <p:spPr>
          <a:xfrm>
            <a:off x="7375680" y="2105640"/>
            <a:ext cx="3808440" cy="1497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DK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114" name="Group 18"/>
          <p:cNvGrpSpPr/>
          <p:nvPr/>
        </p:nvGrpSpPr>
        <p:grpSpPr>
          <a:xfrm>
            <a:off x="7882560" y="2194200"/>
            <a:ext cx="2795040" cy="1320120"/>
            <a:chOff x="7882560" y="2194200"/>
            <a:chExt cx="2795040" cy="1320120"/>
          </a:xfrm>
        </p:grpSpPr>
        <p:grpSp>
          <p:nvGrpSpPr>
            <p:cNvPr id="115" name="Group 19"/>
            <p:cNvGrpSpPr/>
            <p:nvPr/>
          </p:nvGrpSpPr>
          <p:grpSpPr>
            <a:xfrm>
              <a:off x="9289440" y="2194200"/>
              <a:ext cx="1388160" cy="1257120"/>
              <a:chOff x="9289440" y="2194200"/>
              <a:chExt cx="1388160" cy="1257120"/>
            </a:xfrm>
          </p:grpSpPr>
          <p:pic>
            <p:nvPicPr>
              <p:cNvPr id="116" name="Picture 21" descr="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39120" y="2194200"/>
                <a:ext cx="1293120" cy="7747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17" name="Picture 22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289440" y="2922840"/>
                <a:ext cx="961920" cy="46404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18" name="Picture 23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25160" y="2931480"/>
                <a:ext cx="352440" cy="51984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119" name="Picture 20" descr=""/>
            <p:cNvPicPr/>
            <p:nvPr/>
          </p:nvPicPr>
          <p:blipFill>
            <a:blip r:embed="rId6"/>
            <a:stretch/>
          </p:blipFill>
          <p:spPr>
            <a:xfrm>
              <a:off x="7882560" y="2198880"/>
              <a:ext cx="1293120" cy="13154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</TotalTime>
  <Application>LibreOffice/25.2.3.2$Linux_AARCH64 LibreOffice_project/520$Build-2</Application>
  <AppVersion>15.0000</AppVersion>
  <Words>1713</Words>
  <Paragraphs>325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2026-09-04T14:34:15Z</dcterms:created>
  <dc:creator>Emmanuel FARHI</dc:creator>
  <dc:description/>
  <dc:language>fr-FR</dc:language>
  <cp:lastModifiedBy/>
  <dcterms:modified xsi:type="dcterms:W3CDTF">2026-09-11T16:31:09Z</dcterms:modified>
  <cp:revision>52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