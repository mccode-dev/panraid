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gif" ContentType="image/gi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168E7A8-48A1-4FA9-9A19-B0DDACA7B031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BBC98B-22B7-4840-9EEC-117454C5892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9243A0-50AD-4A81-A1A3-5A90C35997E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6B979D-DEE5-416A-8D93-FF0C08CE741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DD09C8-6741-42C8-96E8-C323F26ED60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F8B674-9D05-4D5B-9317-5CE9FD92624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F68067-C16B-4172-A2CE-86C128800FD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DBD384-38A5-4C95-A3FC-6A65A8F34D03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61D0EB-45FA-43F5-A42A-9FBC45689AC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B7C9C3-CBA6-437E-A8C5-01DEDB00205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4D1B19-BCA0-46A9-BE15-AB95761E7AF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 14"/>
          <p:cNvSpPr/>
          <p:nvPr/>
        </p:nvSpPr>
        <p:spPr>
          <a:xfrm>
            <a:off x="548640" y="6446880"/>
            <a:ext cx="63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Seeking for AI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5"/>
          <p:cNvSpPr/>
          <p:nvPr/>
        </p:nvSpPr>
        <p:spPr>
          <a:xfrm>
            <a:off x="11185920" y="6446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8280" cy="64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4"/>
          <p:cNvSpPr/>
          <p:nvPr/>
        </p:nvSpPr>
        <p:spPr>
          <a:xfrm>
            <a:off x="548640" y="6446880"/>
            <a:ext cx="63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Seeking for AI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15"/>
          <p:cNvSpPr/>
          <p:nvPr/>
        </p:nvSpPr>
        <p:spPr>
          <a:xfrm>
            <a:off x="11185920" y="6446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8280" cy="64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4"/>
          <p:cNvSpPr/>
          <p:nvPr/>
        </p:nvSpPr>
        <p:spPr>
          <a:xfrm>
            <a:off x="548640" y="6446880"/>
            <a:ext cx="63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Seeking for AI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5"/>
          <p:cNvSpPr/>
          <p:nvPr/>
        </p:nvSpPr>
        <p:spPr>
          <a:xfrm>
            <a:off x="11185920" y="6446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8280" cy="64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mailto:DARTS@SOLEIL" TargetMode="External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9392760" y="-1425960"/>
            <a:ext cx="4753080" cy="47530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-1828800" y="4206240"/>
            <a:ext cx="4204440" cy="420444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3"/>
          <p:cNvSpPr/>
          <p:nvPr/>
        </p:nvSpPr>
        <p:spPr>
          <a:xfrm>
            <a:off x="777240" y="1828800"/>
            <a:ext cx="105138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Seeking for AI</a:t>
            </a:r>
            <a:endParaRPr b="0" lang="fr-F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822960" y="3246120"/>
            <a:ext cx="6348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9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Realistic Datasets for Photons and Neutrons AI methodologies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822960" y="4160520"/>
            <a:ext cx="1415520" cy="309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4160520"/>
            <a:ext cx="14155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2377440" y="4160520"/>
            <a:ext cx="1415520" cy="309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8"/>
          <p:cNvSpPr/>
          <p:nvPr/>
        </p:nvSpPr>
        <p:spPr>
          <a:xfrm>
            <a:off x="2377440" y="4160520"/>
            <a:ext cx="14155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822960" y="5897880"/>
            <a:ext cx="5484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Emmanuel FARHI   ·   Synchrotron SOLEIL – Sept 2026</a:t>
            </a:r>
            <a:endParaRPr b="0" lang="fr-F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LogoCard"/>
          <p:cNvSpPr/>
          <p:nvPr/>
        </p:nvSpPr>
        <p:spPr>
          <a:xfrm>
            <a:off x="7429680" y="3759120"/>
            <a:ext cx="3808080" cy="149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" name="SchoolCredit"/>
          <p:cNvSpPr/>
          <p:nvPr/>
        </p:nvSpPr>
        <p:spPr>
          <a:xfrm>
            <a:off x="7429680" y="5384880"/>
            <a:ext cx="3808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300" strike="noStrike" u="non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17" descr=""/>
          <p:cNvPicPr/>
          <p:nvPr/>
        </p:nvPicPr>
        <p:blipFill>
          <a:blip r:embed="rId1"/>
          <a:srcRect l="11719" t="16991" r="0" b="0"/>
          <a:stretch/>
        </p:blipFill>
        <p:spPr>
          <a:xfrm>
            <a:off x="825480" y="457200"/>
            <a:ext cx="1395360" cy="71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15" descr=""/>
          <p:cNvPicPr/>
          <p:nvPr/>
        </p:nvPicPr>
        <p:blipFill>
          <a:blip r:embed="rId2"/>
          <a:stretch/>
        </p:blipFill>
        <p:spPr>
          <a:xfrm>
            <a:off x="7429680" y="478800"/>
            <a:ext cx="4537800" cy="671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" name="Group 16"/>
          <p:cNvGrpSpPr/>
          <p:nvPr/>
        </p:nvGrpSpPr>
        <p:grpSpPr>
          <a:xfrm>
            <a:off x="7936200" y="3847680"/>
            <a:ext cx="2794680" cy="1319760"/>
            <a:chOff x="7936200" y="3847680"/>
            <a:chExt cx="2794680" cy="1319760"/>
          </a:xfrm>
        </p:grpSpPr>
        <p:grpSp>
          <p:nvGrpSpPr>
            <p:cNvPr id="36" name="Group 18"/>
            <p:cNvGrpSpPr/>
            <p:nvPr/>
          </p:nvGrpSpPr>
          <p:grpSpPr>
            <a:xfrm>
              <a:off x="9343440" y="3847680"/>
              <a:ext cx="1387440" cy="1256760"/>
              <a:chOff x="9343440" y="3847680"/>
              <a:chExt cx="1387440" cy="1256760"/>
            </a:xfrm>
          </p:grpSpPr>
          <p:pic>
            <p:nvPicPr>
              <p:cNvPr id="37" name="Picture 20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92760" y="3847680"/>
                <a:ext cx="1292760" cy="774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8" name="Picture 21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343440" y="4576320"/>
                <a:ext cx="961560" cy="463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9" name="Picture 22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78800" y="4584960"/>
                <a:ext cx="352080" cy="5194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40" name="Picture 19" descr=""/>
            <p:cNvPicPr/>
            <p:nvPr/>
          </p:nvPicPr>
          <p:blipFill>
            <a:blip r:embed="rId6"/>
            <a:stretch/>
          </p:blipFill>
          <p:spPr>
            <a:xfrm>
              <a:off x="7936200" y="3852360"/>
              <a:ext cx="1292760" cy="13150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TARGET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This school’s objective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40000" y="1480680"/>
            <a:ext cx="11518920" cy="30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Explore how AI can leverage simulated photon and neutron datasets to: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Solve inverse problems (measurement → parameters)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Optimize experiments (find best parameters)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Train surrogate models (parameters → measurement)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all this, we encourage you to use AI chats/agents.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12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X/n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"Photons and Neutrons"?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76280" y="1930680"/>
            <a:ext cx="1123848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Shared X/n Physics and Simulation Capabilities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Similar Interaction Processes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Absorption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Energy transfer to the material (e.g., photoelectric effect for X-rays, neutron capture).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Scattering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Font typeface="OpenSymbol"/>
              <a:buChar char="►"/>
            </a:pPr>
            <a:r>
              <a:rPr b="0" i="1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Elastic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Structure analysis (e.g., Bragg diffraction for X-rays, neutron diffraction).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Font typeface="OpenSymbol"/>
              <a:buChar char="►"/>
            </a:pPr>
            <a:r>
              <a:rPr b="0" i="1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Inelastic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Dynamics analysis (e.g., Raman scattering for X-rays, neutron inelastic scattering).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Decay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Time-resolved studies (e.g., fluorescence, neutron activation).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15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X/n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"Photons and Neutrons"?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40000" y="1800000"/>
            <a:ext cx="11118240" cy="44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Real World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[Instrument] → “Measurement”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Simulation Tools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McStas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Monte Carlo simulator for neutron scattering instruments.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McXtrace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Monte Carlo simulator for X-ray instruments.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Both enable realistic modeling of beamlines, detectors, and sample interactions.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Why Simulations Matter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Realism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Capture complex instrument geometries and material responses.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Flexibility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Test hypothetical setups.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Cost-Effective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Avoid expensive trial-and-error on real instruments/BL.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18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40000" y="1800000"/>
            <a:ext cx="10661040" cy="38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Problem with Experimental Data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Lack of Annotations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Raw data often lacks metadata (e.g., sample composition, instrument settings).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annotation is time-consuming and error-prone.</a:t>
            </a:r>
            <a:br>
              <a:rPr sz="2100"/>
            </a:b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Publications as Implicit Annotations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Publications describe experimental conditions, but formats vary widely.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 machine-readable or standardized for AI training.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21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40000" y="1800000"/>
            <a:ext cx="9476280" cy="46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Power of Simulated Data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Controlled Parameters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Every input (e.g., sample thickness, detector angle) is known and adjustable.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Outputs (e.g., scattering patterns, spectra) are directly linked to inputs.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 Workflow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[Simulation] → Virtual “Measurement”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Example: Simulate an experiment with varying incident energy.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24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40000" y="1800000"/>
            <a:ext cx="9476280" cy="35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Inverse Problem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Reconstruct input parameters from measured data.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Approach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Measurement → [AI Algorithm] → Parameters</a:t>
            </a:r>
            <a:br>
              <a:rPr sz="2100"/>
            </a:b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Example: Predict sample composition from a scattering pattern.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28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40000" y="1800000"/>
            <a:ext cx="10978920" cy="31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Surrogate Models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Replace slow simulations with fast AI models.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[AI Model] → Virtual "Measurement" (faster)</a:t>
            </a:r>
            <a:br>
              <a:rPr sz="2100"/>
            </a:b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Case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Fast phase-space exploration.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31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3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0000" y="1800000"/>
            <a:ext cx="10978920" cy="31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Model optimization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Find best parameters to get min/max signal.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[Optimizer] → Best Parameters</a:t>
            </a:r>
            <a:br>
              <a:rPr sz="2100"/>
            </a:b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Case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Optimization of beamline configurations.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34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5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6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40000" y="1800000"/>
            <a:ext cx="10978920" cy="46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AI as a Universal Function Approximator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Black Box Concept:</a:t>
            </a:r>
            <a:br>
              <a:rPr sz="2400"/>
            </a:b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defTabSz="343080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00ff"/>
                </a:solidFill>
                <a:effectLst/>
                <a:uFillTx/>
                <a:latin typeface="FreeMono"/>
              </a:rPr>
              <a:t>Input → [AI Model] → Output</a:t>
            </a:r>
            <a:br>
              <a:rPr sz="2400"/>
            </a:b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Universal Approximation Theorem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: A neural network can </a:t>
            </a:r>
            <a:r>
              <a:rPr b="0" lang="fr-FR" sz="2400" strike="noStrike" u="none">
                <a:solidFill>
                  <a:srgbClr val="008000"/>
                </a:solidFill>
                <a:effectLst/>
                <a:uFillTx/>
                <a:latin typeface="Calibri"/>
                <a:ea typeface="Unifont"/>
              </a:rPr>
              <a:t>approximate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 </a:t>
            </a:r>
            <a:r>
              <a:rPr b="0" lang="fr-FR" sz="2400" strike="noStrike" u="none">
                <a:solidFill>
                  <a:srgbClr val="008000"/>
                </a:solidFill>
                <a:effectLst/>
                <a:uFillTx/>
                <a:latin typeface="Calibri"/>
                <a:ea typeface="Unifont"/>
              </a:rPr>
              <a:t>any continuous function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 given sufficient data and complexity.</a:t>
            </a:r>
            <a:br>
              <a:rPr sz="2400"/>
            </a:b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General Behavior: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All AI methods (CNNs, RNNs, SVMs) follow the same principle: map inputs to outputs via learned weights.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Differences lie in architecture, training efficiency, and interpretability.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37"/>
          <p:cNvSpPr/>
          <p:nvPr/>
        </p:nvSpPr>
        <p:spPr>
          <a:xfrm>
            <a:off x="548640" y="38412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548640" y="65844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9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40000" y="1800000"/>
            <a:ext cx="10978920" cy="46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Training: The Core Process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Objective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: Minimize the loss function (e.g., Mean Squared Error, Cross-Entropy).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Loss Function: Measures the difference between predicted and actual outputs.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Steps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Forward Pass: Compute predictions for a batch of training data.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Loss Calculation: Evaluate how far predictions are from true values.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Backpropagation: Compute gradients of the loss with respect to weights.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Optimization: Update weights using an optimizer (e.g., Adam, SGD).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40"/>
          <p:cNvSpPr/>
          <p:nvPr/>
        </p:nvSpPr>
        <p:spPr>
          <a:xfrm>
            <a:off x="548640" y="38376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1"/>
          <p:cNvSpPr/>
          <p:nvPr/>
        </p:nvSpPr>
        <p:spPr>
          <a:xfrm>
            <a:off x="548640" y="65808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2"/>
          <p:cNvSpPr/>
          <p:nvPr/>
        </p:nvSpPr>
        <p:spPr>
          <a:xfrm>
            <a:off x="11185920" y="644616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40000" y="1799640"/>
            <a:ext cx="10978920" cy="27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Training: The Core Process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Key Factors for Success: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Data Quality: High-fidelity simulations with diverse parameters.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Model Architecture: Match complexity to the problem (e.g., CNNs for images, Transformers for sequences).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Hyperparameters: Learning rate, batch size, number of epochs.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46"/>
          <p:cNvSpPr/>
          <p:nvPr/>
        </p:nvSpPr>
        <p:spPr>
          <a:xfrm>
            <a:off x="548640" y="38376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Lessons and praticals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7"/>
          <p:cNvSpPr/>
          <p:nvPr/>
        </p:nvSpPr>
        <p:spPr>
          <a:xfrm>
            <a:off x="548640" y="65808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What You Will Learn and Practice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8"/>
          <p:cNvSpPr/>
          <p:nvPr/>
        </p:nvSpPr>
        <p:spPr>
          <a:xfrm>
            <a:off x="11185920" y="644616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40000" y="1799640"/>
            <a:ext cx="10978920" cy="43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Hands-on skills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Setting Up Simulations: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Configure beamlines/instruments in McStas (neutrons) and McXtrace (X-rays).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Define sample properties (e.g., crystal structure, composition).</a:t>
            </a:r>
            <a:br>
              <a:rPr sz="2400"/>
            </a:b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Characterizing Models: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Check geometry (e.g., detector positions, slit sizes).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Extract parameters (e.g., resolution, flux) and results (e.g., spectra, diffraction patterns).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43"/>
          <p:cNvSpPr/>
          <p:nvPr/>
        </p:nvSpPr>
        <p:spPr>
          <a:xfrm>
            <a:off x="548640" y="38376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Lessons and praticals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4"/>
          <p:cNvSpPr/>
          <p:nvPr/>
        </p:nvSpPr>
        <p:spPr>
          <a:xfrm>
            <a:off x="548640" y="65808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What You Will Learn and Practice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5"/>
          <p:cNvSpPr/>
          <p:nvPr/>
        </p:nvSpPr>
        <p:spPr>
          <a:xfrm>
            <a:off x="11185920" y="644616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40000" y="1799640"/>
            <a:ext cx="10978920" cy="43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Hands-on skills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Generating Datasets: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Automate simulations across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parameter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 ranges (e.g., vary samples).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Output: Labeled datasets of [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parameters, virtual_measurements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].</a:t>
            </a:r>
            <a:br>
              <a:rPr sz="1000"/>
            </a:b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Apply AI 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Surrogate Modeling: generate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virtual_measurements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 faster.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Solving Inverse Problems: get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parameters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from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 measurements.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Optimization: search fpr best </a:t>
            </a:r>
            <a:r>
              <a:rPr b="0" i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parameters.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49"/>
          <p:cNvSpPr/>
          <p:nvPr/>
        </p:nvSpPr>
        <p:spPr>
          <a:xfrm>
            <a:off x="548640" y="383760"/>
            <a:ext cx="91422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Resources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0"/>
          <p:cNvSpPr/>
          <p:nvPr/>
        </p:nvSpPr>
        <p:spPr>
          <a:xfrm>
            <a:off x="548640" y="658080"/>
            <a:ext cx="11062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What You Will Use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1"/>
          <p:cNvSpPr/>
          <p:nvPr/>
        </p:nvSpPr>
        <p:spPr>
          <a:xfrm>
            <a:off x="11185920" y="644616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40000" y="1799640"/>
            <a:ext cx="10978920" cy="27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Your Laptop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High Performance Computing (MesoNET)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Remote Computing Service (</a:t>
            </a:r>
            <a:r>
              <a:rPr b="1" lang="fr-FR" sz="2400" strike="noStrike" u="non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DARTS@SOLEIL</a:t>
            </a: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Your Brain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9410040" y="-1457640"/>
            <a:ext cx="4753080" cy="47530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-1828800" y="4206240"/>
            <a:ext cx="4204440" cy="420444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2"/>
          <p:cNvSpPr/>
          <p:nvPr/>
        </p:nvSpPr>
        <p:spPr>
          <a:xfrm>
            <a:off x="822960" y="2286000"/>
            <a:ext cx="91422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b="0" lang="fr-F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822960" y="3246120"/>
            <a:ext cx="9142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b="0" lang="fr-F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822960" y="4297680"/>
            <a:ext cx="1415520" cy="309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822960" y="4297680"/>
            <a:ext cx="14155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2377440" y="4297680"/>
            <a:ext cx="1415520" cy="309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2377440" y="4297680"/>
            <a:ext cx="14155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DK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822960" y="5897880"/>
            <a:ext cx="7313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pkwi@fysik.dtu.dk   ·   DTU Physics</a:t>
            </a:r>
            <a:endParaRPr b="0" lang="fr-F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48640" y="6446520"/>
            <a:ext cx="63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{presentation title</a:t>
            </a:r>
            <a:endParaRPr b="0" lang="fr-F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1185920" y="644652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fr-F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artnerCard"/>
          <p:cNvSpPr/>
          <p:nvPr/>
        </p:nvSpPr>
        <p:spPr>
          <a:xfrm>
            <a:off x="6603840" y="4165560"/>
            <a:ext cx="4951080" cy="157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artnerLabel"/>
          <p:cNvSpPr/>
          <p:nvPr/>
        </p:nvSpPr>
        <p:spPr>
          <a:xfrm>
            <a:off x="6921360" y="4368960"/>
            <a:ext cx="43160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GB" sz="1100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15" descr=""/>
          <p:cNvPicPr/>
          <p:nvPr/>
        </p:nvPicPr>
        <p:blipFill>
          <a:blip r:embed="rId1"/>
          <a:stretch/>
        </p:blipFill>
        <p:spPr>
          <a:xfrm>
            <a:off x="6921360" y="4749840"/>
            <a:ext cx="4316040" cy="63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Copied Picture 17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5680"/>
            <a:ext cx="1268280" cy="64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LogoCard"/>
          <p:cNvSpPr/>
          <p:nvPr/>
        </p:nvSpPr>
        <p:spPr>
          <a:xfrm>
            <a:off x="7375680" y="2105640"/>
            <a:ext cx="3808080" cy="149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DK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14" name="Group 18"/>
          <p:cNvGrpSpPr/>
          <p:nvPr/>
        </p:nvGrpSpPr>
        <p:grpSpPr>
          <a:xfrm>
            <a:off x="7882560" y="2194200"/>
            <a:ext cx="2794680" cy="1319760"/>
            <a:chOff x="7882560" y="2194200"/>
            <a:chExt cx="2794680" cy="1319760"/>
          </a:xfrm>
        </p:grpSpPr>
        <p:grpSp>
          <p:nvGrpSpPr>
            <p:cNvPr id="115" name="Group 19"/>
            <p:cNvGrpSpPr/>
            <p:nvPr/>
          </p:nvGrpSpPr>
          <p:grpSpPr>
            <a:xfrm>
              <a:off x="9289440" y="2194200"/>
              <a:ext cx="1387800" cy="1256760"/>
              <a:chOff x="9289440" y="2194200"/>
              <a:chExt cx="1387800" cy="1256760"/>
            </a:xfrm>
          </p:grpSpPr>
          <p:pic>
            <p:nvPicPr>
              <p:cNvPr id="116" name="Picture 21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39120" y="2194200"/>
                <a:ext cx="1292760" cy="774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7" name="Picture 22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289440" y="2922840"/>
                <a:ext cx="961560" cy="463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8" name="Picture 23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25160" y="2931480"/>
                <a:ext cx="352080" cy="5194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119" name="Picture 20" descr=""/>
            <p:cNvPicPr/>
            <p:nvPr/>
          </p:nvPicPr>
          <p:blipFill>
            <a:blip r:embed="rId6"/>
            <a:stretch/>
          </p:blipFill>
          <p:spPr>
            <a:xfrm>
              <a:off x="7882560" y="2198880"/>
              <a:ext cx="1292760" cy="13150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Application>LibreOffice/25.2.3.2$Linux_X86_64 LibreOffice_project/520$Build-2</Application>
  <AppVersion>15.0000</AppVersion>
  <Words>1713</Words>
  <Paragraphs>325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2026-09-04T14:34:15Z</dcterms:created>
  <dc:creator>Emmanuel FARHI</dc:creator>
  <dc:description/>
  <dc:language>fr-FR</dc:language>
  <cp:lastModifiedBy>Emmanuel FARHI</cp:lastModifiedBy>
  <dcterms:modified xsi:type="dcterms:W3CDTF">2026-09-14T12:05:15Z</dcterms:modified>
  <cp:revision>55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