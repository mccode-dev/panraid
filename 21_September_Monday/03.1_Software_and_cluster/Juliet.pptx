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78978" y="6232198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gif"/><Relationship Id="rId6" Type="http://schemas.openxmlformats.org/officeDocument/2006/relationships/image" Target="../media/image5.png"/><Relationship Id="rId7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gif"/><Relationship Id="rId6" Type="http://schemas.openxmlformats.org/officeDocument/2006/relationships/image" Target="../media/image5.png"/><Relationship Id="rId7" Type="http://schemas.openxmlformats.org/officeDocument/2006/relationships/image" Target="../media/image2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gif"/><Relationship Id="rId6" Type="http://schemas.openxmlformats.org/officeDocument/2006/relationships/image" Target="../media/image5.png"/><Relationship Id="rId7" Type="http://schemas.openxmlformats.org/officeDocument/2006/relationships/image" Target="../media/image1.tif"/><Relationship Id="rId8" Type="http://schemas.openxmlformats.org/officeDocument/2006/relationships/image" Target="../media/image6.png"/><Relationship Id="rId9" Type="http://schemas.openxmlformats.org/officeDocument/2006/relationships/image" Target="../media/image2.tif"/><Relationship Id="rId10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gif"/><Relationship Id="rId7" Type="http://schemas.openxmlformats.org/officeDocument/2006/relationships/image" Target="../media/image5.png"/><Relationship Id="rId8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gif"/><Relationship Id="rId6" Type="http://schemas.openxmlformats.org/officeDocument/2006/relationships/image" Target="../media/image5.png"/><Relationship Id="rId7" Type="http://schemas.openxmlformats.org/officeDocument/2006/relationships/image" Target="../media/image1.tif"/><Relationship Id="rId8" Type="http://schemas.openxmlformats.org/officeDocument/2006/relationships/image" Target="../media/image8.png"/><Relationship Id="rId9" Type="http://schemas.openxmlformats.org/officeDocument/2006/relationships/image" Target="../media/image2.tif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418318" y="-1463040"/>
            <a:ext cx="4754884" cy="4754880"/>
          </a:xfrm>
          <a:prstGeom prst="ellipse">
            <a:avLst/>
          </a:prstGeom>
          <a:solidFill>
            <a:srgbClr val="141A4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" name="Shape 1"/>
          <p:cNvSpPr/>
          <p:nvPr/>
        </p:nvSpPr>
        <p:spPr>
          <a:xfrm>
            <a:off x="-1828801" y="4206240"/>
            <a:ext cx="4206243" cy="4206243"/>
          </a:xfrm>
          <a:prstGeom prst="ellipse">
            <a:avLst/>
          </a:prstGeom>
          <a:solidFill>
            <a:srgbClr val="141A4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457200"/>
            <a:ext cx="1397204" cy="71689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2"/>
          <p:cNvSpPr txBox="1"/>
          <p:nvPr/>
        </p:nvSpPr>
        <p:spPr>
          <a:xfrm>
            <a:off x="868680" y="1642680"/>
            <a:ext cx="8138160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300" sz="1400">
                <a:solidFill>
                  <a:srgbClr val="9FB4E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MesoNET cluster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822960" y="2504440"/>
            <a:ext cx="9509761" cy="751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lnSpc>
                <a:spcPct val="104999"/>
              </a:lnSpc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McStas and McXtrace on 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juliet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868679" y="3827344"/>
            <a:ext cx="9235442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600">
                <a:solidFill>
                  <a:srgbClr val="C7D3F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Hardware layout and tips</a:t>
            </a:r>
          </a:p>
        </p:txBody>
      </p:sp>
      <p:sp>
        <p:nvSpPr>
          <p:cNvPr id="26" name="Shape 5"/>
          <p:cNvSpPr/>
          <p:nvPr/>
        </p:nvSpPr>
        <p:spPr>
          <a:xfrm>
            <a:off x="822960" y="4480559"/>
            <a:ext cx="1417322" cy="310898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" name="Text 6"/>
          <p:cNvSpPr txBox="1"/>
          <p:nvPr/>
        </p:nvSpPr>
        <p:spPr>
          <a:xfrm>
            <a:off x="868680" y="4523153"/>
            <a:ext cx="13258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1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McStas — neutrons</a:t>
            </a:r>
          </a:p>
        </p:txBody>
      </p:sp>
      <p:sp>
        <p:nvSpPr>
          <p:cNvPr id="28" name="Shape 7"/>
          <p:cNvSpPr/>
          <p:nvPr/>
        </p:nvSpPr>
        <p:spPr>
          <a:xfrm>
            <a:off x="2377438" y="4480559"/>
            <a:ext cx="1417323" cy="310898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" name="Text 8"/>
          <p:cNvSpPr txBox="1"/>
          <p:nvPr/>
        </p:nvSpPr>
        <p:spPr>
          <a:xfrm>
            <a:off x="2423159" y="4523153"/>
            <a:ext cx="132588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100">
                <a:solidFill>
                  <a:srgbClr val="D97A2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McXtrace — X-rays</a:t>
            </a:r>
          </a:p>
        </p:txBody>
      </p:sp>
      <p:pic>
        <p:nvPicPr>
          <p:cNvPr id="3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59596" y="4018788"/>
            <a:ext cx="3150110" cy="979324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hape 9"/>
          <p:cNvSpPr/>
          <p:nvPr/>
        </p:nvSpPr>
        <p:spPr>
          <a:xfrm>
            <a:off x="822958" y="5806439"/>
            <a:ext cx="2926084" cy="3"/>
          </a:xfrm>
          <a:prstGeom prst="line">
            <a:avLst/>
          </a:prstGeom>
          <a:ln w="12700">
            <a:solidFill>
              <a:srgbClr val="3C4A8C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2" name="Text 10"/>
          <p:cNvSpPr txBox="1"/>
          <p:nvPr/>
        </p:nvSpPr>
        <p:spPr>
          <a:xfrm>
            <a:off x="868680" y="5920031"/>
            <a:ext cx="539496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200">
                <a:solidFill>
                  <a:srgbClr val="AAB6D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Peter Willendrup   ·   DTU Physics</a:t>
            </a:r>
          </a:p>
        </p:txBody>
      </p:sp>
      <p:sp>
        <p:nvSpPr>
          <p:cNvPr id="33" name="Text 11"/>
          <p:cNvSpPr txBox="1"/>
          <p:nvPr/>
        </p:nvSpPr>
        <p:spPr>
          <a:xfrm>
            <a:off x="868680" y="6205650"/>
            <a:ext cx="6309362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1100">
                <a:solidFill>
                  <a:srgbClr val="7D8AC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PaNRAID School  ·  supported by PEPR DIADEM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nvidia-smi…"/>
          <p:cNvSpPr txBox="1"/>
          <p:nvPr/>
        </p:nvSpPr>
        <p:spPr>
          <a:xfrm>
            <a:off x="154778" y="6497"/>
            <a:ext cx="7062040" cy="7076439"/>
          </a:xfrm>
          <a:prstGeom prst="rect">
            <a:avLst/>
          </a:prstGeom>
          <a:solidFill>
            <a:srgbClr val="3962B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nvidia-smi 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Sat Sep 19 18:31:33 2026       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+-----------------------------------------------------------------------------------------+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NVIDIA-SMI 610.43.02              KMD Version: 610.43.02     CUDA UMD Version: 13.3    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+-----------------------------------------+------------------------+----------------------+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GPU  Name                 Persistence-M | Bus-Id          Disp.A | Volatile Uncorr. ECC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Fan  Temp   Perf          Pwr:Usage/Cap |           Memory-Usage | GPU-Util  Compute M.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                                 |                        |               MIG M.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|=========================================+========================+======================|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0  NVIDIA A100-SXM4-80GB          On  |   00000000:07:00.0 Off |                    0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N/A   35C    P0             65W /  400W |       0MiB /  81920MiB |      0%      Default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                                 |                        |             Disabled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+-----------------------------------------+------------------------+----------------------+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1  NVIDIA A100-SXM4-80GB          On  |   00000000:0B:00.0 Off |                    0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N/A   34C    P0             64W /  400W |       0MiB /  81920MiB |      0%      Default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                                 |                        |             Disabled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+-----------------------------------------+------------------------+----------------------+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2  NVIDIA A100-SXM4-80GB          On  |   00000000:48:00.0 Off |                    0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N/A   32C    P0             63W /  400W |       0MiB /  81920MiB |      0%      Default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                                 |                        |             Disabled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+-----------------------------------------+------------------------+----------------------+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3  NVIDIA A100-SXM4-80GB          On  |   00000000:4C:00.0 Off |                    0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N/A   35C    P0             62W /  400W |       0MiB /  81920MiB |      0%      Default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                                 |                        |             Disabled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+-----------------------------------------+------------------------+----------------------+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4  NVIDIA A100-SXM4-80GB          On  |   00000000:88:00.0 Off |                    0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N/A   32C    P0             60W /  400W |       0MiB /  81920MiB |      0%      Default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                                 |                        |             Disabled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+-----------------------------------------+------------------------+----------------------+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5  NVIDIA A100-SXM4-80GB          On  |   00000000:8B:00.0 Off |                    0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N/A   35C    P0             63W /  400W |       0MiB /  81920MiB |      0%      Default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                                 |                        |             Disabled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+-----------------------------------------+------------------------+----------------------+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6  NVIDIA A100-SXM4-80GB          On  |   00000000:C8:00.0 Off |                    0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N/A   34C    P0             61W /  400W |       0MiB /  81920MiB |      0%      Default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                                 |                        |             Disabled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+-----------------------------------------+------------------------+----------------------+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7  NVIDIA A100-SXM4-80GB          On  |   00000000:CB:00.0 Off |                    0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N/A   34C    P0             62W /  400W |       0MiB /  81920MiB |      0%      Default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                                 |                        |             Disabled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+-----------------------------------------+------------------------+----------------------+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+-----------------------------------------------------------------------------------------+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Processes:                                                                             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GPU   GI   CI              PID   Type   Process name                        GPU Memory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      ID   ID                                                               Usage     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|=========================================================================================|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|  No running processes found                                                             |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+-----------------------------------------------------------------------------------------+</a:t>
            </a:r>
          </a:p>
        </p:txBody>
      </p:sp>
      <p:pic>
        <p:nvPicPr>
          <p:cNvPr id="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6610" y="355702"/>
            <a:ext cx="1270104" cy="65151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 0"/>
          <p:cNvSpPr txBox="1"/>
          <p:nvPr/>
        </p:nvSpPr>
        <p:spPr>
          <a:xfrm>
            <a:off x="594359" y="406199"/>
            <a:ext cx="886968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Our reservation</a:t>
            </a:r>
          </a:p>
        </p:txBody>
      </p:sp>
      <p:sp>
        <p:nvSpPr>
          <p:cNvPr id="38" name="Text 1"/>
          <p:cNvSpPr txBox="1"/>
          <p:nvPr/>
        </p:nvSpPr>
        <p:spPr>
          <a:xfrm>
            <a:off x="7557055" y="1079284"/>
            <a:ext cx="4338086" cy="5539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3 x NVIDIA GPU boxes (juliet2,3,4)</a:t>
            </a:r>
            <a:br/>
            <a:br/>
            <a:r>
              <a:t>each with 8 x A100 cards - 24 GPU’s to share </a:t>
            </a:r>
            <a:br/>
          </a:p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br/>
            <a:r>
              <a:t>Reservation for PaNRAID:</a:t>
            </a:r>
          </a:p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m26216</a:t>
            </a:r>
            <a:br/>
            <a:br/>
            <a:r>
              <a:t>1000 GPU hours </a:t>
            </a:r>
            <a:br/>
            <a:r>
              <a:rPr sz="2800"/>
              <a:t>(5 days x 8 hours x 24 GPU)</a:t>
            </a:r>
          </a:p>
        </p:txBody>
      </p:sp>
      <p:sp>
        <p:nvSpPr>
          <p:cNvPr id="39" name="Text 15"/>
          <p:cNvSpPr txBox="1"/>
          <p:nvPr/>
        </p:nvSpPr>
        <p:spPr>
          <a:xfrm>
            <a:off x="594360" y="6480724"/>
            <a:ext cx="7223760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Juliet</a:t>
            </a:r>
          </a:p>
        </p:txBody>
      </p:sp>
      <p:sp>
        <p:nvSpPr>
          <p:cNvPr id="40" name="Text 16"/>
          <p:cNvSpPr txBox="1"/>
          <p:nvPr/>
        </p:nvSpPr>
        <p:spPr>
          <a:xfrm>
            <a:off x="11231574" y="6480724"/>
            <a:ext cx="36576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grpSp>
        <p:nvGrpSpPr>
          <p:cNvPr id="47" name="Group 19"/>
          <p:cNvGrpSpPr/>
          <p:nvPr/>
        </p:nvGrpSpPr>
        <p:grpSpPr>
          <a:xfrm>
            <a:off x="8424359" y="119518"/>
            <a:ext cx="1590846" cy="748805"/>
            <a:chOff x="0" y="0"/>
            <a:chExt cx="1590844" cy="748804"/>
          </a:xfrm>
        </p:grpSpPr>
        <p:grpSp>
          <p:nvGrpSpPr>
            <p:cNvPr id="45" name="Group 20"/>
            <p:cNvGrpSpPr/>
            <p:nvPr/>
          </p:nvGrpSpPr>
          <p:grpSpPr>
            <a:xfrm>
              <a:off x="800640" y="4781"/>
              <a:ext cx="790204" cy="708383"/>
              <a:chOff x="0" y="0"/>
              <a:chExt cx="790203" cy="708382"/>
            </a:xfrm>
          </p:grpSpPr>
          <p:pic>
            <p:nvPicPr>
              <p:cNvPr id="41" name="Picture 22" descr="Picture 22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37056" y="0"/>
                <a:ext cx="716669" cy="4245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44" name="Group 32"/>
              <p:cNvGrpSpPr/>
              <p:nvPr/>
            </p:nvGrpSpPr>
            <p:grpSpPr>
              <a:xfrm>
                <a:off x="0" y="407058"/>
                <a:ext cx="790204" cy="301325"/>
                <a:chOff x="0" y="0"/>
                <a:chExt cx="790203" cy="301324"/>
              </a:xfrm>
            </p:grpSpPr>
            <p:pic>
              <p:nvPicPr>
                <p:cNvPr id="42" name="Picture 29" descr="Picture 29"/>
                <p:cNvPicPr>
                  <a:picLocks noChangeAspect="1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-1" y="-1"/>
                  <a:ext cx="547924" cy="26460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43" name="Picture 30" descr="Picture 30"/>
                <p:cNvPicPr>
                  <a:picLocks noChangeAspect="1"/>
                </p:cNvPicPr>
                <p:nvPr/>
              </p:nvPicPr>
              <p:blipFill>
                <a:blip r:embed="rId5">
                  <a:extLst/>
                </a:blip>
                <a:stretch>
                  <a:fillRect/>
                </a:stretch>
              </p:blipFill>
              <p:spPr>
                <a:xfrm>
                  <a:off x="589321" y="5040"/>
                  <a:ext cx="200883" cy="29628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46" name="Picture 31" descr="Picture 31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-1"/>
              <a:ext cx="736203" cy="7488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56" name="Group"/>
          <p:cNvGrpSpPr/>
          <p:nvPr/>
        </p:nvGrpSpPr>
        <p:grpSpPr>
          <a:xfrm>
            <a:off x="8308721" y="3380989"/>
            <a:ext cx="3682520" cy="987129"/>
            <a:chOff x="0" y="0"/>
            <a:chExt cx="3682519" cy="987128"/>
          </a:xfrm>
        </p:grpSpPr>
        <p:pic>
          <p:nvPicPr>
            <p:cNvPr id="48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987129" cy="9871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9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77043" y="0"/>
              <a:ext cx="987130" cy="9871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0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790390" y="0"/>
              <a:ext cx="987130" cy="9871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1171390" y="0"/>
              <a:ext cx="987130" cy="9871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2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1524000" y="0"/>
              <a:ext cx="987129" cy="9871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1901043" y="0"/>
              <a:ext cx="987130" cy="9871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314390" y="0"/>
              <a:ext cx="987130" cy="9871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" name="Image" descr="Image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695390" y="0"/>
              <a:ext cx="987130" cy="9871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7" name="3 x"/>
          <p:cNvSpPr txBox="1"/>
          <p:nvPr/>
        </p:nvSpPr>
        <p:spPr>
          <a:xfrm>
            <a:off x="7867197" y="3689134"/>
            <a:ext cx="373815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/>
            <a:r>
              <a:t>3 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rocessor : 111…"/>
          <p:cNvSpPr txBox="1"/>
          <p:nvPr/>
        </p:nvSpPr>
        <p:spPr>
          <a:xfrm>
            <a:off x="125784" y="854894"/>
            <a:ext cx="12215474" cy="5704839"/>
          </a:xfrm>
          <a:prstGeom prst="rect">
            <a:avLst/>
          </a:prstGeom>
          <a:solidFill>
            <a:srgbClr val="3962BE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processor	: 111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vendor_id	: AuthenticAMD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cpu family	: 25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model		: 1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model name	: AMD EPYC 7663 56-Core Processor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stepping	: 1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microcode	: 0xa0011de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cpu MHz		: 1996.251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cache size	: 512 KB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physical id	: 1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siblings	: 56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core id		: 62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cpu cores	: 56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apicid		: 126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initial apicid	: 126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fpu		: yes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fpu_exception	: yes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cpuid level	: 16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wp		: yes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flags		: fpu vme de pse tsc msr pae mce cx8 apic sep mtrr pge mca cmov pat pse36 clflush mmx fxsr sse sse2 ht syscall nx mmxext fxsr_opt pdpe1gb rdtscp lm constant_tsc rep_good nopl xtopology nonstop_tsc cpuid extd_apicid aperfmperf rapl pni pclmulqdq monitor ssse3 fma cx16 pcid sse4_1 sse4_2 movbe popcnt aes xsave avx f16c rdrand lahf_lm cmp_legacy extapic cr8_legacy abm sse4a misalignsse 3dnowprefetch osvw ibs skinit wdt tce topoext perfctr_core perfctr_nb bpext perfctr_llc mwaitx cpb cat_l3 cdp_l3 hw_pstate ssbd mba ibrs ibpb stibp vmmcall fsgsbase bmi1 avx2 smep bmi2 erms invpcid cqm rdt_a rdseed adx smap clflushopt clwb sha_ni xsaveopt xsavec xgetbv1 xsaves cqm_llc cqm_occup_llc cqm_mbm_total cqm_mbm_local user_shstk clzero irperf xsaveerptr rdpru wbnoinvd amd_ppin brs arat npt lbrv svm_lock nrip_save tsc_scale vmcb_clean flushbyasid decodeassists pausefilter pfthreshold v_vmsave_vmload vgif v_spec_ctrl umip pku ospke vaes vpclmulqdq rdpid overflow_recov succor smca fsrm debug_swap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bugs		: sysret_ss_attrs spectre_v1 spectre_v2 spec_store_bypass srso ibpb_no_ret spectre_v2_user tsa vmscape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bogomips	: 3992.50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TLB size	: 2560 4K pages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clflush size	: 64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cache_alignment	: 64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address sizes	: 48 bits physical, 48 bits virtual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1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power management: ts ttp tm hwpstate cpb eff_freq_ro [13] [14]</a:t>
            </a:r>
          </a:p>
        </p:txBody>
      </p:sp>
      <p:pic>
        <p:nvPicPr>
          <p:cNvPr id="6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6610" y="355702"/>
            <a:ext cx="1270104" cy="651510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 0"/>
          <p:cNvSpPr txBox="1"/>
          <p:nvPr/>
        </p:nvSpPr>
        <p:spPr>
          <a:xfrm>
            <a:off x="594359" y="406199"/>
            <a:ext cx="886968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Our reservation</a:t>
            </a:r>
          </a:p>
        </p:txBody>
      </p:sp>
      <p:sp>
        <p:nvSpPr>
          <p:cNvPr id="62" name="Text 1"/>
          <p:cNvSpPr txBox="1"/>
          <p:nvPr/>
        </p:nvSpPr>
        <p:spPr>
          <a:xfrm>
            <a:off x="7296108" y="1114516"/>
            <a:ext cx="4338087" cy="5577839"/>
          </a:xfrm>
          <a:prstGeom prst="rect">
            <a:avLst/>
          </a:prstGeom>
          <a:solidFill>
            <a:schemeClr val="accent5">
              <a:lumOff val="2019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The nodes each have 112 CPU cores</a:t>
            </a:r>
            <a:br/>
          </a:p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- only 1 core is active pr. active GPU if running</a:t>
            </a:r>
            <a:br/>
            <a:r>
              <a:t>McStas / McXrace OpenACC</a:t>
            </a:r>
          </a:p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- also share ;-)</a:t>
            </a:r>
          </a:p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br/>
            <a:r>
              <a:t>Reservation for PaNRAID:</a:t>
            </a:r>
          </a:p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m26216</a:t>
            </a:r>
          </a:p>
        </p:txBody>
      </p:sp>
      <p:sp>
        <p:nvSpPr>
          <p:cNvPr id="63" name="Text 15"/>
          <p:cNvSpPr txBox="1"/>
          <p:nvPr/>
        </p:nvSpPr>
        <p:spPr>
          <a:xfrm>
            <a:off x="594360" y="6480724"/>
            <a:ext cx="7223760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Juliet</a:t>
            </a:r>
          </a:p>
        </p:txBody>
      </p:sp>
      <p:sp>
        <p:nvSpPr>
          <p:cNvPr id="64" name="Text 16"/>
          <p:cNvSpPr txBox="1"/>
          <p:nvPr/>
        </p:nvSpPr>
        <p:spPr>
          <a:xfrm>
            <a:off x="11231574" y="6480724"/>
            <a:ext cx="36576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grpSp>
        <p:nvGrpSpPr>
          <p:cNvPr id="71" name="Group 19"/>
          <p:cNvGrpSpPr/>
          <p:nvPr/>
        </p:nvGrpSpPr>
        <p:grpSpPr>
          <a:xfrm>
            <a:off x="8424359" y="119518"/>
            <a:ext cx="1590846" cy="748805"/>
            <a:chOff x="0" y="0"/>
            <a:chExt cx="1590844" cy="748804"/>
          </a:xfrm>
        </p:grpSpPr>
        <p:grpSp>
          <p:nvGrpSpPr>
            <p:cNvPr id="69" name="Group 20"/>
            <p:cNvGrpSpPr/>
            <p:nvPr/>
          </p:nvGrpSpPr>
          <p:grpSpPr>
            <a:xfrm>
              <a:off x="800640" y="4781"/>
              <a:ext cx="790204" cy="708383"/>
              <a:chOff x="0" y="0"/>
              <a:chExt cx="790203" cy="708382"/>
            </a:xfrm>
          </p:grpSpPr>
          <p:pic>
            <p:nvPicPr>
              <p:cNvPr id="65" name="Picture 22" descr="Picture 22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37056" y="0"/>
                <a:ext cx="716669" cy="4245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68" name="Group 32"/>
              <p:cNvGrpSpPr/>
              <p:nvPr/>
            </p:nvGrpSpPr>
            <p:grpSpPr>
              <a:xfrm>
                <a:off x="0" y="407058"/>
                <a:ext cx="790204" cy="301325"/>
                <a:chOff x="0" y="0"/>
                <a:chExt cx="790203" cy="301324"/>
              </a:xfrm>
            </p:grpSpPr>
            <p:pic>
              <p:nvPicPr>
                <p:cNvPr id="66" name="Picture 29" descr="Picture 29"/>
                <p:cNvPicPr>
                  <a:picLocks noChangeAspect="1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-1" y="-1"/>
                  <a:ext cx="547924" cy="26460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67" name="Picture 30" descr="Picture 30"/>
                <p:cNvPicPr>
                  <a:picLocks noChangeAspect="1"/>
                </p:cNvPicPr>
                <p:nvPr/>
              </p:nvPicPr>
              <p:blipFill>
                <a:blip r:embed="rId5">
                  <a:extLst/>
                </a:blip>
                <a:stretch>
                  <a:fillRect/>
                </a:stretch>
              </p:blipFill>
              <p:spPr>
                <a:xfrm>
                  <a:off x="589321" y="5040"/>
                  <a:ext cx="200883" cy="29628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70" name="Picture 31" descr="Picture 31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-1"/>
              <a:ext cx="736203" cy="7488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2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55461" y="1539686"/>
            <a:ext cx="2212950" cy="2212949"/>
          </a:xfrm>
          <a:prstGeom prst="rect">
            <a:avLst/>
          </a:prstGeom>
          <a:ln w="12700">
            <a:miter lim="400000"/>
          </a:ln>
        </p:spPr>
      </p:pic>
      <p:pic>
        <p:nvPicPr>
          <p:cNvPr id="73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548140" y="1539686"/>
            <a:ext cx="2212949" cy="2212949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2 x 56 cores pr node"/>
          <p:cNvSpPr txBox="1"/>
          <p:nvPr/>
        </p:nvSpPr>
        <p:spPr>
          <a:xfrm>
            <a:off x="4184951" y="3243581"/>
            <a:ext cx="2059071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2 x 56 cores pr node</a:t>
            </a:r>
          </a:p>
        </p:txBody>
      </p:sp>
      <p:sp>
        <p:nvSpPr>
          <p:cNvPr id="75" name="3 nodes x"/>
          <p:cNvSpPr txBox="1"/>
          <p:nvPr/>
        </p:nvSpPr>
        <p:spPr>
          <a:xfrm>
            <a:off x="3117413" y="3243581"/>
            <a:ext cx="1030929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3 nodes 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6610" y="355702"/>
            <a:ext cx="1270104" cy="651510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 0"/>
          <p:cNvSpPr txBox="1"/>
          <p:nvPr/>
        </p:nvSpPr>
        <p:spPr>
          <a:xfrm>
            <a:off x="594359" y="406199"/>
            <a:ext cx="886968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Our reservation</a:t>
            </a:r>
          </a:p>
        </p:txBody>
      </p:sp>
      <p:sp>
        <p:nvSpPr>
          <p:cNvPr id="79" name="Text 1"/>
          <p:cNvSpPr txBox="1"/>
          <p:nvPr/>
        </p:nvSpPr>
        <p:spPr>
          <a:xfrm>
            <a:off x="612978" y="1340726"/>
            <a:ext cx="10487545" cy="5120639"/>
          </a:xfrm>
          <a:prstGeom prst="rect">
            <a:avLst/>
          </a:prstGeom>
          <a:solidFill>
            <a:schemeClr val="accent5">
              <a:lumOff val="2019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When to choose CPU x MPI over GPU?</a:t>
            </a:r>
          </a:p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</a:p>
          <a:p>
            <a:pPr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Issues when for example…</a:t>
            </a:r>
          </a:p>
          <a:p>
            <a:pPr marL="300789" indent="-300789">
              <a:buSzPct val="100000"/>
              <a:buChar char="*"/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McStas or McXtrace instrument includes </a:t>
            </a:r>
            <a:r>
              <a:rPr>
                <a:solidFill>
                  <a:srgbClr val="E2071A"/>
                </a:solidFill>
                <a:latin typeface="Andale Mono"/>
                <a:ea typeface="Andale Mono"/>
                <a:cs typeface="Andale Mono"/>
                <a:sym typeface="Andale Mono"/>
              </a:rPr>
              <a:t>Union</a:t>
            </a:r>
            <a:r>
              <a:t> components</a:t>
            </a:r>
          </a:p>
          <a:p>
            <a:pPr marL="300789" indent="-300789">
              <a:buSzPct val="100000"/>
              <a:buChar char="*"/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McStas instruments is using </a:t>
            </a:r>
            <a:r>
              <a:rPr>
                <a:solidFill>
                  <a:srgbClr val="E2071A"/>
                </a:solidFill>
                <a:latin typeface="Andale Mono"/>
                <a:ea typeface="Andale Mono"/>
                <a:cs typeface="Andale Mono"/>
                <a:sym typeface="Andale Mono"/>
              </a:rPr>
              <a:t>NCrystal_sample</a:t>
            </a:r>
          </a:p>
          <a:p>
            <a:pPr marL="300789" indent="-300789">
              <a:buSzPct val="100000"/>
              <a:buChar char="*"/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McXtrace components require </a:t>
            </a:r>
            <a:r>
              <a:rPr>
                <a:solidFill>
                  <a:srgbClr val="E2071A"/>
                </a:solidFill>
                <a:latin typeface="Andale Mono"/>
                <a:ea typeface="Andale Mono"/>
                <a:cs typeface="Andale Mono"/>
                <a:sym typeface="Andale Mono"/>
              </a:rPr>
              <a:t>xraylib</a:t>
            </a:r>
            <a:br/>
            <a:br/>
            <a:r>
              <a:t>… the code-generator will tell you if you are in </a:t>
            </a:r>
            <a:r>
              <a:rPr>
                <a:solidFill>
                  <a:srgbClr val="E2071A"/>
                </a:solidFill>
                <a:latin typeface="Andale Mono"/>
                <a:ea typeface="Andale Mono"/>
                <a:cs typeface="Andale Mono"/>
                <a:sym typeface="Andale Mono"/>
              </a:rPr>
              <a:t>FUNNEL</a:t>
            </a:r>
            <a:r>
              <a:t> mode… </a:t>
            </a:r>
            <a:br/>
            <a:br/>
          </a:p>
        </p:txBody>
      </p:sp>
      <p:sp>
        <p:nvSpPr>
          <p:cNvPr id="80" name="Text 15"/>
          <p:cNvSpPr txBox="1"/>
          <p:nvPr/>
        </p:nvSpPr>
        <p:spPr>
          <a:xfrm>
            <a:off x="594360" y="6480724"/>
            <a:ext cx="7223760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Juliet</a:t>
            </a:r>
          </a:p>
        </p:txBody>
      </p:sp>
      <p:sp>
        <p:nvSpPr>
          <p:cNvPr id="81" name="Text 16"/>
          <p:cNvSpPr txBox="1"/>
          <p:nvPr/>
        </p:nvSpPr>
        <p:spPr>
          <a:xfrm>
            <a:off x="11231574" y="6480724"/>
            <a:ext cx="36576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grpSp>
        <p:nvGrpSpPr>
          <p:cNvPr id="88" name="Group 19"/>
          <p:cNvGrpSpPr/>
          <p:nvPr/>
        </p:nvGrpSpPr>
        <p:grpSpPr>
          <a:xfrm>
            <a:off x="8424359" y="119518"/>
            <a:ext cx="1590846" cy="748805"/>
            <a:chOff x="0" y="0"/>
            <a:chExt cx="1590844" cy="748804"/>
          </a:xfrm>
        </p:grpSpPr>
        <p:grpSp>
          <p:nvGrpSpPr>
            <p:cNvPr id="86" name="Group 20"/>
            <p:cNvGrpSpPr/>
            <p:nvPr/>
          </p:nvGrpSpPr>
          <p:grpSpPr>
            <a:xfrm>
              <a:off x="800640" y="4781"/>
              <a:ext cx="790204" cy="708383"/>
              <a:chOff x="0" y="0"/>
              <a:chExt cx="790203" cy="708382"/>
            </a:xfrm>
          </p:grpSpPr>
          <p:pic>
            <p:nvPicPr>
              <p:cNvPr id="82" name="Picture 22" descr="Picture 22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37056" y="0"/>
                <a:ext cx="716669" cy="4245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85" name="Group 32"/>
              <p:cNvGrpSpPr/>
              <p:nvPr/>
            </p:nvGrpSpPr>
            <p:grpSpPr>
              <a:xfrm>
                <a:off x="0" y="407058"/>
                <a:ext cx="790204" cy="301325"/>
                <a:chOff x="0" y="0"/>
                <a:chExt cx="790203" cy="301324"/>
              </a:xfrm>
            </p:grpSpPr>
            <p:pic>
              <p:nvPicPr>
                <p:cNvPr id="83" name="Picture 29" descr="Picture 29"/>
                <p:cNvPicPr>
                  <a:picLocks noChangeAspect="1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-1" y="-1"/>
                  <a:ext cx="547924" cy="26460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4" name="Picture 30" descr="Picture 30"/>
                <p:cNvPicPr>
                  <a:picLocks noChangeAspect="1"/>
                </p:cNvPicPr>
                <p:nvPr/>
              </p:nvPicPr>
              <p:blipFill>
                <a:blip r:embed="rId5">
                  <a:extLst/>
                </a:blip>
                <a:stretch>
                  <a:fillRect/>
                </a:stretch>
              </p:blipFill>
              <p:spPr>
                <a:xfrm>
                  <a:off x="589321" y="5040"/>
                  <a:ext cx="200883" cy="29628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87" name="Picture 31" descr="Picture 31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-1"/>
              <a:ext cx="736203" cy="7488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89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279094" y="1026927"/>
            <a:ext cx="1590845" cy="15908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200390" y="1116271"/>
            <a:ext cx="1412159" cy="1412158"/>
          </a:xfrm>
          <a:prstGeom prst="rect">
            <a:avLst/>
          </a:prstGeom>
          <a:ln w="12700">
            <a:miter lim="400000"/>
          </a:ln>
        </p:spPr>
      </p:pic>
      <p:pic>
        <p:nvPicPr>
          <p:cNvPr id="91" name="Image" descr="Image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397267" y="833465"/>
            <a:ext cx="1977769" cy="1977770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pasted-movie.png" descr="pasted-movi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0441414" y="1597381"/>
            <a:ext cx="1140495" cy="11404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90727" y="1122948"/>
            <a:ext cx="3312628" cy="3312628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 1"/>
          <p:cNvSpPr txBox="1"/>
          <p:nvPr/>
        </p:nvSpPr>
        <p:spPr>
          <a:xfrm>
            <a:off x="7397587" y="4081272"/>
            <a:ext cx="4642921" cy="2377439"/>
          </a:xfrm>
          <a:prstGeom prst="rect">
            <a:avLst/>
          </a:prstGeom>
          <a:solidFill>
            <a:schemeClr val="accent5">
              <a:lumOff val="2019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marL="300789" indent="-300789">
              <a:buSzPct val="100000"/>
              <a:buChar char="*"/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Not seeing -</a:t>
            </a:r>
            <a:r>
              <a:rPr>
                <a:latin typeface="Andale Mono"/>
                <a:ea typeface="Andale Mono"/>
                <a:cs typeface="Andale Mono"/>
                <a:sym typeface="Andale Mono"/>
              </a:rPr>
              <a:t>DFUNNEL </a:t>
            </a:r>
            <a:br>
              <a:rPr>
                <a:latin typeface="Andale Mono"/>
                <a:ea typeface="Andale Mono"/>
                <a:cs typeface="Andale Mono"/>
                <a:sym typeface="Andale Mono"/>
              </a:rPr>
            </a:br>
            <a:r>
              <a:t>in the final cogen CFLAGS line basically means:</a:t>
            </a:r>
            <a:br/>
            <a:br/>
            <a:r>
              <a:t>Full GPU acceleration</a:t>
            </a:r>
          </a:p>
        </p:txBody>
      </p:sp>
      <p:sp>
        <p:nvSpPr>
          <p:cNvPr id="96" name="mcrun -c --openacc PSI_DMC.instr -n0…"/>
          <p:cNvSpPr txBox="1"/>
          <p:nvPr/>
        </p:nvSpPr>
        <p:spPr>
          <a:xfrm>
            <a:off x="223127" y="335281"/>
            <a:ext cx="6740906" cy="6187439"/>
          </a:xfrm>
          <a:prstGeom prst="rect">
            <a:avLst/>
          </a:prstGeom>
          <a:solidFill>
            <a:srgbClr val="3B6AC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mcrun -c --openacc PSI_DMC.instr -n0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INFO: No output directory specified (--dir)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INFO: Using directory: "PSI_DMC_20260919_185436"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INFO: Regenerating c-file: PSI_DMC.c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Info:    'Al_window' is a contributed component.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Info:    'Monochromator_2foc' is a contributed component.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WARNING: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The parameter format of sample is initialized 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using a static {,,,} vector.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-&gt; Such static vectors support literal numbers ONLY.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-&gt; Any vector use of variables or defines must happen via a 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DECLARE/INITIALIZE pointer.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-----------------------------------------------------------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Generating single GPU kernel or single CPU section layout: 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-&gt; SPLIT N at component foc_mono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-&gt; SPLIT N at component sample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-----------------------------------------------------------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Generating GPU/CPU -DFUNNEL layout: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-&gt; SPLIT within buffer at component foc_mono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-&gt; SPLIT within buffer at component sample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-----------------------------------------------------------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CFLAGS= @NCRYSTALFLAGS@</a:t>
            </a:r>
          </a:p>
        </p:txBody>
      </p:sp>
      <p:sp>
        <p:nvSpPr>
          <p:cNvPr id="97" name="Arrow"/>
          <p:cNvSpPr/>
          <p:nvPr/>
        </p:nvSpPr>
        <p:spPr>
          <a:xfrm rot="10802554">
            <a:off x="5522329" y="5577429"/>
            <a:ext cx="1977014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98" name="Text 0"/>
          <p:cNvSpPr txBox="1"/>
          <p:nvPr/>
        </p:nvSpPr>
        <p:spPr>
          <a:xfrm>
            <a:off x="173946" y="72768"/>
            <a:ext cx="8869681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Our reservation</a:t>
            </a:r>
          </a:p>
        </p:txBody>
      </p:sp>
      <p:pic>
        <p:nvPicPr>
          <p:cNvPr id="99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76610" y="355702"/>
            <a:ext cx="1270104" cy="651510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15"/>
          <p:cNvSpPr txBox="1"/>
          <p:nvPr/>
        </p:nvSpPr>
        <p:spPr>
          <a:xfrm>
            <a:off x="594360" y="6480724"/>
            <a:ext cx="7223760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Juliet</a:t>
            </a:r>
          </a:p>
        </p:txBody>
      </p:sp>
      <p:sp>
        <p:nvSpPr>
          <p:cNvPr id="101" name="Text 16"/>
          <p:cNvSpPr txBox="1"/>
          <p:nvPr/>
        </p:nvSpPr>
        <p:spPr>
          <a:xfrm>
            <a:off x="11231574" y="6480724"/>
            <a:ext cx="36576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grpSp>
        <p:nvGrpSpPr>
          <p:cNvPr id="108" name="Group 19"/>
          <p:cNvGrpSpPr/>
          <p:nvPr/>
        </p:nvGrpSpPr>
        <p:grpSpPr>
          <a:xfrm>
            <a:off x="8424359" y="119518"/>
            <a:ext cx="1590846" cy="748805"/>
            <a:chOff x="0" y="0"/>
            <a:chExt cx="1590844" cy="748804"/>
          </a:xfrm>
        </p:grpSpPr>
        <p:grpSp>
          <p:nvGrpSpPr>
            <p:cNvPr id="106" name="Group 20"/>
            <p:cNvGrpSpPr/>
            <p:nvPr/>
          </p:nvGrpSpPr>
          <p:grpSpPr>
            <a:xfrm>
              <a:off x="800640" y="4781"/>
              <a:ext cx="790204" cy="708383"/>
              <a:chOff x="0" y="0"/>
              <a:chExt cx="790203" cy="708382"/>
            </a:xfrm>
          </p:grpSpPr>
          <p:pic>
            <p:nvPicPr>
              <p:cNvPr id="102" name="Picture 22" descr="Picture 2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37056" y="0"/>
                <a:ext cx="716669" cy="4245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105" name="Group 32"/>
              <p:cNvGrpSpPr/>
              <p:nvPr/>
            </p:nvGrpSpPr>
            <p:grpSpPr>
              <a:xfrm>
                <a:off x="0" y="407058"/>
                <a:ext cx="790204" cy="301325"/>
                <a:chOff x="0" y="0"/>
                <a:chExt cx="790203" cy="301324"/>
              </a:xfrm>
            </p:grpSpPr>
            <p:pic>
              <p:nvPicPr>
                <p:cNvPr id="103" name="Picture 29" descr="Picture 29"/>
                <p:cNvPicPr>
                  <a:picLocks noChangeAspect="1"/>
                </p:cNvPicPr>
                <p:nvPr/>
              </p:nvPicPr>
              <p:blipFill>
                <a:blip r:embed="rId5">
                  <a:extLst/>
                </a:blip>
                <a:stretch>
                  <a:fillRect/>
                </a:stretch>
              </p:blipFill>
              <p:spPr>
                <a:xfrm>
                  <a:off x="-1" y="-1"/>
                  <a:ext cx="547924" cy="26460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04" name="Picture 30" descr="Picture 30"/>
                <p:cNvPicPr>
                  <a:picLocks noChangeAspect="1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589321" y="5040"/>
                  <a:ext cx="200883" cy="29628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07" name="Picture 31" descr="Picture 31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-1" y="-1"/>
              <a:ext cx="736203" cy="7488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09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876030" y="1193647"/>
            <a:ext cx="1140495" cy="11404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1119301" y="5642051"/>
            <a:ext cx="1140495" cy="11404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1"/>
          <p:cNvSpPr txBox="1"/>
          <p:nvPr/>
        </p:nvSpPr>
        <p:spPr>
          <a:xfrm>
            <a:off x="7325102" y="4012381"/>
            <a:ext cx="4642921" cy="1920239"/>
          </a:xfrm>
          <a:prstGeom prst="rect">
            <a:avLst/>
          </a:prstGeom>
          <a:solidFill>
            <a:schemeClr val="accent5">
              <a:lumOff val="2019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/>
          <a:p>
            <a:pPr marL="300789" indent="-300789">
              <a:buSzPct val="100000"/>
              <a:buChar char="*"/>
              <a:defRPr sz="3000">
                <a:solidFill>
                  <a:srgbClr val="20242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>
                <a:latin typeface="Andale Mono"/>
                <a:ea typeface="Andale Mono"/>
                <a:cs typeface="Andale Mono"/>
                <a:sym typeface="Andale Mono"/>
              </a:rPr>
              <a:t>-DFUNNEL</a:t>
            </a:r>
            <a:r>
              <a:t> basically means:</a:t>
            </a:r>
            <a:br/>
            <a:br/>
            <a:r>
              <a:t>Better use CPU’s</a:t>
            </a:r>
          </a:p>
        </p:txBody>
      </p:sp>
      <p:sp>
        <p:nvSpPr>
          <p:cNvPr id="113" name="mxrun -c --openacc SOLEIL_ROCK.instr -n0…"/>
          <p:cNvSpPr txBox="1"/>
          <p:nvPr/>
        </p:nvSpPr>
        <p:spPr>
          <a:xfrm>
            <a:off x="266618" y="1481512"/>
            <a:ext cx="6526817" cy="4561839"/>
          </a:xfrm>
          <a:prstGeom prst="rect">
            <a:avLst/>
          </a:prstGeom>
          <a:solidFill>
            <a:srgbClr val="3B6AC3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mxrun -c --openacc SOLEIL_ROCK.instr -n0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INFO: No output directory specified (--dir)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INFO: Using directory: "SOLEIL_ROCK_20260919_184807"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INFO: Regenerating c-file: SOLEIL_ROCK.c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Info:    'Mirror_toroid_pothole' is a contributed component.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                          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-----------------------------------------------------------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Generating single GPU kernel or single CPU section layout: 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-&gt; SPLIT N at component absorption_sample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-----------------------------------------------------------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Generating GPU/CPU -DFUNNEL layout: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Component absorption_sample is NOACC, CPUONLY=1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-&gt; </a:t>
            </a:r>
            <a:r>
              <a:rPr>
                <a:solidFill>
                  <a:schemeClr val="accent4">
                    <a:lumOff val="12500"/>
                  </a:schemeClr>
                </a:solidFill>
              </a:rPr>
              <a:t>FUNNEL mode enabled</a:t>
            </a:r>
            <a:r>
              <a:t>, SPLIT within buffer.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-&gt; SPLIT within buffer at component absorption_sample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-&gt; GPU kernel from component fluo_monitor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-----------------------------------------------------------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FFF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CFLAGS= -std=c99  @XRLFLAGS@ -DUSE_OFF  </a:t>
            </a:r>
            <a:r>
              <a:rPr>
                <a:solidFill>
                  <a:schemeClr val="accent4">
                    <a:lumOff val="12500"/>
                  </a:schemeClr>
                </a:solidFill>
              </a:rPr>
              <a:t>-DFUNNEL</a:t>
            </a:r>
            <a:r>
              <a:rPr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114" name="Arrow"/>
          <p:cNvSpPr/>
          <p:nvPr/>
        </p:nvSpPr>
        <p:spPr>
          <a:xfrm rot="10802554">
            <a:off x="5536826" y="5021967"/>
            <a:ext cx="1977014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5718" tIns="45718" rIns="45718" bIns="45718" anchor="ctr"/>
          <a:lstStyle/>
          <a:p>
            <a:pPr/>
          </a:p>
        </p:txBody>
      </p:sp>
      <p:sp>
        <p:nvSpPr>
          <p:cNvPr id="115" name="Text 0"/>
          <p:cNvSpPr txBox="1"/>
          <p:nvPr/>
        </p:nvSpPr>
        <p:spPr>
          <a:xfrm>
            <a:off x="594359" y="406199"/>
            <a:ext cx="8869682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pc="200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Our reservation</a:t>
            </a:r>
          </a:p>
        </p:txBody>
      </p:sp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376610" y="355702"/>
            <a:ext cx="1270104" cy="65151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15"/>
          <p:cNvSpPr txBox="1"/>
          <p:nvPr/>
        </p:nvSpPr>
        <p:spPr>
          <a:xfrm>
            <a:off x="594360" y="6480724"/>
            <a:ext cx="7223760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Juliet</a:t>
            </a:r>
          </a:p>
        </p:txBody>
      </p:sp>
      <p:sp>
        <p:nvSpPr>
          <p:cNvPr id="118" name="Text 16"/>
          <p:cNvSpPr txBox="1"/>
          <p:nvPr/>
        </p:nvSpPr>
        <p:spPr>
          <a:xfrm>
            <a:off x="11231574" y="6480724"/>
            <a:ext cx="365762" cy="205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900">
                <a:solidFill>
                  <a:srgbClr val="6E758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grpSp>
        <p:nvGrpSpPr>
          <p:cNvPr id="125" name="Group 19"/>
          <p:cNvGrpSpPr/>
          <p:nvPr/>
        </p:nvGrpSpPr>
        <p:grpSpPr>
          <a:xfrm>
            <a:off x="8424359" y="119518"/>
            <a:ext cx="1590846" cy="748805"/>
            <a:chOff x="0" y="0"/>
            <a:chExt cx="1590844" cy="748804"/>
          </a:xfrm>
        </p:grpSpPr>
        <p:grpSp>
          <p:nvGrpSpPr>
            <p:cNvPr id="123" name="Group 20"/>
            <p:cNvGrpSpPr/>
            <p:nvPr/>
          </p:nvGrpSpPr>
          <p:grpSpPr>
            <a:xfrm>
              <a:off x="800640" y="4781"/>
              <a:ext cx="790204" cy="708383"/>
              <a:chOff x="0" y="0"/>
              <a:chExt cx="790203" cy="708382"/>
            </a:xfrm>
          </p:grpSpPr>
          <p:pic>
            <p:nvPicPr>
              <p:cNvPr id="119" name="Picture 22" descr="Picture 22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37056" y="0"/>
                <a:ext cx="716669" cy="42453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122" name="Group 32"/>
              <p:cNvGrpSpPr/>
              <p:nvPr/>
            </p:nvGrpSpPr>
            <p:grpSpPr>
              <a:xfrm>
                <a:off x="0" y="407058"/>
                <a:ext cx="790204" cy="301325"/>
                <a:chOff x="0" y="0"/>
                <a:chExt cx="790203" cy="301324"/>
              </a:xfrm>
            </p:grpSpPr>
            <p:pic>
              <p:nvPicPr>
                <p:cNvPr id="120" name="Picture 29" descr="Picture 29"/>
                <p:cNvPicPr>
                  <a:picLocks noChangeAspect="1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-1" y="-1"/>
                  <a:ext cx="547924" cy="26460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21" name="Picture 30" descr="Picture 30"/>
                <p:cNvPicPr>
                  <a:picLocks noChangeAspect="1"/>
                </p:cNvPicPr>
                <p:nvPr/>
              </p:nvPicPr>
              <p:blipFill>
                <a:blip r:embed="rId5">
                  <a:extLst/>
                </a:blip>
                <a:stretch>
                  <a:fillRect/>
                </a:stretch>
              </p:blipFill>
              <p:spPr>
                <a:xfrm>
                  <a:off x="589321" y="5040"/>
                  <a:ext cx="200883" cy="296284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24" name="Picture 31" descr="Picture 31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-1"/>
              <a:ext cx="736203" cy="74880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26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622384" y="1282416"/>
            <a:ext cx="3312629" cy="3312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078134" y="1473515"/>
            <a:ext cx="1136856" cy="1136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99087" y="5881319"/>
            <a:ext cx="987130" cy="9871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Image" descr="Image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049633" y="5514335"/>
            <a:ext cx="1721099" cy="1721098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Arrow"/>
          <p:cNvSpPr/>
          <p:nvPr/>
        </p:nvSpPr>
        <p:spPr>
          <a:xfrm>
            <a:off x="9141634" y="6230154"/>
            <a:ext cx="1111456" cy="289460"/>
          </a:xfrm>
          <a:prstGeom prst="rightArrow">
            <a:avLst>
              <a:gd name="adj1" fmla="val 30751"/>
              <a:gd name="adj2" fmla="val 168895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5718" tIns="45718" rIns="45718" bIns="45718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