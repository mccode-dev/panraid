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31999" marR="0" indent="-323999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71999" marR="0" indent="-431999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75000"/>
        <a:buFontTx/>
        <a:buChar char="−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68799" marR="0" indent="-4608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857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75000"/>
        <a:buFontTx/>
        <a:buChar char="−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289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721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53599" marR="0" indent="-3456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45000"/>
        <a:buFontTx/>
        <a:buChar char="●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606800" marR="0" indent="-4064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100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64000" marR="0" indent="-406400" algn="l" defTabSz="914400" rtl="0" latinLnBrk="0">
        <a:lnSpc>
          <a:spcPct val="90000"/>
        </a:lnSpc>
        <a:spcBef>
          <a:spcPts val="1400"/>
        </a:spcBef>
        <a:spcAft>
          <a:spcPts val="0"/>
        </a:spcAft>
        <a:buClr>
          <a:srgbClr val="000000"/>
        </a:buClr>
        <a:buSzPct val="100000"/>
        <a:buFontTx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image" Target="../media/image1.gif"/><Relationship Id="rId10" Type="http://schemas.openxmlformats.org/officeDocument/2006/relationships/image" Target="../media/image6.png"/><Relationship Id="rId11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.jpeg"/><Relationship Id="rId4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Relationship Id="rId4" Type="http://schemas.openxmlformats.org/officeDocument/2006/relationships/image" Target="../media/image1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1.gif"/><Relationship Id="rId9" Type="http://schemas.openxmlformats.org/officeDocument/2006/relationships/image" Target="../media/image4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1.gif"/><Relationship Id="rId9" Type="http://schemas.openxmlformats.org/officeDocument/2006/relationships/image" Target="../media/image4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1.gif"/><Relationship Id="rId9" Type="http://schemas.openxmlformats.org/officeDocument/2006/relationships/image" Target="../media/image4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hyperlink" Target="https://github.com/mccode-dev/PaNRAID/tree/main/Software%20has%20a%20.yml" TargetMode="External"/><Relationship Id="rId5" Type="http://schemas.openxmlformats.org/officeDocument/2006/relationships/image" Target="../media/image6.png"/><Relationship Id="rId6" Type="http://schemas.openxmlformats.org/officeDocument/2006/relationships/image" Target="../media/image3.png"/><Relationship Id="rId7" Type="http://schemas.openxmlformats.org/officeDocument/2006/relationships/image" Target="../media/image1.gif"/><Relationship Id="rId8" Type="http://schemas.openxmlformats.org/officeDocument/2006/relationships/image" Target="../media/image4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gif"/><Relationship Id="rId7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392759" y="-1425961"/>
            <a:ext cx="4754522" cy="4754522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-1828801" y="4206240"/>
            <a:ext cx="4205882" cy="420588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2"/>
          <p:cNvSpPr txBox="1"/>
          <p:nvPr/>
        </p:nvSpPr>
        <p:spPr>
          <a:xfrm>
            <a:off x="867959" y="1460340"/>
            <a:ext cx="7224842" cy="27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300" sz="1400">
                <a:solidFill>
                  <a:srgbClr val="9FB4E8"/>
                </a:solidFill>
              </a:defRPr>
            </a:lvl1pPr>
          </a:lstStyle>
          <a:p>
            <a:pPr/>
            <a:r>
              <a:t>A COMMON INTRODUCTION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822239" y="2160810"/>
            <a:ext cx="10425242" cy="89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5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 &amp; McXtrace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867959" y="3355837"/>
            <a:ext cx="6259682" cy="32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900">
                <a:solidFill>
                  <a:srgbClr val="C7D3F0"/>
                </a:solidFill>
              </a:defRPr>
            </a:lvl1pPr>
          </a:lstStyle>
          <a:p>
            <a:pPr/>
            <a:r>
              <a:t>Monte Carlo ray-tracing for neutron and X-ray instrumentation</a:t>
            </a:r>
          </a:p>
        </p:txBody>
      </p:sp>
      <p:sp>
        <p:nvSpPr>
          <p:cNvPr id="25" name="Shape 5"/>
          <p:cNvSpPr/>
          <p:nvPr/>
        </p:nvSpPr>
        <p:spPr>
          <a:xfrm>
            <a:off x="822960" y="4160520"/>
            <a:ext cx="1416961" cy="310681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" name="Text 6"/>
          <p:cNvSpPr txBox="1"/>
          <p:nvPr/>
        </p:nvSpPr>
        <p:spPr>
          <a:xfrm>
            <a:off x="867960" y="4203726"/>
            <a:ext cx="1326961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</a:defRPr>
            </a:lvl1pPr>
          </a:lstStyle>
          <a:p>
            <a:pPr/>
            <a:r>
              <a:t>McStas — neutrons</a:t>
            </a:r>
          </a:p>
        </p:txBody>
      </p:sp>
      <p:sp>
        <p:nvSpPr>
          <p:cNvPr id="27" name="Shape 7"/>
          <p:cNvSpPr/>
          <p:nvPr/>
        </p:nvSpPr>
        <p:spPr>
          <a:xfrm>
            <a:off x="2377439" y="4160520"/>
            <a:ext cx="1416961" cy="310681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Text 8"/>
          <p:cNvSpPr txBox="1"/>
          <p:nvPr/>
        </p:nvSpPr>
        <p:spPr>
          <a:xfrm>
            <a:off x="2422439" y="4203726"/>
            <a:ext cx="1326961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</a:defRPr>
            </a:lvl1pPr>
          </a:lstStyle>
          <a:p>
            <a:pPr/>
            <a:r>
              <a:t>McXtrace — X-rays</a:t>
            </a:r>
          </a:p>
        </p:txBody>
      </p:sp>
      <p:sp>
        <p:nvSpPr>
          <p:cNvPr id="29" name="Shape 9"/>
          <p:cNvSpPr/>
          <p:nvPr/>
        </p:nvSpPr>
        <p:spPr>
          <a:xfrm>
            <a:off x="822959" y="5806440"/>
            <a:ext cx="2926082" cy="36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Text 10"/>
          <p:cNvSpPr txBox="1"/>
          <p:nvPr/>
        </p:nvSpPr>
        <p:spPr>
          <a:xfrm>
            <a:off x="867960" y="5934287"/>
            <a:ext cx="539604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DTU Physics</a:t>
            </a:r>
          </a:p>
        </p:txBody>
      </p:sp>
      <p:sp>
        <p:nvSpPr>
          <p:cNvPr id="31" name="LogoCard"/>
          <p:cNvSpPr/>
          <p:nvPr/>
        </p:nvSpPr>
        <p:spPr>
          <a:xfrm>
            <a:off x="7429679" y="3759120"/>
            <a:ext cx="3809522" cy="14983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" name="SchoolCredit"/>
          <p:cNvSpPr txBox="1"/>
          <p:nvPr/>
        </p:nvSpPr>
        <p:spPr>
          <a:xfrm>
            <a:off x="7474679" y="5395998"/>
            <a:ext cx="3719521" cy="25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300">
                <a:solidFill>
                  <a:srgbClr val="C9D2EE"/>
                </a:solidFill>
              </a:defRPr>
            </a:lvl1pPr>
          </a:lstStyle>
          <a:p>
            <a:pPr/>
            <a:r>
              <a:t>PaNRAID School  ·  supported by PEPR DIADEM</a:t>
            </a:r>
          </a:p>
        </p:txBody>
      </p:sp>
      <p:pic>
        <p:nvPicPr>
          <p:cNvPr id="33" name="Picture 17" descr="Picture 17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825480" y="457199"/>
            <a:ext cx="1396801" cy="716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429679" y="478799"/>
            <a:ext cx="4539241" cy="6732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0" name="Group 16"/>
          <p:cNvGrpSpPr/>
          <p:nvPr/>
        </p:nvGrpSpPr>
        <p:grpSpPr>
          <a:xfrm>
            <a:off x="7936200" y="3847679"/>
            <a:ext cx="2796121" cy="1321201"/>
            <a:chOff x="0" y="0"/>
            <a:chExt cx="2796120" cy="1321200"/>
          </a:xfrm>
        </p:grpSpPr>
        <p:grpSp>
          <p:nvGrpSpPr>
            <p:cNvPr id="38" name="Group 18"/>
            <p:cNvGrpSpPr/>
            <p:nvPr/>
          </p:nvGrpSpPr>
          <p:grpSpPr>
            <a:xfrm>
              <a:off x="1407239" y="-1"/>
              <a:ext cx="1388882" cy="1258202"/>
              <a:chOff x="0" y="0"/>
              <a:chExt cx="1388880" cy="1258200"/>
            </a:xfrm>
          </p:grpSpPr>
          <p:pic>
            <p:nvPicPr>
              <p:cNvPr id="35" name="Picture 20" descr="Picture 20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rcRect l="48137" t="0" r="0" b="0"/>
              <a:stretch>
                <a:fillRect/>
              </a:stretch>
            </p:blipFill>
            <p:spPr>
              <a:xfrm>
                <a:off x="49320" y="0"/>
                <a:ext cx="1294200" cy="77580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6" name="Picture 21" descr="Picture 21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0" y="728640"/>
                <a:ext cx="963001" cy="46512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7" name="Picture 22" descr="Picture 22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1035360" y="737280"/>
                <a:ext cx="353521" cy="52092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9" name="Picture 19" descr="Picture 19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0" y="4679"/>
              <a:ext cx="1294200" cy="1316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PANRAID SCHOOL</a:t>
            </a:r>
          </a:p>
        </p:txBody>
      </p:sp>
      <p:sp>
        <p:nvSpPr>
          <p:cNvPr id="43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Who's behind this school</a:t>
            </a:r>
          </a:p>
        </p:txBody>
      </p:sp>
      <p:sp>
        <p:nvSpPr>
          <p:cNvPr id="44" name="Text 26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45" name="Text 27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46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650960"/>
            <a:ext cx="7873560" cy="1443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4699079"/>
            <a:ext cx="7873560" cy="1168201"/>
          </a:xfrm>
          <a:prstGeom prst="rect">
            <a:avLst/>
          </a:prstGeom>
          <a:ln w="12700">
            <a:miter lim="400000"/>
          </a:ln>
        </p:spPr>
      </p:pic>
      <p:sp>
        <p:nvSpPr>
          <p:cNvPr id="48" name="TextBox 5"/>
          <p:cNvSpPr txBox="1"/>
          <p:nvPr/>
        </p:nvSpPr>
        <p:spPr>
          <a:xfrm>
            <a:off x="593639" y="3327479"/>
            <a:ext cx="10323722" cy="55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1600">
                <a:solidFill>
                  <a:srgbClr val="4A5160"/>
                </a:solidFill>
              </a:defRPr>
            </a:lvl1pPr>
          </a:lstStyle>
          <a:p>
            <a:pPr/>
            <a:r>
              <a:t>PaNRAID is organised with support from the France 2030 PEPR DIADEM programme, training researchers to combine McStas and McXtrace ray-tracing simulations with AI methods.</a:t>
            </a:r>
          </a:p>
        </p:txBody>
      </p:sp>
      <p:sp>
        <p:nvSpPr>
          <p:cNvPr id="49" name="TextBox 6"/>
          <p:cNvSpPr txBox="1"/>
          <p:nvPr/>
        </p:nvSpPr>
        <p:spPr>
          <a:xfrm>
            <a:off x="593640" y="4216320"/>
            <a:ext cx="8799480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b="1" sz="1200">
                <a:solidFill>
                  <a:srgbClr val="1C7293"/>
                </a:solidFill>
              </a:defRPr>
            </a:lvl1pPr>
          </a:lstStyle>
          <a:p>
            <a:pPr/>
            <a:r>
              <a:t>PARTNERS &amp; SUPPORTING ORGANISATIONS</a:t>
            </a:r>
          </a:p>
        </p:txBody>
      </p:sp>
      <p:pic>
        <p:nvPicPr>
          <p:cNvPr id="50" name="Copied Picture 30" descr="Copied Picture 30"/>
          <p:cNvPicPr>
            <a:picLocks noChangeAspect="1"/>
          </p:cNvPicPr>
          <p:nvPr/>
        </p:nvPicPr>
        <p:blipFill>
          <a:blip r:embed="rId4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53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we'll cover</a:t>
            </a:r>
          </a:p>
        </p:txBody>
      </p:sp>
      <p:sp>
        <p:nvSpPr>
          <p:cNvPr id="54" name="Shape 2"/>
          <p:cNvSpPr/>
          <p:nvPr/>
        </p:nvSpPr>
        <p:spPr>
          <a:xfrm>
            <a:off x="548640" y="1737360"/>
            <a:ext cx="383761" cy="383761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3"/>
          <p:cNvSpPr txBox="1"/>
          <p:nvPr/>
        </p:nvSpPr>
        <p:spPr>
          <a:xfrm>
            <a:off x="593640" y="1776290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6" name="Text 4"/>
          <p:cNvSpPr txBox="1"/>
          <p:nvPr/>
        </p:nvSpPr>
        <p:spPr>
          <a:xfrm>
            <a:off x="1123920" y="1708701"/>
            <a:ext cx="4710240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Shared origins &amp; philosophy</a:t>
            </a:r>
          </a:p>
        </p:txBody>
      </p:sp>
      <p:sp>
        <p:nvSpPr>
          <p:cNvPr id="57" name="Text 5"/>
          <p:cNvSpPr txBox="1"/>
          <p:nvPr/>
        </p:nvSpPr>
        <p:spPr>
          <a:xfrm>
            <a:off x="1123920" y="2125667"/>
            <a:ext cx="4710240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One codebase family, two physics engines</a:t>
            </a:r>
          </a:p>
        </p:txBody>
      </p:sp>
      <p:sp>
        <p:nvSpPr>
          <p:cNvPr id="58" name="Shape 6"/>
          <p:cNvSpPr/>
          <p:nvPr/>
        </p:nvSpPr>
        <p:spPr>
          <a:xfrm>
            <a:off x="6355079" y="1737360"/>
            <a:ext cx="383761" cy="383761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7"/>
          <p:cNvSpPr txBox="1"/>
          <p:nvPr/>
        </p:nvSpPr>
        <p:spPr>
          <a:xfrm>
            <a:off x="6400079" y="1776290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0" name="Text 8"/>
          <p:cNvSpPr txBox="1"/>
          <p:nvPr/>
        </p:nvSpPr>
        <p:spPr>
          <a:xfrm>
            <a:off x="6930360" y="1708701"/>
            <a:ext cx="4710241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The Monte Carlo ray-tracing idea</a:t>
            </a:r>
          </a:p>
        </p:txBody>
      </p:sp>
      <p:sp>
        <p:nvSpPr>
          <p:cNvPr id="61" name="Text 9"/>
          <p:cNvSpPr txBox="1"/>
          <p:nvPr/>
        </p:nvSpPr>
        <p:spPr>
          <a:xfrm>
            <a:off x="6930360" y="2125667"/>
            <a:ext cx="471024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Why rays, weights, and randomness</a:t>
            </a:r>
          </a:p>
        </p:txBody>
      </p:sp>
      <p:sp>
        <p:nvSpPr>
          <p:cNvPr id="62" name="Shape 10"/>
          <p:cNvSpPr/>
          <p:nvPr/>
        </p:nvSpPr>
        <p:spPr>
          <a:xfrm>
            <a:off x="548640" y="3154679"/>
            <a:ext cx="383761" cy="383761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11"/>
          <p:cNvSpPr txBox="1"/>
          <p:nvPr/>
        </p:nvSpPr>
        <p:spPr>
          <a:xfrm>
            <a:off x="593640" y="3193609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4" name="Text 12"/>
          <p:cNvSpPr txBox="1"/>
          <p:nvPr/>
        </p:nvSpPr>
        <p:spPr>
          <a:xfrm>
            <a:off x="1123920" y="3126022"/>
            <a:ext cx="4710240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Anatomy of a simulation</a:t>
            </a:r>
          </a:p>
        </p:txBody>
      </p:sp>
      <p:sp>
        <p:nvSpPr>
          <p:cNvPr id="65" name="Text 13"/>
          <p:cNvSpPr txBox="1"/>
          <p:nvPr/>
        </p:nvSpPr>
        <p:spPr>
          <a:xfrm>
            <a:off x="1123920" y="3542987"/>
            <a:ext cx="4710240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Instruments, components, and the ray state</a:t>
            </a:r>
          </a:p>
        </p:txBody>
      </p:sp>
      <p:sp>
        <p:nvSpPr>
          <p:cNvPr id="66" name="Shape 14"/>
          <p:cNvSpPr/>
          <p:nvPr/>
        </p:nvSpPr>
        <p:spPr>
          <a:xfrm>
            <a:off x="6355079" y="3154679"/>
            <a:ext cx="383761" cy="383761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Text 15"/>
          <p:cNvSpPr txBox="1"/>
          <p:nvPr/>
        </p:nvSpPr>
        <p:spPr>
          <a:xfrm>
            <a:off x="6400079" y="3193609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8" name="Text 16"/>
          <p:cNvSpPr txBox="1"/>
          <p:nvPr/>
        </p:nvSpPr>
        <p:spPr>
          <a:xfrm>
            <a:off x="6930360" y="3126022"/>
            <a:ext cx="471024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Under the hood</a:t>
            </a:r>
          </a:p>
        </p:txBody>
      </p:sp>
      <p:sp>
        <p:nvSpPr>
          <p:cNvPr id="69" name="Text 17"/>
          <p:cNvSpPr txBox="1"/>
          <p:nvPr/>
        </p:nvSpPr>
        <p:spPr>
          <a:xfrm>
            <a:off x="6930360" y="3542987"/>
            <a:ext cx="471024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DSL, code generation, and coordinate placement</a:t>
            </a:r>
          </a:p>
        </p:txBody>
      </p:sp>
      <p:sp>
        <p:nvSpPr>
          <p:cNvPr id="70" name="Shape 18"/>
          <p:cNvSpPr/>
          <p:nvPr/>
        </p:nvSpPr>
        <p:spPr>
          <a:xfrm>
            <a:off x="548640" y="4571999"/>
            <a:ext cx="383761" cy="383762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Text 19"/>
          <p:cNvSpPr txBox="1"/>
          <p:nvPr/>
        </p:nvSpPr>
        <p:spPr>
          <a:xfrm>
            <a:off x="593640" y="4610930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2" name="Text 20"/>
          <p:cNvSpPr txBox="1"/>
          <p:nvPr/>
        </p:nvSpPr>
        <p:spPr>
          <a:xfrm>
            <a:off x="1123920" y="4543341"/>
            <a:ext cx="4710240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Neutrons vs. X-rays</a:t>
            </a:r>
          </a:p>
        </p:txBody>
      </p:sp>
      <p:sp>
        <p:nvSpPr>
          <p:cNvPr id="73" name="Text 21"/>
          <p:cNvSpPr txBox="1"/>
          <p:nvPr/>
        </p:nvSpPr>
        <p:spPr>
          <a:xfrm>
            <a:off x="1123920" y="4960307"/>
            <a:ext cx="4710240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Where the two probes really differ</a:t>
            </a:r>
          </a:p>
        </p:txBody>
      </p:sp>
      <p:sp>
        <p:nvSpPr>
          <p:cNvPr id="74" name="Shape 22"/>
          <p:cNvSpPr/>
          <p:nvPr/>
        </p:nvSpPr>
        <p:spPr>
          <a:xfrm>
            <a:off x="6355079" y="4571999"/>
            <a:ext cx="383761" cy="383762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23"/>
          <p:cNvSpPr txBox="1"/>
          <p:nvPr/>
        </p:nvSpPr>
        <p:spPr>
          <a:xfrm>
            <a:off x="6400079" y="4610930"/>
            <a:ext cx="29376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76" name="Text 24"/>
          <p:cNvSpPr txBox="1"/>
          <p:nvPr/>
        </p:nvSpPr>
        <p:spPr>
          <a:xfrm>
            <a:off x="6930360" y="4543341"/>
            <a:ext cx="471024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Community, use &amp; getting started</a:t>
            </a:r>
          </a:p>
        </p:txBody>
      </p:sp>
      <p:sp>
        <p:nvSpPr>
          <p:cNvPr id="77" name="Text 25"/>
          <p:cNvSpPr txBox="1"/>
          <p:nvPr/>
        </p:nvSpPr>
        <p:spPr>
          <a:xfrm>
            <a:off x="6930360" y="4960307"/>
            <a:ext cx="471024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License, ecosystem, and next steps</a:t>
            </a:r>
          </a:p>
        </p:txBody>
      </p:sp>
      <p:sp>
        <p:nvSpPr>
          <p:cNvPr id="78" name="Text 26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79" name="Text 27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80" name="Copied Picture 30" descr="Copied Picture 30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Picture 31" descr="Picture 3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Group 13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86" name="Group 14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82" name="Picture 16" descr="Picture 16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85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83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4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87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SHARED ORIGINS</a:t>
            </a:r>
          </a:p>
        </p:txBody>
      </p:sp>
      <p:sp>
        <p:nvSpPr>
          <p:cNvPr id="91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One family, two probes</a:t>
            </a:r>
          </a:p>
        </p:txBody>
      </p:sp>
      <p:sp>
        <p:nvSpPr>
          <p:cNvPr id="92" name="Text 2"/>
          <p:cNvSpPr txBox="1"/>
          <p:nvPr/>
        </p:nvSpPr>
        <p:spPr>
          <a:xfrm>
            <a:off x="593639" y="1471639"/>
            <a:ext cx="1069956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McXtrace was built on proven McStas technology — same architecture, adapted for X-rays.</a:t>
            </a:r>
          </a:p>
        </p:txBody>
      </p:sp>
      <p:sp>
        <p:nvSpPr>
          <p:cNvPr id="93" name="Shape 3"/>
          <p:cNvSpPr/>
          <p:nvPr/>
        </p:nvSpPr>
        <p:spPr>
          <a:xfrm>
            <a:off x="1005839" y="3246120"/>
            <a:ext cx="10149842" cy="361"/>
          </a:xfrm>
          <a:prstGeom prst="line">
            <a:avLst/>
          </a:prstGeom>
          <a:ln w="254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Shape 4"/>
          <p:cNvSpPr/>
          <p:nvPr/>
        </p:nvSpPr>
        <p:spPr>
          <a:xfrm>
            <a:off x="1362599" y="3145680"/>
            <a:ext cx="200881" cy="200881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5"/>
          <p:cNvSpPr txBox="1"/>
          <p:nvPr/>
        </p:nvSpPr>
        <p:spPr>
          <a:xfrm>
            <a:off x="822239" y="2686009"/>
            <a:ext cx="1281242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1998</a:t>
            </a:r>
          </a:p>
        </p:txBody>
      </p:sp>
      <p:sp>
        <p:nvSpPr>
          <p:cNvPr id="96" name="Text 6"/>
          <p:cNvSpPr txBox="1"/>
          <p:nvPr/>
        </p:nvSpPr>
        <p:spPr>
          <a:xfrm>
            <a:off x="456480" y="3575207"/>
            <a:ext cx="20127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200">
                <a:solidFill>
                  <a:srgbClr val="20242B"/>
                </a:solidFill>
              </a:defRPr>
            </a:lvl1pPr>
          </a:lstStyle>
          <a:p>
            <a:pPr/>
            <a:r>
              <a:t>McStas is born</a:t>
            </a:r>
          </a:p>
        </p:txBody>
      </p:sp>
      <p:sp>
        <p:nvSpPr>
          <p:cNvPr id="97" name="Text 7"/>
          <p:cNvSpPr txBox="1"/>
          <p:nvPr/>
        </p:nvSpPr>
        <p:spPr>
          <a:xfrm>
            <a:off x="456480" y="4306837"/>
            <a:ext cx="2012761" cy="58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K. Nielsen &amp; K. Lefmann, Risø.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Originally for triple-axis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spectrometer simulation.</a:t>
            </a:r>
          </a:p>
        </p:txBody>
      </p:sp>
      <p:sp>
        <p:nvSpPr>
          <p:cNvPr id="98" name="Shape 8"/>
          <p:cNvSpPr/>
          <p:nvPr/>
        </p:nvSpPr>
        <p:spPr>
          <a:xfrm>
            <a:off x="4563000" y="3145680"/>
            <a:ext cx="200881" cy="200881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9" name="Text 9"/>
          <p:cNvSpPr txBox="1"/>
          <p:nvPr/>
        </p:nvSpPr>
        <p:spPr>
          <a:xfrm>
            <a:off x="4022640" y="2686009"/>
            <a:ext cx="128124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2000s</a:t>
            </a:r>
          </a:p>
        </p:txBody>
      </p:sp>
      <p:sp>
        <p:nvSpPr>
          <p:cNvPr id="100" name="Text 10"/>
          <p:cNvSpPr txBox="1"/>
          <p:nvPr/>
        </p:nvSpPr>
        <p:spPr>
          <a:xfrm>
            <a:off x="3656879" y="3575207"/>
            <a:ext cx="20127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200">
                <a:solidFill>
                  <a:srgbClr val="20242B"/>
                </a:solidFill>
              </a:defRPr>
            </a:lvl1pPr>
          </a:lstStyle>
          <a:p>
            <a:pPr/>
            <a:r>
              <a:t>Grows into a general tool</a:t>
            </a:r>
          </a:p>
        </p:txBody>
      </p:sp>
      <p:sp>
        <p:nvSpPr>
          <p:cNvPr id="101" name="Text 11"/>
          <p:cNvSpPr txBox="1"/>
          <p:nvPr/>
        </p:nvSpPr>
        <p:spPr>
          <a:xfrm>
            <a:off x="3656879" y="4306837"/>
            <a:ext cx="2012761" cy="58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Adopted by DTU Physics, ILL,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PSI, University of Copenhagen,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ESS DMSC. GPL open source.</a:t>
            </a:r>
          </a:p>
        </p:txBody>
      </p:sp>
      <p:sp>
        <p:nvSpPr>
          <p:cNvPr id="102" name="Shape 12"/>
          <p:cNvSpPr/>
          <p:nvPr/>
        </p:nvSpPr>
        <p:spPr>
          <a:xfrm>
            <a:off x="7854839" y="3145680"/>
            <a:ext cx="200881" cy="200881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13"/>
          <p:cNvSpPr txBox="1"/>
          <p:nvPr/>
        </p:nvSpPr>
        <p:spPr>
          <a:xfrm>
            <a:off x="7314480" y="2686009"/>
            <a:ext cx="128124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2009</a:t>
            </a:r>
          </a:p>
        </p:txBody>
      </p:sp>
      <p:sp>
        <p:nvSpPr>
          <p:cNvPr id="104" name="Text 14"/>
          <p:cNvSpPr txBox="1"/>
          <p:nvPr/>
        </p:nvSpPr>
        <p:spPr>
          <a:xfrm>
            <a:off x="6948719" y="3575207"/>
            <a:ext cx="20127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200">
                <a:solidFill>
                  <a:srgbClr val="20242B"/>
                </a:solidFill>
              </a:defRPr>
            </a:lvl1pPr>
          </a:lstStyle>
          <a:p>
            <a:pPr/>
            <a:r>
              <a:t>McXtrace forks off</a:t>
            </a:r>
          </a:p>
        </p:txBody>
      </p:sp>
      <p:sp>
        <p:nvSpPr>
          <p:cNvPr id="105" name="Text 15"/>
          <p:cNvSpPr txBox="1"/>
          <p:nvPr/>
        </p:nvSpPr>
        <p:spPr>
          <a:xfrm>
            <a:off x="6948719" y="4306837"/>
            <a:ext cx="2012761" cy="58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“Powered by McStas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technology.” Re-targeted at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X-ray optics &amp; beamlines.</a:t>
            </a:r>
          </a:p>
        </p:txBody>
      </p:sp>
      <p:sp>
        <p:nvSpPr>
          <p:cNvPr id="106" name="Shape 16"/>
          <p:cNvSpPr/>
          <p:nvPr/>
        </p:nvSpPr>
        <p:spPr>
          <a:xfrm>
            <a:off x="10780920" y="3145680"/>
            <a:ext cx="200881" cy="200881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17"/>
          <p:cNvSpPr txBox="1"/>
          <p:nvPr/>
        </p:nvSpPr>
        <p:spPr>
          <a:xfrm>
            <a:off x="10240559" y="2686009"/>
            <a:ext cx="1281241" cy="30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5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Today</a:t>
            </a:r>
          </a:p>
        </p:txBody>
      </p:sp>
      <p:sp>
        <p:nvSpPr>
          <p:cNvPr id="108" name="Text 18"/>
          <p:cNvSpPr txBox="1"/>
          <p:nvPr/>
        </p:nvSpPr>
        <p:spPr>
          <a:xfrm>
            <a:off x="9874799" y="3575207"/>
            <a:ext cx="201276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200">
                <a:solidFill>
                  <a:srgbClr val="20242B"/>
                </a:solidFill>
              </a:defRPr>
            </a:lvl1pPr>
          </a:lstStyle>
          <a:p>
            <a:pPr/>
            <a:r>
              <a:t>Parallel development</a:t>
            </a:r>
          </a:p>
        </p:txBody>
      </p:sp>
      <p:sp>
        <p:nvSpPr>
          <p:cNvPr id="109" name="Text 19"/>
          <p:cNvSpPr txBox="1"/>
          <p:nvPr/>
        </p:nvSpPr>
        <p:spPr>
          <a:xfrm>
            <a:off x="9874799" y="4306837"/>
            <a:ext cx="2012762" cy="58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Shared kernel philosophy,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separate physics &amp; component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0000"/>
              </a:lnSpc>
              <a:defRPr sz="1000">
                <a:solidFill>
                  <a:srgbClr val="6E7580"/>
                </a:solidFill>
              </a:defRPr>
            </a:pPr>
            <a:r>
              <a:t>libraries, active communities.</a:t>
            </a:r>
          </a:p>
        </p:txBody>
      </p:sp>
      <p:sp>
        <p:nvSpPr>
          <p:cNvPr id="110" name="Shape 20"/>
          <p:cNvSpPr/>
          <p:nvPr/>
        </p:nvSpPr>
        <p:spPr>
          <a:xfrm>
            <a:off x="372600" y="1778760"/>
            <a:ext cx="11063880" cy="594001"/>
          </a:xfrm>
          <a:prstGeom prst="roundRect">
            <a:avLst>
              <a:gd name="adj" fmla="val 12308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21"/>
          <p:cNvSpPr txBox="1"/>
          <p:nvPr/>
        </p:nvSpPr>
        <p:spPr>
          <a:xfrm>
            <a:off x="646199" y="1952327"/>
            <a:ext cx="105166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b="1" sz="1200">
                <a:solidFill>
                  <a:srgbClr val="20242B"/>
                </a:solidFill>
              </a:defRPr>
            </a:pPr>
            <a:r>
              <a:t>Commonality:  </a:t>
            </a:r>
            <a:r>
              <a:rPr b="0">
                <a:solidFill>
                  <a:srgbClr val="6E7580"/>
                </a:solidFill>
              </a:rPr>
              <a:t>same domain-specific language, same component-based architecture, same open, community-driven development model.</a:t>
            </a:r>
          </a:p>
        </p:txBody>
      </p:sp>
      <p:sp>
        <p:nvSpPr>
          <p:cNvPr id="112" name="Text 22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113" name="Text 23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4</a:t>
            </a:r>
          </a:p>
        </p:txBody>
      </p:sp>
      <p:pic>
        <p:nvPicPr>
          <p:cNvPr id="114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Picture 27" descr="Picture 2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47440" y="5157360"/>
            <a:ext cx="1269721" cy="85824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Picture 34" descr="Picture 3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274559" y="5328360"/>
            <a:ext cx="2029321" cy="12981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Picture 36" descr="Picture 36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753520" y="5353199"/>
            <a:ext cx="2391121" cy="12798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2" name="Group 40"/>
          <p:cNvGrpSpPr/>
          <p:nvPr/>
        </p:nvGrpSpPr>
        <p:grpSpPr>
          <a:xfrm>
            <a:off x="8366039" y="5248800"/>
            <a:ext cx="790201" cy="715681"/>
            <a:chOff x="0" y="0"/>
            <a:chExt cx="790200" cy="715680"/>
          </a:xfrm>
        </p:grpSpPr>
        <p:pic>
          <p:nvPicPr>
            <p:cNvPr id="119" name="Picture 37" descr="Picture 37"/>
            <p:cNvPicPr>
              <a:picLocks noChangeAspect="1"/>
            </p:cNvPicPr>
            <p:nvPr/>
          </p:nvPicPr>
          <p:blipFill>
            <a:blip r:embed="rId7">
              <a:extLst/>
            </a:blip>
            <a:srcRect l="48137" t="0" r="0" b="0"/>
            <a:stretch>
              <a:fillRect/>
            </a:stretch>
          </p:blipFill>
          <p:spPr>
            <a:xfrm>
              <a:off x="28440" y="-1"/>
              <a:ext cx="736201" cy="44136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20" name="Picture 38" descr="Picture 38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0" y="414360"/>
              <a:ext cx="547921" cy="264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21" name="Picture 39" descr="Picture 39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589320" y="419400"/>
              <a:ext cx="200881" cy="2962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129" name="Group 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127" name="Group 2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123" name="Picture 4" descr="Picture 4"/>
              <p:cNvPicPr>
                <a:picLocks noChangeAspect="1"/>
              </p:cNvPicPr>
              <p:nvPr/>
            </p:nvPicPr>
            <p:blipFill>
              <a:blip r:embed="rId10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2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124" name="Picture 29" descr="Picture 29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25" name="Picture 30" descr="Picture 30"/>
                <p:cNvPicPr>
                  <a:picLocks noChangeAspect="1"/>
                </p:cNvPicPr>
                <p:nvPr/>
              </p:nvPicPr>
              <p:blipFill>
                <a:blip r:embed="rId9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28" name="Picture 31" descr="Picture 31"/>
            <p:cNvPicPr>
              <a:picLocks noChangeAspect="1"/>
            </p:cNvPicPr>
            <p:nvPr/>
          </p:nvPicPr>
          <p:blipFill>
            <a:blip r:embed="rId11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THE CORE IDEA</a:t>
            </a:r>
          </a:p>
        </p:txBody>
      </p:sp>
      <p:sp>
        <p:nvSpPr>
          <p:cNvPr id="132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Monte Carlo ray-tracing, in a nutshell</a:t>
            </a:r>
          </a:p>
        </p:txBody>
      </p:sp>
      <p:sp>
        <p:nvSpPr>
          <p:cNvPr id="133" name="Text 2"/>
          <p:cNvSpPr txBox="1"/>
          <p:nvPr/>
        </p:nvSpPr>
        <p:spPr>
          <a:xfrm>
            <a:off x="593640" y="1760673"/>
            <a:ext cx="5396040" cy="501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20242B"/>
                </a:solidFill>
              </a:defRPr>
            </a:pPr>
            <a:r>
              <a:t>A statistical method born at Los Alamos in the 1940s </a:t>
            </a:r>
            <a:r>
              <a:rPr i="1">
                <a:solidFill>
                  <a:srgbClr val="6E7580"/>
                </a:solidFill>
              </a:rPr>
              <a:t>(von Neumann, Ulam, Metropolis)</a:t>
            </a:r>
            <a:r>
              <a:t> for solving particle-transport problems by numerical experiment.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593640" y="2514599"/>
            <a:ext cx="5396040" cy="945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28600" indent="-22860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Both codes trace many independent rays (neutrons or photons) one at a time through the instrument.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28600" indent="-22860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Propagation in free space is deterministic — straight lines (plus gravity, for slow neutrons).</a:t>
            </a:r>
          </a:p>
        </p:txBody>
      </p:sp>
      <p:sp>
        <p:nvSpPr>
          <p:cNvPr id="135" name="Text 18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136" name="Text 19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5</a:t>
            </a:r>
          </a:p>
        </p:txBody>
      </p:sp>
      <p:pic>
        <p:nvPicPr>
          <p:cNvPr id="137" name="Copied Picture 22" descr="Copied Picture 22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Text 3"/>
          <p:cNvSpPr txBox="1"/>
          <p:nvPr/>
        </p:nvSpPr>
        <p:spPr>
          <a:xfrm>
            <a:off x="6171479" y="2492279"/>
            <a:ext cx="5396041" cy="945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28600" indent="-22860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Where physics is probabilistic — scattering, absorption, reflection — outcomes are Monte Carlo sampled.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28600" indent="-22860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Each ray carries a statistical weight rather than representing one real particle, so rare but important events can be sampled efficiently.</a:t>
            </a:r>
          </a:p>
        </p:txBody>
      </p:sp>
      <p:grpSp>
        <p:nvGrpSpPr>
          <p:cNvPr id="143" name="Group 26"/>
          <p:cNvGrpSpPr/>
          <p:nvPr/>
        </p:nvGrpSpPr>
        <p:grpSpPr>
          <a:xfrm>
            <a:off x="1955880" y="3748680"/>
            <a:ext cx="8249401" cy="2782364"/>
            <a:chOff x="0" y="0"/>
            <a:chExt cx="8249400" cy="2782363"/>
          </a:xfrm>
        </p:grpSpPr>
        <p:sp>
          <p:nvSpPr>
            <p:cNvPr id="139" name="Shape 4"/>
            <p:cNvSpPr/>
            <p:nvPr/>
          </p:nvSpPr>
          <p:spPr>
            <a:xfrm>
              <a:off x="0" y="0"/>
              <a:ext cx="8249401" cy="2749320"/>
            </a:xfrm>
            <a:prstGeom prst="roundRect">
              <a:avLst>
                <a:gd name="adj" fmla="val 2174"/>
              </a:avLst>
            </a:prstGeom>
            <a:solidFill>
              <a:srgbClr val="F7F8FA"/>
            </a:solidFill>
            <a:ln w="9525" cap="flat">
              <a:solidFill>
                <a:srgbClr val="DDE1E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40" name="Text 5"/>
            <p:cNvSpPr txBox="1"/>
            <p:nvPr/>
          </p:nvSpPr>
          <p:spPr>
            <a:xfrm>
              <a:off x="1648079" y="34386"/>
              <a:ext cx="5076002" cy="2242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b="1" sz="1100">
                  <a:solidFill>
                    <a:srgbClr val="6E7580"/>
                  </a:solidFill>
                </a:defRPr>
              </a:lvl1pPr>
            </a:lstStyle>
            <a:p>
              <a:pPr/>
              <a:r>
                <a:t>A single ray, one weight at a time</a:t>
              </a:r>
            </a:p>
          </p:txBody>
        </p:sp>
        <p:sp>
          <p:nvSpPr>
            <p:cNvPr id="141" name="Text 17"/>
            <p:cNvSpPr txBox="1"/>
            <p:nvPr/>
          </p:nvSpPr>
          <p:spPr>
            <a:xfrm>
              <a:off x="1828440" y="2392996"/>
              <a:ext cx="4435920" cy="3893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i="1" sz="1100">
                  <a:solidFill>
                    <a:srgbClr val="6E7580"/>
                  </a:solidFill>
                </a:defRPr>
              </a:lvl1pPr>
            </a:lstStyle>
            <a:p>
              <a:pPr/>
              <a:r>
                <a:t>Weight p is adjusted multiplicatively at every interaction — the physical result is recovered statistically over many rays.</a:t>
              </a:r>
            </a:p>
          </p:txBody>
        </p:sp>
        <p:pic>
          <p:nvPicPr>
            <p:cNvPr id="142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445320" y="347399"/>
              <a:ext cx="7398361" cy="196236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44" name="Picture 27" descr="Picture 2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SHARED ARCHITECTURE</a:t>
            </a:r>
          </a:p>
        </p:txBody>
      </p:sp>
      <p:sp>
        <p:nvSpPr>
          <p:cNvPr id="147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Anatomy of a simulation</a:t>
            </a:r>
          </a:p>
        </p:txBody>
      </p:sp>
      <p:sp>
        <p:nvSpPr>
          <p:cNvPr id="148" name="Text 2"/>
          <p:cNvSpPr txBox="1"/>
          <p:nvPr/>
        </p:nvSpPr>
        <p:spPr>
          <a:xfrm>
            <a:off x="593639" y="1540219"/>
            <a:ext cx="1079100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An instrument is an ordered chain of components in a shared lab coordinate system. Rays flow through it, changing state at each stop.</a:t>
            </a:r>
          </a:p>
        </p:txBody>
      </p:sp>
      <p:sp>
        <p:nvSpPr>
          <p:cNvPr id="149" name="Shape 3"/>
          <p:cNvSpPr/>
          <p:nvPr/>
        </p:nvSpPr>
        <p:spPr>
          <a:xfrm>
            <a:off x="548640" y="2743200"/>
            <a:ext cx="2331361" cy="137124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Text 4"/>
          <p:cNvSpPr txBox="1"/>
          <p:nvPr/>
        </p:nvSpPr>
        <p:spPr>
          <a:xfrm>
            <a:off x="593639" y="3055579"/>
            <a:ext cx="2241362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7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Source</a:t>
            </a:r>
          </a:p>
        </p:txBody>
      </p:sp>
      <p:sp>
        <p:nvSpPr>
          <p:cNvPr id="151" name="Text 5"/>
          <p:cNvSpPr txBox="1"/>
          <p:nvPr/>
        </p:nvSpPr>
        <p:spPr>
          <a:xfrm>
            <a:off x="593639" y="3609365"/>
            <a:ext cx="2241362" cy="22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injects rays</a:t>
            </a:r>
          </a:p>
        </p:txBody>
      </p:sp>
      <p:sp>
        <p:nvSpPr>
          <p:cNvPr id="152" name="Shape 6"/>
          <p:cNvSpPr/>
          <p:nvPr/>
        </p:nvSpPr>
        <p:spPr>
          <a:xfrm>
            <a:off x="2935079" y="3429000"/>
            <a:ext cx="47952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Shape 7"/>
          <p:cNvSpPr/>
          <p:nvPr/>
        </p:nvSpPr>
        <p:spPr>
          <a:xfrm>
            <a:off x="3469680" y="2743200"/>
            <a:ext cx="2331361" cy="137124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8"/>
          <p:cNvSpPr txBox="1"/>
          <p:nvPr/>
        </p:nvSpPr>
        <p:spPr>
          <a:xfrm>
            <a:off x="3514680" y="3055579"/>
            <a:ext cx="2241361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7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Optics</a:t>
            </a:r>
          </a:p>
        </p:txBody>
      </p:sp>
      <p:sp>
        <p:nvSpPr>
          <p:cNvPr id="155" name="Text 9"/>
          <p:cNvSpPr txBox="1"/>
          <p:nvPr/>
        </p:nvSpPr>
        <p:spPr>
          <a:xfrm>
            <a:off x="3514680" y="3609365"/>
            <a:ext cx="2241361" cy="22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shapes the beam</a:t>
            </a:r>
          </a:p>
        </p:txBody>
      </p:sp>
      <p:sp>
        <p:nvSpPr>
          <p:cNvPr id="156" name="Shape 10"/>
          <p:cNvSpPr/>
          <p:nvPr/>
        </p:nvSpPr>
        <p:spPr>
          <a:xfrm>
            <a:off x="5856120" y="3429000"/>
            <a:ext cx="47916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Shape 11"/>
          <p:cNvSpPr/>
          <p:nvPr/>
        </p:nvSpPr>
        <p:spPr>
          <a:xfrm>
            <a:off x="6390359" y="2743200"/>
            <a:ext cx="2331361" cy="137124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12"/>
          <p:cNvSpPr txBox="1"/>
          <p:nvPr/>
        </p:nvSpPr>
        <p:spPr>
          <a:xfrm>
            <a:off x="6435359" y="3055579"/>
            <a:ext cx="2241361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7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159" name="Text 13"/>
          <p:cNvSpPr txBox="1"/>
          <p:nvPr/>
        </p:nvSpPr>
        <p:spPr>
          <a:xfrm>
            <a:off x="6435359" y="3609365"/>
            <a:ext cx="2241361" cy="22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the physics of interest</a:t>
            </a:r>
          </a:p>
        </p:txBody>
      </p:sp>
      <p:sp>
        <p:nvSpPr>
          <p:cNvPr id="160" name="Shape 14"/>
          <p:cNvSpPr/>
          <p:nvPr/>
        </p:nvSpPr>
        <p:spPr>
          <a:xfrm>
            <a:off x="8776799" y="3429000"/>
            <a:ext cx="47952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Shape 15"/>
          <p:cNvSpPr/>
          <p:nvPr/>
        </p:nvSpPr>
        <p:spPr>
          <a:xfrm>
            <a:off x="9311399" y="2743200"/>
            <a:ext cx="2331361" cy="137124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024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Text 16"/>
          <p:cNvSpPr txBox="1"/>
          <p:nvPr/>
        </p:nvSpPr>
        <p:spPr>
          <a:xfrm>
            <a:off x="9356399" y="3055579"/>
            <a:ext cx="2241361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7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Monitor</a:t>
            </a:r>
          </a:p>
        </p:txBody>
      </p:sp>
      <p:sp>
        <p:nvSpPr>
          <p:cNvPr id="163" name="Text 17"/>
          <p:cNvSpPr txBox="1"/>
          <p:nvPr/>
        </p:nvSpPr>
        <p:spPr>
          <a:xfrm>
            <a:off x="9356399" y="3609365"/>
            <a:ext cx="2241361" cy="22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records the result</a:t>
            </a:r>
          </a:p>
        </p:txBody>
      </p:sp>
      <p:sp>
        <p:nvSpPr>
          <p:cNvPr id="164" name="Text 18"/>
          <p:cNvSpPr txBox="1"/>
          <p:nvPr/>
        </p:nvSpPr>
        <p:spPr>
          <a:xfrm>
            <a:off x="593639" y="5061128"/>
            <a:ext cx="10973882" cy="484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lnSpc>
                <a:spcPct val="130000"/>
              </a:lnSpc>
              <a:defRPr b="1" sz="1200">
                <a:solidFill>
                  <a:srgbClr val="20242B"/>
                </a:solidFill>
              </a:defRPr>
            </a:pPr>
            <a:r>
              <a:t>Instrument:  </a:t>
            </a:r>
            <a:r>
              <a:rPr b="0">
                <a:solidFill>
                  <a:srgbClr val="6E7580"/>
                </a:solidFill>
              </a:rPr>
              <a:t>defines the lab coordinate system.   </a:t>
            </a:r>
            <a:r>
              <a:t>Components:  </a:t>
            </a:r>
            <a:r>
              <a:rPr b="0">
                <a:solidFill>
                  <a:srgbClr val="6E7580"/>
                </a:solidFill>
              </a:rPr>
              <a:t>devices/features available in the instrument, each with its own function.   </a:t>
            </a:r>
            <a:r>
              <a:t>Rays:  </a:t>
            </a:r>
            <a:r>
              <a:rPr b="0">
                <a:solidFill>
                  <a:srgbClr val="6E7580"/>
                </a:solidFill>
              </a:rPr>
              <a:t>passed from one component to the next, changing state along the way.</a:t>
            </a:r>
          </a:p>
        </p:txBody>
      </p:sp>
      <p:sp>
        <p:nvSpPr>
          <p:cNvPr id="165" name="Text 19"/>
          <p:cNvSpPr txBox="1"/>
          <p:nvPr/>
        </p:nvSpPr>
        <p:spPr>
          <a:xfrm>
            <a:off x="593639" y="6048587"/>
            <a:ext cx="109738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i="1" sz="1200">
                <a:solidFill>
                  <a:srgbClr val="12506B"/>
                </a:solidFill>
              </a:defRPr>
            </a:lvl1pPr>
          </a:lstStyle>
          <a:p>
            <a:pPr/>
            <a:r>
              <a:t>This chain — and the DSL that describes it — is identical in McStas and McXtrace.</a:t>
            </a:r>
          </a:p>
        </p:txBody>
      </p:sp>
      <p:sp>
        <p:nvSpPr>
          <p:cNvPr id="166" name="Text 20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167" name="Text 21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68" name="Copied Picture 24" descr="Copied Picture 24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Picture 24" descr="Picture 2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COMMONALITY &amp; DIFFERENCE</a:t>
            </a:r>
          </a:p>
        </p:txBody>
      </p:sp>
      <p:sp>
        <p:nvSpPr>
          <p:cNvPr id="172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travels through the beamline: the ray</a:t>
            </a:r>
          </a:p>
        </p:txBody>
      </p:sp>
      <p:sp>
        <p:nvSpPr>
          <p:cNvPr id="173" name="Shape 2"/>
          <p:cNvSpPr/>
          <p:nvPr/>
        </p:nvSpPr>
        <p:spPr>
          <a:xfrm>
            <a:off x="54864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Text 3"/>
          <p:cNvSpPr txBox="1"/>
          <p:nvPr/>
        </p:nvSpPr>
        <p:spPr>
          <a:xfrm>
            <a:off x="913680" y="1835000"/>
            <a:ext cx="4527361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7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 ray  ·  McStas</a:t>
            </a:r>
          </a:p>
        </p:txBody>
      </p:sp>
      <p:sp>
        <p:nvSpPr>
          <p:cNvPr id="175" name="Text 4"/>
          <p:cNvSpPr txBox="1"/>
          <p:nvPr/>
        </p:nvSpPr>
        <p:spPr>
          <a:xfrm>
            <a:off x="913680" y="246758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1C7293"/>
                </a:solidFill>
              </a:defRPr>
            </a:lvl1pPr>
          </a:lstStyle>
          <a:p>
            <a:pPr/>
            <a:r>
              <a:t>r</a:t>
            </a:r>
          </a:p>
        </p:txBody>
      </p:sp>
      <p:sp>
        <p:nvSpPr>
          <p:cNvPr id="176" name="Text 5"/>
          <p:cNvSpPr txBox="1"/>
          <p:nvPr/>
        </p:nvSpPr>
        <p:spPr>
          <a:xfrm>
            <a:off x="2010959" y="2482427"/>
            <a:ext cx="34300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position (x, y, z)</a:t>
            </a:r>
          </a:p>
        </p:txBody>
      </p:sp>
      <p:sp>
        <p:nvSpPr>
          <p:cNvPr id="177" name="Text 6"/>
          <p:cNvSpPr txBox="1"/>
          <p:nvPr/>
        </p:nvSpPr>
        <p:spPr>
          <a:xfrm>
            <a:off x="913680" y="301622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1C7293"/>
                </a:solidFill>
              </a:defRPr>
            </a:lvl1pPr>
          </a:lstStyle>
          <a:p>
            <a:pPr/>
            <a:r>
              <a:t>v</a:t>
            </a:r>
          </a:p>
        </p:txBody>
      </p:sp>
      <p:sp>
        <p:nvSpPr>
          <p:cNvPr id="178" name="Text 7"/>
          <p:cNvSpPr txBox="1"/>
          <p:nvPr/>
        </p:nvSpPr>
        <p:spPr>
          <a:xfrm>
            <a:off x="2010959" y="3031067"/>
            <a:ext cx="34300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velocity vector</a:t>
            </a:r>
          </a:p>
        </p:txBody>
      </p:sp>
      <p:sp>
        <p:nvSpPr>
          <p:cNvPr id="179" name="Text 8"/>
          <p:cNvSpPr txBox="1"/>
          <p:nvPr/>
        </p:nvSpPr>
        <p:spPr>
          <a:xfrm>
            <a:off x="913680" y="3564862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1C7293"/>
                </a:solidFill>
              </a:defRPr>
            </a:lvl1pPr>
          </a:lstStyle>
          <a:p>
            <a:pPr/>
            <a:r>
              <a:t>t</a:t>
            </a:r>
          </a:p>
        </p:txBody>
      </p:sp>
      <p:sp>
        <p:nvSpPr>
          <p:cNvPr id="180" name="Text 9"/>
          <p:cNvSpPr txBox="1"/>
          <p:nvPr/>
        </p:nvSpPr>
        <p:spPr>
          <a:xfrm>
            <a:off x="2010959" y="3579707"/>
            <a:ext cx="34300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time</a:t>
            </a:r>
          </a:p>
        </p:txBody>
      </p:sp>
      <p:sp>
        <p:nvSpPr>
          <p:cNvPr id="181" name="Text 10"/>
          <p:cNvSpPr txBox="1"/>
          <p:nvPr/>
        </p:nvSpPr>
        <p:spPr>
          <a:xfrm>
            <a:off x="913680" y="411350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1C7293"/>
                </a:solidFill>
              </a:defRPr>
            </a:lvl1pPr>
          </a:lstStyle>
          <a:p>
            <a:pPr/>
            <a:r>
              <a:t>s</a:t>
            </a:r>
          </a:p>
        </p:txBody>
      </p:sp>
      <p:sp>
        <p:nvSpPr>
          <p:cNvPr id="182" name="Text 11"/>
          <p:cNvSpPr txBox="1"/>
          <p:nvPr/>
        </p:nvSpPr>
        <p:spPr>
          <a:xfrm>
            <a:off x="2010959" y="4128347"/>
            <a:ext cx="34300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spin / polarisation</a:t>
            </a:r>
          </a:p>
        </p:txBody>
      </p:sp>
      <p:sp>
        <p:nvSpPr>
          <p:cNvPr id="183" name="Text 12"/>
          <p:cNvSpPr txBox="1"/>
          <p:nvPr/>
        </p:nvSpPr>
        <p:spPr>
          <a:xfrm>
            <a:off x="913680" y="4662141"/>
            <a:ext cx="961201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1C7293"/>
                </a:solidFill>
              </a:defRPr>
            </a:lvl1pPr>
          </a:lstStyle>
          <a:p>
            <a:pPr/>
            <a:r>
              <a:t>p</a:t>
            </a:r>
          </a:p>
        </p:txBody>
      </p:sp>
      <p:sp>
        <p:nvSpPr>
          <p:cNvPr id="184" name="Text 13"/>
          <p:cNvSpPr txBox="1"/>
          <p:nvPr/>
        </p:nvSpPr>
        <p:spPr>
          <a:xfrm>
            <a:off x="2010959" y="4676987"/>
            <a:ext cx="34300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statistical weight</a:t>
            </a:r>
          </a:p>
        </p:txBody>
      </p:sp>
      <p:sp>
        <p:nvSpPr>
          <p:cNvPr id="185" name="Shape 14"/>
          <p:cNvSpPr/>
          <p:nvPr/>
        </p:nvSpPr>
        <p:spPr>
          <a:xfrm>
            <a:off x="617220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15"/>
          <p:cNvSpPr txBox="1"/>
          <p:nvPr/>
        </p:nvSpPr>
        <p:spPr>
          <a:xfrm>
            <a:off x="6537240" y="1835000"/>
            <a:ext cx="4527361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7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Photon ray  ·  McXtrace</a:t>
            </a:r>
          </a:p>
        </p:txBody>
      </p:sp>
      <p:sp>
        <p:nvSpPr>
          <p:cNvPr id="187" name="Text 16"/>
          <p:cNvSpPr txBox="1"/>
          <p:nvPr/>
        </p:nvSpPr>
        <p:spPr>
          <a:xfrm>
            <a:off x="6537240" y="246758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D97A2B"/>
                </a:solidFill>
              </a:defRPr>
            </a:lvl1pPr>
          </a:lstStyle>
          <a:p>
            <a:pPr/>
            <a:r>
              <a:t>r</a:t>
            </a:r>
          </a:p>
        </p:txBody>
      </p:sp>
      <p:sp>
        <p:nvSpPr>
          <p:cNvPr id="188" name="Text 17"/>
          <p:cNvSpPr txBox="1"/>
          <p:nvPr/>
        </p:nvSpPr>
        <p:spPr>
          <a:xfrm>
            <a:off x="7634519" y="2482427"/>
            <a:ext cx="343008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position (x, y, z)</a:t>
            </a:r>
          </a:p>
        </p:txBody>
      </p:sp>
      <p:sp>
        <p:nvSpPr>
          <p:cNvPr id="189" name="Text 18"/>
          <p:cNvSpPr txBox="1"/>
          <p:nvPr/>
        </p:nvSpPr>
        <p:spPr>
          <a:xfrm>
            <a:off x="6537240" y="301622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D97A2B"/>
                </a:solidFill>
              </a:defRPr>
            </a:lvl1pPr>
          </a:lstStyle>
          <a:p>
            <a:pPr/>
            <a:r>
              <a:t>k</a:t>
            </a:r>
          </a:p>
        </p:txBody>
      </p:sp>
      <p:sp>
        <p:nvSpPr>
          <p:cNvPr id="190" name="Text 19"/>
          <p:cNvSpPr txBox="1"/>
          <p:nvPr/>
        </p:nvSpPr>
        <p:spPr>
          <a:xfrm>
            <a:off x="7634519" y="3031067"/>
            <a:ext cx="343008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wave vector</a:t>
            </a:r>
          </a:p>
        </p:txBody>
      </p:sp>
      <p:sp>
        <p:nvSpPr>
          <p:cNvPr id="191" name="Text 20"/>
          <p:cNvSpPr txBox="1"/>
          <p:nvPr/>
        </p:nvSpPr>
        <p:spPr>
          <a:xfrm>
            <a:off x="6537240" y="3564862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D97A2B"/>
                </a:solidFill>
              </a:defRPr>
            </a:lvl1pPr>
          </a:lstStyle>
          <a:p>
            <a:pPr/>
            <a:r>
              <a:t>φ, E</a:t>
            </a:r>
          </a:p>
        </p:txBody>
      </p:sp>
      <p:sp>
        <p:nvSpPr>
          <p:cNvPr id="192" name="Text 21"/>
          <p:cNvSpPr txBox="1"/>
          <p:nvPr/>
        </p:nvSpPr>
        <p:spPr>
          <a:xfrm>
            <a:off x="7634519" y="3579707"/>
            <a:ext cx="343008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phase &amp; polarisation (E-field)</a:t>
            </a:r>
          </a:p>
        </p:txBody>
      </p:sp>
      <p:sp>
        <p:nvSpPr>
          <p:cNvPr id="193" name="Text 22"/>
          <p:cNvSpPr txBox="1"/>
          <p:nvPr/>
        </p:nvSpPr>
        <p:spPr>
          <a:xfrm>
            <a:off x="6537240" y="4113501"/>
            <a:ext cx="96120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D97A2B"/>
                </a:solidFill>
              </a:defRPr>
            </a:lvl1pPr>
          </a:lstStyle>
          <a:p>
            <a:pPr/>
            <a:r>
              <a:t>t</a:t>
            </a:r>
          </a:p>
        </p:txBody>
      </p:sp>
      <p:sp>
        <p:nvSpPr>
          <p:cNvPr id="194" name="Text 23"/>
          <p:cNvSpPr txBox="1"/>
          <p:nvPr/>
        </p:nvSpPr>
        <p:spPr>
          <a:xfrm>
            <a:off x="7634519" y="4128347"/>
            <a:ext cx="343008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time</a:t>
            </a:r>
          </a:p>
        </p:txBody>
      </p:sp>
      <p:sp>
        <p:nvSpPr>
          <p:cNvPr id="195" name="Text 24"/>
          <p:cNvSpPr txBox="1"/>
          <p:nvPr/>
        </p:nvSpPr>
        <p:spPr>
          <a:xfrm>
            <a:off x="6537240" y="4662141"/>
            <a:ext cx="961201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D97A2B"/>
                </a:solidFill>
              </a:defRPr>
            </a:lvl1pPr>
          </a:lstStyle>
          <a:p>
            <a:pPr/>
            <a:r>
              <a:t>p</a:t>
            </a:r>
          </a:p>
        </p:txBody>
      </p:sp>
      <p:sp>
        <p:nvSpPr>
          <p:cNvPr id="196" name="Text 25"/>
          <p:cNvSpPr txBox="1"/>
          <p:nvPr/>
        </p:nvSpPr>
        <p:spPr>
          <a:xfrm>
            <a:off x="7634519" y="4676987"/>
            <a:ext cx="343008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statistical weight</a:t>
            </a:r>
          </a:p>
        </p:txBody>
      </p:sp>
      <p:sp>
        <p:nvSpPr>
          <p:cNvPr id="197" name="Shape 26"/>
          <p:cNvSpPr/>
          <p:nvPr/>
        </p:nvSpPr>
        <p:spPr>
          <a:xfrm>
            <a:off x="548640" y="5897879"/>
            <a:ext cx="11063880" cy="548281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27"/>
          <p:cNvSpPr txBox="1"/>
          <p:nvPr/>
        </p:nvSpPr>
        <p:spPr>
          <a:xfrm>
            <a:off x="822239" y="6059886"/>
            <a:ext cx="10516682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b="1" sz="1100">
                <a:solidFill>
                  <a:srgbClr val="20242B"/>
                </a:solidFill>
              </a:defRPr>
            </a:pPr>
            <a:r>
              <a:t>Same idea, different carrier:  </a:t>
            </a:r>
            <a:r>
              <a:rPr b="0">
                <a:solidFill>
                  <a:srgbClr val="6E7580"/>
                </a:solidFill>
              </a:rPr>
              <a:t>both rays are position + time + statistical weight. The neutron adds mass, velocity and spin; the photon adds a wave vector, phase and field polarisation.</a:t>
            </a:r>
          </a:p>
        </p:txBody>
      </p:sp>
      <p:sp>
        <p:nvSpPr>
          <p:cNvPr id="199" name="Text 28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200" name="Text 29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7</a:t>
            </a:r>
          </a:p>
        </p:txBody>
      </p:sp>
      <p:pic>
        <p:nvPicPr>
          <p:cNvPr id="201" name="Copied Picture 32" descr="Copied Picture 32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Picture 32" descr="Picture 3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9" name="Group 2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07" name="Group 15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03" name="Picture 14" descr="Picture 14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0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04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05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08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10" name="Picture 31" descr="Picture 31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855860" y="1774974"/>
            <a:ext cx="736201" cy="7488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5" name="Group 16"/>
          <p:cNvGrpSpPr/>
          <p:nvPr/>
        </p:nvGrpSpPr>
        <p:grpSpPr>
          <a:xfrm>
            <a:off x="10404360" y="1709820"/>
            <a:ext cx="790201" cy="708379"/>
            <a:chOff x="0" y="0"/>
            <a:chExt cx="790200" cy="708378"/>
          </a:xfrm>
        </p:grpSpPr>
        <p:pic>
          <p:nvPicPr>
            <p:cNvPr id="211" name="Picture 17" descr="Picture 17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14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212" name="Picture 29" descr="Picture 29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13" name="Picture 30" descr="Picture 30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SHARED TAXONOMY, DIFFERENT PHYSICS</a:t>
            </a:r>
          </a:p>
        </p:txBody>
      </p:sp>
      <p:sp>
        <p:nvSpPr>
          <p:cNvPr id="218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Component classes</a:t>
            </a:r>
          </a:p>
        </p:txBody>
      </p:sp>
      <p:sp>
        <p:nvSpPr>
          <p:cNvPr id="219" name="Text 2"/>
          <p:cNvSpPr txBox="1"/>
          <p:nvPr/>
        </p:nvSpPr>
        <p:spPr>
          <a:xfrm>
            <a:off x="593639" y="1471639"/>
            <a:ext cx="1079100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Every instrument, in either code, is built from the same four component classes.</a:t>
            </a:r>
          </a:p>
        </p:txBody>
      </p:sp>
      <p:graphicFrame>
        <p:nvGraphicFramePr>
          <p:cNvPr id="220" name="Table 0"/>
          <p:cNvGraphicFramePr/>
          <p:nvPr/>
        </p:nvGraphicFramePr>
        <p:xfrm>
          <a:off x="548640" y="1920239"/>
          <a:ext cx="11064241" cy="32904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20240"/>
                <a:gridCol w="4572000"/>
                <a:gridCol w="4572000"/>
              </a:tblGrid>
              <a:tr h="6580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McStas (neutrons)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McXtrace (X-rays)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</a:tr>
              <a:tr h="6580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Sources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Reactor / spallation moderator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Undulator, wiggler, bending magnet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Optics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Guides, mirrors, choppers, collimators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Mirrors, monochromator crystals, multilayers, slits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6580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Samples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Powders, crystals, liquids, magnetism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Powders, crystals, multilayers, absorbing phantoms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Monitors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PSD / histograms / event lists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PSD / histograms / event lists  (same concept)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1" name="Text 3"/>
          <p:cNvSpPr txBox="1"/>
          <p:nvPr/>
        </p:nvSpPr>
        <p:spPr>
          <a:xfrm>
            <a:off x="593639" y="5637107"/>
            <a:ext cx="109738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b="1" sz="1200">
                <a:solidFill>
                  <a:srgbClr val="20242B"/>
                </a:solidFill>
              </a:defRPr>
            </a:pPr>
            <a:r>
              <a:t>Common to all components:  </a:t>
            </a:r>
            <a:r>
              <a:rPr b="0">
                <a:solidFill>
                  <a:srgbClr val="6E7580"/>
                </a:solidFill>
              </a:rPr>
              <a:t>they set, manipulate, or measure the state of the ray — and each is written as a self-contained, reusable code module.</a:t>
            </a:r>
          </a:p>
        </p:txBody>
      </p:sp>
      <p:sp>
        <p:nvSpPr>
          <p:cNvPr id="222" name="Text 4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223" name="Text 5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8</a:t>
            </a:r>
          </a:p>
        </p:txBody>
      </p:sp>
      <p:pic>
        <p:nvPicPr>
          <p:cNvPr id="224" name="Copied Picture 9" descr="Copied Picture 9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5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2" name="Group 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30" name="Group 2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26" name="Picture 4" descr="Picture 4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29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27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28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31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605999" y="2991599"/>
            <a:ext cx="1709641" cy="1236961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UNDER THE HOOD</a:t>
            </a:r>
          </a:p>
        </p:txBody>
      </p:sp>
      <p:sp>
        <p:nvSpPr>
          <p:cNvPr id="236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From instrument file to running simulation</a:t>
            </a:r>
          </a:p>
        </p:txBody>
      </p:sp>
      <p:sp>
        <p:nvSpPr>
          <p:cNvPr id="237" name="Shape 2"/>
          <p:cNvSpPr/>
          <p:nvPr/>
        </p:nvSpPr>
        <p:spPr>
          <a:xfrm>
            <a:off x="548640" y="1965960"/>
            <a:ext cx="2468521" cy="1051201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3"/>
          <p:cNvSpPr txBox="1"/>
          <p:nvPr/>
        </p:nvSpPr>
        <p:spPr>
          <a:xfrm>
            <a:off x="593639" y="2148439"/>
            <a:ext cx="2378522" cy="25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.instr file</a:t>
            </a:r>
          </a:p>
        </p:txBody>
      </p:sp>
      <p:sp>
        <p:nvSpPr>
          <p:cNvPr id="239" name="Text 4"/>
          <p:cNvSpPr txBox="1"/>
          <p:nvPr/>
        </p:nvSpPr>
        <p:spPr>
          <a:xfrm>
            <a:off x="730800" y="2516147"/>
            <a:ext cx="2104200" cy="399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DSL describing the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instrument (readable text)</a:t>
            </a:r>
          </a:p>
        </p:txBody>
      </p:sp>
      <p:sp>
        <p:nvSpPr>
          <p:cNvPr id="240" name="Shape 5"/>
          <p:cNvSpPr/>
          <p:nvPr/>
        </p:nvSpPr>
        <p:spPr>
          <a:xfrm>
            <a:off x="3072239" y="2491559"/>
            <a:ext cx="29664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Shape 6"/>
          <p:cNvSpPr/>
          <p:nvPr/>
        </p:nvSpPr>
        <p:spPr>
          <a:xfrm>
            <a:off x="3423959" y="1965960"/>
            <a:ext cx="2468522" cy="1051201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7"/>
          <p:cNvSpPr txBox="1"/>
          <p:nvPr/>
        </p:nvSpPr>
        <p:spPr>
          <a:xfrm>
            <a:off x="3468959" y="2148439"/>
            <a:ext cx="2378522" cy="25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Parser</a:t>
            </a:r>
          </a:p>
        </p:txBody>
      </p:sp>
      <p:sp>
        <p:nvSpPr>
          <p:cNvPr id="243" name="Text 8"/>
          <p:cNvSpPr txBox="1"/>
          <p:nvPr/>
        </p:nvSpPr>
        <p:spPr>
          <a:xfrm>
            <a:off x="3606119" y="2516147"/>
            <a:ext cx="2104201" cy="399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Lex &amp; Yacc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compiler technology</a:t>
            </a:r>
          </a:p>
        </p:txBody>
      </p:sp>
      <p:sp>
        <p:nvSpPr>
          <p:cNvPr id="244" name="Shape 9"/>
          <p:cNvSpPr/>
          <p:nvPr/>
        </p:nvSpPr>
        <p:spPr>
          <a:xfrm>
            <a:off x="5947559" y="2491559"/>
            <a:ext cx="29628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45" name="Shape 10"/>
          <p:cNvSpPr/>
          <p:nvPr/>
        </p:nvSpPr>
        <p:spPr>
          <a:xfrm>
            <a:off x="6298920" y="1965960"/>
            <a:ext cx="2468521" cy="1051201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Text 11"/>
          <p:cNvSpPr txBox="1"/>
          <p:nvPr/>
        </p:nvSpPr>
        <p:spPr>
          <a:xfrm>
            <a:off x="6343920" y="2148439"/>
            <a:ext cx="2378521" cy="25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Generated C</a:t>
            </a:r>
          </a:p>
        </p:txBody>
      </p:sp>
      <p:sp>
        <p:nvSpPr>
          <p:cNvPr id="247" name="Text 12"/>
          <p:cNvSpPr txBox="1"/>
          <p:nvPr/>
        </p:nvSpPr>
        <p:spPr>
          <a:xfrm>
            <a:off x="6481080" y="2516147"/>
            <a:ext cx="2104201" cy="399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Portable ISO-C code,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only what you use</a:t>
            </a:r>
          </a:p>
        </p:txBody>
      </p:sp>
      <p:sp>
        <p:nvSpPr>
          <p:cNvPr id="248" name="Shape 13"/>
          <p:cNvSpPr/>
          <p:nvPr/>
        </p:nvSpPr>
        <p:spPr>
          <a:xfrm>
            <a:off x="8822519" y="2491559"/>
            <a:ext cx="296641" cy="36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49" name="Shape 14"/>
          <p:cNvSpPr/>
          <p:nvPr/>
        </p:nvSpPr>
        <p:spPr>
          <a:xfrm>
            <a:off x="9174240" y="1965960"/>
            <a:ext cx="2468521" cy="1051201"/>
          </a:xfrm>
          <a:prstGeom prst="roundRect">
            <a:avLst>
              <a:gd name="adj" fmla="val 6957"/>
            </a:avLst>
          </a:prstGeom>
          <a:solidFill>
            <a:srgbClr val="1C7293"/>
          </a:solidFill>
          <a:ln w="1270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15"/>
          <p:cNvSpPr txBox="1"/>
          <p:nvPr/>
        </p:nvSpPr>
        <p:spPr>
          <a:xfrm>
            <a:off x="9219239" y="2148439"/>
            <a:ext cx="2378522" cy="25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Executable</a:t>
            </a:r>
          </a:p>
        </p:txBody>
      </p:sp>
      <p:sp>
        <p:nvSpPr>
          <p:cNvPr id="251" name="Text 16"/>
          <p:cNvSpPr txBox="1"/>
          <p:nvPr/>
        </p:nvSpPr>
        <p:spPr>
          <a:xfrm>
            <a:off x="9356399" y="2516147"/>
            <a:ext cx="2104201" cy="399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</a:defRPr>
            </a:pPr>
            <a:r>
              <a:t>Compiled for your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</a:defRPr>
            </a:pPr>
            <a:r>
              <a:t>platform &amp; hardware</a:t>
            </a:r>
          </a:p>
        </p:txBody>
      </p:sp>
      <p:sp>
        <p:nvSpPr>
          <p:cNvPr id="252" name="Text 17"/>
          <p:cNvSpPr txBox="1"/>
          <p:nvPr/>
        </p:nvSpPr>
        <p:spPr>
          <a:xfrm>
            <a:off x="593639" y="3248106"/>
            <a:ext cx="10973882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i="1" sz="1100">
                <a:solidFill>
                  <a:srgbClr val="12506B"/>
                </a:solidFill>
              </a:defRPr>
            </a:lvl1pPr>
          </a:lstStyle>
          <a:p>
            <a:pPr/>
            <a:r>
              <a:t>Same toolchain in both codes — the DSL grammar and code generator are shared.</a:t>
            </a:r>
          </a:p>
        </p:txBody>
      </p:sp>
      <p:sp>
        <p:nvSpPr>
          <p:cNvPr id="253" name="Text 19"/>
          <p:cNvSpPr txBox="1"/>
          <p:nvPr/>
        </p:nvSpPr>
        <p:spPr>
          <a:xfrm>
            <a:off x="593639" y="3714020"/>
            <a:ext cx="10882442" cy="34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7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Three levels of code, three audiences</a:t>
            </a:r>
          </a:p>
        </p:txBody>
      </p:sp>
      <p:sp>
        <p:nvSpPr>
          <p:cNvPr id="254" name="Shape 20"/>
          <p:cNvSpPr/>
          <p:nvPr/>
        </p:nvSpPr>
        <p:spPr>
          <a:xfrm>
            <a:off x="548640" y="4206240"/>
            <a:ext cx="3611520" cy="2148481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5" name="Shape 21"/>
          <p:cNvSpPr/>
          <p:nvPr/>
        </p:nvSpPr>
        <p:spPr>
          <a:xfrm>
            <a:off x="548639" y="4206240"/>
            <a:ext cx="3611521" cy="7272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22"/>
          <p:cNvSpPr txBox="1"/>
          <p:nvPr/>
        </p:nvSpPr>
        <p:spPr>
          <a:xfrm>
            <a:off x="822239" y="4450500"/>
            <a:ext cx="3064322" cy="27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Instrument file</a:t>
            </a:r>
          </a:p>
        </p:txBody>
      </p:sp>
      <p:sp>
        <p:nvSpPr>
          <p:cNvPr id="257" name="Text 23"/>
          <p:cNvSpPr txBox="1"/>
          <p:nvPr/>
        </p:nvSpPr>
        <p:spPr>
          <a:xfrm>
            <a:off x="822239" y="4771263"/>
            <a:ext cx="3064322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900">
                <a:solidFill>
                  <a:srgbClr val="1C7293"/>
                </a:solidFill>
              </a:defRPr>
            </a:lvl1pPr>
          </a:lstStyle>
          <a:p>
            <a:pPr/>
            <a:r>
              <a:t>MOST USERS</a:t>
            </a:r>
          </a:p>
        </p:txBody>
      </p:sp>
      <p:sp>
        <p:nvSpPr>
          <p:cNvPr id="258" name="Text 24"/>
          <p:cNvSpPr txBox="1"/>
          <p:nvPr/>
        </p:nvSpPr>
        <p:spPr>
          <a:xfrm>
            <a:off x="822239" y="5442629"/>
            <a:ext cx="3064322" cy="41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Existing examples, GUI-assisted, or written from scratch in the DSL.</a:t>
            </a:r>
          </a:p>
        </p:txBody>
      </p:sp>
      <p:sp>
        <p:nvSpPr>
          <p:cNvPr id="259" name="Shape 25"/>
          <p:cNvSpPr/>
          <p:nvPr/>
        </p:nvSpPr>
        <p:spPr>
          <a:xfrm>
            <a:off x="4297679" y="4206240"/>
            <a:ext cx="3611521" cy="2148481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Shape 26"/>
          <p:cNvSpPr/>
          <p:nvPr/>
        </p:nvSpPr>
        <p:spPr>
          <a:xfrm>
            <a:off x="4297679" y="4206240"/>
            <a:ext cx="3611520" cy="72721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27"/>
          <p:cNvSpPr txBox="1"/>
          <p:nvPr/>
        </p:nvSpPr>
        <p:spPr>
          <a:xfrm>
            <a:off x="4571279" y="4450500"/>
            <a:ext cx="3064321" cy="27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Component file</a:t>
            </a:r>
          </a:p>
        </p:txBody>
      </p:sp>
      <p:sp>
        <p:nvSpPr>
          <p:cNvPr id="262" name="Text 28"/>
          <p:cNvSpPr txBox="1"/>
          <p:nvPr/>
        </p:nvSpPr>
        <p:spPr>
          <a:xfrm>
            <a:off x="4571279" y="4771263"/>
            <a:ext cx="306432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900">
                <a:solidFill>
                  <a:srgbClr val="D97A2B"/>
                </a:solidFill>
              </a:defRPr>
            </a:lvl1pPr>
          </a:lstStyle>
          <a:p>
            <a:pPr/>
            <a:r>
              <a:t>ADVANCED USERS</a:t>
            </a:r>
          </a:p>
        </p:txBody>
      </p:sp>
      <p:sp>
        <p:nvSpPr>
          <p:cNvPr id="263" name="Text 29"/>
          <p:cNvSpPr txBox="1"/>
          <p:nvPr/>
        </p:nvSpPr>
        <p:spPr>
          <a:xfrm>
            <a:off x="4571279" y="5442629"/>
            <a:ext cx="3064321" cy="41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Short, self-contained C code — easy to modify from an existing component.</a:t>
            </a:r>
          </a:p>
        </p:txBody>
      </p:sp>
      <p:sp>
        <p:nvSpPr>
          <p:cNvPr id="264" name="Shape 30"/>
          <p:cNvSpPr/>
          <p:nvPr/>
        </p:nvSpPr>
        <p:spPr>
          <a:xfrm>
            <a:off x="8046719" y="4206240"/>
            <a:ext cx="3611521" cy="2148481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2024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5" name="Shape 31"/>
          <p:cNvSpPr/>
          <p:nvPr/>
        </p:nvSpPr>
        <p:spPr>
          <a:xfrm>
            <a:off x="8046719" y="4206240"/>
            <a:ext cx="3611520" cy="72721"/>
          </a:xfrm>
          <a:prstGeom prst="rect">
            <a:avLst/>
          </a:prstGeom>
          <a:solidFill>
            <a:srgbClr val="2024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6" name="Text 32"/>
          <p:cNvSpPr txBox="1"/>
          <p:nvPr/>
        </p:nvSpPr>
        <p:spPr>
          <a:xfrm>
            <a:off x="8320319" y="4450500"/>
            <a:ext cx="3064321" cy="27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Kernel</a:t>
            </a:r>
          </a:p>
        </p:txBody>
      </p:sp>
      <p:sp>
        <p:nvSpPr>
          <p:cNvPr id="267" name="Text 33"/>
          <p:cNvSpPr txBox="1"/>
          <p:nvPr/>
        </p:nvSpPr>
        <p:spPr>
          <a:xfrm>
            <a:off x="8320319" y="4771263"/>
            <a:ext cx="306432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900">
                <a:solidFill>
                  <a:srgbClr val="20242B"/>
                </a:solidFill>
              </a:defRPr>
            </a:lvl1pPr>
          </a:lstStyle>
          <a:p>
            <a:pPr/>
            <a:r>
              <a:t>CORE DEV TEAM</a:t>
            </a:r>
          </a:p>
        </p:txBody>
      </p:sp>
      <p:sp>
        <p:nvSpPr>
          <p:cNvPr id="268" name="Text 34"/>
          <p:cNvSpPr txBox="1"/>
          <p:nvPr/>
        </p:nvSpPr>
        <p:spPr>
          <a:xfrm>
            <a:off x="8320319" y="5442629"/>
            <a:ext cx="3064321" cy="416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Propagation, intersections, and the runtime library shared by all components.</a:t>
            </a:r>
          </a:p>
        </p:txBody>
      </p:sp>
      <p:sp>
        <p:nvSpPr>
          <p:cNvPr id="269" name="Text 35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270" name="Text 36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9</a:t>
            </a:r>
          </a:p>
        </p:txBody>
      </p:sp>
      <p:pic>
        <p:nvPicPr>
          <p:cNvPr id="271" name="Copied Picture 39" descr="Copied Picture 39"/>
          <p:cNvPicPr>
            <a:picLocks noChangeAspect="1"/>
          </p:cNvPicPr>
          <p:nvPr/>
        </p:nvPicPr>
        <p:blipFill>
          <a:blip r:embed="rId3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2" name="Picture 41" descr="Picture 4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Picture 58" descr="Picture 5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sp>
        <p:nvSpPr>
          <p:cNvPr id="275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SHARED SYNTAX</a:t>
            </a:r>
          </a:p>
        </p:txBody>
      </p:sp>
      <p:sp>
        <p:nvSpPr>
          <p:cNvPr id="276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Placing components in space</a:t>
            </a:r>
          </a:p>
        </p:txBody>
      </p:sp>
      <p:sp>
        <p:nvSpPr>
          <p:cNvPr id="277" name="Text 2"/>
          <p:cNvSpPr txBox="1"/>
          <p:nvPr/>
        </p:nvSpPr>
        <p:spPr>
          <a:xfrm>
            <a:off x="593639" y="1700239"/>
            <a:ext cx="557892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spcBef>
                <a:spcPts val="1400"/>
              </a:spcBef>
              <a:defRPr sz="1300">
                <a:solidFill>
                  <a:srgbClr val="20242B"/>
                </a:solidFill>
              </a:defRPr>
            </a:lvl1pPr>
          </a:lstStyle>
          <a:p>
            <a:pPr/>
            <a:r>
              <a:t>Every component is placed with the same two statements, in both codes:</a:t>
            </a:r>
          </a:p>
        </p:txBody>
      </p:sp>
      <p:sp>
        <p:nvSpPr>
          <p:cNvPr id="278" name="Shape 3"/>
          <p:cNvSpPr/>
          <p:nvPr/>
        </p:nvSpPr>
        <p:spPr>
          <a:xfrm>
            <a:off x="548640" y="2148839"/>
            <a:ext cx="5668920" cy="1416961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4"/>
          <p:cNvSpPr txBox="1"/>
          <p:nvPr/>
        </p:nvSpPr>
        <p:spPr>
          <a:xfrm>
            <a:off x="867959" y="2596420"/>
            <a:ext cx="503028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sz="15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AT (x, y, z) RELATIVE &lt;ref&gt;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>
              <a:lnSpc>
                <a:spcPct val="140000"/>
              </a:lnSpc>
              <a:defRPr sz="1500">
                <a:solidFill>
                  <a:srgbClr val="FFD79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ROTATED (rx, ry, rz) RELATIVE &lt;ref&gt;</a:t>
            </a:r>
          </a:p>
        </p:txBody>
      </p:sp>
      <p:sp>
        <p:nvSpPr>
          <p:cNvPr id="280" name="Text 5"/>
          <p:cNvSpPr txBox="1"/>
          <p:nvPr/>
        </p:nvSpPr>
        <p:spPr>
          <a:xfrm>
            <a:off x="593639" y="4242647"/>
            <a:ext cx="5578922" cy="138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&lt;ref&gt; can be ABSOLUTE (the lab frame), another component's name, or PREVIOUS.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z runs along the beam, y is vertical, x completes a right-handed frame.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Component authors choose whatever local origin is physically natural — the kernel handles the coordinate transforms between them.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AT and ROTATED can be fully decoupled, referring to different RELATIVE  &lt;ref&gt;</a:t>
            </a:r>
          </a:p>
        </p:txBody>
      </p:sp>
      <p:sp>
        <p:nvSpPr>
          <p:cNvPr id="281" name="Shape 6"/>
          <p:cNvSpPr/>
          <p:nvPr/>
        </p:nvSpPr>
        <p:spPr>
          <a:xfrm>
            <a:off x="6675119" y="1601640"/>
            <a:ext cx="4937401" cy="5256001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2" name="Text 7"/>
          <p:cNvSpPr txBox="1"/>
          <p:nvPr/>
        </p:nvSpPr>
        <p:spPr>
          <a:xfrm>
            <a:off x="6720119" y="1773767"/>
            <a:ext cx="484740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Right-handed lab frame</a:t>
            </a:r>
          </a:p>
        </p:txBody>
      </p:sp>
      <p:sp>
        <p:nvSpPr>
          <p:cNvPr id="283" name="Text 15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284" name="Text 16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10</a:t>
            </a:r>
          </a:p>
        </p:txBody>
      </p:sp>
      <p:pic>
        <p:nvPicPr>
          <p:cNvPr id="285" name="Copied Picture 19" descr="Copied Picture 19"/>
          <p:cNvPicPr>
            <a:picLocks noChangeAspect="1"/>
          </p:cNvPicPr>
          <p:nvPr/>
        </p:nvPicPr>
        <p:blipFill>
          <a:blip r:embed="rId3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86" name="Right Handed.PNG" descr="Right Hande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30360" y="4229639"/>
            <a:ext cx="2626561" cy="2593801"/>
          </a:xfrm>
          <a:prstGeom prst="rect">
            <a:avLst/>
          </a:prstGeom>
          <a:ln w="12700">
            <a:miter lim="400000"/>
          </a:ln>
        </p:spPr>
      </p:pic>
      <p:sp>
        <p:nvSpPr>
          <p:cNvPr id="287" name="Oval"/>
          <p:cNvSpPr/>
          <p:nvPr/>
        </p:nvSpPr>
        <p:spPr>
          <a:xfrm>
            <a:off x="7372080" y="2516400"/>
            <a:ext cx="284401" cy="15015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" rotWithShape="0" blurRad="38100" dist="20160" dir="5400000">
              <a:srgbClr val="000000">
                <a:alpha val="38000"/>
              </a:srgbClr>
            </a:outerShdw>
          </a:effectLst>
        </p:spPr>
        <p:txBody>
          <a:bodyPr lIns="45719" rIns="45719" anchor="ctr"/>
          <a:lstStyle/>
          <a:p>
            <a:pPr/>
          </a:p>
        </p:txBody>
      </p:sp>
      <p:sp>
        <p:nvSpPr>
          <p:cNvPr id="288" name="Line"/>
          <p:cNvSpPr/>
          <p:nvPr/>
        </p:nvSpPr>
        <p:spPr>
          <a:xfrm flipV="1">
            <a:off x="7514280" y="1887839"/>
            <a:ext cx="1" cy="1391401"/>
          </a:xfrm>
          <a:prstGeom prst="line">
            <a:avLst/>
          </a:prstGeom>
          <a:ln w="25400">
            <a:solidFill>
              <a:srgbClr val="8D8D8D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89" name="Line"/>
          <p:cNvSpPr/>
          <p:nvPr/>
        </p:nvSpPr>
        <p:spPr>
          <a:xfrm>
            <a:off x="7513560" y="3266999"/>
            <a:ext cx="1138320" cy="1"/>
          </a:xfrm>
          <a:prstGeom prst="line">
            <a:avLst/>
          </a:prstGeom>
          <a:ln w="25400">
            <a:solidFill>
              <a:srgbClr val="C2642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Line"/>
          <p:cNvSpPr/>
          <p:nvPr/>
        </p:nvSpPr>
        <p:spPr>
          <a:xfrm flipV="1">
            <a:off x="7505640" y="2573639"/>
            <a:ext cx="679681" cy="685441"/>
          </a:xfrm>
          <a:prstGeom prst="line">
            <a:avLst/>
          </a:prstGeom>
          <a:ln w="25400">
            <a:solidFill>
              <a:srgbClr val="3864B1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91" name="Line"/>
          <p:cNvSpPr/>
          <p:nvPr/>
        </p:nvSpPr>
        <p:spPr>
          <a:xfrm>
            <a:off x="7580159" y="3174839"/>
            <a:ext cx="127081" cy="1"/>
          </a:xfrm>
          <a:prstGeom prst="line">
            <a:avLst/>
          </a:prstGeom>
          <a:ln w="25400">
            <a:solidFill>
              <a:srgbClr val="3864B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Line"/>
          <p:cNvSpPr/>
          <p:nvPr/>
        </p:nvSpPr>
        <p:spPr>
          <a:xfrm flipV="1">
            <a:off x="7603200" y="3168719"/>
            <a:ext cx="106201" cy="106201"/>
          </a:xfrm>
          <a:prstGeom prst="line">
            <a:avLst/>
          </a:prstGeom>
          <a:ln w="25400">
            <a:solidFill>
              <a:srgbClr val="3864B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3" name="Line"/>
          <p:cNvSpPr/>
          <p:nvPr/>
        </p:nvSpPr>
        <p:spPr>
          <a:xfrm flipV="1">
            <a:off x="7509599" y="3028680"/>
            <a:ext cx="105841" cy="106201"/>
          </a:xfrm>
          <a:prstGeom prst="line">
            <a:avLst/>
          </a:prstGeom>
          <a:ln w="25400">
            <a:solidFill>
              <a:srgbClr val="8D8D8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Line"/>
          <p:cNvSpPr/>
          <p:nvPr/>
        </p:nvSpPr>
        <p:spPr>
          <a:xfrm flipV="1">
            <a:off x="7602839" y="3031200"/>
            <a:ext cx="1" cy="101161"/>
          </a:xfrm>
          <a:prstGeom prst="line">
            <a:avLst/>
          </a:prstGeom>
          <a:ln w="25400">
            <a:solidFill>
              <a:srgbClr val="8D8D8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Rectangle"/>
          <p:cNvSpPr/>
          <p:nvPr/>
        </p:nvSpPr>
        <p:spPr>
          <a:xfrm>
            <a:off x="7511760" y="3146399"/>
            <a:ext cx="101161" cy="124922"/>
          </a:xfrm>
          <a:prstGeom prst="rect">
            <a:avLst/>
          </a:prstGeom>
          <a:ln w="25400">
            <a:solidFill>
              <a:srgbClr val="C26424"/>
            </a:solidFill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96" name="x"/>
          <p:cNvSpPr txBox="1"/>
          <p:nvPr/>
        </p:nvSpPr>
        <p:spPr>
          <a:xfrm>
            <a:off x="8130960" y="2193480"/>
            <a:ext cx="1270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x</a:t>
            </a:r>
          </a:p>
        </p:txBody>
      </p:sp>
      <p:sp>
        <p:nvSpPr>
          <p:cNvPr id="297" name="y"/>
          <p:cNvSpPr txBox="1"/>
          <p:nvPr/>
        </p:nvSpPr>
        <p:spPr>
          <a:xfrm>
            <a:off x="7327800" y="1743119"/>
            <a:ext cx="127001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y</a:t>
            </a:r>
          </a:p>
        </p:txBody>
      </p:sp>
      <p:sp>
        <p:nvSpPr>
          <p:cNvPr id="298" name="z"/>
          <p:cNvSpPr txBox="1"/>
          <p:nvPr/>
        </p:nvSpPr>
        <p:spPr>
          <a:xfrm>
            <a:off x="8408520" y="3326400"/>
            <a:ext cx="1270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z</a:t>
            </a:r>
          </a:p>
        </p:txBody>
      </p:sp>
      <p:sp>
        <p:nvSpPr>
          <p:cNvPr id="299" name="Text 7"/>
          <p:cNvSpPr txBox="1"/>
          <p:nvPr/>
        </p:nvSpPr>
        <p:spPr>
          <a:xfrm>
            <a:off x="7875360" y="3530207"/>
            <a:ext cx="11829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Particle beam</a:t>
            </a:r>
          </a:p>
        </p:txBody>
      </p:sp>
      <p:sp>
        <p:nvSpPr>
          <p:cNvPr id="300" name="Text 7"/>
          <p:cNvSpPr txBox="1"/>
          <p:nvPr/>
        </p:nvSpPr>
        <p:spPr>
          <a:xfrm>
            <a:off x="6851520" y="1593047"/>
            <a:ext cx="11829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Vertical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D97A2B"/>
                </a:solidFill>
              </a:defRPr>
            </a:lvl1pPr>
          </a:lstStyle>
          <a:p>
            <a:pPr/>
            <a:r>
              <a:t>WHERE THEY DIVERGE</a:t>
            </a:r>
          </a:p>
        </p:txBody>
      </p:sp>
      <p:sp>
        <p:nvSpPr>
          <p:cNvPr id="303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Neutrons vs. X-rays: key differences at a glance</a:t>
            </a:r>
          </a:p>
        </p:txBody>
      </p:sp>
      <p:graphicFrame>
        <p:nvGraphicFramePr>
          <p:cNvPr id="304" name="Table 0"/>
          <p:cNvGraphicFramePr/>
          <p:nvPr/>
        </p:nvGraphicFramePr>
        <p:xfrm>
          <a:off x="548640" y="1691639"/>
          <a:ext cx="11064241" cy="27432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86000"/>
                <a:gridCol w="4389120"/>
                <a:gridCol w="438912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Neutrons  ·  McStas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X-rays  ·  McXtrace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Probe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Neutral particle — mass, spin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Massless electromagnetic wave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Typical facility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Reactor or spallation source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Synchrotron or free-electron laser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Energy scale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meV  (thermal / cold)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keV  (hard X-ray)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20242B"/>
                          </a:solidFill>
                        </a:rPr>
                        <a:t>Dominant interaction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Nuclear &amp; magnetic scattering; deep penetration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0242B"/>
                          </a:solidFill>
                        </a:rPr>
                        <a:t>Electronic scattering; surface-sensitive, strongly absorbed</a:t>
                      </a:r>
                    </a:p>
                  </a:txBody>
                  <a:tcPr marL="45720" marR="45720" marT="45720" marB="45720" anchor="ctr" anchorCtr="0" horzOverflow="overflow">
                    <a:lnL w="9360">
                      <a:solidFill>
                        <a:srgbClr val="DDE1E6"/>
                      </a:solidFill>
                    </a:lnL>
                    <a:lnR w="9360">
                      <a:solidFill>
                        <a:srgbClr val="DDE1E6"/>
                      </a:solidFill>
                    </a:lnR>
                    <a:lnT w="9360">
                      <a:solidFill>
                        <a:srgbClr val="DDE1E6"/>
                      </a:solidFill>
                    </a:lnT>
                    <a:lnB w="936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305" name="Shape 2"/>
          <p:cNvSpPr/>
          <p:nvPr/>
        </p:nvSpPr>
        <p:spPr>
          <a:xfrm>
            <a:off x="548640" y="4937759"/>
            <a:ext cx="11063880" cy="868321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3"/>
          <p:cNvSpPr txBox="1"/>
          <p:nvPr/>
        </p:nvSpPr>
        <p:spPr>
          <a:xfrm>
            <a:off x="867959" y="5153236"/>
            <a:ext cx="10425242" cy="43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b="1" sz="1200">
                <a:solidFill>
                  <a:srgbClr val="12506B"/>
                </a:solidFill>
              </a:defRPr>
            </a:pPr>
            <a:r>
              <a:t>What stays the same:  </a:t>
            </a:r>
            <a:r>
              <a:rPr b="0">
                <a:solidFill>
                  <a:srgbClr val="20242B"/>
                </a:solidFill>
              </a:rPr>
              <a:t>the ray-tracing method, the DSL, the component architecture, and the statistical-weight formalism are identical — only the physics inside the components differs.</a:t>
            </a:r>
          </a:p>
        </p:txBody>
      </p:sp>
      <p:sp>
        <p:nvSpPr>
          <p:cNvPr id="307" name="Text 4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308" name="Text 5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11</a:t>
            </a:r>
          </a:p>
        </p:txBody>
      </p:sp>
      <p:pic>
        <p:nvPicPr>
          <p:cNvPr id="309" name="Copied Picture 12" descr="Copied Picture 12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0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7" name="Group 2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15" name="Group 3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11" name="Picture 5" descr="Picture 5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1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12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13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16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COMMUNITY &amp; PRACTICALITIES</a:t>
            </a:r>
          </a:p>
        </p:txBody>
      </p:sp>
      <p:sp>
        <p:nvSpPr>
          <p:cNvPr id="320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Open, portable, community-built</a:t>
            </a:r>
          </a:p>
        </p:txBody>
      </p:sp>
      <p:sp>
        <p:nvSpPr>
          <p:cNvPr id="321" name="Shape 2"/>
          <p:cNvSpPr/>
          <p:nvPr/>
        </p:nvSpPr>
        <p:spPr>
          <a:xfrm>
            <a:off x="54864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Text 3"/>
          <p:cNvSpPr txBox="1"/>
          <p:nvPr/>
        </p:nvSpPr>
        <p:spPr>
          <a:xfrm>
            <a:off x="593640" y="2062439"/>
            <a:ext cx="2515680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30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GPL</a:t>
            </a:r>
          </a:p>
        </p:txBody>
      </p:sp>
      <p:sp>
        <p:nvSpPr>
          <p:cNvPr id="323" name="Text 4"/>
          <p:cNvSpPr txBox="1"/>
          <p:nvPr/>
        </p:nvSpPr>
        <p:spPr>
          <a:xfrm>
            <a:off x="730799" y="2858305"/>
            <a:ext cx="2241362" cy="409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Open-source license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for both packages</a:t>
            </a:r>
          </a:p>
        </p:txBody>
      </p:sp>
      <p:sp>
        <p:nvSpPr>
          <p:cNvPr id="324" name="Shape 5"/>
          <p:cNvSpPr/>
          <p:nvPr/>
        </p:nvSpPr>
        <p:spPr>
          <a:xfrm>
            <a:off x="3383279" y="1828800"/>
            <a:ext cx="2605681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5" name="Text 6"/>
          <p:cNvSpPr txBox="1"/>
          <p:nvPr/>
        </p:nvSpPr>
        <p:spPr>
          <a:xfrm>
            <a:off x="3428280" y="2062439"/>
            <a:ext cx="2515680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30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26" name="Text 7"/>
          <p:cNvSpPr txBox="1"/>
          <p:nvPr/>
        </p:nvSpPr>
        <p:spPr>
          <a:xfrm>
            <a:off x="3565440" y="2858305"/>
            <a:ext cx="2241361" cy="409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Platforms: Linux,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macOS, Windows</a:t>
            </a:r>
          </a:p>
        </p:txBody>
      </p:sp>
      <p:sp>
        <p:nvSpPr>
          <p:cNvPr id="327" name="Shape 8"/>
          <p:cNvSpPr/>
          <p:nvPr/>
        </p:nvSpPr>
        <p:spPr>
          <a:xfrm>
            <a:off x="621792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Text 9"/>
          <p:cNvSpPr txBox="1"/>
          <p:nvPr/>
        </p:nvSpPr>
        <p:spPr>
          <a:xfrm>
            <a:off x="6262920" y="2062439"/>
            <a:ext cx="2515680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30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175+</a:t>
            </a:r>
          </a:p>
        </p:txBody>
      </p:sp>
      <p:sp>
        <p:nvSpPr>
          <p:cNvPr id="329" name="Text 10"/>
          <p:cNvSpPr txBox="1"/>
          <p:nvPr/>
        </p:nvSpPr>
        <p:spPr>
          <a:xfrm>
            <a:off x="6400079" y="2858305"/>
            <a:ext cx="2241361" cy="409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Components in the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shared-style libraries</a:t>
            </a:r>
          </a:p>
        </p:txBody>
      </p:sp>
      <p:sp>
        <p:nvSpPr>
          <p:cNvPr id="330" name="Shape 11"/>
          <p:cNvSpPr/>
          <p:nvPr/>
        </p:nvSpPr>
        <p:spPr>
          <a:xfrm>
            <a:off x="9052559" y="1828800"/>
            <a:ext cx="2605681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1" name="Text 12"/>
          <p:cNvSpPr txBox="1"/>
          <p:nvPr/>
        </p:nvSpPr>
        <p:spPr>
          <a:xfrm>
            <a:off x="9097559" y="2062439"/>
            <a:ext cx="2515681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30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30–40%</a:t>
            </a:r>
          </a:p>
        </p:txBody>
      </p:sp>
      <p:sp>
        <p:nvSpPr>
          <p:cNvPr id="332" name="Text 13"/>
          <p:cNvSpPr txBox="1"/>
          <p:nvPr/>
        </p:nvSpPr>
        <p:spPr>
          <a:xfrm>
            <a:off x="9234719" y="2858305"/>
            <a:ext cx="2241361" cy="409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Of new components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lnSpc>
                <a:spcPct val="115000"/>
              </a:lnSpc>
              <a:defRPr sz="1100">
                <a:solidFill>
                  <a:srgbClr val="6E7580"/>
                </a:solidFill>
              </a:defRPr>
            </a:pPr>
            <a:r>
              <a:t>come from users</a:t>
            </a:r>
          </a:p>
        </p:txBody>
      </p:sp>
      <p:sp>
        <p:nvSpPr>
          <p:cNvPr id="333" name="Text 14"/>
          <p:cNvSpPr txBox="1"/>
          <p:nvPr/>
        </p:nvSpPr>
        <p:spPr>
          <a:xfrm>
            <a:off x="593639" y="4429337"/>
            <a:ext cx="10973882" cy="1199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Runs everywhere from a laptop to HPC clusters and GPUs (OpenACC) — the same generated C code, recompiled per target.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New components automatically fit the framework once written in structured, standard C.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Contributions require at least one test instrument and a documented header — then they join the shared contrib/ library.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203040" indent="-203040">
              <a:spcBef>
                <a:spcPts val="10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Permanent staff at DTU Physics maintain the core; a wider network of institutes and students keeps both libraries growing.</a:t>
            </a:r>
          </a:p>
        </p:txBody>
      </p:sp>
      <p:sp>
        <p:nvSpPr>
          <p:cNvPr id="334" name="Text 15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335" name="Text 16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12</a:t>
            </a:r>
          </a:p>
        </p:txBody>
      </p:sp>
      <p:pic>
        <p:nvPicPr>
          <p:cNvPr id="336" name="Copied Picture 19" descr="Copied Picture 19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ONE CORE TEAM, TWO NETWORKS</a:t>
            </a:r>
          </a:p>
        </p:txBody>
      </p:sp>
      <p:sp>
        <p:nvSpPr>
          <p:cNvPr id="340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Who builds &amp; maintains them</a:t>
            </a:r>
          </a:p>
        </p:txBody>
      </p:sp>
      <p:sp>
        <p:nvSpPr>
          <p:cNvPr id="341" name="Text 2"/>
          <p:cNvSpPr txBox="1"/>
          <p:nvPr/>
        </p:nvSpPr>
        <p:spPr>
          <a:xfrm>
            <a:off x="593639" y="1471639"/>
            <a:ext cx="1079100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 shared core team at DTU Physics, plus partner institutes around each package.</a:t>
            </a:r>
          </a:p>
        </p:txBody>
      </p:sp>
      <p:sp>
        <p:nvSpPr>
          <p:cNvPr id="342" name="Shape 3"/>
          <p:cNvSpPr/>
          <p:nvPr/>
        </p:nvSpPr>
        <p:spPr>
          <a:xfrm>
            <a:off x="548640" y="1965960"/>
            <a:ext cx="5257440" cy="3565801"/>
          </a:xfrm>
          <a:prstGeom prst="roundRect">
            <a:avLst>
              <a:gd name="adj" fmla="val 2564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3" name="Text 4"/>
          <p:cNvSpPr txBox="1"/>
          <p:nvPr/>
        </p:nvSpPr>
        <p:spPr>
          <a:xfrm>
            <a:off x="913680" y="2211610"/>
            <a:ext cx="452736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6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 partner network</a:t>
            </a:r>
          </a:p>
        </p:txBody>
      </p:sp>
      <p:sp>
        <p:nvSpPr>
          <p:cNvPr id="344" name="Text 5"/>
          <p:cNvSpPr txBox="1"/>
          <p:nvPr/>
        </p:nvSpPr>
        <p:spPr>
          <a:xfrm>
            <a:off x="913680" y="3193272"/>
            <a:ext cx="4527361" cy="1659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DTU Physics (core development)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European Spallation Source (ESS DMSC)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University of Copenhagen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Institut Laue-Langevin (ILL), Grenoble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Paul Scherrer Institute (PSI)</a:t>
            </a:r>
            <a:endParaRPr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345" name="Shape 6"/>
          <p:cNvSpPr/>
          <p:nvPr/>
        </p:nvSpPr>
        <p:spPr>
          <a:xfrm>
            <a:off x="6172200" y="1965960"/>
            <a:ext cx="5257440" cy="3565801"/>
          </a:xfrm>
          <a:prstGeom prst="roundRect">
            <a:avLst>
              <a:gd name="adj" fmla="val 2564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6" name="Text 7"/>
          <p:cNvSpPr txBox="1"/>
          <p:nvPr/>
        </p:nvSpPr>
        <p:spPr>
          <a:xfrm>
            <a:off x="6537240" y="2211610"/>
            <a:ext cx="452736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6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 partner network</a:t>
            </a:r>
          </a:p>
        </p:txBody>
      </p:sp>
      <p:sp>
        <p:nvSpPr>
          <p:cNvPr id="347" name="Text 8"/>
          <p:cNvSpPr txBox="1"/>
          <p:nvPr/>
        </p:nvSpPr>
        <p:spPr>
          <a:xfrm>
            <a:off x="6537240" y="3332972"/>
            <a:ext cx="4527361" cy="1380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Synchrotron SOLEIL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DTU Physics (core development)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DTU Space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marL="177839" indent="-177839">
              <a:spcBef>
                <a:spcPts val="700"/>
              </a:spcBef>
              <a:buClr>
                <a:srgbClr val="20242B"/>
              </a:buClr>
              <a:buSzPct val="100000"/>
              <a:buFont typeface="Symbol"/>
              <a:buChar char="·"/>
              <a:defRPr sz="1200">
                <a:solidFill>
                  <a:srgbClr val="20242B"/>
                </a:solidFill>
              </a:defRPr>
            </a:pPr>
            <a:r>
              <a:t>University of Copenhagen</a:t>
            </a:r>
            <a:endParaRPr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348" name="Text 9"/>
          <p:cNvSpPr txBox="1"/>
          <p:nvPr/>
        </p:nvSpPr>
        <p:spPr>
          <a:xfrm>
            <a:off x="583559" y="5645917"/>
            <a:ext cx="10973882" cy="615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/>
          <a:p>
            <a:pPr>
              <a:defRPr i="1" sz="1200">
                <a:solidFill>
                  <a:srgbClr val="12506B"/>
                </a:solidFill>
              </a:defRPr>
            </a:pPr>
            <a:r>
              <a:t>Further both codes benefit from the greater network of users across a plethora of use-cases and applications.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>
              <a:defRPr sz="1200">
                <a:latin typeface="+mn-lt"/>
                <a:ea typeface="+mn-ea"/>
                <a:cs typeface="+mn-cs"/>
                <a:sym typeface="Arial"/>
              </a:defRPr>
            </a:pPr>
          </a:p>
          <a:p>
            <a:pPr>
              <a:defRPr i="1" sz="1200">
                <a:solidFill>
                  <a:srgbClr val="12506B"/>
                </a:solidFill>
              </a:defRPr>
            </a:pPr>
            <a:r>
              <a:t>Several developers work across both projects — shared infrastructure means fixes and features often benefit both codes at once.</a:t>
            </a:r>
          </a:p>
        </p:txBody>
      </p:sp>
      <p:sp>
        <p:nvSpPr>
          <p:cNvPr id="349" name="Text 10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350" name="Text 11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13</a:t>
            </a:r>
          </a:p>
        </p:txBody>
      </p:sp>
      <p:pic>
        <p:nvPicPr>
          <p:cNvPr id="351" name="Copied Picture 14" descr="Copied Picture 14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52" name="Picture 14" descr="Picture 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9" name="Group 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57" name="Group 2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53" name="Picture 4" descr="Picture 4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5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54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55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58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60" name="Picture 31" descr="Picture 31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932900" y="2084490"/>
            <a:ext cx="736201" cy="748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Picture 9" descr="Picture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516186" y="2074679"/>
            <a:ext cx="716667" cy="424534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Picture 29" descr="Picture 2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479130" y="2481738"/>
            <a:ext cx="547921" cy="264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3" name="Picture 30" descr="Picture 3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1068450" y="2486778"/>
            <a:ext cx="200881" cy="2962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APPLICATIONS</a:t>
            </a:r>
          </a:p>
        </p:txBody>
      </p:sp>
      <p:sp>
        <p:nvSpPr>
          <p:cNvPr id="366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are they used for?</a:t>
            </a:r>
          </a:p>
        </p:txBody>
      </p:sp>
      <p:sp>
        <p:nvSpPr>
          <p:cNvPr id="367" name="Shape 2"/>
          <p:cNvSpPr/>
          <p:nvPr/>
        </p:nvSpPr>
        <p:spPr>
          <a:xfrm>
            <a:off x="548640" y="2011679"/>
            <a:ext cx="2084401" cy="329148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8" name="Shape 3"/>
          <p:cNvSpPr/>
          <p:nvPr/>
        </p:nvSpPr>
        <p:spPr>
          <a:xfrm>
            <a:off x="1334879" y="2285999"/>
            <a:ext cx="511561" cy="511562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9" name="Text 4"/>
          <p:cNvSpPr txBox="1"/>
          <p:nvPr/>
        </p:nvSpPr>
        <p:spPr>
          <a:xfrm>
            <a:off x="1379879" y="2363429"/>
            <a:ext cx="421561" cy="3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70" name="Text 5"/>
          <p:cNvSpPr txBox="1"/>
          <p:nvPr/>
        </p:nvSpPr>
        <p:spPr>
          <a:xfrm>
            <a:off x="730799" y="3140419"/>
            <a:ext cx="1720082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Instrument design</a:t>
            </a:r>
          </a:p>
        </p:txBody>
      </p:sp>
      <p:sp>
        <p:nvSpPr>
          <p:cNvPr id="371" name="Text 6"/>
          <p:cNvSpPr txBox="1"/>
          <p:nvPr/>
        </p:nvSpPr>
        <p:spPr>
          <a:xfrm>
            <a:off x="758160" y="4136854"/>
            <a:ext cx="1665359" cy="41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Planning and optimising new beamlines before they're built</a:t>
            </a:r>
          </a:p>
        </p:txBody>
      </p:sp>
      <p:sp>
        <p:nvSpPr>
          <p:cNvPr id="372" name="Shape 7"/>
          <p:cNvSpPr/>
          <p:nvPr/>
        </p:nvSpPr>
        <p:spPr>
          <a:xfrm>
            <a:off x="2797919" y="2011679"/>
            <a:ext cx="2084402" cy="329148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3" name="Shape 8"/>
          <p:cNvSpPr/>
          <p:nvPr/>
        </p:nvSpPr>
        <p:spPr>
          <a:xfrm>
            <a:off x="3584519" y="2285999"/>
            <a:ext cx="511561" cy="511562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4" name="Text 9"/>
          <p:cNvSpPr txBox="1"/>
          <p:nvPr/>
        </p:nvSpPr>
        <p:spPr>
          <a:xfrm>
            <a:off x="3629519" y="2363429"/>
            <a:ext cx="421561" cy="3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75" name="Text 10"/>
          <p:cNvSpPr txBox="1"/>
          <p:nvPr/>
        </p:nvSpPr>
        <p:spPr>
          <a:xfrm>
            <a:off x="2980079" y="3140419"/>
            <a:ext cx="1720081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Construction support</a:t>
            </a:r>
          </a:p>
        </p:txBody>
      </p:sp>
      <p:sp>
        <p:nvSpPr>
          <p:cNvPr id="376" name="Text 11"/>
          <p:cNvSpPr txBox="1"/>
          <p:nvPr/>
        </p:nvSpPr>
        <p:spPr>
          <a:xfrm>
            <a:off x="3007799" y="4136854"/>
            <a:ext cx="1665360" cy="41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Verifying components and layouts during commissioning</a:t>
            </a:r>
          </a:p>
        </p:txBody>
      </p:sp>
      <p:sp>
        <p:nvSpPr>
          <p:cNvPr id="377" name="Shape 12"/>
          <p:cNvSpPr/>
          <p:nvPr/>
        </p:nvSpPr>
        <p:spPr>
          <a:xfrm>
            <a:off x="5047560" y="2011679"/>
            <a:ext cx="2084401" cy="329148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8" name="Shape 13"/>
          <p:cNvSpPr/>
          <p:nvPr/>
        </p:nvSpPr>
        <p:spPr>
          <a:xfrm>
            <a:off x="5833800" y="2285999"/>
            <a:ext cx="511561" cy="511562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9" name="Text 14"/>
          <p:cNvSpPr txBox="1"/>
          <p:nvPr/>
        </p:nvSpPr>
        <p:spPr>
          <a:xfrm>
            <a:off x="5878800" y="2363429"/>
            <a:ext cx="421561" cy="3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80" name="Text 15"/>
          <p:cNvSpPr txBox="1"/>
          <p:nvPr/>
        </p:nvSpPr>
        <p:spPr>
          <a:xfrm>
            <a:off x="5229719" y="3140419"/>
            <a:ext cx="1720081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Virtual experiments</a:t>
            </a:r>
          </a:p>
        </p:txBody>
      </p:sp>
      <p:sp>
        <p:nvSpPr>
          <p:cNvPr id="381" name="Text 16"/>
          <p:cNvSpPr txBox="1"/>
          <p:nvPr/>
        </p:nvSpPr>
        <p:spPr>
          <a:xfrm>
            <a:off x="5257079" y="4044024"/>
            <a:ext cx="1665360" cy="598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Letting prospective users try an experiment before travelling to a facility</a:t>
            </a:r>
          </a:p>
        </p:txBody>
      </p:sp>
      <p:sp>
        <p:nvSpPr>
          <p:cNvPr id="382" name="Shape 17"/>
          <p:cNvSpPr/>
          <p:nvPr/>
        </p:nvSpPr>
        <p:spPr>
          <a:xfrm>
            <a:off x="7296839" y="2011679"/>
            <a:ext cx="2084401" cy="329148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3" name="Shape 18"/>
          <p:cNvSpPr/>
          <p:nvPr/>
        </p:nvSpPr>
        <p:spPr>
          <a:xfrm>
            <a:off x="8083439" y="2285999"/>
            <a:ext cx="511561" cy="511562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4" name="Text 19"/>
          <p:cNvSpPr txBox="1"/>
          <p:nvPr/>
        </p:nvSpPr>
        <p:spPr>
          <a:xfrm>
            <a:off x="8128439" y="2363429"/>
            <a:ext cx="421561" cy="3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85" name="Text 20"/>
          <p:cNvSpPr txBox="1"/>
          <p:nvPr/>
        </p:nvSpPr>
        <p:spPr>
          <a:xfrm>
            <a:off x="7478999" y="3140419"/>
            <a:ext cx="1720081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Data analysis</a:t>
            </a:r>
          </a:p>
        </p:txBody>
      </p:sp>
      <p:sp>
        <p:nvSpPr>
          <p:cNvPr id="386" name="Text 21"/>
          <p:cNvSpPr txBox="1"/>
          <p:nvPr/>
        </p:nvSpPr>
        <p:spPr>
          <a:xfrm>
            <a:off x="7506360" y="4044024"/>
            <a:ext cx="1665360" cy="598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Comparing measured data against simulated instrument response</a:t>
            </a:r>
          </a:p>
        </p:txBody>
      </p:sp>
      <p:sp>
        <p:nvSpPr>
          <p:cNvPr id="387" name="Shape 22"/>
          <p:cNvSpPr/>
          <p:nvPr/>
        </p:nvSpPr>
        <p:spPr>
          <a:xfrm>
            <a:off x="9546480" y="2011679"/>
            <a:ext cx="2084401" cy="329148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8" name="Shape 23"/>
          <p:cNvSpPr/>
          <p:nvPr/>
        </p:nvSpPr>
        <p:spPr>
          <a:xfrm>
            <a:off x="10332719" y="2285999"/>
            <a:ext cx="511561" cy="511562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9" name="Text 24"/>
          <p:cNvSpPr txBox="1"/>
          <p:nvPr/>
        </p:nvSpPr>
        <p:spPr>
          <a:xfrm>
            <a:off x="10377719" y="2363429"/>
            <a:ext cx="421561" cy="3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90" name="Text 25"/>
          <p:cNvSpPr txBox="1"/>
          <p:nvPr/>
        </p:nvSpPr>
        <p:spPr>
          <a:xfrm>
            <a:off x="9728639" y="3140419"/>
            <a:ext cx="1720081" cy="25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Teaching</a:t>
            </a:r>
          </a:p>
        </p:txBody>
      </p:sp>
      <p:sp>
        <p:nvSpPr>
          <p:cNvPr id="391" name="Text 26"/>
          <p:cNvSpPr txBox="1"/>
          <p:nvPr/>
        </p:nvSpPr>
        <p:spPr>
          <a:xfrm>
            <a:off x="9756000" y="4044024"/>
            <a:ext cx="1665360" cy="598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Training students and new users in instrumentation &amp; scattering methods</a:t>
            </a:r>
          </a:p>
        </p:txBody>
      </p:sp>
      <p:sp>
        <p:nvSpPr>
          <p:cNvPr id="392" name="Text 27"/>
          <p:cNvSpPr txBox="1"/>
          <p:nvPr/>
        </p:nvSpPr>
        <p:spPr>
          <a:xfrm>
            <a:off x="593639" y="5682827"/>
            <a:ext cx="1097388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i="1" sz="1200">
                <a:solidFill>
                  <a:srgbClr val="6E7580"/>
                </a:solidFill>
              </a:defRPr>
            </a:lvl1pPr>
          </a:lstStyle>
          <a:p>
            <a:pPr/>
            <a:r>
              <a:t>Both communities use their code across the full lifecycle — from first sketch to published data.</a:t>
            </a:r>
          </a:p>
        </p:txBody>
      </p:sp>
      <p:sp>
        <p:nvSpPr>
          <p:cNvPr id="393" name="Text 28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394" name="Text 29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14</a:t>
            </a:r>
          </a:p>
        </p:txBody>
      </p:sp>
      <p:pic>
        <p:nvPicPr>
          <p:cNvPr id="395" name="Copied Picture 32" descr="Copied Picture 32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6" name="Picture 32" descr="Picture 3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ECOSYSTEM</a:t>
            </a:r>
          </a:p>
        </p:txBody>
      </p:sp>
      <p:sp>
        <p:nvSpPr>
          <p:cNvPr id="399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shared, interoperable ecosystem</a:t>
            </a:r>
          </a:p>
        </p:txBody>
      </p:sp>
      <p:sp>
        <p:nvSpPr>
          <p:cNvPr id="400" name="Shape 2"/>
          <p:cNvSpPr/>
          <p:nvPr/>
        </p:nvSpPr>
        <p:spPr>
          <a:xfrm>
            <a:off x="548640" y="1783079"/>
            <a:ext cx="5394601" cy="1965601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1" name="Shape 3"/>
          <p:cNvSpPr/>
          <p:nvPr/>
        </p:nvSpPr>
        <p:spPr>
          <a:xfrm>
            <a:off x="822960" y="2039040"/>
            <a:ext cx="456841" cy="456841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2" name="Text 4"/>
          <p:cNvSpPr txBox="1"/>
          <p:nvPr/>
        </p:nvSpPr>
        <p:spPr>
          <a:xfrm>
            <a:off x="867960" y="2101810"/>
            <a:ext cx="36684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6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03" name="Text 5"/>
          <p:cNvSpPr txBox="1"/>
          <p:nvPr/>
        </p:nvSpPr>
        <p:spPr>
          <a:xfrm>
            <a:off x="1508039" y="2124681"/>
            <a:ext cx="4115882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MCPL</a:t>
            </a:r>
          </a:p>
        </p:txBody>
      </p:sp>
      <p:sp>
        <p:nvSpPr>
          <p:cNvPr id="404" name="Text 6"/>
          <p:cNvSpPr txBox="1"/>
          <p:nvPr/>
        </p:nvSpPr>
        <p:spPr>
          <a:xfrm>
            <a:off x="913680" y="2905168"/>
            <a:ext cx="4710240" cy="416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The Monte Carlo Particle List format lets McStas, McXtrace and other transport codes (MCNP, Geant4, PHITS, …) exchange rays and couple simulations together.</a:t>
            </a:r>
          </a:p>
        </p:txBody>
      </p:sp>
      <p:sp>
        <p:nvSpPr>
          <p:cNvPr id="405" name="Shape 7"/>
          <p:cNvSpPr/>
          <p:nvPr/>
        </p:nvSpPr>
        <p:spPr>
          <a:xfrm>
            <a:off x="6217920" y="1783079"/>
            <a:ext cx="5394601" cy="1965601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6" name="Shape 8"/>
          <p:cNvSpPr/>
          <p:nvPr/>
        </p:nvSpPr>
        <p:spPr>
          <a:xfrm>
            <a:off x="6492240" y="2039040"/>
            <a:ext cx="456841" cy="456841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7" name="Text 9"/>
          <p:cNvSpPr txBox="1"/>
          <p:nvPr/>
        </p:nvSpPr>
        <p:spPr>
          <a:xfrm>
            <a:off x="6537240" y="2101810"/>
            <a:ext cx="36684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6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08" name="Text 10"/>
          <p:cNvSpPr txBox="1"/>
          <p:nvPr/>
        </p:nvSpPr>
        <p:spPr>
          <a:xfrm>
            <a:off x="7177319" y="2124681"/>
            <a:ext cx="4115881" cy="27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Graphical interface</a:t>
            </a:r>
          </a:p>
        </p:txBody>
      </p:sp>
      <p:sp>
        <p:nvSpPr>
          <p:cNvPr id="409" name="Text 11"/>
          <p:cNvSpPr txBox="1"/>
          <p:nvPr/>
        </p:nvSpPr>
        <p:spPr>
          <a:xfrm>
            <a:off x="6582959" y="2905168"/>
            <a:ext cx="4710241" cy="416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A common Python-based GUI supports building, running and browsing results for instruments in either code.</a:t>
            </a:r>
          </a:p>
        </p:txBody>
      </p:sp>
      <p:sp>
        <p:nvSpPr>
          <p:cNvPr id="410" name="Shape 12"/>
          <p:cNvSpPr/>
          <p:nvPr/>
        </p:nvSpPr>
        <p:spPr>
          <a:xfrm>
            <a:off x="548640" y="4023359"/>
            <a:ext cx="5394601" cy="1965601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1" name="Shape 13"/>
          <p:cNvSpPr/>
          <p:nvPr/>
        </p:nvSpPr>
        <p:spPr>
          <a:xfrm>
            <a:off x="822960" y="4279320"/>
            <a:ext cx="456841" cy="456841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2" name="Text 14"/>
          <p:cNvSpPr txBox="1"/>
          <p:nvPr/>
        </p:nvSpPr>
        <p:spPr>
          <a:xfrm>
            <a:off x="867960" y="4342090"/>
            <a:ext cx="36684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6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13" name="Text 15"/>
          <p:cNvSpPr txBox="1"/>
          <p:nvPr/>
        </p:nvSpPr>
        <p:spPr>
          <a:xfrm>
            <a:off x="1508039" y="4364961"/>
            <a:ext cx="4115882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Plotting tools</a:t>
            </a:r>
          </a:p>
        </p:txBody>
      </p:sp>
      <p:sp>
        <p:nvSpPr>
          <p:cNvPr id="414" name="Text 16"/>
          <p:cNvSpPr txBox="1"/>
          <p:nvPr/>
        </p:nvSpPr>
        <p:spPr>
          <a:xfrm>
            <a:off x="913680" y="5145448"/>
            <a:ext cx="4710240" cy="416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A shared plotting toolchain (HTML/D3, pyqtgraph, matplotlib backends) visualises monitor output from both packages.</a:t>
            </a:r>
          </a:p>
        </p:txBody>
      </p:sp>
      <p:sp>
        <p:nvSpPr>
          <p:cNvPr id="415" name="Shape 17"/>
          <p:cNvSpPr/>
          <p:nvPr/>
        </p:nvSpPr>
        <p:spPr>
          <a:xfrm>
            <a:off x="6217920" y="4023359"/>
            <a:ext cx="5394601" cy="1965601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6" name="Shape 18"/>
          <p:cNvSpPr/>
          <p:nvPr/>
        </p:nvSpPr>
        <p:spPr>
          <a:xfrm>
            <a:off x="6492240" y="4279320"/>
            <a:ext cx="456841" cy="456841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7" name="Text 19"/>
          <p:cNvSpPr txBox="1"/>
          <p:nvPr/>
        </p:nvSpPr>
        <p:spPr>
          <a:xfrm>
            <a:off x="6537240" y="4342090"/>
            <a:ext cx="36684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sz="16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418" name="Text 20"/>
          <p:cNvSpPr txBox="1"/>
          <p:nvPr/>
        </p:nvSpPr>
        <p:spPr>
          <a:xfrm>
            <a:off x="7177319" y="4364961"/>
            <a:ext cx="4115881" cy="27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z="1500">
                <a:solidFill>
                  <a:srgbClr val="20242B"/>
                </a:solidFill>
              </a:defRPr>
            </a:lvl1pPr>
          </a:lstStyle>
          <a:p>
            <a:pPr/>
            <a:r>
              <a:t>Packaging</a:t>
            </a:r>
          </a:p>
        </p:txBody>
      </p:sp>
      <p:sp>
        <p:nvSpPr>
          <p:cNvPr id="419" name="Text 21"/>
          <p:cNvSpPr txBox="1"/>
          <p:nvPr/>
        </p:nvSpPr>
        <p:spPr>
          <a:xfrm>
            <a:off x="6582959" y="5145448"/>
            <a:ext cx="4710241" cy="416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Conda-forge distributions and cross-platform installers keep both codes easy to install on Linux, macOS and Windows.</a:t>
            </a:r>
          </a:p>
        </p:txBody>
      </p:sp>
      <p:sp>
        <p:nvSpPr>
          <p:cNvPr id="420" name="Text 22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421" name="Text 23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422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Tools</a:t>
            </a:r>
          </a:p>
        </p:txBody>
      </p:sp>
      <p:sp>
        <p:nvSpPr>
          <p:cNvPr id="426" name="Text 1"/>
          <p:cNvSpPr txBox="1"/>
          <p:nvPr/>
        </p:nvSpPr>
        <p:spPr>
          <a:xfrm>
            <a:off x="593639" y="617939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Shared interfaces, tools and utilities</a:t>
            </a:r>
          </a:p>
        </p:txBody>
      </p:sp>
      <p:sp>
        <p:nvSpPr>
          <p:cNvPr id="427" name="Text 22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428" name="Text 23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429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0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33" name="Group"/>
          <p:cNvGrpSpPr/>
          <p:nvPr/>
        </p:nvGrpSpPr>
        <p:grpSpPr>
          <a:xfrm>
            <a:off x="908639" y="1124999"/>
            <a:ext cx="10374481" cy="5508362"/>
            <a:chOff x="0" y="0"/>
            <a:chExt cx="10374480" cy="5508360"/>
          </a:xfrm>
        </p:grpSpPr>
        <p:pic>
          <p:nvPicPr>
            <p:cNvPr id="431" name="Screenshot 2023-05-18 at 10.36.19.png" descr="Screenshot 2023-05-18 at 10.36.19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1"/>
              <a:ext cx="5470562" cy="53521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32" name="Group" descr="Group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0" t="0" r="0" b="0"/>
            <a:stretch>
              <a:fillRect/>
            </a:stretch>
          </p:blipFill>
          <p:spPr>
            <a:xfrm>
              <a:off x="5270040" y="514439"/>
              <a:ext cx="5104440" cy="49939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40" name="Group 4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38" name="Group 5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434" name="Picture 7" descr="Picture 7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37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35" name="Picture 29" descr="Picture 29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36" name="Picture 30" descr="Picture 30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39" name="Picture 31" descr="Picture 31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Tools</a:t>
            </a:r>
          </a:p>
        </p:txBody>
      </p:sp>
      <p:sp>
        <p:nvSpPr>
          <p:cNvPr id="443" name="Text 1"/>
          <p:cNvSpPr txBox="1"/>
          <p:nvPr/>
        </p:nvSpPr>
        <p:spPr>
          <a:xfrm>
            <a:off x="593639" y="617939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Shared interfaces, tools and utilities</a:t>
            </a:r>
          </a:p>
        </p:txBody>
      </p:sp>
      <p:sp>
        <p:nvSpPr>
          <p:cNvPr id="444" name="Text 22"/>
          <p:cNvSpPr txBox="1"/>
          <p:nvPr/>
        </p:nvSpPr>
        <p:spPr>
          <a:xfrm>
            <a:off x="593640" y="6481262"/>
            <a:ext cx="631044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445" name="Text 23"/>
          <p:cNvSpPr txBox="1"/>
          <p:nvPr/>
        </p:nvSpPr>
        <p:spPr>
          <a:xfrm>
            <a:off x="11230920" y="6481262"/>
            <a:ext cx="36684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446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79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47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50" name="Group"/>
          <p:cNvGrpSpPr/>
          <p:nvPr/>
        </p:nvGrpSpPr>
        <p:grpSpPr>
          <a:xfrm>
            <a:off x="908639" y="1124999"/>
            <a:ext cx="10374481" cy="5508362"/>
            <a:chOff x="0" y="0"/>
            <a:chExt cx="10374480" cy="5508360"/>
          </a:xfrm>
        </p:grpSpPr>
        <p:pic>
          <p:nvPicPr>
            <p:cNvPr id="448" name="Screenshot 2023-05-18 at 10.36.19.png" descr="Screenshot 2023-05-18 at 10.36.19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1"/>
              <a:ext cx="5470562" cy="53521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49" name="Group" descr="Group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0" t="0" r="0" b="0"/>
            <a:stretch>
              <a:fillRect/>
            </a:stretch>
          </p:blipFill>
          <p:spPr>
            <a:xfrm>
              <a:off x="5270039" y="514439"/>
              <a:ext cx="5104441" cy="49939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57" name="Group 4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55" name="Group 5"/>
            <p:cNvGrpSpPr/>
            <p:nvPr/>
          </p:nvGrpSpPr>
          <p:grpSpPr>
            <a:xfrm>
              <a:off x="800639" y="4781"/>
              <a:ext cx="790202" cy="708379"/>
              <a:chOff x="0" y="0"/>
              <a:chExt cx="790200" cy="708377"/>
            </a:xfrm>
          </p:grpSpPr>
          <p:pic>
            <p:nvPicPr>
              <p:cNvPr id="451" name="Picture 7" descr="Picture 7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5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52" name="Picture 29" descr="Picture 29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53" name="Picture 30" descr="Picture 30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56" name="Picture 31" descr="Picture 31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458" name="McStas/McXtrace DSL"/>
          <p:cNvSpPr txBox="1"/>
          <p:nvPr/>
        </p:nvSpPr>
        <p:spPr>
          <a:xfrm>
            <a:off x="5071548" y="4917562"/>
            <a:ext cx="1204948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200"/>
            </a:pPr>
            <a:r>
              <a:t>McStas/McXtrace</a:t>
            </a:r>
            <a:br/>
            <a:r>
              <a:t>DSL</a:t>
            </a:r>
          </a:p>
        </p:txBody>
      </p:sp>
      <p:sp>
        <p:nvSpPr>
          <p:cNvPr id="459" name="Python-based McStasScript"/>
          <p:cNvSpPr txBox="1"/>
          <p:nvPr/>
        </p:nvSpPr>
        <p:spPr>
          <a:xfrm>
            <a:off x="6835789" y="4917562"/>
            <a:ext cx="969800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200"/>
            </a:pPr>
            <a:r>
              <a:t>Python-based</a:t>
            </a:r>
            <a:br/>
            <a:r>
              <a:t>McStasScript</a:t>
            </a:r>
          </a:p>
        </p:txBody>
      </p:sp>
      <p:sp>
        <p:nvSpPr>
          <p:cNvPr id="460" name="C code"/>
          <p:cNvSpPr txBox="1"/>
          <p:nvPr/>
        </p:nvSpPr>
        <p:spPr>
          <a:xfrm>
            <a:off x="5059992" y="5485201"/>
            <a:ext cx="554856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200"/>
            </a:pPr>
            <a:r>
              <a:t>C</a:t>
            </a:r>
            <a:br/>
            <a:r>
              <a:t>code</a:t>
            </a:r>
          </a:p>
        </p:txBody>
      </p:sp>
      <p:sp>
        <p:nvSpPr>
          <p:cNvPr id="461" name="Binary"/>
          <p:cNvSpPr txBox="1"/>
          <p:nvPr/>
        </p:nvSpPr>
        <p:spPr>
          <a:xfrm>
            <a:off x="5059992" y="6052839"/>
            <a:ext cx="554855" cy="2578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/>
            </a:lvl1pPr>
          </a:lstStyle>
          <a:p>
            <a:pPr/>
            <a:r>
              <a:t>Binary</a:t>
            </a:r>
          </a:p>
        </p:txBody>
      </p:sp>
      <p:sp>
        <p:nvSpPr>
          <p:cNvPr id="462" name="Sim run"/>
          <p:cNvSpPr txBox="1"/>
          <p:nvPr/>
        </p:nvSpPr>
        <p:spPr>
          <a:xfrm>
            <a:off x="5059992" y="6454585"/>
            <a:ext cx="692471" cy="257830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/>
            </a:lvl1pPr>
          </a:lstStyle>
          <a:p>
            <a:pPr/>
            <a:r>
              <a:t>Sim run</a:t>
            </a:r>
          </a:p>
        </p:txBody>
      </p:sp>
      <p:sp>
        <p:nvSpPr>
          <p:cNvPr id="467" name="Connection Line"/>
          <p:cNvSpPr/>
          <p:nvPr/>
        </p:nvSpPr>
        <p:spPr>
          <a:xfrm>
            <a:off x="5119578" y="5336213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468" name="Connection Line"/>
          <p:cNvSpPr/>
          <p:nvPr/>
        </p:nvSpPr>
        <p:spPr>
          <a:xfrm>
            <a:off x="5119578" y="5891291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469" name="Connection Line"/>
          <p:cNvSpPr/>
          <p:nvPr/>
        </p:nvSpPr>
        <p:spPr>
          <a:xfrm>
            <a:off x="5119578" y="6289866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470" name="Connection Line"/>
          <p:cNvSpPr/>
          <p:nvPr/>
        </p:nvSpPr>
        <p:spPr>
          <a:xfrm>
            <a:off x="3214655" y="6053924"/>
            <a:ext cx="1811707" cy="6629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309" fill="norm" stroke="1" extrusionOk="0">
                <a:moveTo>
                  <a:pt x="0" y="0"/>
                </a:moveTo>
                <a:cubicBezTo>
                  <a:pt x="5702" y="16126"/>
                  <a:pt x="12902" y="21600"/>
                  <a:pt x="21600" y="16421"/>
                </a:cubicBezTo>
              </a:path>
            </a:pathLst>
          </a:custGeom>
          <a:ln w="254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Tools</a:t>
            </a:r>
          </a:p>
        </p:txBody>
      </p:sp>
      <p:sp>
        <p:nvSpPr>
          <p:cNvPr id="473" name="Text 1"/>
          <p:cNvSpPr txBox="1"/>
          <p:nvPr/>
        </p:nvSpPr>
        <p:spPr>
          <a:xfrm>
            <a:off x="593639" y="617939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Shared interfaces, tools and utilities</a:t>
            </a:r>
          </a:p>
        </p:txBody>
      </p:sp>
      <p:sp>
        <p:nvSpPr>
          <p:cNvPr id="474" name="Text 22"/>
          <p:cNvSpPr txBox="1"/>
          <p:nvPr/>
        </p:nvSpPr>
        <p:spPr>
          <a:xfrm>
            <a:off x="593640" y="6481262"/>
            <a:ext cx="631044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475" name="Text 23"/>
          <p:cNvSpPr txBox="1"/>
          <p:nvPr/>
        </p:nvSpPr>
        <p:spPr>
          <a:xfrm>
            <a:off x="11230920" y="6481262"/>
            <a:ext cx="366841" cy="204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476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79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7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80" name="Group"/>
          <p:cNvGrpSpPr/>
          <p:nvPr/>
        </p:nvGrpSpPr>
        <p:grpSpPr>
          <a:xfrm>
            <a:off x="908639" y="1124999"/>
            <a:ext cx="10374481" cy="5508362"/>
            <a:chOff x="0" y="0"/>
            <a:chExt cx="10374480" cy="5508360"/>
          </a:xfrm>
        </p:grpSpPr>
        <p:pic>
          <p:nvPicPr>
            <p:cNvPr id="478" name="Screenshot 2023-05-18 at 10.36.19.png" descr="Screenshot 2023-05-18 at 10.36.19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1"/>
              <a:ext cx="5470562" cy="53521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79" name="Group" descr="Group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0" t="0" r="0" b="0"/>
            <a:stretch>
              <a:fillRect/>
            </a:stretch>
          </p:blipFill>
          <p:spPr>
            <a:xfrm>
              <a:off x="5270039" y="514439"/>
              <a:ext cx="5104441" cy="49939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87" name="Group 4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85" name="Group 5"/>
            <p:cNvGrpSpPr/>
            <p:nvPr/>
          </p:nvGrpSpPr>
          <p:grpSpPr>
            <a:xfrm>
              <a:off x="800639" y="4781"/>
              <a:ext cx="790202" cy="708379"/>
              <a:chOff x="0" y="0"/>
              <a:chExt cx="790200" cy="708377"/>
            </a:xfrm>
          </p:grpSpPr>
          <p:pic>
            <p:nvPicPr>
              <p:cNvPr id="481" name="Picture 7" descr="Picture 7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8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82" name="Picture 29" descr="Picture 29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83" name="Picture 30" descr="Picture 30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86" name="Picture 31" descr="Picture 31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02" name="Connection Line"/>
          <p:cNvSpPr/>
          <p:nvPr/>
        </p:nvSpPr>
        <p:spPr>
          <a:xfrm>
            <a:off x="5683503" y="4534085"/>
            <a:ext cx="1627550" cy="340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22" fill="norm" stroke="1" extrusionOk="0">
                <a:moveTo>
                  <a:pt x="0" y="16222"/>
                </a:moveTo>
                <a:cubicBezTo>
                  <a:pt x="7129" y="-4614"/>
                  <a:pt x="14329" y="-5378"/>
                  <a:pt x="21600" y="13931"/>
                </a:cubicBezTo>
              </a:path>
            </a:pathLst>
          </a:custGeom>
          <a:ln w="25400">
            <a:solidFill>
              <a:srgbClr val="3864B1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03" name="Connection Line"/>
          <p:cNvSpPr/>
          <p:nvPr/>
        </p:nvSpPr>
        <p:spPr>
          <a:xfrm>
            <a:off x="5675543" y="5398705"/>
            <a:ext cx="1627550" cy="328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23" fill="norm" stroke="1" extrusionOk="0">
                <a:moveTo>
                  <a:pt x="0" y="2372"/>
                </a:moveTo>
                <a:cubicBezTo>
                  <a:pt x="7369" y="21600"/>
                  <a:pt x="14569" y="20809"/>
                  <a:pt x="21600" y="0"/>
                </a:cubicBezTo>
              </a:path>
            </a:pathLst>
          </a:custGeom>
          <a:ln w="254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490" name="McStas/McXtrace DSL"/>
          <p:cNvSpPr txBox="1"/>
          <p:nvPr/>
        </p:nvSpPr>
        <p:spPr>
          <a:xfrm>
            <a:off x="5071548" y="4917562"/>
            <a:ext cx="1204948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200"/>
            </a:pPr>
            <a:r>
              <a:t>McStas/McXtrace</a:t>
            </a:r>
            <a:br/>
            <a:r>
              <a:t>DSL</a:t>
            </a:r>
          </a:p>
        </p:txBody>
      </p:sp>
      <p:sp>
        <p:nvSpPr>
          <p:cNvPr id="491" name="Python-based McStasScript"/>
          <p:cNvSpPr txBox="1"/>
          <p:nvPr/>
        </p:nvSpPr>
        <p:spPr>
          <a:xfrm>
            <a:off x="6835789" y="4917562"/>
            <a:ext cx="969800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200"/>
            </a:pPr>
            <a:r>
              <a:t>Python-based</a:t>
            </a:r>
            <a:br/>
            <a:r>
              <a:t>McStasScript</a:t>
            </a:r>
          </a:p>
        </p:txBody>
      </p:sp>
      <p:sp>
        <p:nvSpPr>
          <p:cNvPr id="492" name="C code"/>
          <p:cNvSpPr txBox="1"/>
          <p:nvPr/>
        </p:nvSpPr>
        <p:spPr>
          <a:xfrm>
            <a:off x="5059992" y="5485201"/>
            <a:ext cx="554856" cy="4483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200"/>
            </a:pPr>
            <a:r>
              <a:t>C</a:t>
            </a:r>
            <a:br/>
            <a:r>
              <a:t>code</a:t>
            </a:r>
          </a:p>
        </p:txBody>
      </p:sp>
      <p:sp>
        <p:nvSpPr>
          <p:cNvPr id="493" name="Binary"/>
          <p:cNvSpPr txBox="1"/>
          <p:nvPr/>
        </p:nvSpPr>
        <p:spPr>
          <a:xfrm>
            <a:off x="5059992" y="6052839"/>
            <a:ext cx="554855" cy="257831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/>
            </a:lvl1pPr>
          </a:lstStyle>
          <a:p>
            <a:pPr/>
            <a:r>
              <a:t>Binary</a:t>
            </a:r>
          </a:p>
        </p:txBody>
      </p:sp>
      <p:sp>
        <p:nvSpPr>
          <p:cNvPr id="494" name="Sim run"/>
          <p:cNvSpPr txBox="1"/>
          <p:nvPr/>
        </p:nvSpPr>
        <p:spPr>
          <a:xfrm>
            <a:off x="5059992" y="6454585"/>
            <a:ext cx="692471" cy="257830"/>
          </a:xfrm>
          <a:prstGeom prst="rect">
            <a:avLst/>
          </a:prstGeom>
          <a:solidFill>
            <a:schemeClr val="accent5">
              <a:lumOff val="20196"/>
            </a:schemeClr>
          </a:solidFill>
          <a:ln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/>
            </a:lvl1pPr>
          </a:lstStyle>
          <a:p>
            <a:pPr/>
            <a:r>
              <a:t>Sim run</a:t>
            </a:r>
          </a:p>
        </p:txBody>
      </p:sp>
      <p:sp>
        <p:nvSpPr>
          <p:cNvPr id="504" name="Connection Line"/>
          <p:cNvSpPr/>
          <p:nvPr/>
        </p:nvSpPr>
        <p:spPr>
          <a:xfrm>
            <a:off x="5119578" y="5336213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505" name="Connection Line"/>
          <p:cNvSpPr/>
          <p:nvPr/>
        </p:nvSpPr>
        <p:spPr>
          <a:xfrm>
            <a:off x="5119578" y="5891291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506" name="Connection Line"/>
          <p:cNvSpPr/>
          <p:nvPr/>
        </p:nvSpPr>
        <p:spPr>
          <a:xfrm>
            <a:off x="5119578" y="6289866"/>
            <a:ext cx="1408" cy="203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 w="127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507" name="Connection Line"/>
          <p:cNvSpPr/>
          <p:nvPr/>
        </p:nvSpPr>
        <p:spPr>
          <a:xfrm>
            <a:off x="3214655" y="6053924"/>
            <a:ext cx="1811707" cy="6629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309" fill="norm" stroke="1" extrusionOk="0">
                <a:moveTo>
                  <a:pt x="0" y="0"/>
                </a:moveTo>
                <a:cubicBezTo>
                  <a:pt x="5702" y="16126"/>
                  <a:pt x="12902" y="21600"/>
                  <a:pt x="21600" y="16421"/>
                </a:cubicBezTo>
              </a:path>
            </a:pathLst>
          </a:custGeom>
          <a:ln w="254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508" name="Connection Line"/>
          <p:cNvSpPr/>
          <p:nvPr/>
        </p:nvSpPr>
        <p:spPr>
          <a:xfrm>
            <a:off x="5787761" y="6188534"/>
            <a:ext cx="2253212" cy="608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851" fill="norm" stroke="1" extrusionOk="0">
                <a:moveTo>
                  <a:pt x="21600" y="0"/>
                </a:moveTo>
                <a:cubicBezTo>
                  <a:pt x="16427" y="18053"/>
                  <a:pt x="9227" y="21600"/>
                  <a:pt x="0" y="10641"/>
                </a:cubicBezTo>
              </a:path>
            </a:pathLst>
          </a:custGeom>
          <a:ln w="25400">
            <a:solidFill>
              <a:srgbClr val="3864B1"/>
            </a:solidFill>
            <a:headEnd type="triangle"/>
          </a:ln>
        </p:spPr>
        <p:txBody>
          <a:bodyPr/>
          <a:lstStyle/>
          <a:p>
            <a:pPr/>
          </a:p>
        </p:txBody>
      </p:sp>
      <p:sp>
        <p:nvSpPr>
          <p:cNvPr id="500" name="mcstas-pygen mcxtrace-pygen"/>
          <p:cNvSpPr txBox="1"/>
          <p:nvPr/>
        </p:nvSpPr>
        <p:spPr>
          <a:xfrm>
            <a:off x="5941671" y="3921777"/>
            <a:ext cx="1103199" cy="451506"/>
          </a:xfrm>
          <a:prstGeom prst="rect">
            <a:avLst/>
          </a:prstGeom>
          <a:solidFill>
            <a:schemeClr val="accent3">
              <a:lumOff val="17647"/>
            </a:schemeClr>
          </a:solidFill>
          <a:ln w="12700"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/>
            </a:pPr>
            <a:r>
              <a:t>mcstas-pygen</a:t>
            </a:r>
            <a:br/>
            <a:r>
              <a:t>mcxtrace-pygen</a:t>
            </a:r>
          </a:p>
        </p:txBody>
      </p:sp>
      <p:sp>
        <p:nvSpPr>
          <p:cNvPr id="501" name="McStasScript"/>
          <p:cNvSpPr txBox="1"/>
          <p:nvPr/>
        </p:nvSpPr>
        <p:spPr>
          <a:xfrm>
            <a:off x="6012215" y="5795456"/>
            <a:ext cx="916421" cy="261006"/>
          </a:xfrm>
          <a:prstGeom prst="rect">
            <a:avLst/>
          </a:prstGeom>
          <a:solidFill>
            <a:schemeClr val="accent3">
              <a:lumOff val="17647"/>
            </a:schemeClr>
          </a:solidFill>
          <a:ln w="12700">
            <a:solidFill>
              <a:srgbClr val="3864B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McStasScript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 0"/>
          <p:cNvSpPr txBox="1"/>
          <p:nvPr/>
        </p:nvSpPr>
        <p:spPr>
          <a:xfrm>
            <a:off x="593639" y="406847"/>
            <a:ext cx="90536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201" sz="1200">
                <a:solidFill>
                  <a:srgbClr val="1C7293"/>
                </a:solidFill>
              </a:defRPr>
            </a:lvl1pPr>
          </a:lstStyle>
          <a:p>
            <a:pPr/>
            <a:r>
              <a:t>GETTING STARTED</a:t>
            </a:r>
          </a:p>
        </p:txBody>
      </p:sp>
      <p:sp>
        <p:nvSpPr>
          <p:cNvPr id="511" name="Text 1"/>
          <p:cNvSpPr txBox="1"/>
          <p:nvPr/>
        </p:nvSpPr>
        <p:spPr>
          <a:xfrm>
            <a:off x="593639" y="796140"/>
            <a:ext cx="10973882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Where to go next</a:t>
            </a:r>
          </a:p>
        </p:txBody>
      </p:sp>
      <p:sp>
        <p:nvSpPr>
          <p:cNvPr id="512" name="Shape 2"/>
          <p:cNvSpPr/>
          <p:nvPr/>
        </p:nvSpPr>
        <p:spPr>
          <a:xfrm>
            <a:off x="548640" y="2255520"/>
            <a:ext cx="5257440" cy="3748681"/>
          </a:xfrm>
          <a:prstGeom prst="roundRect">
            <a:avLst>
              <a:gd name="adj" fmla="val 2439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3" name="Text 3"/>
          <p:cNvSpPr txBox="1"/>
          <p:nvPr/>
        </p:nvSpPr>
        <p:spPr>
          <a:xfrm>
            <a:off x="913680" y="2501170"/>
            <a:ext cx="452736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6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</a:t>
            </a:r>
          </a:p>
        </p:txBody>
      </p:sp>
      <p:sp>
        <p:nvSpPr>
          <p:cNvPr id="514" name="Text 4"/>
          <p:cNvSpPr txBox="1"/>
          <p:nvPr/>
        </p:nvSpPr>
        <p:spPr>
          <a:xfrm>
            <a:off x="913680" y="305620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1C7293"/>
                </a:solidFill>
              </a:defRPr>
            </a:lvl1pPr>
          </a:lstStyle>
          <a:p>
            <a:pPr/>
            <a:r>
              <a:t>WEBSITE</a:t>
            </a:r>
          </a:p>
        </p:txBody>
      </p:sp>
      <p:sp>
        <p:nvSpPr>
          <p:cNvPr id="515" name="Text 5"/>
          <p:cNvSpPr txBox="1"/>
          <p:nvPr/>
        </p:nvSpPr>
        <p:spPr>
          <a:xfrm>
            <a:off x="913680" y="336634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mcstas.org</a:t>
            </a:r>
          </a:p>
        </p:txBody>
      </p:sp>
      <p:sp>
        <p:nvSpPr>
          <p:cNvPr id="516" name="Text 6"/>
          <p:cNvSpPr txBox="1"/>
          <p:nvPr/>
        </p:nvSpPr>
        <p:spPr>
          <a:xfrm>
            <a:off x="913680" y="380608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1C7293"/>
                </a:solidFill>
              </a:defRPr>
            </a:lvl1pPr>
          </a:lstStyle>
          <a:p>
            <a:pPr/>
            <a:r>
              <a:t>MAILING LIST</a:t>
            </a:r>
          </a:p>
        </p:txBody>
      </p:sp>
      <p:sp>
        <p:nvSpPr>
          <p:cNvPr id="517" name="Text 7"/>
          <p:cNvSpPr txBox="1"/>
          <p:nvPr/>
        </p:nvSpPr>
        <p:spPr>
          <a:xfrm>
            <a:off x="913680" y="411622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mcstas-users@mcstas.org</a:t>
            </a:r>
          </a:p>
        </p:txBody>
      </p:sp>
      <p:sp>
        <p:nvSpPr>
          <p:cNvPr id="518" name="Text 8"/>
          <p:cNvSpPr txBox="1"/>
          <p:nvPr/>
        </p:nvSpPr>
        <p:spPr>
          <a:xfrm>
            <a:off x="913680" y="4555964"/>
            <a:ext cx="4527361" cy="22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1C7293"/>
                </a:solidFill>
              </a:defRPr>
            </a:lvl1pPr>
          </a:lstStyle>
          <a:p>
            <a:pPr/>
            <a:r>
              <a:t>INSTALL</a:t>
            </a:r>
          </a:p>
        </p:txBody>
      </p:sp>
      <p:sp>
        <p:nvSpPr>
          <p:cNvPr id="519" name="Text 9"/>
          <p:cNvSpPr txBox="1"/>
          <p:nvPr/>
        </p:nvSpPr>
        <p:spPr>
          <a:xfrm>
            <a:off x="913680" y="486610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conda-forge  ·  cross-platform installers</a:t>
            </a:r>
          </a:p>
        </p:txBody>
      </p:sp>
      <p:sp>
        <p:nvSpPr>
          <p:cNvPr id="520" name="Text 10"/>
          <p:cNvSpPr txBox="1"/>
          <p:nvPr/>
        </p:nvSpPr>
        <p:spPr>
          <a:xfrm>
            <a:off x="913680" y="530548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1C7293"/>
                </a:solidFill>
              </a:defRPr>
            </a:lvl1pPr>
          </a:lstStyle>
          <a:p>
            <a:pPr/>
            <a:r>
              <a:t>SOURCE</a:t>
            </a:r>
          </a:p>
        </p:txBody>
      </p:sp>
      <p:sp>
        <p:nvSpPr>
          <p:cNvPr id="521" name="Text 11"/>
          <p:cNvSpPr txBox="1"/>
          <p:nvPr/>
        </p:nvSpPr>
        <p:spPr>
          <a:xfrm>
            <a:off x="913680" y="561562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GitHub  —  McStasMcXtrace/McCode</a:t>
            </a:r>
          </a:p>
        </p:txBody>
      </p:sp>
      <p:sp>
        <p:nvSpPr>
          <p:cNvPr id="522" name="Shape 12"/>
          <p:cNvSpPr/>
          <p:nvPr/>
        </p:nvSpPr>
        <p:spPr>
          <a:xfrm>
            <a:off x="6172200" y="2255520"/>
            <a:ext cx="5257440" cy="3748681"/>
          </a:xfrm>
          <a:prstGeom prst="roundRect">
            <a:avLst>
              <a:gd name="adj" fmla="val 2439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3" name="Text 13"/>
          <p:cNvSpPr txBox="1"/>
          <p:nvPr/>
        </p:nvSpPr>
        <p:spPr>
          <a:xfrm>
            <a:off x="6537240" y="2501170"/>
            <a:ext cx="4527361" cy="33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6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</a:t>
            </a:r>
          </a:p>
        </p:txBody>
      </p:sp>
      <p:sp>
        <p:nvSpPr>
          <p:cNvPr id="524" name="Text 14"/>
          <p:cNvSpPr txBox="1"/>
          <p:nvPr/>
        </p:nvSpPr>
        <p:spPr>
          <a:xfrm>
            <a:off x="6537240" y="305620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D97A2B"/>
                </a:solidFill>
              </a:defRPr>
            </a:lvl1pPr>
          </a:lstStyle>
          <a:p>
            <a:pPr/>
            <a:r>
              <a:t>WEBSITE</a:t>
            </a:r>
          </a:p>
        </p:txBody>
      </p:sp>
      <p:sp>
        <p:nvSpPr>
          <p:cNvPr id="525" name="Text 15"/>
          <p:cNvSpPr txBox="1"/>
          <p:nvPr/>
        </p:nvSpPr>
        <p:spPr>
          <a:xfrm>
            <a:off x="6537240" y="336634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mcxtrace.org</a:t>
            </a:r>
          </a:p>
        </p:txBody>
      </p:sp>
      <p:sp>
        <p:nvSpPr>
          <p:cNvPr id="526" name="Text 16"/>
          <p:cNvSpPr txBox="1"/>
          <p:nvPr/>
        </p:nvSpPr>
        <p:spPr>
          <a:xfrm>
            <a:off x="6537240" y="380608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D97A2B"/>
                </a:solidFill>
              </a:defRPr>
            </a:lvl1pPr>
          </a:lstStyle>
          <a:p>
            <a:pPr/>
            <a:r>
              <a:t>MAILING LIST</a:t>
            </a:r>
          </a:p>
        </p:txBody>
      </p:sp>
      <p:sp>
        <p:nvSpPr>
          <p:cNvPr id="527" name="Text 17"/>
          <p:cNvSpPr txBox="1"/>
          <p:nvPr/>
        </p:nvSpPr>
        <p:spPr>
          <a:xfrm>
            <a:off x="6537240" y="411622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mcxtrace-users@mcxtrace.org</a:t>
            </a:r>
          </a:p>
        </p:txBody>
      </p:sp>
      <p:sp>
        <p:nvSpPr>
          <p:cNvPr id="528" name="Text 18"/>
          <p:cNvSpPr txBox="1"/>
          <p:nvPr/>
        </p:nvSpPr>
        <p:spPr>
          <a:xfrm>
            <a:off x="6537240" y="4555964"/>
            <a:ext cx="4527361" cy="22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D97A2B"/>
                </a:solidFill>
              </a:defRPr>
            </a:lvl1pPr>
          </a:lstStyle>
          <a:p>
            <a:pPr/>
            <a:r>
              <a:t>INSTALL</a:t>
            </a:r>
          </a:p>
        </p:txBody>
      </p:sp>
      <p:sp>
        <p:nvSpPr>
          <p:cNvPr id="529" name="Text 19"/>
          <p:cNvSpPr txBox="1"/>
          <p:nvPr/>
        </p:nvSpPr>
        <p:spPr>
          <a:xfrm>
            <a:off x="6537240" y="486610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conda-forge  ·  cross-platform installers</a:t>
            </a:r>
          </a:p>
        </p:txBody>
      </p:sp>
      <p:sp>
        <p:nvSpPr>
          <p:cNvPr id="530" name="Text 20"/>
          <p:cNvSpPr txBox="1"/>
          <p:nvPr/>
        </p:nvSpPr>
        <p:spPr>
          <a:xfrm>
            <a:off x="6537240" y="5305485"/>
            <a:ext cx="4527361" cy="22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b="1" spc="99" sz="1000">
                <a:solidFill>
                  <a:srgbClr val="D97A2B"/>
                </a:solidFill>
              </a:defRPr>
            </a:lvl1pPr>
          </a:lstStyle>
          <a:p>
            <a:pPr/>
            <a:r>
              <a:t>SOURCE</a:t>
            </a:r>
          </a:p>
        </p:txBody>
      </p:sp>
      <p:sp>
        <p:nvSpPr>
          <p:cNvPr id="531" name="Text 21"/>
          <p:cNvSpPr txBox="1"/>
          <p:nvPr/>
        </p:nvSpPr>
        <p:spPr>
          <a:xfrm>
            <a:off x="6537240" y="5615627"/>
            <a:ext cx="4527361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20242B"/>
                </a:solidFill>
              </a:defRPr>
            </a:lvl1pPr>
          </a:lstStyle>
          <a:p>
            <a:pPr/>
            <a:r>
              <a:t>GitHub  —  McStasMcXtrace/McCode</a:t>
            </a:r>
          </a:p>
        </p:txBody>
      </p:sp>
      <p:sp>
        <p:nvSpPr>
          <p:cNvPr id="532" name="Text 22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533" name="Text 23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16</a:t>
            </a:r>
          </a:p>
        </p:txBody>
      </p:sp>
      <p:pic>
        <p:nvPicPr>
          <p:cNvPr id="534" name="Copied Picture 26" descr="Copied Picture 26"/>
          <p:cNvPicPr>
            <a:picLocks noChangeAspect="1"/>
          </p:cNvPicPr>
          <p:nvPr/>
        </p:nvPicPr>
        <p:blipFill>
          <a:blip r:embed="rId2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535" name="Picture 26" descr="Picture 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60919" y="6473880"/>
            <a:ext cx="2149561" cy="318601"/>
          </a:xfrm>
          <a:prstGeom prst="rect">
            <a:avLst/>
          </a:prstGeom>
          <a:ln w="12700">
            <a:miter lim="400000"/>
          </a:ln>
        </p:spPr>
      </p:pic>
      <p:sp>
        <p:nvSpPr>
          <p:cNvPr id="536" name="TextBox 27"/>
          <p:cNvSpPr txBox="1"/>
          <p:nvPr/>
        </p:nvSpPr>
        <p:spPr>
          <a:xfrm>
            <a:off x="3739512" y="6077915"/>
            <a:ext cx="4801681" cy="736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defRPr b="1" sz="1400">
                <a:solidFill>
                  <a:srgbClr val="AFABAB"/>
                </a:solidFill>
              </a:defRPr>
            </a:pPr>
            <a:r>
              <a:t>A</a:t>
            </a:r>
            <a:r>
              <a:t>lternative route just for the MC</a:t>
            </a:r>
            <a:br/>
            <a:r>
              <a:t>micromamba env create -n panraidMC mcstas mcxtrace -y</a:t>
            </a:r>
            <a:endParaRPr>
              <a:latin typeface="+mn-lt"/>
              <a:ea typeface="+mn-ea"/>
              <a:cs typeface="+mn-cs"/>
              <a:sym typeface="Arial"/>
            </a:endParaRPr>
          </a:p>
          <a:p>
            <a:pPr algn="ctr">
              <a:defRPr b="1" sz="1400">
                <a:solidFill>
                  <a:srgbClr val="AFABAB"/>
                </a:solidFill>
              </a:defRPr>
            </a:pPr>
            <a:r>
              <a:t>(apt install mcstas-suite-python-ng mcxtrace-suite-python-ng) </a:t>
            </a:r>
          </a:p>
        </p:txBody>
      </p:sp>
      <p:sp>
        <p:nvSpPr>
          <p:cNvPr id="537" name="TextBox 2"/>
          <p:cNvSpPr txBox="1"/>
          <p:nvPr/>
        </p:nvSpPr>
        <p:spPr>
          <a:xfrm>
            <a:off x="2316937" y="1443412"/>
            <a:ext cx="7527285" cy="62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/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https://github.com/mccode-dev/PaNRAID/tree/main/Software has a .yml</a:t>
            </a:r>
            <a:r>
              <a:t> file with McStas, McXtrace and the PaNRAID selection of AI libs / tools </a:t>
            </a:r>
          </a:p>
        </p:txBody>
      </p:sp>
      <p:sp>
        <p:nvSpPr>
          <p:cNvPr id="538" name="Right Arrow 3"/>
          <p:cNvSpPr/>
          <p:nvPr/>
        </p:nvSpPr>
        <p:spPr>
          <a:xfrm>
            <a:off x="920725" y="1459883"/>
            <a:ext cx="978409" cy="48463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9" name="Right Arrow 4"/>
          <p:cNvSpPr/>
          <p:nvPr/>
        </p:nvSpPr>
        <p:spPr>
          <a:xfrm rot="10800000">
            <a:off x="10375920" y="1481040"/>
            <a:ext cx="978409" cy="48463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46" name="Group 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544" name="Group 5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540" name="Picture 7" descr="Picture 7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543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541" name="Picture 29" descr="Picture 29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542" name="Picture 30" descr="Picture 30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545" name="Picture 31" descr="Picture 31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0"/>
          <p:cNvSpPr/>
          <p:nvPr/>
        </p:nvSpPr>
        <p:spPr>
          <a:xfrm>
            <a:off x="9410040" y="-1457641"/>
            <a:ext cx="4754521" cy="4754522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9" name="Shape 1"/>
          <p:cNvSpPr/>
          <p:nvPr/>
        </p:nvSpPr>
        <p:spPr>
          <a:xfrm>
            <a:off x="-1828801" y="4206240"/>
            <a:ext cx="4205882" cy="420588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0" name="Text 2"/>
          <p:cNvSpPr txBox="1"/>
          <p:nvPr/>
        </p:nvSpPr>
        <p:spPr>
          <a:xfrm>
            <a:off x="867959" y="2427509"/>
            <a:ext cx="9053642" cy="81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4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551" name="Text 3"/>
          <p:cNvSpPr txBox="1"/>
          <p:nvPr/>
        </p:nvSpPr>
        <p:spPr>
          <a:xfrm>
            <a:off x="867959" y="3396609"/>
            <a:ext cx="9053642" cy="33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2000">
                <a:solidFill>
                  <a:srgbClr val="C7D3F0"/>
                </a:solidFill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552" name="Shape 4"/>
          <p:cNvSpPr/>
          <p:nvPr/>
        </p:nvSpPr>
        <p:spPr>
          <a:xfrm>
            <a:off x="822960" y="4297679"/>
            <a:ext cx="1416961" cy="310681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3" name="Text 5"/>
          <p:cNvSpPr txBox="1"/>
          <p:nvPr/>
        </p:nvSpPr>
        <p:spPr>
          <a:xfrm>
            <a:off x="867960" y="4340886"/>
            <a:ext cx="1326961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</a:defRPr>
            </a:lvl1pPr>
          </a:lstStyle>
          <a:p>
            <a:pPr/>
            <a:r>
              <a:t>mcstas.org</a:t>
            </a:r>
          </a:p>
        </p:txBody>
      </p:sp>
      <p:sp>
        <p:nvSpPr>
          <p:cNvPr id="554" name="Shape 6"/>
          <p:cNvSpPr/>
          <p:nvPr/>
        </p:nvSpPr>
        <p:spPr>
          <a:xfrm>
            <a:off x="2377439" y="4297679"/>
            <a:ext cx="1416961" cy="310681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5" name="Text 7"/>
          <p:cNvSpPr txBox="1"/>
          <p:nvPr/>
        </p:nvSpPr>
        <p:spPr>
          <a:xfrm>
            <a:off x="2422439" y="4340886"/>
            <a:ext cx="1326961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</a:defRPr>
            </a:lvl1pPr>
          </a:lstStyle>
          <a:p>
            <a:pPr/>
            <a:r>
              <a:t>mcxtrace.org</a:t>
            </a:r>
          </a:p>
        </p:txBody>
      </p:sp>
      <p:sp>
        <p:nvSpPr>
          <p:cNvPr id="556" name="Shape 8"/>
          <p:cNvSpPr/>
          <p:nvPr/>
        </p:nvSpPr>
        <p:spPr>
          <a:xfrm>
            <a:off x="822959" y="5806440"/>
            <a:ext cx="2926082" cy="36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7" name="Text 9"/>
          <p:cNvSpPr txBox="1"/>
          <p:nvPr/>
        </p:nvSpPr>
        <p:spPr>
          <a:xfrm>
            <a:off x="867959" y="5934287"/>
            <a:ext cx="7224842" cy="24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pkwi@fysik.dtu.dk   ·   DTU Physics</a:t>
            </a:r>
          </a:p>
        </p:txBody>
      </p:sp>
      <p:sp>
        <p:nvSpPr>
          <p:cNvPr id="558" name="Text 10"/>
          <p:cNvSpPr txBox="1"/>
          <p:nvPr/>
        </p:nvSpPr>
        <p:spPr>
          <a:xfrm>
            <a:off x="593640" y="6481263"/>
            <a:ext cx="6310440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Common Introduction</a:t>
            </a:r>
          </a:p>
        </p:txBody>
      </p:sp>
      <p:sp>
        <p:nvSpPr>
          <p:cNvPr id="559" name="Text 11"/>
          <p:cNvSpPr txBox="1"/>
          <p:nvPr/>
        </p:nvSpPr>
        <p:spPr>
          <a:xfrm>
            <a:off x="11230920" y="6481263"/>
            <a:ext cx="366841" cy="204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560" name="PartnerCard"/>
          <p:cNvSpPr/>
          <p:nvPr/>
        </p:nvSpPr>
        <p:spPr>
          <a:xfrm>
            <a:off x="6603840" y="4165560"/>
            <a:ext cx="4952521" cy="1574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PartnerLabel"/>
          <p:cNvSpPr txBox="1"/>
          <p:nvPr/>
        </p:nvSpPr>
        <p:spPr>
          <a:xfrm>
            <a:off x="6966359" y="4368960"/>
            <a:ext cx="4227481" cy="22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b="1" sz="1100">
                <a:solidFill>
                  <a:srgbClr val="1C7293"/>
                </a:solidFill>
              </a:defRPr>
            </a:lvl1pPr>
          </a:lstStyle>
          <a:p>
            <a:pPr/>
            <a:r>
              <a:t>SUPPORTED BY</a:t>
            </a:r>
          </a:p>
        </p:txBody>
      </p:sp>
      <p:pic>
        <p:nvPicPr>
          <p:cNvPr id="562" name="Picture 15" descr="Picture 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21359" y="4749839"/>
            <a:ext cx="4317481" cy="640081"/>
          </a:xfrm>
          <a:prstGeom prst="rect">
            <a:avLst/>
          </a:prstGeom>
          <a:ln w="12700">
            <a:miter lim="400000"/>
          </a:ln>
        </p:spPr>
      </p:pic>
      <p:pic>
        <p:nvPicPr>
          <p:cNvPr id="563" name="Copied Picture 17" descr="Copied Picture 17"/>
          <p:cNvPicPr>
            <a:picLocks noChangeAspect="1"/>
          </p:cNvPicPr>
          <p:nvPr/>
        </p:nvPicPr>
        <p:blipFill>
          <a:blip r:embed="rId3">
            <a:extLst/>
          </a:blip>
          <a:srcRect l="11719" t="16995" r="0" b="0"/>
          <a:stretch>
            <a:fillRect/>
          </a:stretch>
        </p:blipFill>
        <p:spPr>
          <a:xfrm>
            <a:off x="10375920" y="355680"/>
            <a:ext cx="1269721" cy="651241"/>
          </a:xfrm>
          <a:prstGeom prst="rect">
            <a:avLst/>
          </a:prstGeom>
          <a:ln w="12700">
            <a:miter lim="400000"/>
          </a:ln>
        </p:spPr>
      </p:pic>
      <p:sp>
        <p:nvSpPr>
          <p:cNvPr id="564" name="LogoCard"/>
          <p:cNvSpPr/>
          <p:nvPr/>
        </p:nvSpPr>
        <p:spPr>
          <a:xfrm>
            <a:off x="7375680" y="2105640"/>
            <a:ext cx="3809521" cy="14983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70" name="Group 18"/>
          <p:cNvGrpSpPr/>
          <p:nvPr/>
        </p:nvGrpSpPr>
        <p:grpSpPr>
          <a:xfrm>
            <a:off x="7882559" y="2194199"/>
            <a:ext cx="2796121" cy="1321201"/>
            <a:chOff x="0" y="0"/>
            <a:chExt cx="2796120" cy="1321200"/>
          </a:xfrm>
        </p:grpSpPr>
        <p:grpSp>
          <p:nvGrpSpPr>
            <p:cNvPr id="568" name="Group 19"/>
            <p:cNvGrpSpPr/>
            <p:nvPr/>
          </p:nvGrpSpPr>
          <p:grpSpPr>
            <a:xfrm>
              <a:off x="1406880" y="-1"/>
              <a:ext cx="1389241" cy="1258202"/>
              <a:chOff x="0" y="0"/>
              <a:chExt cx="1389240" cy="1258200"/>
            </a:xfrm>
          </p:grpSpPr>
          <p:pic>
            <p:nvPicPr>
              <p:cNvPr id="565" name="Picture 21" descr="Picture 21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rcRect l="48137" t="0" r="0" b="0"/>
              <a:stretch>
                <a:fillRect/>
              </a:stretch>
            </p:blipFill>
            <p:spPr>
              <a:xfrm>
                <a:off x="49680" y="0"/>
                <a:ext cx="1294200" cy="77580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566" name="Picture 22" descr="Picture 22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-1" y="728640"/>
                <a:ext cx="963002" cy="46512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567" name="Picture 23" descr="Picture 23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1035720" y="737280"/>
                <a:ext cx="353521" cy="52092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569" name="Picture 20" descr="Picture 20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0" y="4679"/>
              <a:ext cx="1294200" cy="1316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