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05" d="100"/>
          <a:sy n="105" d="100"/>
        </p:scale>
        <p:origin x="1384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2810A47-47AB-471D-AF16-A08991720A4C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3B7C78D-8A23-4558-AC87-E1A2E1E6C69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60793B0-843C-455B-8475-DB4723A334E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93411C4-30AC-410E-8A65-16A916FBA27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75129D3-AAC2-45B9-BA0D-FE6298E03E0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B52E073-7A12-41FD-8F81-5667C1A464D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5BFE519-C812-465D-B03D-E78FDED3E09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80414D1-3D29-4257-A921-50904DDD365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3C9519F-C866-4153-BE22-B557AC4E48F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32D4D88B-00B6-48F6-A209-4C0BE1136EE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2D3FB5D-CBD2-4B5A-A4AB-B597A5FCF3A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5E38746-4BF3-41A1-B273-DE289B7B6D9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9B9B354-76D9-4E80-AA45-9FA99DF3EEE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66BDEDD-9444-4E3A-A964-DDD59E6740B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7B8E22E-F192-4BBA-B183-2C132BA5726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A506CFA-60EF-41E2-AC94-4FCF57A4CFB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5CC9FF2-379F-40C8-A535-0DF54A51FA0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7073822-6C57-4465-BF0B-B76C8271DAB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8AD2AC2-C71E-46EC-A027-34CE38C38AF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gif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0.png"/><Relationship Id="rId5" Type="http://schemas.openxmlformats.org/officeDocument/2006/relationships/image" Target="../media/image8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mccode-dev/PaNRAID/tree/main/Software%20has%20a%20.yml" TargetMode="Externa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9392760" y="-1425960"/>
            <a:ext cx="4754520" cy="475452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1828800" y="4206240"/>
            <a:ext cx="4205880" cy="420588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22960" y="14173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300">
                <a:solidFill>
                  <a:srgbClr val="9FB4E8"/>
                </a:solidFill>
                <a:effectLst/>
                <a:uFillTx/>
                <a:latin typeface="Calibri"/>
                <a:ea typeface="Calibri"/>
              </a:rPr>
              <a:t>A COMMON INTRODUCTION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77240" y="1828800"/>
            <a:ext cx="1051524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McStas &amp; McXtrace</a:t>
            </a:r>
            <a:endParaRPr lang="fr-FR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22960" y="3246120"/>
            <a:ext cx="6349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C7D3F0"/>
                </a:solidFill>
                <a:effectLst/>
                <a:uFillTx/>
                <a:latin typeface="Calibri"/>
                <a:ea typeface="Calibri"/>
              </a:rPr>
              <a:t>Monte Carlo ray-tracing for neutron and X-ray instrumentation</a:t>
            </a:r>
            <a:endParaRPr lang="fr-F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822960" y="4160520"/>
            <a:ext cx="1416960" cy="3106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Text 6"/>
          <p:cNvSpPr/>
          <p:nvPr/>
        </p:nvSpPr>
        <p:spPr>
          <a:xfrm>
            <a:off x="822960" y="4160520"/>
            <a:ext cx="14169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McStas — neutrons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2377440" y="4160520"/>
            <a:ext cx="1416960" cy="3106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Text 8"/>
          <p:cNvSpPr/>
          <p:nvPr/>
        </p:nvSpPr>
        <p:spPr>
          <a:xfrm>
            <a:off x="2377440" y="4160520"/>
            <a:ext cx="14169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McXtrace — X-rays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822960" y="5806440"/>
            <a:ext cx="2926080" cy="360"/>
          </a:xfrm>
          <a:prstGeom prst="line">
            <a:avLst/>
          </a:prstGeom>
          <a:ln w="12700">
            <a:solidFill>
              <a:srgbClr val="3C4A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822960" y="58978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AB6DE"/>
                </a:solidFill>
                <a:effectLst/>
                <a:uFillTx/>
                <a:latin typeface="Calibri"/>
                <a:ea typeface="Calibri"/>
              </a:rPr>
              <a:t>Peter Willendrup   ·   DTU Physics</a:t>
            </a:r>
            <a:endParaRPr lang="fr-F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LogoCard"/>
          <p:cNvSpPr/>
          <p:nvPr/>
        </p:nvSpPr>
        <p:spPr>
          <a:xfrm>
            <a:off x="7429680" y="3759120"/>
            <a:ext cx="3809520" cy="149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vertOverflow="clip" horzOverflow="clip"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" name="SchoolCredit"/>
          <p:cNvSpPr/>
          <p:nvPr/>
        </p:nvSpPr>
        <p:spPr>
          <a:xfrm>
            <a:off x="7429680" y="5384880"/>
            <a:ext cx="3809520" cy="27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1300" b="0" u="none" strike="noStrike">
                <a:solidFill>
                  <a:srgbClr val="C9D2EE"/>
                </a:solidFill>
                <a:effectLst/>
                <a:uFillTx/>
                <a:latin typeface="Calibri"/>
              </a:rPr>
              <a:t>PaNRAID School  ·  supported by PEPR DIADEM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" name="Picture 17"/>
          <p:cNvPicPr/>
          <p:nvPr/>
        </p:nvPicPr>
        <p:blipFill>
          <a:blip r:embed="rId3"/>
          <a:srcRect l="11719" t="16995"/>
          <a:stretch/>
        </p:blipFill>
        <p:spPr>
          <a:xfrm>
            <a:off x="825480" y="457200"/>
            <a:ext cx="1396800" cy="71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15"/>
          <p:cNvPicPr/>
          <p:nvPr/>
        </p:nvPicPr>
        <p:blipFill>
          <a:blip r:embed="rId4"/>
          <a:stretch/>
        </p:blipFill>
        <p:spPr>
          <a:xfrm>
            <a:off x="7429680" y="478800"/>
            <a:ext cx="4539240" cy="6732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5" name="Group 16"/>
          <p:cNvGrpSpPr/>
          <p:nvPr/>
        </p:nvGrpSpPr>
        <p:grpSpPr>
          <a:xfrm>
            <a:off x="7936200" y="3847680"/>
            <a:ext cx="2796120" cy="1321200"/>
            <a:chOff x="7936200" y="3847680"/>
            <a:chExt cx="2796120" cy="1321200"/>
          </a:xfrm>
        </p:grpSpPr>
        <p:grpSp>
          <p:nvGrpSpPr>
            <p:cNvPr id="26" name="Group 18"/>
            <p:cNvGrpSpPr/>
            <p:nvPr/>
          </p:nvGrpSpPr>
          <p:grpSpPr>
            <a:xfrm>
              <a:off x="9343440" y="3847680"/>
              <a:ext cx="1388880" cy="1258200"/>
              <a:chOff x="9343440" y="3847680"/>
              <a:chExt cx="1388880" cy="1258200"/>
            </a:xfrm>
          </p:grpSpPr>
          <p:pic>
            <p:nvPicPr>
              <p:cNvPr id="27" name="Picture 20"/>
              <p:cNvPicPr/>
              <p:nvPr/>
            </p:nvPicPr>
            <p:blipFill>
              <a:blip r:embed="rId5"/>
              <a:srcRect l="48137"/>
              <a:stretch/>
            </p:blipFill>
            <p:spPr>
              <a:xfrm>
                <a:off x="9392760" y="3847680"/>
                <a:ext cx="1294200" cy="7758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8" name="Picture 21" descr="Synchrotron SOLEIL"/>
              <p:cNvPicPr/>
              <p:nvPr/>
            </p:nvPicPr>
            <p:blipFill>
              <a:blip r:embed="rId6"/>
              <a:stretch/>
            </p:blipFill>
            <p:spPr>
              <a:xfrm>
                <a:off x="9343440" y="4576320"/>
                <a:ext cx="963000" cy="4651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9" name="Picture 22" descr="DTU Physics"/>
              <p:cNvPicPr/>
              <p:nvPr/>
            </p:nvPicPr>
            <p:blipFill>
              <a:blip r:embed="rId7"/>
              <a:stretch/>
            </p:blipFill>
            <p:spPr>
              <a:xfrm>
                <a:off x="10378800" y="4584960"/>
                <a:ext cx="353520" cy="520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pic>
          <p:nvPicPr>
            <p:cNvPr id="30" name="Picture 19"/>
            <p:cNvPicPr/>
            <p:nvPr/>
          </p:nvPicPr>
          <p:blipFill>
            <a:blip r:embed="rId8"/>
            <a:stretch/>
          </p:blipFill>
          <p:spPr>
            <a:xfrm>
              <a:off x="7936200" y="3852360"/>
              <a:ext cx="1294200" cy="13165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200" b="1" u="none" strike="noStrike" spc="201">
                <a:solidFill>
                  <a:srgbClr val="1C7293"/>
                </a:solidFill>
                <a:effectLst/>
                <a:uFillTx/>
                <a:latin typeface="Calibri"/>
              </a:rPr>
              <a:t>PANRAID SCHOOL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3000" b="1" u="none" strike="noStrike">
                <a:solidFill>
                  <a:srgbClr val="20242B"/>
                </a:solidFill>
                <a:effectLst/>
                <a:uFillTx/>
                <a:latin typeface="Cambria"/>
              </a:rPr>
              <a:t>Who's behind this school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McStas &amp; McXtrace  ·  Common Introduction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Picture 3"/>
          <p:cNvPicPr/>
          <p:nvPr/>
        </p:nvPicPr>
        <p:blipFill>
          <a:blip r:embed="rId3"/>
          <a:stretch/>
        </p:blipFill>
        <p:spPr>
          <a:xfrm>
            <a:off x="640080" y="1650960"/>
            <a:ext cx="7873560" cy="144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Picture 4"/>
          <p:cNvPicPr/>
          <p:nvPr/>
        </p:nvPicPr>
        <p:blipFill>
          <a:blip r:embed="rId4"/>
          <a:stretch/>
        </p:blipFill>
        <p:spPr>
          <a:xfrm>
            <a:off x="640080" y="4699080"/>
            <a:ext cx="7873560" cy="116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Box 5"/>
          <p:cNvSpPr/>
          <p:nvPr/>
        </p:nvSpPr>
        <p:spPr>
          <a:xfrm>
            <a:off x="548640" y="3327480"/>
            <a:ext cx="10413720" cy="65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1600" b="0" u="none" strike="noStrike">
                <a:solidFill>
                  <a:srgbClr val="4A5160"/>
                </a:solidFill>
                <a:effectLst/>
                <a:uFillTx/>
                <a:latin typeface="Calibri"/>
              </a:rPr>
              <a:t>PaNRAID is organised with support from the France 2030 PEPR DIADEM programme, training researchers to combine McStas and McXtrace ray-tracing simulations with AI methods.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Box 6"/>
          <p:cNvSpPr/>
          <p:nvPr/>
        </p:nvSpPr>
        <p:spPr>
          <a:xfrm>
            <a:off x="548640" y="4216320"/>
            <a:ext cx="8889480" cy="25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12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PARTNERS &amp; SUPPORTING ORGANISATIONS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Copied Picture 30"/>
          <p:cNvPicPr/>
          <p:nvPr/>
        </p:nvPicPr>
        <p:blipFill>
          <a:blip r:embed="rId5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AGENDA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0242B"/>
                </a:solidFill>
                <a:effectLst/>
                <a:uFillTx/>
                <a:latin typeface="Cambria"/>
                <a:ea typeface="Cambria"/>
              </a:rPr>
              <a:t>What we'll cover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548640" y="1737360"/>
            <a:ext cx="383760" cy="383760"/>
          </a:xfrm>
          <a:prstGeom prst="ellipse">
            <a:avLst/>
          </a:prstGeom>
          <a:solidFill>
            <a:srgbClr val="E3EE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Text 3"/>
          <p:cNvSpPr/>
          <p:nvPr/>
        </p:nvSpPr>
        <p:spPr>
          <a:xfrm>
            <a:off x="548640" y="17373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1078920" y="166428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Shared origins &amp; philosophy</a:t>
            </a:r>
            <a:endParaRPr lang="fr-F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1078920" y="2020680"/>
            <a:ext cx="4800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One codebase family, two physics engines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6"/>
          <p:cNvSpPr/>
          <p:nvPr/>
        </p:nvSpPr>
        <p:spPr>
          <a:xfrm>
            <a:off x="6355080" y="1737360"/>
            <a:ext cx="383760" cy="383760"/>
          </a:xfrm>
          <a:prstGeom prst="ellipse">
            <a:avLst/>
          </a:prstGeom>
          <a:solidFill>
            <a:srgbClr val="FBEB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Text 7"/>
          <p:cNvSpPr/>
          <p:nvPr/>
        </p:nvSpPr>
        <p:spPr>
          <a:xfrm>
            <a:off x="6355080" y="17373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97A2B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8"/>
          <p:cNvSpPr/>
          <p:nvPr/>
        </p:nvSpPr>
        <p:spPr>
          <a:xfrm>
            <a:off x="6885360" y="166428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The Monte Carlo ray-tracing idea</a:t>
            </a:r>
            <a:endParaRPr lang="fr-F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9"/>
          <p:cNvSpPr/>
          <p:nvPr/>
        </p:nvSpPr>
        <p:spPr>
          <a:xfrm>
            <a:off x="6885360" y="2020680"/>
            <a:ext cx="4800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Why rays, weights, and randomness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0"/>
          <p:cNvSpPr/>
          <p:nvPr/>
        </p:nvSpPr>
        <p:spPr>
          <a:xfrm>
            <a:off x="548640" y="3154680"/>
            <a:ext cx="383760" cy="383760"/>
          </a:xfrm>
          <a:prstGeom prst="ellipse">
            <a:avLst/>
          </a:prstGeom>
          <a:solidFill>
            <a:srgbClr val="E3EE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548640" y="3154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2"/>
          <p:cNvSpPr/>
          <p:nvPr/>
        </p:nvSpPr>
        <p:spPr>
          <a:xfrm>
            <a:off x="1078920" y="308160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Anatomy of a simulation</a:t>
            </a:r>
            <a:endParaRPr lang="fr-F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1078920" y="3438000"/>
            <a:ext cx="4800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Instruments, components, and the ray state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4"/>
          <p:cNvSpPr/>
          <p:nvPr/>
        </p:nvSpPr>
        <p:spPr>
          <a:xfrm>
            <a:off x="6355080" y="3154680"/>
            <a:ext cx="383760" cy="383760"/>
          </a:xfrm>
          <a:prstGeom prst="ellipse">
            <a:avLst/>
          </a:prstGeom>
          <a:solidFill>
            <a:srgbClr val="FBEB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Text 15"/>
          <p:cNvSpPr/>
          <p:nvPr/>
        </p:nvSpPr>
        <p:spPr>
          <a:xfrm>
            <a:off x="6355080" y="3154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97A2B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6"/>
          <p:cNvSpPr/>
          <p:nvPr/>
        </p:nvSpPr>
        <p:spPr>
          <a:xfrm>
            <a:off x="6885360" y="308160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Under the hood</a:t>
            </a:r>
            <a:endParaRPr lang="fr-F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7"/>
          <p:cNvSpPr/>
          <p:nvPr/>
        </p:nvSpPr>
        <p:spPr>
          <a:xfrm>
            <a:off x="6885360" y="3438000"/>
            <a:ext cx="4800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DSL, code generation, and coordinate placement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8"/>
          <p:cNvSpPr/>
          <p:nvPr/>
        </p:nvSpPr>
        <p:spPr>
          <a:xfrm>
            <a:off x="548640" y="4572000"/>
            <a:ext cx="383760" cy="383760"/>
          </a:xfrm>
          <a:prstGeom prst="ellipse">
            <a:avLst/>
          </a:prstGeom>
          <a:solidFill>
            <a:srgbClr val="E3EE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Text 19"/>
          <p:cNvSpPr/>
          <p:nvPr/>
        </p:nvSpPr>
        <p:spPr>
          <a:xfrm>
            <a:off x="548640" y="45720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0"/>
          <p:cNvSpPr/>
          <p:nvPr/>
        </p:nvSpPr>
        <p:spPr>
          <a:xfrm>
            <a:off x="1078920" y="449892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Neutrons vs. X-rays</a:t>
            </a:r>
            <a:endParaRPr lang="fr-F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1"/>
          <p:cNvSpPr/>
          <p:nvPr/>
        </p:nvSpPr>
        <p:spPr>
          <a:xfrm>
            <a:off x="1078920" y="4855320"/>
            <a:ext cx="4800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Where the two probes really differ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2"/>
          <p:cNvSpPr/>
          <p:nvPr/>
        </p:nvSpPr>
        <p:spPr>
          <a:xfrm>
            <a:off x="6355080" y="4572000"/>
            <a:ext cx="383760" cy="383760"/>
          </a:xfrm>
          <a:prstGeom prst="ellipse">
            <a:avLst/>
          </a:prstGeom>
          <a:solidFill>
            <a:srgbClr val="FBEB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 23"/>
          <p:cNvSpPr/>
          <p:nvPr/>
        </p:nvSpPr>
        <p:spPr>
          <a:xfrm>
            <a:off x="6355080" y="45720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97A2B"/>
                </a:solidFill>
                <a:effectLst/>
                <a:uFillTx/>
                <a:latin typeface="Cambria"/>
                <a:ea typeface="Cambria"/>
              </a:rPr>
              <a:t>6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4"/>
          <p:cNvSpPr/>
          <p:nvPr/>
        </p:nvSpPr>
        <p:spPr>
          <a:xfrm>
            <a:off x="6885360" y="449892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Community, use &amp; getting started</a:t>
            </a:r>
            <a:endParaRPr lang="fr-F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5"/>
          <p:cNvSpPr/>
          <p:nvPr/>
        </p:nvSpPr>
        <p:spPr>
          <a:xfrm>
            <a:off x="6885360" y="4855320"/>
            <a:ext cx="4800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License, ecosystem, and next steps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6"/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McStas &amp; McXtrace  ·  Common Introduction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7"/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Copied Picture 30"/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Picture 31"/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SHARED ORIGINS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0242B"/>
                </a:solidFill>
                <a:effectLst/>
                <a:uFillTx/>
                <a:latin typeface="Cambria"/>
                <a:ea typeface="Cambria"/>
              </a:rPr>
              <a:t>One family, two probes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548640" y="141732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McXtrace was built on proven McStas technology — same architecture, adapted for X-rays.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3"/>
          <p:cNvSpPr/>
          <p:nvPr/>
        </p:nvSpPr>
        <p:spPr>
          <a:xfrm>
            <a:off x="1005840" y="3246120"/>
            <a:ext cx="10149840" cy="360"/>
          </a:xfrm>
          <a:prstGeom prst="line">
            <a:avLst/>
          </a:prstGeom>
          <a:ln w="25400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Shape 4"/>
          <p:cNvSpPr/>
          <p:nvPr/>
        </p:nvSpPr>
        <p:spPr>
          <a:xfrm>
            <a:off x="1362600" y="3145680"/>
            <a:ext cx="200880" cy="20088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 5"/>
          <p:cNvSpPr/>
          <p:nvPr/>
        </p:nvSpPr>
        <p:spPr>
          <a:xfrm>
            <a:off x="777240" y="267912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1998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411480" y="3447360"/>
            <a:ext cx="2102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McStas is born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411480" y="3959280"/>
            <a:ext cx="210276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K. Nielsen &amp; K. Lefmann, Risø.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Originally for triple-axis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spectrometer simulation.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8"/>
          <p:cNvSpPr/>
          <p:nvPr/>
        </p:nvSpPr>
        <p:spPr>
          <a:xfrm>
            <a:off x="4563000" y="3145680"/>
            <a:ext cx="200880" cy="20088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 9"/>
          <p:cNvSpPr/>
          <p:nvPr/>
        </p:nvSpPr>
        <p:spPr>
          <a:xfrm>
            <a:off x="3977640" y="267912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2000s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3611880" y="3447360"/>
            <a:ext cx="2102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Grows into a general tool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1"/>
          <p:cNvSpPr/>
          <p:nvPr/>
        </p:nvSpPr>
        <p:spPr>
          <a:xfrm>
            <a:off x="3611880" y="3959280"/>
            <a:ext cx="210276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Adopted by DTU Physics, ILL,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PSI, University of Copenhagen,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ESS DMSC. GPL open source.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2"/>
          <p:cNvSpPr/>
          <p:nvPr/>
        </p:nvSpPr>
        <p:spPr>
          <a:xfrm>
            <a:off x="7854840" y="3145680"/>
            <a:ext cx="200880" cy="200880"/>
          </a:xfrm>
          <a:prstGeom prst="ellipse">
            <a:avLst/>
          </a:prstGeom>
          <a:solidFill>
            <a:srgbClr val="D97A2B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 13"/>
          <p:cNvSpPr/>
          <p:nvPr/>
        </p:nvSpPr>
        <p:spPr>
          <a:xfrm>
            <a:off x="7269480" y="267912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97A2B"/>
                </a:solidFill>
                <a:effectLst/>
                <a:uFillTx/>
                <a:latin typeface="Cambria"/>
                <a:ea typeface="Cambria"/>
              </a:rPr>
              <a:t>2009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6903720" y="3447360"/>
            <a:ext cx="2102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McXtrace forks off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5"/>
          <p:cNvSpPr/>
          <p:nvPr/>
        </p:nvSpPr>
        <p:spPr>
          <a:xfrm>
            <a:off x="6903720" y="3959280"/>
            <a:ext cx="210276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“Powered by McStas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technology.” Re-targeted at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X-ray optics &amp; beamlines.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6"/>
          <p:cNvSpPr/>
          <p:nvPr/>
        </p:nvSpPr>
        <p:spPr>
          <a:xfrm>
            <a:off x="10780920" y="3145680"/>
            <a:ext cx="200880" cy="200880"/>
          </a:xfrm>
          <a:prstGeom prst="ellipse">
            <a:avLst/>
          </a:prstGeom>
          <a:solidFill>
            <a:srgbClr val="D97A2B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 17"/>
          <p:cNvSpPr/>
          <p:nvPr/>
        </p:nvSpPr>
        <p:spPr>
          <a:xfrm>
            <a:off x="10195560" y="267912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97A2B"/>
                </a:solidFill>
                <a:effectLst/>
                <a:uFillTx/>
                <a:latin typeface="Cambria"/>
                <a:ea typeface="Cambria"/>
              </a:rPr>
              <a:t>Today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8"/>
          <p:cNvSpPr/>
          <p:nvPr/>
        </p:nvSpPr>
        <p:spPr>
          <a:xfrm>
            <a:off x="9829800" y="3447360"/>
            <a:ext cx="2102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Parallel development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9"/>
          <p:cNvSpPr/>
          <p:nvPr/>
        </p:nvSpPr>
        <p:spPr>
          <a:xfrm>
            <a:off x="9829800" y="3959280"/>
            <a:ext cx="210276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Shared kernel philosophy,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separate physics &amp; component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libraries, active communities.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0"/>
          <p:cNvSpPr/>
          <p:nvPr/>
        </p:nvSpPr>
        <p:spPr>
          <a:xfrm>
            <a:off x="372600" y="1778760"/>
            <a:ext cx="11063880" cy="594000"/>
          </a:xfrm>
          <a:prstGeom prst="roundRect">
            <a:avLst>
              <a:gd name="adj" fmla="val 12308"/>
            </a:avLst>
          </a:prstGeom>
          <a:solidFill>
            <a:srgbClr val="F7F8FA"/>
          </a:solidFill>
          <a:ln w="9525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 21"/>
          <p:cNvSpPr/>
          <p:nvPr/>
        </p:nvSpPr>
        <p:spPr>
          <a:xfrm>
            <a:off x="601200" y="1778760"/>
            <a:ext cx="106066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Commonality:  </a:t>
            </a:r>
            <a:r>
              <a:rPr lang="en-US" sz="12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same domain-specific language, same component-based architecture, same open, community-driven development model.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2"/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McStas &amp; McXtrace  ·  Common Introduction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3"/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Copied Picture 26"/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Picture 26"/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Picture 27"/>
          <p:cNvPicPr/>
          <p:nvPr/>
        </p:nvPicPr>
        <p:blipFill>
          <a:blip r:embed="rId5"/>
          <a:stretch/>
        </p:blipFill>
        <p:spPr>
          <a:xfrm>
            <a:off x="1747440" y="5157360"/>
            <a:ext cx="1269720" cy="8582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7" name="Group 33"/>
          <p:cNvGrpSpPr/>
          <p:nvPr/>
        </p:nvGrpSpPr>
        <p:grpSpPr>
          <a:xfrm>
            <a:off x="8424360" y="117000"/>
            <a:ext cx="1590840" cy="751320"/>
            <a:chOff x="8424360" y="117000"/>
            <a:chExt cx="1590840" cy="751320"/>
          </a:xfrm>
        </p:grpSpPr>
        <p:grpSp>
          <p:nvGrpSpPr>
            <p:cNvPr id="98" name="Group 32"/>
            <p:cNvGrpSpPr/>
            <p:nvPr/>
          </p:nvGrpSpPr>
          <p:grpSpPr>
            <a:xfrm>
              <a:off x="9225000" y="117000"/>
              <a:ext cx="790200" cy="715680"/>
              <a:chOff x="9225000" y="117000"/>
              <a:chExt cx="790200" cy="715680"/>
            </a:xfrm>
          </p:grpSpPr>
          <p:pic>
            <p:nvPicPr>
              <p:cNvPr id="99" name="Picture 28"/>
              <p:cNvPicPr/>
              <p:nvPr/>
            </p:nvPicPr>
            <p:blipFill>
              <a:blip r:embed="rId6"/>
              <a:srcRect l="48137"/>
              <a:stretch/>
            </p:blipFill>
            <p:spPr>
              <a:xfrm>
                <a:off x="9253440" y="117000"/>
                <a:ext cx="736200" cy="441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0" name="Picture 29" descr="Synchrotron SOLEIL"/>
              <p:cNvPicPr/>
              <p:nvPr/>
            </p:nvPicPr>
            <p:blipFill>
              <a:blip r:embed="rId7"/>
              <a:stretch/>
            </p:blipFill>
            <p:spPr>
              <a:xfrm>
                <a:off x="9225000" y="531360"/>
                <a:ext cx="547920" cy="264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1" name="Picture 30" descr="DTU Physics"/>
              <p:cNvPicPr/>
              <p:nvPr/>
            </p:nvPicPr>
            <p:blipFill>
              <a:blip r:embed="rId8"/>
              <a:stretch/>
            </p:blipFill>
            <p:spPr>
              <a:xfrm>
                <a:off x="9814320" y="536400"/>
                <a:ext cx="200880" cy="2962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pic>
          <p:nvPicPr>
            <p:cNvPr id="102" name="Picture 31"/>
            <p:cNvPicPr/>
            <p:nvPr/>
          </p:nvPicPr>
          <p:blipFill>
            <a:blip r:embed="rId9"/>
            <a:stretch/>
          </p:blipFill>
          <p:spPr>
            <a:xfrm>
              <a:off x="8424360" y="119520"/>
              <a:ext cx="736200" cy="74880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03" name="Picture 34"/>
          <p:cNvPicPr/>
          <p:nvPr/>
        </p:nvPicPr>
        <p:blipFill>
          <a:blip r:embed="rId10"/>
          <a:stretch/>
        </p:blipFill>
        <p:spPr>
          <a:xfrm>
            <a:off x="3274560" y="5328360"/>
            <a:ext cx="2029320" cy="129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Picture 36"/>
          <p:cNvPicPr/>
          <p:nvPr/>
        </p:nvPicPr>
        <p:blipFill>
          <a:blip r:embed="rId11"/>
          <a:stretch/>
        </p:blipFill>
        <p:spPr>
          <a:xfrm>
            <a:off x="5753520" y="5353200"/>
            <a:ext cx="2391120" cy="1279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5" name="Group 40"/>
          <p:cNvGrpSpPr/>
          <p:nvPr/>
        </p:nvGrpSpPr>
        <p:grpSpPr>
          <a:xfrm>
            <a:off x="8366040" y="5248800"/>
            <a:ext cx="790200" cy="715680"/>
            <a:chOff x="8366040" y="5248800"/>
            <a:chExt cx="790200" cy="715680"/>
          </a:xfrm>
        </p:grpSpPr>
        <p:pic>
          <p:nvPicPr>
            <p:cNvPr id="106" name="Picture 37"/>
            <p:cNvPicPr/>
            <p:nvPr/>
          </p:nvPicPr>
          <p:blipFill>
            <a:blip r:embed="rId6"/>
            <a:srcRect l="48137"/>
            <a:stretch/>
          </p:blipFill>
          <p:spPr>
            <a:xfrm>
              <a:off x="8394480" y="5248800"/>
              <a:ext cx="736200" cy="441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7" name="Picture 38" descr="Synchrotron SOLEIL"/>
            <p:cNvPicPr/>
            <p:nvPr/>
          </p:nvPicPr>
          <p:blipFill>
            <a:blip r:embed="rId7"/>
            <a:stretch/>
          </p:blipFill>
          <p:spPr>
            <a:xfrm>
              <a:off x="8366040" y="5663160"/>
              <a:ext cx="547920" cy="264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8" name="Picture 39" descr="DTU Physics"/>
            <p:cNvPicPr/>
            <p:nvPr/>
          </p:nvPicPr>
          <p:blipFill>
            <a:blip r:embed="rId8"/>
            <a:stretch/>
          </p:blipFill>
          <p:spPr>
            <a:xfrm>
              <a:off x="8955360" y="5668200"/>
              <a:ext cx="200880" cy="29628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THE CORE IDEA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0242B"/>
                </a:solidFill>
                <a:effectLst/>
                <a:uFillTx/>
                <a:latin typeface="Cambria"/>
                <a:ea typeface="Cambria"/>
              </a:rPr>
              <a:t>Monte Carlo ray-tracing, in a nutshell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548640" y="1508760"/>
            <a:ext cx="54860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A statistical method born at Los Alamos in the 1940s </a:t>
            </a:r>
            <a:r>
              <a:rPr lang="en-US" sz="1350" b="0" i="1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(von Neumann, Ulam, Metropolis)</a:t>
            </a:r>
            <a:r>
              <a:rPr lang="en-US" sz="135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 for solving particle-transport problems by numerical experiment.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548640" y="2514600"/>
            <a:ext cx="5486040" cy="356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20242B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Both codes trace many independent rays (neutrons or photons) one at a time through the instrument.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20242B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Propagation in free space is deterministic — straight lines (plus gravity, for slow neutrons).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8"/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McStas &amp; McXtrace  ·  Common Introduction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9"/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Copied Picture 22"/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3"/>
          <p:cNvSpPr/>
          <p:nvPr/>
        </p:nvSpPr>
        <p:spPr>
          <a:xfrm>
            <a:off x="6126480" y="2492280"/>
            <a:ext cx="5486040" cy="356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20242B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Where physics is probabilistic — scattering, absorption, reflection — outcomes are Monte Carlo sampled.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20242B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Each ray carries a statistical weight rather than representing one real particle, so rare but important events can be sampled efficiently.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7" name="Group 26"/>
          <p:cNvGrpSpPr/>
          <p:nvPr/>
        </p:nvGrpSpPr>
        <p:grpSpPr>
          <a:xfrm>
            <a:off x="1955880" y="3748680"/>
            <a:ext cx="8249400" cy="2834640"/>
            <a:chOff x="1955880" y="3748680"/>
            <a:chExt cx="8249400" cy="2834640"/>
          </a:xfrm>
        </p:grpSpPr>
        <p:sp>
          <p:nvSpPr>
            <p:cNvPr id="118" name="Shape 4"/>
            <p:cNvSpPr/>
            <p:nvPr/>
          </p:nvSpPr>
          <p:spPr>
            <a:xfrm>
              <a:off x="1955880" y="3748680"/>
              <a:ext cx="8249400" cy="2749320"/>
            </a:xfrm>
            <a:prstGeom prst="roundRect">
              <a:avLst>
                <a:gd name="adj" fmla="val 2174"/>
              </a:avLst>
            </a:prstGeom>
            <a:solidFill>
              <a:srgbClr val="F7F8FA"/>
            </a:solidFill>
            <a:ln w="9525">
              <a:solidFill>
                <a:srgbClr val="DDE1E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DK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9" name="Text 5"/>
            <p:cNvSpPr/>
            <p:nvPr/>
          </p:nvSpPr>
          <p:spPr>
            <a:xfrm>
              <a:off x="3558960" y="3748680"/>
              <a:ext cx="516600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50" b="1" u="none" strike="noStrike">
                  <a:solidFill>
                    <a:srgbClr val="6E7580"/>
                  </a:solidFill>
                  <a:effectLst/>
                  <a:uFillTx/>
                  <a:latin typeface="Calibri"/>
                  <a:ea typeface="Calibri"/>
                </a:rPr>
                <a:t>A single ray, one weight at a time</a:t>
              </a:r>
              <a:endParaRPr lang="fr-FR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Text 17"/>
            <p:cNvSpPr/>
            <p:nvPr/>
          </p:nvSpPr>
          <p:spPr>
            <a:xfrm>
              <a:off x="3739320" y="6089400"/>
              <a:ext cx="4525920" cy="493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i="1" u="none" strike="noStrike">
                  <a:solidFill>
                    <a:srgbClr val="6E7580"/>
                  </a:solidFill>
                  <a:effectLst/>
                  <a:uFillTx/>
                  <a:latin typeface="Calibri"/>
                  <a:ea typeface="Calibri"/>
                </a:rPr>
                <a:t>Weight p is adjusted multiplicatively at every interaction — the physical result is recovered statistically over many rays.</a:t>
              </a:r>
              <a:endPara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21" name="Image" descr="Image"/>
            <p:cNvPicPr/>
            <p:nvPr/>
          </p:nvPicPr>
          <p:blipFill>
            <a:blip r:embed="rId4"/>
            <a:stretch/>
          </p:blipFill>
          <p:spPr>
            <a:xfrm>
              <a:off x="2401200" y="4096080"/>
              <a:ext cx="7398360" cy="1962360"/>
            </a:xfrm>
            <a:prstGeom prst="rect">
              <a:avLst/>
            </a:prstGeom>
            <a:noFill/>
            <a:ln w="12700">
              <a:noFill/>
            </a:ln>
          </p:spPr>
        </p:pic>
      </p:grpSp>
      <p:pic>
        <p:nvPicPr>
          <p:cNvPr id="122" name="Picture 27"/>
          <p:cNvPicPr/>
          <p:nvPr/>
        </p:nvPicPr>
        <p:blipFill>
          <a:blip r:embed="rId5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SHARED ARCHITECTURE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0242B"/>
                </a:solidFill>
                <a:effectLst/>
                <a:uFillTx/>
                <a:latin typeface="Cambria"/>
                <a:ea typeface="Cambria"/>
              </a:rPr>
              <a:t>Anatomy of a simulation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548640" y="1417320"/>
            <a:ext cx="10881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An instrument is an ordered chain of components in a shared lab coordinate system. Rays flow through it, changing state at each stop.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"/>
          <p:cNvSpPr/>
          <p:nvPr/>
        </p:nvSpPr>
        <p:spPr>
          <a:xfrm>
            <a:off x="548640" y="2743200"/>
            <a:ext cx="2331360" cy="1371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 4"/>
          <p:cNvSpPr/>
          <p:nvPr/>
        </p:nvSpPr>
        <p:spPr>
          <a:xfrm>
            <a:off x="548640" y="299916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Source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548640" y="349308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injects rays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6"/>
          <p:cNvSpPr/>
          <p:nvPr/>
        </p:nvSpPr>
        <p:spPr>
          <a:xfrm>
            <a:off x="2935080" y="3429000"/>
            <a:ext cx="479520" cy="360"/>
          </a:xfrm>
          <a:prstGeom prst="line">
            <a:avLst/>
          </a:prstGeom>
          <a:ln w="19050">
            <a:solidFill>
              <a:srgbClr val="6E75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Shape 7"/>
          <p:cNvSpPr/>
          <p:nvPr/>
        </p:nvSpPr>
        <p:spPr>
          <a:xfrm>
            <a:off x="3469680" y="2743200"/>
            <a:ext cx="2331360" cy="1371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 8"/>
          <p:cNvSpPr/>
          <p:nvPr/>
        </p:nvSpPr>
        <p:spPr>
          <a:xfrm>
            <a:off x="3469680" y="299916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Optics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3469680" y="349308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shapes the beam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0"/>
          <p:cNvSpPr/>
          <p:nvPr/>
        </p:nvSpPr>
        <p:spPr>
          <a:xfrm>
            <a:off x="5856120" y="3429000"/>
            <a:ext cx="479160" cy="360"/>
          </a:xfrm>
          <a:prstGeom prst="line">
            <a:avLst/>
          </a:prstGeom>
          <a:ln w="19050">
            <a:solidFill>
              <a:srgbClr val="6E75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Shape 11"/>
          <p:cNvSpPr/>
          <p:nvPr/>
        </p:nvSpPr>
        <p:spPr>
          <a:xfrm>
            <a:off x="6390360" y="2743200"/>
            <a:ext cx="2331360" cy="1371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D97A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 12"/>
          <p:cNvSpPr/>
          <p:nvPr/>
        </p:nvSpPr>
        <p:spPr>
          <a:xfrm>
            <a:off x="6390360" y="299916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D97A2B"/>
                </a:solidFill>
                <a:effectLst/>
                <a:uFillTx/>
                <a:latin typeface="Cambria"/>
                <a:ea typeface="Cambria"/>
              </a:rPr>
              <a:t>Sample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3"/>
          <p:cNvSpPr/>
          <p:nvPr/>
        </p:nvSpPr>
        <p:spPr>
          <a:xfrm>
            <a:off x="6390360" y="349308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the physics of interest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4"/>
          <p:cNvSpPr/>
          <p:nvPr/>
        </p:nvSpPr>
        <p:spPr>
          <a:xfrm>
            <a:off x="8776800" y="3429000"/>
            <a:ext cx="479520" cy="360"/>
          </a:xfrm>
          <a:prstGeom prst="line">
            <a:avLst/>
          </a:prstGeom>
          <a:ln w="19050">
            <a:solidFill>
              <a:srgbClr val="6E75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Shape 15"/>
          <p:cNvSpPr/>
          <p:nvPr/>
        </p:nvSpPr>
        <p:spPr>
          <a:xfrm>
            <a:off x="9311400" y="2743200"/>
            <a:ext cx="2331360" cy="1371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024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 16"/>
          <p:cNvSpPr/>
          <p:nvPr/>
        </p:nvSpPr>
        <p:spPr>
          <a:xfrm>
            <a:off x="9311400" y="299916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0242B"/>
                </a:solidFill>
                <a:effectLst/>
                <a:uFillTx/>
                <a:latin typeface="Cambria"/>
                <a:ea typeface="Cambria"/>
              </a:rPr>
              <a:t>Monitor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7"/>
          <p:cNvSpPr/>
          <p:nvPr/>
        </p:nvSpPr>
        <p:spPr>
          <a:xfrm>
            <a:off x="9311400" y="349308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records the result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8"/>
          <p:cNvSpPr/>
          <p:nvPr/>
        </p:nvSpPr>
        <p:spPr>
          <a:xfrm>
            <a:off x="548640" y="4663440"/>
            <a:ext cx="110638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Instrument:  </a:t>
            </a:r>
            <a:r>
              <a:rPr lang="en-US" sz="12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defines the lab coordinate system.   </a:t>
            </a:r>
            <a:r>
              <a:rPr lang="en-US" sz="125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Components:  </a:t>
            </a:r>
            <a:r>
              <a:rPr lang="en-US" sz="12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devices/features available in the instrument, each with its own function.   </a:t>
            </a:r>
            <a:r>
              <a:rPr lang="en-US" sz="125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Rays:  </a:t>
            </a:r>
            <a:r>
              <a:rPr lang="en-US" sz="12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passed from one component to the next, changing state along the way.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9"/>
          <p:cNvSpPr/>
          <p:nvPr/>
        </p:nvSpPr>
        <p:spPr>
          <a:xfrm>
            <a:off x="548640" y="59893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12506B"/>
                </a:solidFill>
                <a:effectLst/>
                <a:uFillTx/>
                <a:latin typeface="Calibri"/>
                <a:ea typeface="Calibri"/>
              </a:rPr>
              <a:t>This chain — and the DSL that describes it — is identical in McStas and McXtrace.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0"/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McStas &amp; McXtrace  ·  Common Introduction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1"/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" name="Copied Picture 24"/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Picture 24"/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COMMONALITY &amp; DIFFERENCE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0242B"/>
                </a:solidFill>
                <a:effectLst/>
                <a:uFillTx/>
                <a:latin typeface="Cambria"/>
                <a:ea typeface="Cambria"/>
              </a:rPr>
              <a:t>What travels through the beamline: the ray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"/>
          <p:cNvSpPr/>
          <p:nvPr/>
        </p:nvSpPr>
        <p:spPr>
          <a:xfrm>
            <a:off x="548640" y="1600200"/>
            <a:ext cx="5257440" cy="4114440"/>
          </a:xfrm>
          <a:prstGeom prst="roundRect">
            <a:avLst>
              <a:gd name="adj" fmla="val 2222"/>
            </a:avLst>
          </a:prstGeom>
          <a:solidFill>
            <a:srgbClr val="E3EE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 3"/>
          <p:cNvSpPr/>
          <p:nvPr/>
        </p:nvSpPr>
        <p:spPr>
          <a:xfrm>
            <a:off x="868680" y="180144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Neutron ray  ·  McStas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868680" y="2377440"/>
            <a:ext cx="1051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r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1965960" y="237744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position (x, y, z)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6"/>
          <p:cNvSpPr/>
          <p:nvPr/>
        </p:nvSpPr>
        <p:spPr>
          <a:xfrm>
            <a:off x="868680" y="2926080"/>
            <a:ext cx="1051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v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1965960" y="292608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velocity vector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8"/>
          <p:cNvSpPr/>
          <p:nvPr/>
        </p:nvSpPr>
        <p:spPr>
          <a:xfrm>
            <a:off x="868680" y="3474720"/>
            <a:ext cx="1051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t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9"/>
          <p:cNvSpPr/>
          <p:nvPr/>
        </p:nvSpPr>
        <p:spPr>
          <a:xfrm>
            <a:off x="1965960" y="347472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time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0"/>
          <p:cNvSpPr/>
          <p:nvPr/>
        </p:nvSpPr>
        <p:spPr>
          <a:xfrm>
            <a:off x="868680" y="4023360"/>
            <a:ext cx="1051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1"/>
          <p:cNvSpPr/>
          <p:nvPr/>
        </p:nvSpPr>
        <p:spPr>
          <a:xfrm>
            <a:off x="1965960" y="402336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spin / polarisation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2"/>
          <p:cNvSpPr/>
          <p:nvPr/>
        </p:nvSpPr>
        <p:spPr>
          <a:xfrm>
            <a:off x="868680" y="4572000"/>
            <a:ext cx="1051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p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3"/>
          <p:cNvSpPr/>
          <p:nvPr/>
        </p:nvSpPr>
        <p:spPr>
          <a:xfrm>
            <a:off x="1965960" y="457200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statistical weight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4"/>
          <p:cNvSpPr/>
          <p:nvPr/>
        </p:nvSpPr>
        <p:spPr>
          <a:xfrm>
            <a:off x="6172200" y="1600200"/>
            <a:ext cx="5257440" cy="4114440"/>
          </a:xfrm>
          <a:prstGeom prst="roundRect">
            <a:avLst>
              <a:gd name="adj" fmla="val 2222"/>
            </a:avLst>
          </a:prstGeom>
          <a:solidFill>
            <a:srgbClr val="FBEB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 15"/>
          <p:cNvSpPr/>
          <p:nvPr/>
        </p:nvSpPr>
        <p:spPr>
          <a:xfrm>
            <a:off x="6492240" y="1801440"/>
            <a:ext cx="4617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D97A2B"/>
                </a:solidFill>
                <a:effectLst/>
                <a:uFillTx/>
                <a:latin typeface="Cambria"/>
                <a:ea typeface="Cambria"/>
              </a:rPr>
              <a:t>Photon ray  ·  McXtrace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6"/>
          <p:cNvSpPr/>
          <p:nvPr/>
        </p:nvSpPr>
        <p:spPr>
          <a:xfrm>
            <a:off x="6492240" y="2377440"/>
            <a:ext cx="1051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r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7"/>
          <p:cNvSpPr/>
          <p:nvPr/>
        </p:nvSpPr>
        <p:spPr>
          <a:xfrm>
            <a:off x="7589520" y="237744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position (x, y, z)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8"/>
          <p:cNvSpPr/>
          <p:nvPr/>
        </p:nvSpPr>
        <p:spPr>
          <a:xfrm>
            <a:off x="6492240" y="2926080"/>
            <a:ext cx="1051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k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9"/>
          <p:cNvSpPr/>
          <p:nvPr/>
        </p:nvSpPr>
        <p:spPr>
          <a:xfrm>
            <a:off x="7589520" y="292608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wave vector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0"/>
          <p:cNvSpPr/>
          <p:nvPr/>
        </p:nvSpPr>
        <p:spPr>
          <a:xfrm>
            <a:off x="6492240" y="3474720"/>
            <a:ext cx="1051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φ, 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1"/>
          <p:cNvSpPr/>
          <p:nvPr/>
        </p:nvSpPr>
        <p:spPr>
          <a:xfrm>
            <a:off x="7589520" y="347472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phase &amp; polarisation (E-field)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2"/>
          <p:cNvSpPr/>
          <p:nvPr/>
        </p:nvSpPr>
        <p:spPr>
          <a:xfrm>
            <a:off x="6492240" y="4023360"/>
            <a:ext cx="1051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t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3"/>
          <p:cNvSpPr/>
          <p:nvPr/>
        </p:nvSpPr>
        <p:spPr>
          <a:xfrm>
            <a:off x="7589520" y="402336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time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4"/>
          <p:cNvSpPr/>
          <p:nvPr/>
        </p:nvSpPr>
        <p:spPr>
          <a:xfrm>
            <a:off x="6492240" y="4572000"/>
            <a:ext cx="1051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p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5"/>
          <p:cNvSpPr/>
          <p:nvPr/>
        </p:nvSpPr>
        <p:spPr>
          <a:xfrm>
            <a:off x="7589520" y="457200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statistical weight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6"/>
          <p:cNvSpPr/>
          <p:nvPr/>
        </p:nvSpPr>
        <p:spPr>
          <a:xfrm>
            <a:off x="548640" y="5897880"/>
            <a:ext cx="11063880" cy="548280"/>
          </a:xfrm>
          <a:prstGeom prst="roundRect">
            <a:avLst>
              <a:gd name="adj" fmla="val 13333"/>
            </a:avLst>
          </a:prstGeom>
          <a:solidFill>
            <a:srgbClr val="F7F8FA"/>
          </a:solidFill>
          <a:ln w="9525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 27"/>
          <p:cNvSpPr/>
          <p:nvPr/>
        </p:nvSpPr>
        <p:spPr>
          <a:xfrm>
            <a:off x="777240" y="589788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Same idea, different carrier:  </a:t>
            </a:r>
            <a:r>
              <a:rPr lang="en-US" sz="11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both rays are position + time + statistical weight. The neutron adds mass, velocity and spin; the photon adds a wave vector, phase and field polarisation.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8"/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McStas &amp; McXtrace  ·  Common Introduction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9"/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7" name="Copied Picture 32"/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Picture 32"/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SHARED TAXONOMY, DIFFERENT PHYSICS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0242B"/>
                </a:solidFill>
                <a:effectLst/>
                <a:uFillTx/>
                <a:latin typeface="Cambria"/>
                <a:ea typeface="Cambria"/>
              </a:rPr>
              <a:t>Component classes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"/>
          <p:cNvSpPr/>
          <p:nvPr/>
        </p:nvSpPr>
        <p:spPr>
          <a:xfrm>
            <a:off x="548640" y="1417320"/>
            <a:ext cx="10881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Every instrument, in either code, is built from the same four component classes.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2" name="Table 0"/>
          <p:cNvGraphicFramePr/>
          <p:nvPr/>
        </p:nvGraphicFramePr>
        <p:xfrm>
          <a:off x="548640" y="1920240"/>
          <a:ext cx="11063880" cy="32914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Class</a:t>
                      </a:r>
                      <a:endParaRPr lang="fr-F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McStas (neutrons)</a:t>
                      </a:r>
                      <a:endParaRPr lang="fr-F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12506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McXtrace (X-rays)</a:t>
                      </a:r>
                      <a:endParaRPr lang="fr-F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A65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Sources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Reactor / spallation moderator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Undulator, wiggler, bending magnet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Optics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Guides, mirrors, choppers, collimators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Mirrors, monochromator crystals, multilayers, slits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Samples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Powders, crystals, liquids, magnetism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Powders, crystals, multilayers, absorbing phantoms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Monitors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PSD / histograms / event lists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PSD / histograms / event lists  (same concept)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3" name="Text 3"/>
          <p:cNvSpPr/>
          <p:nvPr/>
        </p:nvSpPr>
        <p:spPr>
          <a:xfrm>
            <a:off x="548640" y="553212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Common to all components:  </a:t>
            </a:r>
            <a:r>
              <a:rPr lang="en-US" sz="12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they set, manipulate, or measure the state of the ray — and each is written as a self-contained, reusable code module.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4"/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McStas &amp; McXtrace  ·  Common Introduction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5"/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Copied Picture 9"/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Picture 9"/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droppedImage.png" descr="droppedImage.png"/>
          <p:cNvPicPr/>
          <p:nvPr/>
        </p:nvPicPr>
        <p:blipFill>
          <a:blip r:embed="rId3"/>
          <a:stretch/>
        </p:blipFill>
        <p:spPr>
          <a:xfrm>
            <a:off x="6606000" y="2991600"/>
            <a:ext cx="1709640" cy="123696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8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UNDER THE HOOD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0242B"/>
                </a:solidFill>
                <a:effectLst/>
                <a:uFillTx/>
                <a:latin typeface="Cambria"/>
                <a:ea typeface="Cambria"/>
              </a:rPr>
              <a:t>From instrument file to running simulation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"/>
          <p:cNvSpPr/>
          <p:nvPr/>
        </p:nvSpPr>
        <p:spPr>
          <a:xfrm>
            <a:off x="548640" y="1965960"/>
            <a:ext cx="2468520" cy="1051200"/>
          </a:xfrm>
          <a:prstGeom prst="roundRect">
            <a:avLst>
              <a:gd name="adj" fmla="val 6957"/>
            </a:avLst>
          </a:prstGeom>
          <a:solidFill>
            <a:srgbClr val="F7F8FA"/>
          </a:solidFill>
          <a:ln w="12700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 3"/>
          <p:cNvSpPr/>
          <p:nvPr/>
        </p:nvSpPr>
        <p:spPr>
          <a:xfrm>
            <a:off x="548640" y="20941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.instr file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685800" y="244152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DSL describing the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instrument (readable text)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5"/>
          <p:cNvSpPr/>
          <p:nvPr/>
        </p:nvSpPr>
        <p:spPr>
          <a:xfrm>
            <a:off x="3072240" y="2491560"/>
            <a:ext cx="296640" cy="360"/>
          </a:xfrm>
          <a:prstGeom prst="line">
            <a:avLst/>
          </a:prstGeom>
          <a:ln w="19050">
            <a:solidFill>
              <a:srgbClr val="6E75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" name="Shape 6"/>
          <p:cNvSpPr/>
          <p:nvPr/>
        </p:nvSpPr>
        <p:spPr>
          <a:xfrm>
            <a:off x="3423960" y="1965960"/>
            <a:ext cx="2468520" cy="1051200"/>
          </a:xfrm>
          <a:prstGeom prst="roundRect">
            <a:avLst>
              <a:gd name="adj" fmla="val 6957"/>
            </a:avLst>
          </a:prstGeom>
          <a:solidFill>
            <a:srgbClr val="F7F8FA"/>
          </a:solidFill>
          <a:ln w="12700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 7"/>
          <p:cNvSpPr/>
          <p:nvPr/>
        </p:nvSpPr>
        <p:spPr>
          <a:xfrm>
            <a:off x="3423960" y="20941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Parser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8"/>
          <p:cNvSpPr/>
          <p:nvPr/>
        </p:nvSpPr>
        <p:spPr>
          <a:xfrm>
            <a:off x="3561120" y="244152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Lex &amp; Yacc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compiler technology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9"/>
          <p:cNvSpPr/>
          <p:nvPr/>
        </p:nvSpPr>
        <p:spPr>
          <a:xfrm>
            <a:off x="5947560" y="2491560"/>
            <a:ext cx="296280" cy="360"/>
          </a:xfrm>
          <a:prstGeom prst="line">
            <a:avLst/>
          </a:prstGeom>
          <a:ln w="19050">
            <a:solidFill>
              <a:srgbClr val="6E75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9" name="Shape 10"/>
          <p:cNvSpPr/>
          <p:nvPr/>
        </p:nvSpPr>
        <p:spPr>
          <a:xfrm>
            <a:off x="6298920" y="1965960"/>
            <a:ext cx="2468520" cy="1051200"/>
          </a:xfrm>
          <a:prstGeom prst="roundRect">
            <a:avLst>
              <a:gd name="adj" fmla="val 6957"/>
            </a:avLst>
          </a:prstGeom>
          <a:solidFill>
            <a:srgbClr val="F7F8FA"/>
          </a:solidFill>
          <a:ln w="12700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 11"/>
          <p:cNvSpPr/>
          <p:nvPr/>
        </p:nvSpPr>
        <p:spPr>
          <a:xfrm>
            <a:off x="6298920" y="20941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Generated C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2"/>
          <p:cNvSpPr/>
          <p:nvPr/>
        </p:nvSpPr>
        <p:spPr>
          <a:xfrm>
            <a:off x="6436080" y="244152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Portable ISO-C code,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only what you use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3"/>
          <p:cNvSpPr/>
          <p:nvPr/>
        </p:nvSpPr>
        <p:spPr>
          <a:xfrm>
            <a:off x="8822520" y="2491560"/>
            <a:ext cx="296640" cy="360"/>
          </a:xfrm>
          <a:prstGeom prst="line">
            <a:avLst/>
          </a:prstGeom>
          <a:ln w="19050">
            <a:solidFill>
              <a:srgbClr val="6E75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3" name="Shape 14"/>
          <p:cNvSpPr/>
          <p:nvPr/>
        </p:nvSpPr>
        <p:spPr>
          <a:xfrm>
            <a:off x="9174240" y="1965960"/>
            <a:ext cx="2468520" cy="105120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 15"/>
          <p:cNvSpPr/>
          <p:nvPr/>
        </p:nvSpPr>
        <p:spPr>
          <a:xfrm>
            <a:off x="9174240" y="20941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Executable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6"/>
          <p:cNvSpPr/>
          <p:nvPr/>
        </p:nvSpPr>
        <p:spPr>
          <a:xfrm>
            <a:off x="9311400" y="244152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7F1F4"/>
                </a:solidFill>
                <a:effectLst/>
                <a:uFillTx/>
                <a:latin typeface="Calibri"/>
                <a:ea typeface="Calibri"/>
              </a:rPr>
              <a:t>Compiled for your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7F1F4"/>
                </a:solidFill>
                <a:effectLst/>
                <a:uFillTx/>
                <a:latin typeface="Calibri"/>
                <a:ea typeface="Calibri"/>
              </a:rPr>
              <a:t>platform &amp; hardware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7"/>
          <p:cNvSpPr/>
          <p:nvPr/>
        </p:nvSpPr>
        <p:spPr>
          <a:xfrm>
            <a:off x="548640" y="320040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12506B"/>
                </a:solidFill>
                <a:effectLst/>
                <a:uFillTx/>
                <a:latin typeface="Calibri"/>
                <a:ea typeface="Calibri"/>
              </a:rPr>
              <a:t>Same toolchain in both codes — the DSL grammar and code generator are shared.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8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 19"/>
          <p:cNvSpPr/>
          <p:nvPr/>
        </p:nvSpPr>
        <p:spPr>
          <a:xfrm>
            <a:off x="548640" y="37033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0242B"/>
                </a:solidFill>
                <a:effectLst/>
                <a:uFillTx/>
                <a:latin typeface="Cambria"/>
                <a:ea typeface="Cambria"/>
              </a:rPr>
              <a:t>Three levels of code, three audiences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0"/>
          <p:cNvSpPr/>
          <p:nvPr/>
        </p:nvSpPr>
        <p:spPr>
          <a:xfrm>
            <a:off x="548640" y="4206240"/>
            <a:ext cx="3611520" cy="214848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0" name="Shape 21"/>
          <p:cNvSpPr/>
          <p:nvPr/>
        </p:nvSpPr>
        <p:spPr>
          <a:xfrm>
            <a:off x="548640" y="4206240"/>
            <a:ext cx="3611520" cy="7272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 22"/>
          <p:cNvSpPr/>
          <p:nvPr/>
        </p:nvSpPr>
        <p:spPr>
          <a:xfrm>
            <a:off x="777240" y="440748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Instrument file</a:t>
            </a:r>
            <a:endParaRPr lang="fr-F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3"/>
          <p:cNvSpPr/>
          <p:nvPr/>
        </p:nvSpPr>
        <p:spPr>
          <a:xfrm>
            <a:off x="777240" y="4736520"/>
            <a:ext cx="3154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99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MOST USERS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4"/>
          <p:cNvSpPr/>
          <p:nvPr/>
        </p:nvSpPr>
        <p:spPr>
          <a:xfrm>
            <a:off x="777240" y="5102280"/>
            <a:ext cx="31543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Existing examples, GUI-assisted, or written from scratch in the DSL.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25"/>
          <p:cNvSpPr/>
          <p:nvPr/>
        </p:nvSpPr>
        <p:spPr>
          <a:xfrm>
            <a:off x="4297680" y="4206240"/>
            <a:ext cx="3611520" cy="214848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D97A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5" name="Shape 26"/>
          <p:cNvSpPr/>
          <p:nvPr/>
        </p:nvSpPr>
        <p:spPr>
          <a:xfrm>
            <a:off x="4297680" y="4206240"/>
            <a:ext cx="3611520" cy="72720"/>
          </a:xfrm>
          <a:prstGeom prst="rect">
            <a:avLst/>
          </a:prstGeom>
          <a:solidFill>
            <a:srgbClr val="D97A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 27"/>
          <p:cNvSpPr/>
          <p:nvPr/>
        </p:nvSpPr>
        <p:spPr>
          <a:xfrm>
            <a:off x="4526280" y="440748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Component file</a:t>
            </a:r>
            <a:endParaRPr lang="fr-F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8"/>
          <p:cNvSpPr/>
          <p:nvPr/>
        </p:nvSpPr>
        <p:spPr>
          <a:xfrm>
            <a:off x="4526280" y="4736520"/>
            <a:ext cx="3154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99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ADVANCED USERS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9"/>
          <p:cNvSpPr/>
          <p:nvPr/>
        </p:nvSpPr>
        <p:spPr>
          <a:xfrm>
            <a:off x="4526280" y="5102280"/>
            <a:ext cx="31543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Short, self-contained C code — easy to modify from an existing component.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30"/>
          <p:cNvSpPr/>
          <p:nvPr/>
        </p:nvSpPr>
        <p:spPr>
          <a:xfrm>
            <a:off x="8046720" y="4206240"/>
            <a:ext cx="3611520" cy="214848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2024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0" name="Shape 31"/>
          <p:cNvSpPr/>
          <p:nvPr/>
        </p:nvSpPr>
        <p:spPr>
          <a:xfrm>
            <a:off x="8046720" y="4206240"/>
            <a:ext cx="3611520" cy="72720"/>
          </a:xfrm>
          <a:prstGeom prst="rect">
            <a:avLst/>
          </a:prstGeom>
          <a:solidFill>
            <a:srgbClr val="2024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 32"/>
          <p:cNvSpPr/>
          <p:nvPr/>
        </p:nvSpPr>
        <p:spPr>
          <a:xfrm>
            <a:off x="8275320" y="440748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Kernel</a:t>
            </a:r>
            <a:endParaRPr lang="fr-F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33"/>
          <p:cNvSpPr/>
          <p:nvPr/>
        </p:nvSpPr>
        <p:spPr>
          <a:xfrm>
            <a:off x="8275320" y="4736520"/>
            <a:ext cx="3154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99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CORE DEV TEAM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34"/>
          <p:cNvSpPr/>
          <p:nvPr/>
        </p:nvSpPr>
        <p:spPr>
          <a:xfrm>
            <a:off x="8275320" y="5102280"/>
            <a:ext cx="31543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Propagation, intersections, and the runtime library shared by all components.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5"/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McStas &amp; McXtrace  ·  Common Introduction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6"/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6" name="Copied Picture 39"/>
          <p:cNvPicPr/>
          <p:nvPr/>
        </p:nvPicPr>
        <p:blipFill>
          <a:blip r:embed="rId4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Picture 41"/>
          <p:cNvPicPr/>
          <p:nvPr/>
        </p:nvPicPr>
        <p:blipFill>
          <a:blip r:embed="rId5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Picture 58"/>
          <p:cNvPicPr/>
          <p:nvPr/>
        </p:nvPicPr>
        <p:blipFill>
          <a:blip r:embed="rId3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SHARED SYNTAX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0242B"/>
                </a:solidFill>
                <a:effectLst/>
                <a:uFillTx/>
                <a:latin typeface="Cambria"/>
                <a:ea typeface="Cambria"/>
              </a:rPr>
              <a:t>Placing components in space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"/>
          <p:cNvSpPr/>
          <p:nvPr/>
        </p:nvSpPr>
        <p:spPr>
          <a:xfrm>
            <a:off x="548640" y="1554480"/>
            <a:ext cx="56689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Every component is placed with the same two statements, in both codes: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3"/>
          <p:cNvSpPr/>
          <p:nvPr/>
        </p:nvSpPr>
        <p:spPr>
          <a:xfrm>
            <a:off x="548640" y="2148840"/>
            <a:ext cx="5668920" cy="141696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 4"/>
          <p:cNvSpPr/>
          <p:nvPr/>
        </p:nvSpPr>
        <p:spPr>
          <a:xfrm>
            <a:off x="822960" y="2331720"/>
            <a:ext cx="512028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500" b="0" u="none" strike="noStrike">
                <a:solidFill>
                  <a:srgbClr val="8FE3C8"/>
                </a:solidFill>
                <a:effectLst/>
                <a:uFillTx/>
                <a:latin typeface="Courier New"/>
                <a:ea typeface="Courier New"/>
              </a:rPr>
              <a:t>AT (x, y, z) RELATIVE &lt;ref&gt;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D79A"/>
                </a:solidFill>
                <a:effectLst/>
                <a:uFillTx/>
                <a:latin typeface="Courier New"/>
                <a:ea typeface="Courier New"/>
              </a:rPr>
              <a:t>ROTATED (rx, ry, rz) RELATIVE &lt;ref&gt;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548640" y="3749040"/>
            <a:ext cx="566892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0242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&lt;ref&gt; can be ABSOLUTE (the lab frame), another component's name, or PREVIOUS.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0242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z runs along the beam, y is vertical, x completes a right-handed frame.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0242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Component authors choose whatever local origin is physically natural — the kernel handles the coordinate transforms between them.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0242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AT and ROTATED can be fully decoupled, referring to different RELATIVE  &lt;ref&gt;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6"/>
          <p:cNvSpPr/>
          <p:nvPr/>
        </p:nvSpPr>
        <p:spPr>
          <a:xfrm>
            <a:off x="6675120" y="1601640"/>
            <a:ext cx="4937400" cy="5256000"/>
          </a:xfrm>
          <a:prstGeom prst="roundRect">
            <a:avLst>
              <a:gd name="adj" fmla="val 2000"/>
            </a:avLst>
          </a:prstGeom>
          <a:solidFill>
            <a:srgbClr val="F7F8FA"/>
          </a:solidFill>
          <a:ln w="9525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 7"/>
          <p:cNvSpPr/>
          <p:nvPr/>
        </p:nvSpPr>
        <p:spPr>
          <a:xfrm>
            <a:off x="6675120" y="173736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Right-handed lab frame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0"/>
          <p:cNvSpPr/>
          <p:nvPr/>
        </p:nvSpPr>
        <p:spPr>
          <a:xfrm>
            <a:off x="9418320" y="4023360"/>
            <a:ext cx="360" cy="360"/>
          </a:xfrm>
          <a:prstGeom prst="line">
            <a:avLst/>
          </a:prstGeom>
          <a:ln w="28575">
            <a:solidFill>
              <a:srgbClr val="D97A2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 15"/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McStas &amp; McXtrace  ·  Common Introduction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6"/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Copied Picture 19"/>
          <p:cNvPicPr/>
          <p:nvPr/>
        </p:nvPicPr>
        <p:blipFill>
          <a:blip r:embed="rId4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1" name="Right Handed.PNG" descr="Right Handed.PNG"/>
          <p:cNvPicPr/>
          <p:nvPr/>
        </p:nvPicPr>
        <p:blipFill>
          <a:blip r:embed="rId5"/>
          <a:stretch/>
        </p:blipFill>
        <p:spPr>
          <a:xfrm>
            <a:off x="7830360" y="4229640"/>
            <a:ext cx="2626560" cy="259380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42" name="Oval"/>
          <p:cNvSpPr/>
          <p:nvPr/>
        </p:nvSpPr>
        <p:spPr>
          <a:xfrm>
            <a:off x="7372080" y="2516400"/>
            <a:ext cx="284400" cy="150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round/>
          </a:ln>
          <a:effectLst>
            <a:outerShdw blurRad="38160" dist="2016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6800" tIns="46800" rIns="46800" bIns="46800" anchor="ctr">
            <a:no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3" name="Line"/>
          <p:cNvSpPr/>
          <p:nvPr/>
        </p:nvSpPr>
        <p:spPr>
          <a:xfrm flipV="1">
            <a:off x="7514280" y="1887840"/>
            <a:ext cx="0" cy="1391400"/>
          </a:xfrm>
          <a:prstGeom prst="line">
            <a:avLst/>
          </a:prstGeom>
          <a:ln w="25400">
            <a:solidFill>
              <a:srgbClr val="A5A5A5">
                <a:lumOff val="-9372"/>
              </a:srgbClr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4" name="Line"/>
          <p:cNvSpPr/>
          <p:nvPr/>
        </p:nvSpPr>
        <p:spPr>
          <a:xfrm>
            <a:off x="7513560" y="3267000"/>
            <a:ext cx="1138320" cy="0"/>
          </a:xfrm>
          <a:prstGeom prst="line">
            <a:avLst/>
          </a:prstGeom>
          <a:ln w="25400">
            <a:solidFill>
              <a:srgbClr val="ED7D31">
                <a:satOff val="-15111"/>
                <a:lumOff val="-11019"/>
              </a:srgbClr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-45000" rIns="45720" bIns="-45000" anchor="t">
            <a:no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5" name="Line"/>
          <p:cNvSpPr/>
          <p:nvPr/>
        </p:nvSpPr>
        <p:spPr>
          <a:xfrm flipV="1">
            <a:off x="7505640" y="2573640"/>
            <a:ext cx="679680" cy="685440"/>
          </a:xfrm>
          <a:prstGeom prst="line">
            <a:avLst/>
          </a:prstGeom>
          <a:ln w="25400">
            <a:solidFill>
              <a:srgbClr val="4472C4">
                <a:lumOff val="-6000"/>
              </a:srgbClr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6" name="Line"/>
          <p:cNvSpPr/>
          <p:nvPr/>
        </p:nvSpPr>
        <p:spPr>
          <a:xfrm>
            <a:off x="7580160" y="3174840"/>
            <a:ext cx="127080" cy="0"/>
          </a:xfrm>
          <a:prstGeom prst="line">
            <a:avLst/>
          </a:prstGeom>
          <a:ln w="25400">
            <a:solidFill>
              <a:srgbClr val="4472C4">
                <a:lumOff val="-6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-45000" rIns="45720" bIns="-45000" anchor="t">
            <a:no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7" name="Line"/>
          <p:cNvSpPr/>
          <p:nvPr/>
        </p:nvSpPr>
        <p:spPr>
          <a:xfrm flipV="1">
            <a:off x="7603200" y="3168720"/>
            <a:ext cx="106200" cy="106200"/>
          </a:xfrm>
          <a:prstGeom prst="line">
            <a:avLst/>
          </a:prstGeom>
          <a:ln w="25400">
            <a:solidFill>
              <a:srgbClr val="4472C4">
                <a:lumOff val="-6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8" name="Line"/>
          <p:cNvSpPr/>
          <p:nvPr/>
        </p:nvSpPr>
        <p:spPr>
          <a:xfrm flipV="1">
            <a:off x="7509600" y="3028680"/>
            <a:ext cx="105840" cy="106200"/>
          </a:xfrm>
          <a:prstGeom prst="line">
            <a:avLst/>
          </a:prstGeom>
          <a:ln w="25400">
            <a:solidFill>
              <a:srgbClr val="A5A5A5">
                <a:lumOff val="-9372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9" name="Line"/>
          <p:cNvSpPr/>
          <p:nvPr/>
        </p:nvSpPr>
        <p:spPr>
          <a:xfrm flipV="1">
            <a:off x="7602840" y="3031200"/>
            <a:ext cx="0" cy="101160"/>
          </a:xfrm>
          <a:prstGeom prst="line">
            <a:avLst/>
          </a:prstGeom>
          <a:ln w="25400">
            <a:solidFill>
              <a:srgbClr val="A5A5A5">
                <a:lumOff val="-9372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0" name="Rectangle"/>
          <p:cNvSpPr/>
          <p:nvPr/>
        </p:nvSpPr>
        <p:spPr>
          <a:xfrm>
            <a:off x="7511760" y="3146400"/>
            <a:ext cx="101160" cy="124920"/>
          </a:xfrm>
          <a:prstGeom prst="rect">
            <a:avLst/>
          </a:prstGeom>
          <a:noFill/>
          <a:ln w="25400">
            <a:solidFill>
              <a:srgbClr val="ED7D31">
                <a:satOff val="-15111"/>
                <a:lumOff val="-11019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6800" tIns="46800" rIns="46800" bIns="46800" anchor="ctr">
            <a:no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1" name="x"/>
          <p:cNvSpPr/>
          <p:nvPr/>
        </p:nvSpPr>
        <p:spPr>
          <a:xfrm>
            <a:off x="8130960" y="2193480"/>
            <a:ext cx="126720" cy="2217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y"/>
          <p:cNvSpPr/>
          <p:nvPr/>
        </p:nvSpPr>
        <p:spPr>
          <a:xfrm>
            <a:off x="7327800" y="1743120"/>
            <a:ext cx="126720" cy="2217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z"/>
          <p:cNvSpPr/>
          <p:nvPr/>
        </p:nvSpPr>
        <p:spPr>
          <a:xfrm>
            <a:off x="8408520" y="3326400"/>
            <a:ext cx="126720" cy="2217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7"/>
          <p:cNvSpPr/>
          <p:nvPr/>
        </p:nvSpPr>
        <p:spPr>
          <a:xfrm>
            <a:off x="7830360" y="3493800"/>
            <a:ext cx="1272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E7580"/>
                </a:solidFill>
                <a:effectLst/>
                <a:uFillTx/>
                <a:latin typeface="Calibri"/>
              </a:rPr>
              <a:t>Particle beam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7"/>
          <p:cNvSpPr/>
          <p:nvPr/>
        </p:nvSpPr>
        <p:spPr>
          <a:xfrm>
            <a:off x="6806520" y="1556640"/>
            <a:ext cx="1272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E7580"/>
                </a:solidFill>
                <a:effectLst/>
                <a:uFillTx/>
                <a:latin typeface="Calibri"/>
              </a:rPr>
              <a:t>Vertical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WHERE THEY DIVERGE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0242B"/>
                </a:solidFill>
                <a:effectLst/>
                <a:uFillTx/>
                <a:latin typeface="Cambria"/>
                <a:ea typeface="Cambria"/>
              </a:rPr>
              <a:t>Neutrons vs. X-rays: key differences at a glance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8" name="Table 0"/>
          <p:cNvGraphicFramePr/>
          <p:nvPr/>
        </p:nvGraphicFramePr>
        <p:xfrm>
          <a:off x="548640" y="1691640"/>
          <a:ext cx="11063880" cy="2743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endParaRPr lang="en-US" sz="125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Neutrons  ·  McStas</a:t>
                      </a:r>
                      <a:endParaRPr lang="fr-F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12506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X-rays  ·  McXtrace</a:t>
                      </a:r>
                      <a:endParaRPr lang="fr-F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A65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Probe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Neutral particle — mass, spin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Massless electromagnetic wave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Typical facility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Reactor or spallation source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Synchrotron or free-electron laser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Energy scale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meV  (thermal / cold)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keV  (hard X-ray)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Dominant interaction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Nuclear &amp; magnetic scattering; deep penetration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024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Electronic scattering; surface-sensitive, strongly absorbed</a:t>
                      </a:r>
                      <a:endParaRPr lang="fr-F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DE1E6"/>
                      </a:solidFill>
                      <a:prstDash val="solid"/>
                    </a:lnL>
                    <a:lnR w="9360">
                      <a:solidFill>
                        <a:srgbClr val="DDE1E6"/>
                      </a:solidFill>
                      <a:prstDash val="solid"/>
                    </a:lnR>
                    <a:lnT w="9360">
                      <a:solidFill>
                        <a:srgbClr val="DDE1E6"/>
                      </a:solidFill>
                      <a:prstDash val="solid"/>
                    </a:lnT>
                    <a:lnB w="9360">
                      <a:solidFill>
                        <a:srgbClr val="DDE1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9" name="Shape 2"/>
          <p:cNvSpPr/>
          <p:nvPr/>
        </p:nvSpPr>
        <p:spPr>
          <a:xfrm>
            <a:off x="548640" y="4937760"/>
            <a:ext cx="11063880" cy="868320"/>
          </a:xfrm>
          <a:prstGeom prst="roundRect">
            <a:avLst>
              <a:gd name="adj" fmla="val 8421"/>
            </a:avLst>
          </a:prstGeom>
          <a:solidFill>
            <a:srgbClr val="E3EE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 3"/>
          <p:cNvSpPr/>
          <p:nvPr/>
        </p:nvSpPr>
        <p:spPr>
          <a:xfrm>
            <a:off x="822960" y="4937760"/>
            <a:ext cx="105152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2506B"/>
                </a:solidFill>
                <a:effectLst/>
                <a:uFillTx/>
                <a:latin typeface="Calibri"/>
                <a:ea typeface="Calibri"/>
              </a:rPr>
              <a:t>What stays the same:  </a:t>
            </a:r>
            <a:r>
              <a:rPr lang="en-US" sz="125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the ray-tracing method, the DSL, the component architecture, and the statistical-weight formalism are identical — only the physics inside the components differs.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4"/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McStas &amp; McXtrace  ·  Common Introduction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5"/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3" name="Copied Picture 12"/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4" name="Picture 3"/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COMMUNITY &amp; PRACTICALITIES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0242B"/>
                </a:solidFill>
                <a:effectLst/>
                <a:uFillTx/>
                <a:latin typeface="Cambria"/>
                <a:ea typeface="Cambria"/>
              </a:rPr>
              <a:t>Open, portable, community-built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2"/>
          <p:cNvSpPr/>
          <p:nvPr/>
        </p:nvSpPr>
        <p:spPr>
          <a:xfrm>
            <a:off x="548640" y="1828800"/>
            <a:ext cx="2605680" cy="173700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 3"/>
          <p:cNvSpPr/>
          <p:nvPr/>
        </p:nvSpPr>
        <p:spPr>
          <a:xfrm>
            <a:off x="548640" y="1993320"/>
            <a:ext cx="26056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GPL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4"/>
          <p:cNvSpPr/>
          <p:nvPr/>
        </p:nvSpPr>
        <p:spPr>
          <a:xfrm>
            <a:off x="685800" y="2697480"/>
            <a:ext cx="23313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Open-source license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for both packages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5"/>
          <p:cNvSpPr/>
          <p:nvPr/>
        </p:nvSpPr>
        <p:spPr>
          <a:xfrm>
            <a:off x="3383280" y="1828800"/>
            <a:ext cx="2605680" cy="173700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 6"/>
          <p:cNvSpPr/>
          <p:nvPr/>
        </p:nvSpPr>
        <p:spPr>
          <a:xfrm>
            <a:off x="3383280" y="1993320"/>
            <a:ext cx="26056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D97A2B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7"/>
          <p:cNvSpPr/>
          <p:nvPr/>
        </p:nvSpPr>
        <p:spPr>
          <a:xfrm>
            <a:off x="3520440" y="2697480"/>
            <a:ext cx="23313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Platforms: Linux,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macOS, Windows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8"/>
          <p:cNvSpPr/>
          <p:nvPr/>
        </p:nvSpPr>
        <p:spPr>
          <a:xfrm>
            <a:off x="6217920" y="1828800"/>
            <a:ext cx="2605680" cy="173700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 9"/>
          <p:cNvSpPr/>
          <p:nvPr/>
        </p:nvSpPr>
        <p:spPr>
          <a:xfrm>
            <a:off x="6217920" y="1993320"/>
            <a:ext cx="26056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175+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0"/>
          <p:cNvSpPr/>
          <p:nvPr/>
        </p:nvSpPr>
        <p:spPr>
          <a:xfrm>
            <a:off x="6355080" y="2697480"/>
            <a:ext cx="23313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Components in the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shared-style libraries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1"/>
          <p:cNvSpPr/>
          <p:nvPr/>
        </p:nvSpPr>
        <p:spPr>
          <a:xfrm>
            <a:off x="9052560" y="1828800"/>
            <a:ext cx="2605680" cy="173700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 12"/>
          <p:cNvSpPr/>
          <p:nvPr/>
        </p:nvSpPr>
        <p:spPr>
          <a:xfrm>
            <a:off x="9052560" y="1993320"/>
            <a:ext cx="26056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D97A2B"/>
                </a:solidFill>
                <a:effectLst/>
                <a:uFillTx/>
                <a:latin typeface="Cambria"/>
                <a:ea typeface="Cambria"/>
              </a:rPr>
              <a:t>30–40%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3"/>
          <p:cNvSpPr/>
          <p:nvPr/>
        </p:nvSpPr>
        <p:spPr>
          <a:xfrm>
            <a:off x="9189720" y="2697480"/>
            <a:ext cx="23313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Of new components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come from users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4"/>
          <p:cNvSpPr/>
          <p:nvPr/>
        </p:nvSpPr>
        <p:spPr>
          <a:xfrm>
            <a:off x="548640" y="3840480"/>
            <a:ext cx="1106388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0242B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Runs everywhere from a laptop to HPC clusters and GPUs (OpenACC) — the same generated C code, recompiled per target.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0242B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New components automatically fit the framework once written in structured, standard C.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0242B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Contributions require at least one test instrument and a documented header — then they join the shared contrib/ library.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20242B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Permanent staff at DTU Physics maintain the core; a wider network of institutes and students keeps both libraries growing.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5"/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McStas &amp; McXtrace  ·  Common Introduction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6"/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2" name="Copied Picture 19"/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3" name="Picture 19"/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ONE CORE TEAM, TWO NETWORKS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0242B"/>
                </a:solidFill>
                <a:effectLst/>
                <a:uFillTx/>
                <a:latin typeface="Cambria"/>
                <a:ea typeface="Cambria"/>
              </a:rPr>
              <a:t>Who builds &amp; maintains them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"/>
          <p:cNvSpPr/>
          <p:nvPr/>
        </p:nvSpPr>
        <p:spPr>
          <a:xfrm>
            <a:off x="548640" y="1417320"/>
            <a:ext cx="10881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A shared core team at DTU Physics, plus partner institutes around each package.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3"/>
          <p:cNvSpPr/>
          <p:nvPr/>
        </p:nvSpPr>
        <p:spPr>
          <a:xfrm>
            <a:off x="548640" y="1965960"/>
            <a:ext cx="5257440" cy="3565800"/>
          </a:xfrm>
          <a:prstGeom prst="roundRect">
            <a:avLst>
              <a:gd name="adj" fmla="val 2564"/>
            </a:avLst>
          </a:prstGeom>
          <a:solidFill>
            <a:srgbClr val="E3EE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 4"/>
          <p:cNvSpPr/>
          <p:nvPr/>
        </p:nvSpPr>
        <p:spPr>
          <a:xfrm>
            <a:off x="868680" y="2194560"/>
            <a:ext cx="4617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McStas partner network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5"/>
          <p:cNvSpPr/>
          <p:nvPr/>
        </p:nvSpPr>
        <p:spPr>
          <a:xfrm>
            <a:off x="868680" y="2697480"/>
            <a:ext cx="4617360" cy="265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20242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DTU Physics (core development)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20242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European Spallation Source (ESS DMSC)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20242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University of Copenhagen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20242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Institut Laue-Langevin (ILL), Grenoble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20242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Paul Scherrer Institute (PSI)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6"/>
          <p:cNvSpPr/>
          <p:nvPr/>
        </p:nvSpPr>
        <p:spPr>
          <a:xfrm>
            <a:off x="6172200" y="1965960"/>
            <a:ext cx="5257440" cy="3565800"/>
          </a:xfrm>
          <a:prstGeom prst="roundRect">
            <a:avLst>
              <a:gd name="adj" fmla="val 2564"/>
            </a:avLst>
          </a:prstGeom>
          <a:solidFill>
            <a:srgbClr val="FBEB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 7"/>
          <p:cNvSpPr/>
          <p:nvPr/>
        </p:nvSpPr>
        <p:spPr>
          <a:xfrm>
            <a:off x="6492240" y="2194560"/>
            <a:ext cx="4617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97A2B"/>
                </a:solidFill>
                <a:effectLst/>
                <a:uFillTx/>
                <a:latin typeface="Cambria"/>
                <a:ea typeface="Cambria"/>
              </a:rPr>
              <a:t>McXtrace partner network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8"/>
          <p:cNvSpPr/>
          <p:nvPr/>
        </p:nvSpPr>
        <p:spPr>
          <a:xfrm>
            <a:off x="6492240" y="2697480"/>
            <a:ext cx="4617360" cy="265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20242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Synchrotron SOLEIL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20242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DTU Physics (core development)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20242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DTU Space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20242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University of Copenhagen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9"/>
          <p:cNvSpPr/>
          <p:nvPr/>
        </p:nvSpPr>
        <p:spPr>
          <a:xfrm>
            <a:off x="538560" y="572508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12506B"/>
                </a:solidFill>
                <a:effectLst/>
                <a:uFillTx/>
                <a:latin typeface="Calibri"/>
                <a:ea typeface="Calibri"/>
              </a:rPr>
              <a:t>Further both codes benefit from the greater network of users across a plethora of use-cases and applications.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12506B"/>
                </a:solidFill>
                <a:effectLst/>
                <a:uFillTx/>
                <a:latin typeface="Calibri"/>
                <a:ea typeface="Calibri"/>
              </a:rPr>
              <a:t>Several developers work across both projects — shared infrastructure means fixes and features often benefit both codes at once.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0"/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McStas &amp; McXtrace  ·  Common Introduction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1"/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6" name="Copied Picture 14"/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7" name="Picture 14"/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APPLICATIONS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0242B"/>
                </a:solidFill>
                <a:effectLst/>
                <a:uFillTx/>
                <a:latin typeface="Cambria"/>
                <a:ea typeface="Cambria"/>
              </a:rPr>
              <a:t>What are they used for?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2"/>
          <p:cNvSpPr/>
          <p:nvPr/>
        </p:nvSpPr>
        <p:spPr>
          <a:xfrm>
            <a:off x="548640" y="2011680"/>
            <a:ext cx="2084400" cy="329148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1" name="Shape 3"/>
          <p:cNvSpPr/>
          <p:nvPr/>
        </p:nvSpPr>
        <p:spPr>
          <a:xfrm>
            <a:off x="1334880" y="2286000"/>
            <a:ext cx="511560" cy="511560"/>
          </a:xfrm>
          <a:prstGeom prst="ellipse">
            <a:avLst/>
          </a:prstGeom>
          <a:solidFill>
            <a:srgbClr val="E3EE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2" name="Text 4"/>
          <p:cNvSpPr/>
          <p:nvPr/>
        </p:nvSpPr>
        <p:spPr>
          <a:xfrm>
            <a:off x="1334880" y="228600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5"/>
          <p:cNvSpPr/>
          <p:nvPr/>
        </p:nvSpPr>
        <p:spPr>
          <a:xfrm>
            <a:off x="685800" y="2971800"/>
            <a:ext cx="18100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Instrument design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6"/>
          <p:cNvSpPr/>
          <p:nvPr/>
        </p:nvSpPr>
        <p:spPr>
          <a:xfrm>
            <a:off x="713160" y="3520440"/>
            <a:ext cx="175536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Planning and optimising new beamlines before they're built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7"/>
          <p:cNvSpPr/>
          <p:nvPr/>
        </p:nvSpPr>
        <p:spPr>
          <a:xfrm>
            <a:off x="2797920" y="2011680"/>
            <a:ext cx="2084400" cy="329148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6" name="Shape 8"/>
          <p:cNvSpPr/>
          <p:nvPr/>
        </p:nvSpPr>
        <p:spPr>
          <a:xfrm>
            <a:off x="3584520" y="2286000"/>
            <a:ext cx="511560" cy="511560"/>
          </a:xfrm>
          <a:prstGeom prst="ellipse">
            <a:avLst/>
          </a:prstGeom>
          <a:solidFill>
            <a:srgbClr val="FBEB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7" name="Text 9"/>
          <p:cNvSpPr/>
          <p:nvPr/>
        </p:nvSpPr>
        <p:spPr>
          <a:xfrm>
            <a:off x="3584520" y="228600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97A2B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0"/>
          <p:cNvSpPr/>
          <p:nvPr/>
        </p:nvSpPr>
        <p:spPr>
          <a:xfrm>
            <a:off x="2935080" y="2971800"/>
            <a:ext cx="18100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Construction support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1"/>
          <p:cNvSpPr/>
          <p:nvPr/>
        </p:nvSpPr>
        <p:spPr>
          <a:xfrm>
            <a:off x="2962800" y="3520440"/>
            <a:ext cx="175536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Verifying components and layouts during commissioning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2"/>
          <p:cNvSpPr/>
          <p:nvPr/>
        </p:nvSpPr>
        <p:spPr>
          <a:xfrm>
            <a:off x="5047560" y="2011680"/>
            <a:ext cx="2084400" cy="329148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1" name="Shape 13"/>
          <p:cNvSpPr/>
          <p:nvPr/>
        </p:nvSpPr>
        <p:spPr>
          <a:xfrm>
            <a:off x="5833800" y="2286000"/>
            <a:ext cx="511560" cy="511560"/>
          </a:xfrm>
          <a:prstGeom prst="ellipse">
            <a:avLst/>
          </a:prstGeom>
          <a:solidFill>
            <a:srgbClr val="E3EE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 14"/>
          <p:cNvSpPr/>
          <p:nvPr/>
        </p:nvSpPr>
        <p:spPr>
          <a:xfrm>
            <a:off x="5833800" y="228600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5"/>
          <p:cNvSpPr/>
          <p:nvPr/>
        </p:nvSpPr>
        <p:spPr>
          <a:xfrm>
            <a:off x="5184720" y="2971800"/>
            <a:ext cx="18100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Virtual experiments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6"/>
          <p:cNvSpPr/>
          <p:nvPr/>
        </p:nvSpPr>
        <p:spPr>
          <a:xfrm>
            <a:off x="5212080" y="3520440"/>
            <a:ext cx="175536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Letting prospective users try an experiment before travelling to a facility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7"/>
          <p:cNvSpPr/>
          <p:nvPr/>
        </p:nvSpPr>
        <p:spPr>
          <a:xfrm>
            <a:off x="7296840" y="2011680"/>
            <a:ext cx="2084400" cy="329148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6" name="Shape 18"/>
          <p:cNvSpPr/>
          <p:nvPr/>
        </p:nvSpPr>
        <p:spPr>
          <a:xfrm>
            <a:off x="8083440" y="2286000"/>
            <a:ext cx="511560" cy="511560"/>
          </a:xfrm>
          <a:prstGeom prst="ellipse">
            <a:avLst/>
          </a:prstGeom>
          <a:solidFill>
            <a:srgbClr val="FBEB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7" name="Text 19"/>
          <p:cNvSpPr/>
          <p:nvPr/>
        </p:nvSpPr>
        <p:spPr>
          <a:xfrm>
            <a:off x="8083440" y="228600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97A2B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0"/>
          <p:cNvSpPr/>
          <p:nvPr/>
        </p:nvSpPr>
        <p:spPr>
          <a:xfrm>
            <a:off x="7434000" y="2971800"/>
            <a:ext cx="18100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Data analysis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1"/>
          <p:cNvSpPr/>
          <p:nvPr/>
        </p:nvSpPr>
        <p:spPr>
          <a:xfrm>
            <a:off x="7461360" y="3520440"/>
            <a:ext cx="175536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Comparing measured data against simulated instrument response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22"/>
          <p:cNvSpPr/>
          <p:nvPr/>
        </p:nvSpPr>
        <p:spPr>
          <a:xfrm>
            <a:off x="9546480" y="2011680"/>
            <a:ext cx="2084400" cy="329148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1" name="Shape 23"/>
          <p:cNvSpPr/>
          <p:nvPr/>
        </p:nvSpPr>
        <p:spPr>
          <a:xfrm>
            <a:off x="10332720" y="2286000"/>
            <a:ext cx="511560" cy="511560"/>
          </a:xfrm>
          <a:prstGeom prst="ellipse">
            <a:avLst/>
          </a:prstGeom>
          <a:solidFill>
            <a:srgbClr val="E3EE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 24"/>
          <p:cNvSpPr/>
          <p:nvPr/>
        </p:nvSpPr>
        <p:spPr>
          <a:xfrm>
            <a:off x="10332720" y="228600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5"/>
          <p:cNvSpPr/>
          <p:nvPr/>
        </p:nvSpPr>
        <p:spPr>
          <a:xfrm>
            <a:off x="9683640" y="2971800"/>
            <a:ext cx="18100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Teaching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6"/>
          <p:cNvSpPr/>
          <p:nvPr/>
        </p:nvSpPr>
        <p:spPr>
          <a:xfrm>
            <a:off x="9711000" y="3520440"/>
            <a:ext cx="175536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Training students and new users in instrumentation &amp; scattering methods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7"/>
          <p:cNvSpPr/>
          <p:nvPr/>
        </p:nvSpPr>
        <p:spPr>
          <a:xfrm>
            <a:off x="548640" y="56235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Both communities use their code across the full lifecycle — from first sketch to published data.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8"/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McStas &amp; McXtrace  ·  Common Introduction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9"/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8" name="Copied Picture 32"/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9" name="Picture 32"/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ECOSYSTEM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0242B"/>
                </a:solidFill>
                <a:effectLst/>
                <a:uFillTx/>
                <a:latin typeface="Cambria"/>
                <a:ea typeface="Cambria"/>
              </a:rPr>
              <a:t>A shared, interoperable ecosystem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2"/>
          <p:cNvSpPr/>
          <p:nvPr/>
        </p:nvSpPr>
        <p:spPr>
          <a:xfrm>
            <a:off x="548640" y="1783080"/>
            <a:ext cx="5394600" cy="196560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3" name="Shape 3"/>
          <p:cNvSpPr/>
          <p:nvPr/>
        </p:nvSpPr>
        <p:spPr>
          <a:xfrm>
            <a:off x="822960" y="2039040"/>
            <a:ext cx="456840" cy="456840"/>
          </a:xfrm>
          <a:prstGeom prst="ellipse">
            <a:avLst/>
          </a:prstGeom>
          <a:solidFill>
            <a:srgbClr val="E3EE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4" name="Text 4"/>
          <p:cNvSpPr/>
          <p:nvPr/>
        </p:nvSpPr>
        <p:spPr>
          <a:xfrm>
            <a:off x="822960" y="2039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5"/>
          <p:cNvSpPr/>
          <p:nvPr/>
        </p:nvSpPr>
        <p:spPr>
          <a:xfrm>
            <a:off x="1463040" y="2057400"/>
            <a:ext cx="42058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MCPL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6"/>
          <p:cNvSpPr/>
          <p:nvPr/>
        </p:nvSpPr>
        <p:spPr>
          <a:xfrm>
            <a:off x="868680" y="2679120"/>
            <a:ext cx="48002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The Monte Carlo Particle List format lets McStas, McXtrace and other transport codes (MCNP, Geant4, PHITS, …) exchange rays and couple simulations together.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7"/>
          <p:cNvSpPr/>
          <p:nvPr/>
        </p:nvSpPr>
        <p:spPr>
          <a:xfrm>
            <a:off x="6217920" y="1783080"/>
            <a:ext cx="5394600" cy="196560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8" name="Shape 8"/>
          <p:cNvSpPr/>
          <p:nvPr/>
        </p:nvSpPr>
        <p:spPr>
          <a:xfrm>
            <a:off x="6492240" y="2039040"/>
            <a:ext cx="456840" cy="456840"/>
          </a:xfrm>
          <a:prstGeom prst="ellipse">
            <a:avLst/>
          </a:prstGeom>
          <a:solidFill>
            <a:srgbClr val="FBEB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 9"/>
          <p:cNvSpPr/>
          <p:nvPr/>
        </p:nvSpPr>
        <p:spPr>
          <a:xfrm>
            <a:off x="6492240" y="2039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97A2B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0"/>
          <p:cNvSpPr/>
          <p:nvPr/>
        </p:nvSpPr>
        <p:spPr>
          <a:xfrm>
            <a:off x="7132320" y="2057400"/>
            <a:ext cx="42058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Graphical interface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1"/>
          <p:cNvSpPr/>
          <p:nvPr/>
        </p:nvSpPr>
        <p:spPr>
          <a:xfrm>
            <a:off x="6537960" y="2679120"/>
            <a:ext cx="48002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A common Python-based GUI supports building, running and browsing results for instruments in either code.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12"/>
          <p:cNvSpPr/>
          <p:nvPr/>
        </p:nvSpPr>
        <p:spPr>
          <a:xfrm>
            <a:off x="548640" y="4023360"/>
            <a:ext cx="5394600" cy="196560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3" name="Shape 13"/>
          <p:cNvSpPr/>
          <p:nvPr/>
        </p:nvSpPr>
        <p:spPr>
          <a:xfrm>
            <a:off x="822960" y="4279320"/>
            <a:ext cx="456840" cy="456840"/>
          </a:xfrm>
          <a:prstGeom prst="ellipse">
            <a:avLst/>
          </a:prstGeom>
          <a:solidFill>
            <a:srgbClr val="E3EE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4" name="Text 14"/>
          <p:cNvSpPr/>
          <p:nvPr/>
        </p:nvSpPr>
        <p:spPr>
          <a:xfrm>
            <a:off x="822960" y="4279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5"/>
          <p:cNvSpPr/>
          <p:nvPr/>
        </p:nvSpPr>
        <p:spPr>
          <a:xfrm>
            <a:off x="1463040" y="4297680"/>
            <a:ext cx="42058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Plotting tools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6"/>
          <p:cNvSpPr/>
          <p:nvPr/>
        </p:nvSpPr>
        <p:spPr>
          <a:xfrm>
            <a:off x="868680" y="4919400"/>
            <a:ext cx="48002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A shared plotting toolchain (HTML/D3, pyqtgraph, matplotlib backends) visualises monitor output from both packages.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17"/>
          <p:cNvSpPr/>
          <p:nvPr/>
        </p:nvSpPr>
        <p:spPr>
          <a:xfrm>
            <a:off x="6217920" y="4023360"/>
            <a:ext cx="5394600" cy="196560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8" name="Shape 18"/>
          <p:cNvSpPr/>
          <p:nvPr/>
        </p:nvSpPr>
        <p:spPr>
          <a:xfrm>
            <a:off x="6492240" y="4279320"/>
            <a:ext cx="456840" cy="456840"/>
          </a:xfrm>
          <a:prstGeom prst="ellipse">
            <a:avLst/>
          </a:prstGeom>
          <a:solidFill>
            <a:srgbClr val="FBEB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9" name="Text 19"/>
          <p:cNvSpPr/>
          <p:nvPr/>
        </p:nvSpPr>
        <p:spPr>
          <a:xfrm>
            <a:off x="6492240" y="4279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97A2B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20"/>
          <p:cNvSpPr/>
          <p:nvPr/>
        </p:nvSpPr>
        <p:spPr>
          <a:xfrm>
            <a:off x="7132320" y="4297680"/>
            <a:ext cx="42058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Packaging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21"/>
          <p:cNvSpPr/>
          <p:nvPr/>
        </p:nvSpPr>
        <p:spPr>
          <a:xfrm>
            <a:off x="6537960" y="4919400"/>
            <a:ext cx="48002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Conda-forge distributions and cross-platform installers keep both codes easy to install on Linux, macOS and Windows.</a:t>
            </a:r>
            <a:endParaRPr lang="fr-FR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2"/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McStas &amp; McXtrace  ·  Common Introduction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3"/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Copied Picture 26"/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Picture 26"/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Tools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"/>
          <p:cNvSpPr/>
          <p:nvPr/>
        </p:nvSpPr>
        <p:spPr>
          <a:xfrm>
            <a:off x="548640" y="658440"/>
            <a:ext cx="11063880" cy="46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0242B"/>
                </a:solidFill>
                <a:effectLst/>
                <a:uFillTx/>
                <a:latin typeface="Cambria"/>
                <a:ea typeface="Cambria"/>
              </a:rPr>
              <a:t>Shared interfaces, tools and utilities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2"/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McStas &amp; McXtrace  ·  Common Introduction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3"/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0" name="Copied Picture 26"/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1" name="Picture 26"/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62" name="Group"/>
          <p:cNvGrpSpPr/>
          <p:nvPr/>
        </p:nvGrpSpPr>
        <p:grpSpPr>
          <a:xfrm>
            <a:off x="908640" y="1125000"/>
            <a:ext cx="10374480" cy="5508360"/>
            <a:chOff x="908640" y="1125000"/>
            <a:chExt cx="10374480" cy="5508360"/>
          </a:xfrm>
        </p:grpSpPr>
        <p:pic>
          <p:nvPicPr>
            <p:cNvPr id="363" name="Screenshot 2023-05-18 at 10.36.19.png" descr="Screenshot 2023-05-18 at 10.36.19.png"/>
            <p:cNvPicPr/>
            <p:nvPr/>
          </p:nvPicPr>
          <p:blipFill>
            <a:blip r:embed="rId5"/>
            <a:stretch/>
          </p:blipFill>
          <p:spPr>
            <a:xfrm>
              <a:off x="908640" y="1125000"/>
              <a:ext cx="5470560" cy="5352120"/>
            </a:xfrm>
            <a:prstGeom prst="rect">
              <a:avLst/>
            </a:prstGeom>
            <a:noFill/>
            <a:ln w="12700">
              <a:noFill/>
            </a:ln>
          </p:spPr>
        </p:pic>
        <p:pic>
          <p:nvPicPr>
            <p:cNvPr id="364" name="Group" descr="Group"/>
            <p:cNvPicPr/>
            <p:nvPr/>
          </p:nvPicPr>
          <p:blipFill>
            <a:blip r:embed="rId6"/>
            <a:stretch/>
          </p:blipFill>
          <p:spPr>
            <a:xfrm>
              <a:off x="6178680" y="1639440"/>
              <a:ext cx="5104440" cy="4993920"/>
            </a:xfrm>
            <a:prstGeom prst="rect">
              <a:avLst/>
            </a:prstGeom>
            <a:noFill/>
            <a:ln w="12700"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GETTING STARTED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rgbClr val="20242B"/>
                </a:solidFill>
                <a:effectLst/>
                <a:uFillTx/>
                <a:latin typeface="Cambria"/>
                <a:ea typeface="Cambria"/>
              </a:rPr>
              <a:t>Where to go next</a:t>
            </a:r>
            <a:endParaRPr lang="fr-FR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2"/>
          <p:cNvSpPr/>
          <p:nvPr/>
        </p:nvSpPr>
        <p:spPr>
          <a:xfrm>
            <a:off x="548640" y="2255520"/>
            <a:ext cx="5257440" cy="3748680"/>
          </a:xfrm>
          <a:prstGeom prst="roundRect">
            <a:avLst>
              <a:gd name="adj" fmla="val 2439"/>
            </a:avLst>
          </a:prstGeom>
          <a:solidFill>
            <a:srgbClr val="E3EE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8" name="Text 3"/>
          <p:cNvSpPr/>
          <p:nvPr/>
        </p:nvSpPr>
        <p:spPr>
          <a:xfrm>
            <a:off x="868680" y="2484120"/>
            <a:ext cx="4617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McStas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4"/>
          <p:cNvSpPr/>
          <p:nvPr/>
        </p:nvSpPr>
        <p:spPr>
          <a:xfrm>
            <a:off x="868680" y="3032760"/>
            <a:ext cx="4617360" cy="2739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99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WEBSITE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5"/>
          <p:cNvSpPr/>
          <p:nvPr/>
        </p:nvSpPr>
        <p:spPr>
          <a:xfrm>
            <a:off x="868680" y="3307080"/>
            <a:ext cx="4617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mcstas.org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6"/>
          <p:cNvSpPr/>
          <p:nvPr/>
        </p:nvSpPr>
        <p:spPr>
          <a:xfrm>
            <a:off x="868680" y="3782640"/>
            <a:ext cx="4617360" cy="2739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99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MAILING LIST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7"/>
          <p:cNvSpPr/>
          <p:nvPr/>
        </p:nvSpPr>
        <p:spPr>
          <a:xfrm>
            <a:off x="868680" y="4056960"/>
            <a:ext cx="4617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mcstas-users@mcstas.org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8"/>
          <p:cNvSpPr/>
          <p:nvPr/>
        </p:nvSpPr>
        <p:spPr>
          <a:xfrm>
            <a:off x="868680" y="4532520"/>
            <a:ext cx="4617360" cy="2739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99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INSTALL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9"/>
          <p:cNvSpPr/>
          <p:nvPr/>
        </p:nvSpPr>
        <p:spPr>
          <a:xfrm>
            <a:off x="868680" y="4806840"/>
            <a:ext cx="4617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 err="1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conda</a:t>
            </a:r>
            <a:r>
              <a:rPr lang="en-US" sz="1250" b="0" u="none" strike="noStrike" dirty="0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-forge  ·  cross-platform installers</a:t>
            </a:r>
            <a:endParaRPr lang="fr-FR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0"/>
          <p:cNvSpPr/>
          <p:nvPr/>
        </p:nvSpPr>
        <p:spPr>
          <a:xfrm>
            <a:off x="868680" y="5282040"/>
            <a:ext cx="4617360" cy="2739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99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SOURCE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1"/>
          <p:cNvSpPr/>
          <p:nvPr/>
        </p:nvSpPr>
        <p:spPr>
          <a:xfrm>
            <a:off x="868680" y="5556360"/>
            <a:ext cx="4617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GitHub  —  McStasMcXtrace/McCode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2"/>
          <p:cNvSpPr/>
          <p:nvPr/>
        </p:nvSpPr>
        <p:spPr>
          <a:xfrm>
            <a:off x="6172200" y="2255520"/>
            <a:ext cx="5257440" cy="3748680"/>
          </a:xfrm>
          <a:prstGeom prst="roundRect">
            <a:avLst>
              <a:gd name="adj" fmla="val 2439"/>
            </a:avLst>
          </a:prstGeom>
          <a:solidFill>
            <a:srgbClr val="FBEB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8" name="Text 13"/>
          <p:cNvSpPr/>
          <p:nvPr/>
        </p:nvSpPr>
        <p:spPr>
          <a:xfrm>
            <a:off x="6492240" y="2484120"/>
            <a:ext cx="4617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97A2B"/>
                </a:solidFill>
                <a:effectLst/>
                <a:uFillTx/>
                <a:latin typeface="Cambria"/>
                <a:ea typeface="Cambria"/>
              </a:rPr>
              <a:t>McXtrace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4"/>
          <p:cNvSpPr/>
          <p:nvPr/>
        </p:nvSpPr>
        <p:spPr>
          <a:xfrm>
            <a:off x="6492240" y="3032760"/>
            <a:ext cx="4617360" cy="2739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99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WEBSITE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5"/>
          <p:cNvSpPr/>
          <p:nvPr/>
        </p:nvSpPr>
        <p:spPr>
          <a:xfrm>
            <a:off x="6492240" y="3307080"/>
            <a:ext cx="4617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mcxtrace.org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6"/>
          <p:cNvSpPr/>
          <p:nvPr/>
        </p:nvSpPr>
        <p:spPr>
          <a:xfrm>
            <a:off x="6492240" y="3782640"/>
            <a:ext cx="4617360" cy="2739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99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MAILING LIST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7"/>
          <p:cNvSpPr/>
          <p:nvPr/>
        </p:nvSpPr>
        <p:spPr>
          <a:xfrm>
            <a:off x="6492240" y="4056960"/>
            <a:ext cx="4617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mcxtrace-users@mcxtrace.org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8"/>
          <p:cNvSpPr/>
          <p:nvPr/>
        </p:nvSpPr>
        <p:spPr>
          <a:xfrm>
            <a:off x="6492240" y="4532520"/>
            <a:ext cx="4617360" cy="2739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99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INSTALL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9"/>
          <p:cNvSpPr/>
          <p:nvPr/>
        </p:nvSpPr>
        <p:spPr>
          <a:xfrm>
            <a:off x="6492240" y="4806840"/>
            <a:ext cx="4617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conda-forge  ·  cross-platform installers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0"/>
          <p:cNvSpPr/>
          <p:nvPr/>
        </p:nvSpPr>
        <p:spPr>
          <a:xfrm>
            <a:off x="6492240" y="5282040"/>
            <a:ext cx="4617360" cy="2739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99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SOURCE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21"/>
          <p:cNvSpPr/>
          <p:nvPr/>
        </p:nvSpPr>
        <p:spPr>
          <a:xfrm>
            <a:off x="6492240" y="5556360"/>
            <a:ext cx="4617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GitHub  —  McStasMcXtrace/McCode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22"/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McStas &amp; McXtrace  ·  Common Introduction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23"/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9" name="Copied Picture 26"/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0" name="Picture 26"/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TextBox 27"/>
          <p:cNvSpPr/>
          <p:nvPr/>
        </p:nvSpPr>
        <p:spPr>
          <a:xfrm>
            <a:off x="3694512" y="6077915"/>
            <a:ext cx="4891680" cy="7372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 anchorCtr="1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GB" sz="1400" b="1" u="none" strike="noStrike" dirty="0">
                <a:solidFill>
                  <a:schemeClr val="bg2">
                    <a:lumMod val="75000"/>
                  </a:schemeClr>
                </a:solidFill>
                <a:effectLst/>
                <a:uFillTx/>
                <a:latin typeface="Calibri"/>
              </a:rPr>
              <a:t>A</a:t>
            </a:r>
            <a:r>
              <a:rPr lang="en-DK" sz="1400" b="1" u="none" strike="noStrike" dirty="0">
                <a:solidFill>
                  <a:schemeClr val="bg2">
                    <a:lumMod val="75000"/>
                  </a:schemeClr>
                </a:solidFill>
                <a:effectLst/>
                <a:uFillTx/>
                <a:latin typeface="Calibri"/>
              </a:rPr>
              <a:t>lternative route just for the MC</a:t>
            </a:r>
            <a:br>
              <a:rPr lang="en-DK" sz="1400" b="1" u="none" strike="noStrike" dirty="0">
                <a:solidFill>
                  <a:schemeClr val="bg2">
                    <a:lumMod val="75000"/>
                  </a:schemeClr>
                </a:solidFill>
                <a:effectLst/>
                <a:uFillTx/>
                <a:latin typeface="Calibri"/>
              </a:rPr>
            </a:br>
            <a:r>
              <a:rPr lang="en-DK" sz="1400" b="1" u="none" strike="noStrike" dirty="0">
                <a:solidFill>
                  <a:schemeClr val="bg2">
                    <a:lumMod val="75000"/>
                  </a:schemeClr>
                </a:solidFill>
                <a:effectLst/>
                <a:uFillTx/>
                <a:latin typeface="Calibri"/>
              </a:rPr>
              <a:t>micromamba env create </a:t>
            </a:r>
            <a:r>
              <a:rPr lang="en-DK" sz="1400" b="1" dirty="0">
                <a:solidFill>
                  <a:schemeClr val="bg2">
                    <a:lumMod val="75000"/>
                  </a:schemeClr>
                </a:solidFill>
                <a:latin typeface="Calibri"/>
              </a:rPr>
              <a:t>-</a:t>
            </a:r>
            <a:r>
              <a:rPr lang="en-DK" sz="1400" b="1" u="none" strike="noStrike" dirty="0">
                <a:solidFill>
                  <a:schemeClr val="bg2">
                    <a:lumMod val="75000"/>
                  </a:schemeClr>
                </a:solidFill>
                <a:effectLst/>
                <a:uFillTx/>
                <a:latin typeface="Calibri"/>
              </a:rPr>
              <a:t>n panraidMC mcstas mcxtrace -y</a:t>
            </a:r>
            <a:endParaRPr lang="fr-FR" sz="1400" b="1" u="none" strike="noStrike" dirty="0">
              <a:solidFill>
                <a:schemeClr val="bg2">
                  <a:lumMod val="75000"/>
                </a:schemeClr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DK" sz="1400" b="1" u="none" strike="noStrike" dirty="0">
                <a:solidFill>
                  <a:schemeClr val="bg2">
                    <a:lumMod val="75000"/>
                  </a:schemeClr>
                </a:solidFill>
                <a:effectLst/>
                <a:uFillTx/>
                <a:latin typeface="Calibri"/>
              </a:rPr>
              <a:t>(apt install mcstas-suite-python-ng mcxtrace-suite-python-ng) </a:t>
            </a:r>
            <a:endParaRPr lang="fr-FR" sz="1400" b="1" u="none" strike="noStrike" dirty="0">
              <a:solidFill>
                <a:schemeClr val="bg2">
                  <a:lumMod val="7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C2F360-F8C6-A464-FCE1-8694E922785C}"/>
              </a:ext>
            </a:extLst>
          </p:cNvPr>
          <p:cNvSpPr txBox="1"/>
          <p:nvPr/>
        </p:nvSpPr>
        <p:spPr>
          <a:xfrm>
            <a:off x="2271217" y="1443413"/>
            <a:ext cx="7618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b="1" dirty="0">
                <a:hlinkClick r:id="rId5"/>
              </a:rPr>
              <a:t>https://github.com/mccode-dev/PaNRAID/tree/main/Software has a .yml</a:t>
            </a:r>
            <a:r>
              <a:rPr lang="en-DK" b="1" dirty="0"/>
              <a:t> file with McStas, McXtrace and the PaNRAID selection of AI libs / tools 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B1A4FD8-CD57-F53B-E594-3E74C98049D1}"/>
              </a:ext>
            </a:extLst>
          </p:cNvPr>
          <p:cNvSpPr/>
          <p:nvPr/>
        </p:nvSpPr>
        <p:spPr>
          <a:xfrm>
            <a:off x="920725" y="145988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4D688613-06C5-BE20-FC6F-3AC6B70A3929}"/>
              </a:ext>
            </a:extLst>
          </p:cNvPr>
          <p:cNvSpPr/>
          <p:nvPr/>
        </p:nvSpPr>
        <p:spPr>
          <a:xfrm rot="10800000">
            <a:off x="10375920" y="148104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0"/>
          <p:cNvSpPr/>
          <p:nvPr/>
        </p:nvSpPr>
        <p:spPr>
          <a:xfrm>
            <a:off x="9410040" y="-1457640"/>
            <a:ext cx="4754520" cy="475452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3" name="Shape 1"/>
          <p:cNvSpPr/>
          <p:nvPr/>
        </p:nvSpPr>
        <p:spPr>
          <a:xfrm>
            <a:off x="-1828800" y="4206240"/>
            <a:ext cx="4205880" cy="420588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4" name="Text 2"/>
          <p:cNvSpPr/>
          <p:nvPr/>
        </p:nvSpPr>
        <p:spPr>
          <a:xfrm>
            <a:off x="822960" y="22860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Thank you</a:t>
            </a:r>
            <a:endParaRPr lang="fr-FR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3"/>
          <p:cNvSpPr/>
          <p:nvPr/>
        </p:nvSpPr>
        <p:spPr>
          <a:xfrm>
            <a:off x="822960" y="324612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7D3F0"/>
                </a:solidFill>
                <a:effectLst/>
                <a:uFillTx/>
                <a:latin typeface="Calibri"/>
                <a:ea typeface="Calibri"/>
              </a:rPr>
              <a:t>Questions?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4"/>
          <p:cNvSpPr/>
          <p:nvPr/>
        </p:nvSpPr>
        <p:spPr>
          <a:xfrm>
            <a:off x="822960" y="4297680"/>
            <a:ext cx="1416960" cy="3106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 5"/>
          <p:cNvSpPr/>
          <p:nvPr/>
        </p:nvSpPr>
        <p:spPr>
          <a:xfrm>
            <a:off x="822960" y="4297680"/>
            <a:ext cx="14169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mcstas.org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6"/>
          <p:cNvSpPr/>
          <p:nvPr/>
        </p:nvSpPr>
        <p:spPr>
          <a:xfrm>
            <a:off x="2377440" y="4297680"/>
            <a:ext cx="1416960" cy="3106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9" name="Text 7"/>
          <p:cNvSpPr/>
          <p:nvPr/>
        </p:nvSpPr>
        <p:spPr>
          <a:xfrm>
            <a:off x="2377440" y="4297680"/>
            <a:ext cx="14169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mcxtrace.org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8"/>
          <p:cNvSpPr/>
          <p:nvPr/>
        </p:nvSpPr>
        <p:spPr>
          <a:xfrm>
            <a:off x="822960" y="5806440"/>
            <a:ext cx="2926080" cy="360"/>
          </a:xfrm>
          <a:prstGeom prst="line">
            <a:avLst/>
          </a:prstGeom>
          <a:ln w="12700">
            <a:solidFill>
              <a:srgbClr val="3C4A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1" name="Text 9"/>
          <p:cNvSpPr/>
          <p:nvPr/>
        </p:nvSpPr>
        <p:spPr>
          <a:xfrm>
            <a:off x="822960" y="58978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AB6DE"/>
                </a:solidFill>
                <a:effectLst/>
                <a:uFillTx/>
                <a:latin typeface="Calibri"/>
                <a:ea typeface="Calibri"/>
              </a:rPr>
              <a:t>Peter Willendrup   ·   pkwi@fysik.dtu.dk   ·   DTU Physics</a:t>
            </a:r>
            <a:endParaRPr lang="fr-F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0"/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McStas &amp; McXtrace  ·  Common Introduction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1"/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PartnerCard"/>
          <p:cNvSpPr/>
          <p:nvPr/>
        </p:nvSpPr>
        <p:spPr>
          <a:xfrm>
            <a:off x="6603840" y="4165560"/>
            <a:ext cx="4952520" cy="1574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vertOverflow="clip" horzOverflow="clip"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5" name="PartnerLabel"/>
          <p:cNvSpPr/>
          <p:nvPr/>
        </p:nvSpPr>
        <p:spPr>
          <a:xfrm>
            <a:off x="6921360" y="4368960"/>
            <a:ext cx="4317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11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SUPPORTED BY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6" name="Picture 15"/>
          <p:cNvPicPr/>
          <p:nvPr/>
        </p:nvPicPr>
        <p:blipFill>
          <a:blip r:embed="rId3"/>
          <a:stretch/>
        </p:blipFill>
        <p:spPr>
          <a:xfrm>
            <a:off x="6921360" y="4749840"/>
            <a:ext cx="4317480" cy="64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7" name="Copied Picture 17"/>
          <p:cNvPicPr/>
          <p:nvPr/>
        </p:nvPicPr>
        <p:blipFill>
          <a:blip r:embed="rId4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LogoCard"/>
          <p:cNvSpPr/>
          <p:nvPr/>
        </p:nvSpPr>
        <p:spPr>
          <a:xfrm>
            <a:off x="7375680" y="2105640"/>
            <a:ext cx="3809520" cy="149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vertOverflow="clip" horzOverflow="clip"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409" name="Group 18"/>
          <p:cNvGrpSpPr/>
          <p:nvPr/>
        </p:nvGrpSpPr>
        <p:grpSpPr>
          <a:xfrm>
            <a:off x="7882560" y="2194200"/>
            <a:ext cx="2796120" cy="1321200"/>
            <a:chOff x="7882560" y="2194200"/>
            <a:chExt cx="2796120" cy="1321200"/>
          </a:xfrm>
        </p:grpSpPr>
        <p:grpSp>
          <p:nvGrpSpPr>
            <p:cNvPr id="410" name="Group 19"/>
            <p:cNvGrpSpPr/>
            <p:nvPr/>
          </p:nvGrpSpPr>
          <p:grpSpPr>
            <a:xfrm>
              <a:off x="9289440" y="2194200"/>
              <a:ext cx="1389240" cy="1258200"/>
              <a:chOff x="9289440" y="2194200"/>
              <a:chExt cx="1389240" cy="1258200"/>
            </a:xfrm>
          </p:grpSpPr>
          <p:pic>
            <p:nvPicPr>
              <p:cNvPr id="411" name="Picture 21"/>
              <p:cNvPicPr/>
              <p:nvPr/>
            </p:nvPicPr>
            <p:blipFill>
              <a:blip r:embed="rId5"/>
              <a:srcRect l="48137"/>
              <a:stretch/>
            </p:blipFill>
            <p:spPr>
              <a:xfrm>
                <a:off x="9339120" y="2194200"/>
                <a:ext cx="1294200" cy="7758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412" name="Picture 22" descr="Synchrotron SOLEIL"/>
              <p:cNvPicPr/>
              <p:nvPr/>
            </p:nvPicPr>
            <p:blipFill>
              <a:blip r:embed="rId6"/>
              <a:stretch/>
            </p:blipFill>
            <p:spPr>
              <a:xfrm>
                <a:off x="9289440" y="2922840"/>
                <a:ext cx="963000" cy="4651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413" name="Picture 23" descr="DTU Physics"/>
              <p:cNvPicPr/>
              <p:nvPr/>
            </p:nvPicPr>
            <p:blipFill>
              <a:blip r:embed="rId7"/>
              <a:stretch/>
            </p:blipFill>
            <p:spPr>
              <a:xfrm>
                <a:off x="10325160" y="2931480"/>
                <a:ext cx="353520" cy="520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pic>
          <p:nvPicPr>
            <p:cNvPr id="414" name="Picture 20"/>
            <p:cNvPicPr/>
            <p:nvPr/>
          </p:nvPicPr>
          <p:blipFill>
            <a:blip r:embed="rId8"/>
            <a:stretch/>
          </p:blipFill>
          <p:spPr>
            <a:xfrm>
              <a:off x="7882560" y="2198880"/>
              <a:ext cx="1294200" cy="13165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</TotalTime>
  <Words>1759</Words>
  <Application>Microsoft Macintosh PowerPoint</Application>
  <PresentationFormat>Widescreen</PresentationFormat>
  <Paragraphs>328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Peter Willendrup</cp:lastModifiedBy>
  <cp:revision>26</cp:revision>
  <dcterms:created xsi:type="dcterms:W3CDTF">2026-08-07T06:27:43Z</dcterms:created>
  <dcterms:modified xsi:type="dcterms:W3CDTF">2026-09-17T14:31:30Z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Widescreen</vt:lpwstr>
  </property>
  <property fmtid="{D5CDD505-2E9C-101B-9397-08002B2CF9AE}" pid="4" name="Slides">
    <vt:i4>18</vt:i4>
  </property>
</Properties>
</file>