
<file path=[Content_Types].xml><?xml version="1.0" encoding="utf-8"?>
<Types xmlns="http://schemas.openxmlformats.org/package/2006/content-types">
  <Default Extension="emf" ContentType="image/x-emf"/>
  <Default Extension="gFcshqbBBNJXMkue9rdz7AHaFj" ContentType="image/jpeg"/>
  <Default Extension="gif" ContentType="image/gif"/>
  <Default Extension="jpeg" ContentType="image/jpeg"/>
  <Default Extension="png" ContentType="image/png"/>
  <Default Extension="png&amp;f=1&amp;nofb=1&amp;ipt=c2391166dfbe6ad55d19af41aac997728830ca221f15d8e86eb1575bdf63c5b7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83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73" r:id="rId21"/>
  </p:sldIdLst>
  <p:sldSz cx="12192000" cy="6858000"/>
  <p:notesSz cx="6858000" cy="12192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2810A47-47AB-471D-AF16-A08991720A4C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3B7C78D-8A23-4558-AC87-E1A2E1E6C69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93411C4-30AC-410E-8A65-16A916FBA27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603B6-A38F-79F6-E548-6FD101DD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0C15ECC1-5AAF-3D43-6387-431575911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1D8BA61D-B2B0-D140-D930-74FEEF1193E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7975D144-E7EE-8B9C-F6D8-99552FFE1C0E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7195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D28C7-FB94-C148-5E2D-3741FC96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07E72A4C-393A-45C5-1AAB-1B63351CC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1499D30D-C1EF-9422-C58F-373E432566E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4C676148-DE99-4BD7-4B4C-A0F621146B85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3612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DAAB-8B35-2EA8-603D-58B666EE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F8D344EE-75D2-A1A3-9970-E7CA6DDC9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BA2092B6-6FEC-EFF4-8C82-6E5E53C57C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1CA661F4-B058-DF3F-AC33-73EA2A57FDF2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1341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A553C-3266-270B-C901-054466FE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8AE9B6E4-8C4F-3206-FB09-BF4D78398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F1FBBE45-931E-4991-4958-8412F260318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FABE11BD-533D-E58F-3CF8-E3DA892E6ACC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5788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6E71-28D9-B1F6-0715-E7C30800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63DF7B78-55F7-B687-5965-21326DF43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CFCD14AD-137F-482A-6CA0-A46E8EEE72B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5A5ADAE9-E0D4-8435-BE6D-32B3E66F841E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773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7526C-899C-90E7-6EDB-CD60FE6B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DD9654DD-741C-AD00-7C0D-E88BF4861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BD4B651D-3F84-134B-4576-088D5A283B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A4053AEB-8565-5B17-125B-FF7432BCA333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9294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7FF57-DB3B-4193-5100-5BA4B92D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D995997E-2589-C60D-4E87-1DEA8842B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CA173C5B-E224-29E1-CFC0-2020A0CCC42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0BE3A32E-9F61-6CB2-6894-9D52270E7FC9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4662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872FE-E294-D0C8-446E-37DF5918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B4541640-5FCB-043C-5BC2-034522306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888AC52B-C6E1-991D-4941-8964272D6A6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A32E6750-794B-BD31-7DEA-F5832F3A0616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578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8AD2AC2-C71E-46EC-A027-34CE38C38AF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&amp;f=1&amp;nofb=1&amp;ipt=c2391166dfbe6ad55d19af41aac997728830ca221f15d8e86eb1575bdf63c5b7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code-dev/McCode/wiki" TargetMode="External"/><Relationship Id="rId5" Type="http://schemas.openxmlformats.org/officeDocument/2006/relationships/hyperlink" Target="https://mcstas.org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&amp;f=1&amp;nofb=1&amp;ipt=c2391166dfbe6ad55d19af41aac997728830ca221f15d8e86eb1575bdf63c5b7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raw.githubusercontent.com/" TargetMode="External"/><Relationship Id="rId5" Type="http://schemas.openxmlformats.org/officeDocument/2006/relationships/hyperlink" Target="http://github.com/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&amp;f=1&amp;nofb=1&amp;ipt=c2391166dfbe6ad55d19af41aac997728830ca221f15d8e86eb1575bdf63c5b7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&amp;f=1&amp;nofb=1&amp;ipt=c2391166dfbe6ad55d19af41aac997728830ca221f15d8e86eb1575bdf63c5b7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&amp;f=1&amp;nofb=1&amp;ipt=c2391166dfbe6ad55d19af41aac997728830ca221f15d8e86eb1575bdf63c5b7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www.ill.eu/en/for-ill-users/instruments/instruments-list/d3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&amp;f=1&amp;nofb=1&amp;ipt=c2391166dfbe6ad55d19af41aac997728830ca221f15d8e86eb1575bdf63c5b7"/><Relationship Id="rId5" Type="http://schemas.openxmlformats.org/officeDocument/2006/relationships/hyperlink" Target="https://www.ill.eu/en/for-ill-users/instruments/instruments-list/d17/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&amp;f=1&amp;nofb=1&amp;ipt=c2391166dfbe6ad55d19af41aac997728830ca221f15d8e86eb1575bdf63c5b7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&amp;f=1&amp;nofb=1&amp;ipt=c2391166dfbe6ad55d19af41aac997728830ca221f15d8e86eb1575bdf63c5b7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FcshqbBBNJXMkue9rdz7AHaFj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392760" y="-1425960"/>
            <a:ext cx="4754520" cy="4754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828800" y="4206240"/>
            <a:ext cx="4205880" cy="42058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1417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9FB4E8"/>
                </a:solidFill>
                <a:effectLst/>
                <a:uFillTx/>
                <a:latin typeface="Calibri"/>
                <a:ea typeface="Calibri"/>
              </a:rPr>
              <a:t>A COMMON INTRODUCTION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1828800"/>
            <a:ext cx="105152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 dirty="0" err="1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McCode</a:t>
            </a:r>
            <a:r>
              <a:rPr lang="en-US" sz="5400" b="1" u="none" strike="noStrike" dirty="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-vibing</a:t>
            </a:r>
            <a:endParaRPr lang="fr-FR" sz="5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59" y="3246120"/>
            <a:ext cx="6960073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 dirty="0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Experiences using standard LLM models for writing instruments etc.</a:t>
            </a:r>
            <a:endParaRPr lang="fr-FR" sz="1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22960" y="416052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416052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 — neutrons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377440" y="416052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377440" y="416052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 — X-rays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22960" y="5897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Peter Willendrup   ·   DTU Physics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LogoCard"/>
          <p:cNvSpPr/>
          <p:nvPr/>
        </p:nvSpPr>
        <p:spPr>
          <a:xfrm>
            <a:off x="7429680" y="3759120"/>
            <a:ext cx="3809520" cy="149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" name="SchoolCredit"/>
          <p:cNvSpPr/>
          <p:nvPr/>
        </p:nvSpPr>
        <p:spPr>
          <a:xfrm>
            <a:off x="7429680" y="5384880"/>
            <a:ext cx="3809520" cy="27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300" b="0" u="none" strike="noStrike">
                <a:solidFill>
                  <a:srgbClr val="C9D2EE"/>
                </a:solidFill>
                <a:effectLst/>
                <a:uFillTx/>
                <a:latin typeface="Calibri"/>
              </a:rPr>
              <a:t>PaNRAID School  ·  supported by PEPR DIADEM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Picture 17"/>
          <p:cNvPicPr/>
          <p:nvPr/>
        </p:nvPicPr>
        <p:blipFill>
          <a:blip r:embed="rId3"/>
          <a:srcRect l="11719" t="16995"/>
          <a:stretch/>
        </p:blipFill>
        <p:spPr>
          <a:xfrm>
            <a:off x="825480" y="457200"/>
            <a:ext cx="1396800" cy="71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15"/>
          <p:cNvPicPr/>
          <p:nvPr/>
        </p:nvPicPr>
        <p:blipFill>
          <a:blip r:embed="rId4"/>
          <a:stretch/>
        </p:blipFill>
        <p:spPr>
          <a:xfrm>
            <a:off x="7429680" y="478800"/>
            <a:ext cx="4539240" cy="673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5" name="Group 16"/>
          <p:cNvGrpSpPr/>
          <p:nvPr/>
        </p:nvGrpSpPr>
        <p:grpSpPr>
          <a:xfrm>
            <a:off x="7936200" y="3847680"/>
            <a:ext cx="2796120" cy="1321200"/>
            <a:chOff x="7936200" y="3847680"/>
            <a:chExt cx="2796120" cy="1321200"/>
          </a:xfrm>
        </p:grpSpPr>
        <p:grpSp>
          <p:nvGrpSpPr>
            <p:cNvPr id="26" name="Group 18"/>
            <p:cNvGrpSpPr/>
            <p:nvPr/>
          </p:nvGrpSpPr>
          <p:grpSpPr>
            <a:xfrm>
              <a:off x="9343440" y="3847680"/>
              <a:ext cx="1388880" cy="1258200"/>
              <a:chOff x="9343440" y="3847680"/>
              <a:chExt cx="1388880" cy="1258200"/>
            </a:xfrm>
          </p:grpSpPr>
          <p:pic>
            <p:nvPicPr>
              <p:cNvPr id="27" name="Picture 20"/>
              <p:cNvPicPr/>
              <p:nvPr/>
            </p:nvPicPr>
            <p:blipFill>
              <a:blip r:embed="rId5"/>
              <a:srcRect l="48137"/>
              <a:stretch/>
            </p:blipFill>
            <p:spPr>
              <a:xfrm>
                <a:off x="9392760" y="3847680"/>
                <a:ext cx="1294200" cy="775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" name="Picture 21" descr="Synchrotron SOLEIL"/>
              <p:cNvPicPr/>
              <p:nvPr/>
            </p:nvPicPr>
            <p:blipFill>
              <a:blip r:embed="rId6"/>
              <a:stretch/>
            </p:blipFill>
            <p:spPr>
              <a:xfrm>
                <a:off x="9343440" y="4576320"/>
                <a:ext cx="963000" cy="465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9" name="Picture 22" descr="DTU Physics"/>
              <p:cNvPicPr/>
              <p:nvPr/>
            </p:nvPicPr>
            <p:blipFill>
              <a:blip r:embed="rId7"/>
              <a:stretch/>
            </p:blipFill>
            <p:spPr>
              <a:xfrm>
                <a:off x="10378800" y="4584960"/>
                <a:ext cx="353520" cy="520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30" name="Picture 19"/>
            <p:cNvPicPr/>
            <p:nvPr/>
          </p:nvPicPr>
          <p:blipFill>
            <a:blip r:embed="rId8"/>
            <a:stretch/>
          </p:blipFill>
          <p:spPr>
            <a:xfrm>
              <a:off x="7936200" y="3852360"/>
              <a:ext cx="1294200" cy="1316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Examples of vibe-coding with </a:t>
            </a:r>
            <a:r>
              <a:rPr lang="en-US" sz="3000" b="1" u="none" strike="noStrike" dirty="0" err="1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McCode</a:t>
            </a:r>
            <a:endParaRPr lang="fr-FR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548640" y="1737360"/>
            <a:ext cx="383760" cy="3837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3"/>
          <p:cNvSpPr/>
          <p:nvPr/>
        </p:nvSpPr>
        <p:spPr>
          <a:xfrm>
            <a:off x="548640" y="1737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1078920" y="166428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“Build me  a powder diffractometer ”</a:t>
            </a:r>
            <a:endParaRPr lang="fr-FR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078920" y="202068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One codebase family, two physics engines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548640" y="3154680"/>
            <a:ext cx="383760" cy="3837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548640" y="3154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fr-F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1078920" y="30816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dirty="0">
                <a:solidFill>
                  <a:srgbClr val="20242B"/>
                </a:solidFill>
                <a:latin typeface="Calibri"/>
              </a:rPr>
              <a:t>“Use information on the web, draft me an </a:t>
            </a:r>
            <a:r>
              <a:rPr lang="en-US" sz="1550" b="1" dirty="0" err="1">
                <a:solidFill>
                  <a:srgbClr val="20242B"/>
                </a:solidFill>
                <a:latin typeface="Calibri"/>
              </a:rPr>
              <a:t>instr</a:t>
            </a:r>
            <a:r>
              <a:rPr lang="en-US" sz="1550" b="1" dirty="0">
                <a:solidFill>
                  <a:srgbClr val="20242B"/>
                </a:solidFill>
                <a:latin typeface="Calibri"/>
              </a:rPr>
              <a:t>”</a:t>
            </a:r>
            <a:endParaRPr lang="fr-FR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1078920" y="343800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Instruments, components, and the ray state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548640" y="4572000"/>
            <a:ext cx="383760" cy="3837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548640" y="4572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fr-F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1078920" y="44989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Full use-case from Anders Kästner, PSI</a:t>
            </a:r>
            <a:endParaRPr lang="fr-FR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1078920" y="485532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Where the two probes really differ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dirty="0">
                <a:solidFill>
                  <a:srgbClr val="6E7580"/>
                </a:solidFill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Copied Picture 30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31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66BB5C5-215B-44AA-8DE7-71AB5033C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160" y="1886593"/>
            <a:ext cx="5605130" cy="32061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1A05-C945-E4D3-CE16-A2530A4F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0F32981A-7CDF-BE27-B16A-98D9BCD41727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F7F2837A-BFA5-DB3E-3F43-85F2B0CC9BAE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8FBCA5E0-DB36-CCF6-70EA-CDA0642B3D3C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66B0E053-F5CE-1554-76CB-39BFA1CF9888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4FC51817-6AE1-7223-2756-9A73C9157884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BD1DAADA-1397-9684-673B-2345C4CAB93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36AC5D-047D-D9BA-67F2-7B3CF6CE9204}"/>
              </a:ext>
            </a:extLst>
          </p:cNvPr>
          <p:cNvSpPr txBox="1"/>
          <p:nvPr/>
        </p:nvSpPr>
        <p:spPr>
          <a:xfrm>
            <a:off x="422643" y="1755360"/>
            <a:ext cx="8327951" cy="4342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DK" b="1" i="0" dirty="0">
                <a:solidFill>
                  <a:schemeClr val="tx1"/>
                </a:solidFill>
                <a:effectLst/>
                <a:latin typeface="+mn-lt"/>
              </a:rPr>
              <a:t>Prompt:</a:t>
            </a:r>
            <a:br>
              <a:rPr lang="en-DK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Based on available information in </a:t>
            </a:r>
            <a:r>
              <a:rPr lang="en-DK" b="0" i="0" dirty="0">
                <a:solidFill>
                  <a:schemeClr val="tx1"/>
                </a:solidFill>
                <a:effectLst/>
                <a:latin typeface="+mn-lt"/>
                <a:hlinkClick r:id="rId5"/>
              </a:rPr>
              <a:t>https://mcstas.org</a:t>
            </a: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 and </a:t>
            </a:r>
            <a:r>
              <a:rPr lang="en-DK" b="0" i="0" dirty="0">
                <a:solidFill>
                  <a:schemeClr val="tx1"/>
                </a:solidFill>
                <a:effectLst/>
                <a:latin typeface="+mn-lt"/>
                <a:hlinkClick r:id="rId6"/>
              </a:rPr>
              <a:t>https://github.com/mccode-dev/McCode/wiki</a:t>
            </a: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, please put together the code for a diffractometer at a reactor source.</a:t>
            </a:r>
            <a:br>
              <a:rPr lang="en-DK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Here are the main characteristics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Input parameter lambda (wavelength), used to calculate the relevant Bragg-angle for Monochromator. Default to 2.567 Angstrom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Source with 3 Maxwellians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10 m flight path with 4 cm wide, 8 cm tall neutron guide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Single slab PG Monochromator, rotated according to calculated Bragg angle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2 m distance to Sample (further rotated to be in the scattered beam from the mono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Powder sample radius 4 mm, 70 mm tall cylinder, material Na2Ca3Al2F14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Banana-shaped detector (cylindrical cut) 10 cm tall, radius 1.5 m from sample, to record 10-180 degrees on the "high-resolution" side of the sample</a:t>
            </a:r>
            <a:endParaRPr lang="en-DK" b="0" i="0" dirty="0">
              <a:solidFill>
                <a:srgbClr val="1D1C1D"/>
              </a:solidFill>
              <a:effectLst/>
              <a:latin typeface="Helvetica" pitchFamily="2" charset="0"/>
            </a:endParaRPr>
          </a:p>
        </p:txBody>
      </p:sp>
      <p:pic>
        <p:nvPicPr>
          <p:cNvPr id="6" name="Picture 5" descr="Microsoft Azure Joins Anthropic's Cloud Supply Channel, Expanding ...">
            <a:extLst>
              <a:ext uri="{FF2B5EF4-FFF2-40B4-BE49-F238E27FC236}">
                <a16:creationId xmlns:a16="http://schemas.microsoft.com/office/drawing/2014/main" id="{BC1828FC-88C8-FFAF-F892-8034B78362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3078" y="1508400"/>
            <a:ext cx="1685244" cy="168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43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C1E8-BBB2-2433-7CDC-23752AD0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A38355AC-E498-609C-6230-7C2CC4BDB945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B7411DFE-6A39-FDCA-1D79-38E330ADF552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 – response: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B80F74C3-39B3-92BA-8434-473D0950BC46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277705E0-6129-B2EA-4BAF-A297D4ED1371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09A63019-413D-26A8-24C7-171B57A0306F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512D0214-1F29-72AD-C5F0-2652488B75F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37FB5-5883-1CDD-19FB-DF18073A5524}"/>
              </a:ext>
            </a:extLst>
          </p:cNvPr>
          <p:cNvSpPr txBox="1"/>
          <p:nvPr/>
        </p:nvSpPr>
        <p:spPr>
          <a:xfrm>
            <a:off x="579480" y="1294987"/>
            <a:ext cx="1070095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Reactor_PowderDiffractometer.instr is ready. It builds a constant-wavelength reactor powder diffractometer in the style of PSI's DMC / ILL's D2B/D20: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lambda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 (default 2.567 Å) drives the Bragg-angle calculation in INITIALIZE: theta_M = asin(mono_Q*lambda/(4π)), using mono_Q=1.8734 Å⁻¹ for PG(002). At the default wavelength this gives θ_M ≈ 22.5°, 2θ_M take-off ≈ 45°.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Source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 Source_Maxwell_3 with the canonical three-Maxwellian parameter set from McStas's own source examples (T1=216.8 K, T2=33.9 K, T3=16.7 K with matching intensities) as a representative reactor-moderator spectrum. The simulated band is narrowed to lambda ± dlambda for statistics efficiency (a standard trick for fixed-wavelength instruments — widen dlambda to see the full spectrum).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Guide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 10 m, 4 cm × 8 cm, m=2 supermirror.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Monochromator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 single-slab Monochromator_flat (PG mosaic, 5×5 cm), placed on an Arm rotated by the computed theta_M; a second arm downstream picks up the full 2·theta_M deflection.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Sample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 PowderN with Na2Ca3Al2F14.laz (the standard McStas NAC reflection data file — same one used in the real DMC instrument file), radius 4 mm, height 70 mm, wrapped in a SPLIT for better detector statistics.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Detector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 Monitor_nD in "banana, theta" mode, radius 1.5 m, height 10 cm, covering 10–180°, placed on the sample arm and rolled 180° about the beam axis — the same construction used in the real PSI_DMC instrument to put the bank on the focusing/high-resolution side matching the monochromator's take-off direction.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Everything is exposed as instrument parameters (guide length/size, monochromator size/mosaic, distances, sample and detector geometry) so you can retune it.</a:t>
            </a:r>
            <a:b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I validated this against the real thing rather than just from memory: I pulled the actual .comp source files for every component used (Source_Maxwell_3, Guide, Arm, Monochromator_flat, PowderN, Monitor_nD, PSD_monitor, L_monitor, Progress_bar) from the McCode GitHub repo, and parsed the instrument file with mccode-antlr (the McStas grammar/compiler front-end) against those real definitions. It resolved all 14 components and every parameter name cleanly with no errors; I also confirmed the checker actually catches mistakes by deliberately introducing a typo'd parameter and an undefined component reference, both of which it flagged. Full C-code generation itself was blocked only by a sandboxed network path (</a:t>
            </a:r>
            <a:r>
              <a:rPr lang="en-DK" sz="1300" b="0" i="0" u="none" strike="noStrike" dirty="0">
                <a:solidFill>
                  <a:schemeClr val="tx1"/>
                </a:solidFill>
                <a:effectLst/>
                <a:latin typeface="+mn-lt"/>
                <a:hlinkClick r:id="rId5"/>
              </a:rPr>
              <a:t>github.com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 was reachable via </a:t>
            </a:r>
            <a:r>
              <a:rPr lang="en-DK" sz="1300" b="0" i="0" u="none" strike="noStrike" dirty="0">
                <a:solidFill>
                  <a:schemeClr val="tx1"/>
                </a:solidFill>
                <a:effectLst/>
                <a:latin typeface="+mn-lt"/>
                <a:hlinkClick r:id="rId6"/>
              </a:rPr>
              <a:t>raw.githubusercontent.com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 but not directly), which is unrelated to the instrument's own correctness. I also cross-checked the file against McStas's real PSI_DMC.instr example (same default wavelength, same detector-radius convention, same rotation idiom for the "high-resolution side"), fetched live from the repo.  Sources:</a:t>
            </a:r>
            <a:r>
              <a:rPr lang="en-DK" sz="1300" dirty="0">
                <a:solidFill>
                  <a:srgbClr val="1D1C1D"/>
                </a:solidFill>
                <a:latin typeface="Helvetica" pitchFamily="2" charset="0"/>
              </a:rPr>
              <a:t> …</a:t>
            </a:r>
            <a:endParaRPr lang="en-DK" sz="13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2" name="Picture 1" descr="Microsoft Azure Joins Anthropic's Cloud Supply Channel, Expanding ...">
            <a:extLst>
              <a:ext uri="{FF2B5EF4-FFF2-40B4-BE49-F238E27FC236}">
                <a16:creationId xmlns:a16="http://schemas.microsoft.com/office/drawing/2014/main" id="{05C7E5DB-04FF-EB17-343B-FDB3A0E7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084" y="634621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0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C797F-9F69-FF99-46A2-86AC3093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22966A79-47C1-D112-2C2B-8D91026E8FB9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FAEB27D7-3BBA-AFF9-4BB6-00FD0A7E43C2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 – response: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B60D8FD4-D9A5-7C0C-3EBE-6DD87F36F968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85EB86E9-9B85-F6B4-C387-257CD46F1E92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1681CF8D-C013-7179-60C4-A24499DED6F5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AE00825B-9986-7962-1CB7-972F50EA8F7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8EB53-EB6E-791C-7720-1AE8D6A2B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360" y="1335680"/>
            <a:ext cx="5194300" cy="538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E7EADD-D533-1533-0B94-57CE64394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860" y="1306313"/>
            <a:ext cx="3759200" cy="3987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AF4E83-5468-79A1-466C-F3B4B079E6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2311" y="4602013"/>
            <a:ext cx="7065818" cy="22559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4E3682-77C8-5316-97DD-A569C5E6D579}"/>
              </a:ext>
            </a:extLst>
          </p:cNvPr>
          <p:cNvSpPr txBox="1"/>
          <p:nvPr/>
        </p:nvSpPr>
        <p:spPr>
          <a:xfrm>
            <a:off x="7793665" y="1828800"/>
            <a:ext cx="3314369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DK" dirty="0"/>
              <a:t>Simulation from prompt 1 – junk!</a:t>
            </a:r>
            <a:br>
              <a:rPr lang="en-DK" dirty="0"/>
            </a:br>
            <a:br>
              <a:rPr lang="en-DK" dirty="0"/>
            </a:br>
            <a:r>
              <a:rPr lang="en-DK" dirty="0"/>
              <a:t>(My fault, the detector picked up </a:t>
            </a:r>
            <a:br>
              <a:rPr lang="en-DK" dirty="0"/>
            </a:br>
            <a:r>
              <a:rPr lang="en-DK" dirty="0"/>
              <a:t>direct beam from the Mono…)</a:t>
            </a:r>
          </a:p>
        </p:txBody>
      </p:sp>
      <p:pic>
        <p:nvPicPr>
          <p:cNvPr id="12" name="Picture 11" descr="Microsoft Azure Joins Anthropic's Cloud Supply Channel, Expanding ...">
            <a:extLst>
              <a:ext uri="{FF2B5EF4-FFF2-40B4-BE49-F238E27FC236}">
                <a16:creationId xmlns:a16="http://schemas.microsoft.com/office/drawing/2014/main" id="{AC13CB92-CB0D-98D9-AE79-AAF8EF18C0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13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8AFE1-34B9-1A1B-5FEF-EECAD0FC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86A0B29E-E581-5046-E27F-A60D092E6D24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3D83E6E0-8EB7-A298-C851-D98E0237D018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 – response: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9B10BBC7-0B4B-5926-26CE-3E3409DE37EC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719238CD-DDDE-DAD1-FEB1-C6966830F29B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7FA25C1B-73F4-938D-0C2A-D2F41AE49C5A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6794D6C5-BECC-EE02-94C1-C169604967A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E95DC9-01F8-8508-1E26-D8CBB1122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360" y="1335680"/>
            <a:ext cx="5194300" cy="538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17D8B0-AD3A-AFE2-A313-7D9FFB0FE9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860" y="1306313"/>
            <a:ext cx="3759200" cy="3987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71F232-BCA3-1A7F-7E5E-7373C56E3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2311" y="4602013"/>
            <a:ext cx="7065818" cy="22559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3CA29D-B460-1A7A-465D-8CFF3F443A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727" y="474282"/>
            <a:ext cx="9427193" cy="65048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2F9408-0043-ABFE-74A7-6F1F1F8CE518}"/>
              </a:ext>
            </a:extLst>
          </p:cNvPr>
          <p:cNvSpPr txBox="1"/>
          <p:nvPr/>
        </p:nvSpPr>
        <p:spPr>
          <a:xfrm>
            <a:off x="1897697" y="4970947"/>
            <a:ext cx="2548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Prompt 2 – diffractogram</a:t>
            </a:r>
            <a:br>
              <a:rPr lang="en-DK" dirty="0">
                <a:solidFill>
                  <a:schemeClr val="bg1"/>
                </a:solidFill>
              </a:rPr>
            </a:br>
            <a:r>
              <a:rPr lang="en-DK" dirty="0">
                <a:solidFill>
                  <a:schemeClr val="bg1"/>
                </a:solidFill>
              </a:rPr>
              <a:t>appears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32666B-1925-61F0-71D8-3F5FFB95C2B5}"/>
              </a:ext>
            </a:extLst>
          </p:cNvPr>
          <p:cNvCxnSpPr>
            <a:cxnSpLocks/>
          </p:cNvCxnSpPr>
          <p:nvPr/>
        </p:nvCxnSpPr>
        <p:spPr>
          <a:xfrm>
            <a:off x="5035002" y="5209051"/>
            <a:ext cx="1254642" cy="0"/>
          </a:xfrm>
          <a:prstGeom prst="straightConnector1">
            <a:avLst/>
          </a:prstGeom>
          <a:ln w="412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icrosoft Azure Joins Anthropic's Cloud Supply Channel, Expanding ...">
            <a:extLst>
              <a:ext uri="{FF2B5EF4-FFF2-40B4-BE49-F238E27FC236}">
                <a16:creationId xmlns:a16="http://schemas.microsoft.com/office/drawing/2014/main" id="{ECFE9ADE-A524-8270-BFCE-139F41C28C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8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3570-FFEE-9C49-2897-43246EE9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1C16669B-765C-5112-0B05-4F7F5DE47F4D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914F3176-3EC4-A241-A978-3B85553FAF56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 – response: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82321A5F-4285-51BF-012D-C01FC2FB5AC0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70C1F671-22CD-CA51-9F52-8DC09E07E2D5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396970AA-59C2-6EF7-1E94-E1A7E129FF9D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BDEC7E69-7E5B-8744-65F9-4DE490F3E1A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BA4BAA-610B-E9FA-6713-860C9A618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360" y="1335680"/>
            <a:ext cx="5194300" cy="538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1529B8-6A79-719E-F636-DF3454E2F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860" y="1306313"/>
            <a:ext cx="3759200" cy="3987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19F6B0-6963-2E96-7E1B-8490D9D8D2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2311" y="4602013"/>
            <a:ext cx="7065818" cy="22559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F27910-ED45-7E90-8523-409FD046EB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727" y="671051"/>
            <a:ext cx="9427193" cy="6111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7D495-6B47-38A4-932B-32C8B90BD8BC}"/>
              </a:ext>
            </a:extLst>
          </p:cNvPr>
          <p:cNvSpPr txBox="1"/>
          <p:nvPr/>
        </p:nvSpPr>
        <p:spPr>
          <a:xfrm>
            <a:off x="6667028" y="5346114"/>
            <a:ext cx="3025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Prompt 3 – variance reduction</a:t>
            </a:r>
            <a:br>
              <a:rPr lang="en-DK" dirty="0">
                <a:solidFill>
                  <a:schemeClr val="bg1"/>
                </a:solidFill>
              </a:rPr>
            </a:br>
            <a:r>
              <a:rPr lang="en-DK" dirty="0">
                <a:solidFill>
                  <a:schemeClr val="bg1"/>
                </a:solidFill>
              </a:rPr>
              <a:t>in place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0076CC-BF61-B067-A268-22C7385AA382}"/>
              </a:ext>
            </a:extLst>
          </p:cNvPr>
          <p:cNvCxnSpPr>
            <a:cxnSpLocks/>
          </p:cNvCxnSpPr>
          <p:nvPr/>
        </p:nvCxnSpPr>
        <p:spPr>
          <a:xfrm flipV="1">
            <a:off x="7121022" y="4602013"/>
            <a:ext cx="0" cy="783394"/>
          </a:xfrm>
          <a:prstGeom prst="straightConnector1">
            <a:avLst/>
          </a:prstGeom>
          <a:ln w="412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7C1462-A53B-4F3A-C72F-D2EBAB935000}"/>
              </a:ext>
            </a:extLst>
          </p:cNvPr>
          <p:cNvCxnSpPr>
            <a:cxnSpLocks/>
          </p:cNvCxnSpPr>
          <p:nvPr/>
        </p:nvCxnSpPr>
        <p:spPr>
          <a:xfrm flipH="1">
            <a:off x="5585261" y="5730006"/>
            <a:ext cx="1021478" cy="0"/>
          </a:xfrm>
          <a:prstGeom prst="straightConnector1">
            <a:avLst/>
          </a:prstGeom>
          <a:ln w="412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Microsoft Azure Joins Anthropic's Cloud Supply Channel, Expanding ...">
            <a:extLst>
              <a:ext uri="{FF2B5EF4-FFF2-40B4-BE49-F238E27FC236}">
                <a16:creationId xmlns:a16="http://schemas.microsoft.com/office/drawing/2014/main" id="{03FB4904-8C72-4673-865E-3FDD0A9906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2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853A-6A5D-F0AC-C1A4-ED5C32A3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743F2904-F6F1-F67A-2F1B-3811402944CE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2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91DB0721-AF59-8FE1-DAFA-4B400D83A850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Build me a model of ILL XX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F93B4EF0-A94F-24A1-EA5D-8D480D707A6E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B8217517-9F4A-CA89-221D-A9D0E5D0D008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D7CCE663-64A9-BD73-599E-2AF21D950A9A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A661B147-7498-77D1-1F8C-A6E878CCE25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9DCB39-605D-4017-D9CA-449EF9BB1D60}"/>
              </a:ext>
            </a:extLst>
          </p:cNvPr>
          <p:cNvSpPr txBox="1"/>
          <p:nvPr/>
        </p:nvSpPr>
        <p:spPr>
          <a:xfrm>
            <a:off x="422643" y="1755360"/>
            <a:ext cx="8327951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b="1" i="0" dirty="0">
                <a:solidFill>
                  <a:schemeClr val="tx1"/>
                </a:solidFill>
                <a:effectLst/>
                <a:latin typeface="+mn-lt"/>
              </a:rPr>
              <a:t>Prompt 1:</a:t>
            </a:r>
            <a:br>
              <a:rPr lang="en-DK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DK" dirty="0"/>
              <a:t>Try building me an instrument that doesn't exist ready-made in McStas, ILL D17</a:t>
            </a:r>
          </a:p>
          <a:p>
            <a:r>
              <a:rPr lang="en-DK" dirty="0">
                <a:hlinkClick r:id="rId5"/>
              </a:rPr>
              <a:t>https://www.ill.eu/en/for-ill-users/instruments/instruments-list/d17/</a:t>
            </a:r>
            <a:endParaRPr lang="en-DK" dirty="0"/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endParaRPr lang="en-DK" b="0" i="0" dirty="0">
              <a:solidFill>
                <a:srgbClr val="1D1C1D"/>
              </a:solidFill>
              <a:effectLst/>
              <a:latin typeface="Helvetica" pitchFamily="2" charset="0"/>
            </a:endParaRPr>
          </a:p>
        </p:txBody>
      </p:sp>
      <p:pic>
        <p:nvPicPr>
          <p:cNvPr id="6" name="Picture 5" descr="Microsoft Azure Joins Anthropic's Cloud Supply Channel, Expanding ...">
            <a:extLst>
              <a:ext uri="{FF2B5EF4-FFF2-40B4-BE49-F238E27FC236}">
                <a16:creationId xmlns:a16="http://schemas.microsoft.com/office/drawing/2014/main" id="{BC77DE87-51A9-8E8C-44EB-2724ECF697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3078" y="1508400"/>
            <a:ext cx="1685244" cy="16852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5D2A08-C2B9-6509-20BA-143619E624B7}"/>
              </a:ext>
            </a:extLst>
          </p:cNvPr>
          <p:cNvSpPr txBox="1"/>
          <p:nvPr/>
        </p:nvSpPr>
        <p:spPr>
          <a:xfrm>
            <a:off x="422642" y="2889998"/>
            <a:ext cx="8327952" cy="345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b="1" i="0" dirty="0">
                <a:solidFill>
                  <a:schemeClr val="tx1"/>
                </a:solidFill>
                <a:effectLst/>
                <a:latin typeface="+mn-lt"/>
              </a:rPr>
              <a:t>Prompt 2:</a:t>
            </a:r>
            <a:br>
              <a:rPr lang="en-DK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en-DK" dirty="0"/>
              <a:t>an you make me an ILL_D3 model? Use the information in </a:t>
            </a:r>
            <a:br>
              <a:rPr lang="en-DK" dirty="0"/>
            </a:br>
            <a:r>
              <a:rPr lang="en-DK" dirty="0">
                <a:hlinkClick r:id="rId7"/>
              </a:rPr>
              <a:t>https://www.ill.eu/en/for-ill-users/instruments/instruments-list/d3/</a:t>
            </a:r>
            <a:endParaRPr lang="en-DK" dirty="0"/>
          </a:p>
          <a:p>
            <a:r>
              <a:rPr lang="en-DK" dirty="0"/>
              <a:t>For the Source term (hot neutrons) I believe that either Source_gen or Source_Maxwell_3 has a listing of relevant parameters. </a:t>
            </a:r>
          </a:p>
          <a:p>
            <a:r>
              <a:rPr lang="en-DK" dirty="0"/>
              <a:t>There are multiple Monochromator-options on this instrument, Monochromator_pol may be useful for the polarising mono (partly a phenomenological model), whereas the non-polarised may be simulated using either Monochromator_curved (phenomenological model) or NCrystal_sample. </a:t>
            </a:r>
          </a:p>
          <a:p>
            <a:r>
              <a:rPr lang="en-DK" dirty="0"/>
              <a:t>If you find a design-oriented publication that would be useful for certain numbers I can probably fetch you that for round 2.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endParaRPr lang="en-DK" b="0" i="0" dirty="0">
              <a:solidFill>
                <a:srgbClr val="1D1C1D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9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0A9C-6B35-B943-995B-48801FBE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3B255098-66F4-99A3-FF24-09253EEB7AD5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2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DD8BD474-3A2B-18D0-4A7B-D141DA292598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Build me a model of ILL D17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51C01E27-A52F-C99A-9084-4B165228C374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6C65C22A-E083-0FC4-D7AF-B491121C7117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441D4D24-D7AC-82AF-7840-90106A43F60A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B895BCA6-8CC1-4867-4D0A-BB1D8208406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9FEB58-98FD-9D0D-616B-88B8E8BB49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123" y="1252587"/>
            <a:ext cx="7887754" cy="4822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D3E5E1-0816-B9F5-FE76-A5A88A2F0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39" y="3534623"/>
            <a:ext cx="5967074" cy="3557294"/>
          </a:xfrm>
          <a:prstGeom prst="rect">
            <a:avLst/>
          </a:prstGeom>
        </p:spPr>
      </p:pic>
      <p:pic>
        <p:nvPicPr>
          <p:cNvPr id="8" name="Picture 7" descr="Microsoft Azure Joins Anthropic's Cloud Supply Channel, Expanding ...">
            <a:extLst>
              <a:ext uri="{FF2B5EF4-FFF2-40B4-BE49-F238E27FC236}">
                <a16:creationId xmlns:a16="http://schemas.microsoft.com/office/drawing/2014/main" id="{B769D5D0-B4F5-E3EE-DD74-B357E54710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14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772AA-18F5-B605-C152-EA49DE2E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49AF2B8B-8DEB-53BE-1564-0FFE1AC0B2D9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2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493D5F6F-51DA-4797-FBF9-B2452474D3B9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Build me a model of ILL D3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E6464459-582A-CF48-D23C-0DFAAF136870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7C660EB2-C84E-5450-C276-739BDD6F1CAB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032F9AB5-953E-B676-080F-0CD03ABFA390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D1D96B88-971A-111C-0E11-F8F7C506552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7" descr="Microsoft Azure Joins Anthropic's Cloud Supply Channel, Expanding ...">
            <a:extLst>
              <a:ext uri="{FF2B5EF4-FFF2-40B4-BE49-F238E27FC236}">
                <a16:creationId xmlns:a16="http://schemas.microsoft.com/office/drawing/2014/main" id="{99809E59-74C7-DBAB-52F3-3D03E7288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A10579-FB05-B47F-E8A9-C7A806DAC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106" y="4616617"/>
            <a:ext cx="7772400" cy="24629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E05F6E-B85B-86EA-0F4D-A5817A2D5548}"/>
              </a:ext>
            </a:extLst>
          </p:cNvPr>
          <p:cNvSpPr txBox="1"/>
          <p:nvPr/>
        </p:nvSpPr>
        <p:spPr>
          <a:xfrm>
            <a:off x="6874652" y="1188293"/>
            <a:ext cx="6097772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900" dirty="0">
                <a:solidFill>
                  <a:srgbClr val="FF0000"/>
                </a:solidFill>
              </a:rPr>
              <a:t>* KNOWN SIMPLIFICATIONS / THINGS NOT MODELLED (please tighten with real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engineering numbers before quantitative use):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CRYOPAD's zero-field spherical polarimetry (rotating nutator fields,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Meissner shields) is not modelled at all; only a single-flipper,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fixed-vertical-axis longitudinal polarisation analysis is implemented.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The magnetic (spin-dependent) part of the sample's scattering cross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section is not modelled - none of the three 'sample_engine' choices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computes a magnetic structure factor, so the flipping ratio you get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out of this model reflects only the instrument's own polarising/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analysing efficiency (Rup/Rdown, He3 cell polarisation, flipper),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not real sample physics. That would need a bespoke sample component.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L1 (source-monochromator), L2 (monochromator-sample) and L3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(sample-detector) distances, the monochromator crystal size, and the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guide-field strengths are NOT published on the ILL website and are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set here to plausible placeholder values, flagged [assumed] in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DECLARE/the component calls; only DM values, the 7-38 deg take-off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range, the 0.42-0.843 Angs band, the per-crystal flux and the 12 mm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sample size are taken from the published characteristics page.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The hot H4 source is modelled as a single ~2273 K (2000 C) Maxwellian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(Source_gen), not the real multi-term fit used in ILL's yellow-book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source characterisation; harmonic-contamination filters (Er, Ir, Hf,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Rh, In foils) are not modelled, so higher-order lambda/2, lambda/3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contamination is absent here.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Rup/Rdown for the polarising crystals and the He3 cell polarisation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are set to plausible round numbers (see 'mono_Rup'/'mono_Rdown'/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'he3_p3he'), not measured values.</a:t>
            </a:r>
          </a:p>
          <a:p>
            <a:endParaRPr lang="en-DK" sz="9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D1F05-A70A-6198-5CA4-363C7D53C987}"/>
              </a:ext>
            </a:extLst>
          </p:cNvPr>
          <p:cNvSpPr txBox="1"/>
          <p:nvPr/>
        </p:nvSpPr>
        <p:spPr>
          <a:xfrm>
            <a:off x="368100" y="1185273"/>
            <a:ext cx="6097772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900" dirty="0">
                <a:solidFill>
                  <a:srgbClr val="FF0000"/>
                </a:solidFill>
              </a:rPr>
              <a:t>*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Sources: https://www.ill.eu/en/for-ill-users/instruments/instruments-list/d3/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      https://www.ill.eu/en/for-ill-users/instruments/instruments-list/d3/characteristics/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      https://www.ill.eu/for-ill-users/instruments/instruments-list/d3/how-it-works/spherical-polarimetry-with-cryopad</a:t>
            </a:r>
          </a:p>
          <a:p>
            <a:r>
              <a:rPr lang="en-DK" sz="900" dirty="0">
                <a:solidFill>
                  <a:srgbClr val="FF0000"/>
                </a:solidFill>
              </a:rPr>
              <a:t>*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%Parameters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mono_type: [str]        "Heusler" (polarising, high flux), "CoFe" (polarising, better res), or "Cu" (non-polarising)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lambda: [AA]             Incident wavelength (0.42-0.843 Angs on the real instrument)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THETA_M: [deg]           Monochromator take-off half-angle. 0 (default): derive from lambda and DM. Real range: 3.5-19 deg (i.e. 7 &lt; 2*THETA_M &lt; 38)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use_ncrystal: [1]        Cu branch only: 0 (default) Monochromator_curved mosaic model, 1 NCrystal_sample with ncrystal_mono_cfg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ncrystal_mono_cfg: [str] NCrystal cfg string for the Cu monochromator, used only if use_ncrystal=1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mono_Rup: [1]            [assumed] Polarising monochromator reflectivity for spin-up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mono_Rdown: [1]          [assumed] Polarising monochromator reflectivity for spin-down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mono_mosaic: [arc min]   Mosaic spread used for the Cu (Monochromator_curved) and polarising crystals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L1: [m]                  [assumed] Source-monochromator distance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L2: [m]                  [assumed] Monochromator-sample distance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L3: [m]                  [assumed] Sample-detector distance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flip: [1]                0: spin-up (non-spin-flip) incident beam. 1: spin flipped (spin-flip channel) - toggles an ideal Mezei flipper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guide_field: [T]         [assumed] Vertical guide field maintaining the polarisation quantisation axis between monochromator and analyser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sample_engine: [str]     "vanadium" (isotropic incoherent calibration sample), "sx" (Single_crystal, supply 'reflections'/UB matrix), "ncrystal" (NCrystal_sample, supply ncrystal_sample_cfg), or "none" (direct beam)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sample_diam: [m]         Sample diameter (&lt;= 0.012 m on the real instrument)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sample_height: [m]       Sample height (&lt;= 0.012 m on the real instrument)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reflections: [str]       sample_engine="sx" only: reflection list file for Single_crystal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ncrystal_sample_cfg: [str] sample_engine="ncrystal" only: NCrystal cfg string for the sample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analyzer_type: [str]     "ideal" (PolAnalyser_ideal, vertical axis), "he3" (He3_cell), or "none" (no polarisation analysis - forced when mono_type="Cu")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he3_p3he: [1]            [assumed] 3He cell polarisation for analyzer_type="he3" (published range ~0.70-0.85)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det_2theta: [deg]        Detector arm scattering angle 2theta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verbose: [1]             Print the derived instrument configuration. 0 to be quiet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5980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F33D2E-4B79-302C-AD5D-4BB71C632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4FB1909-527C-5364-F691-71D5C3628D7E}"/>
              </a:ext>
            </a:extLst>
          </p:cNvPr>
          <p:cNvSpPr/>
          <p:nvPr/>
        </p:nvSpPr>
        <p:spPr>
          <a:xfrm>
            <a:off x="335988" y="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bg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7938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F53E1-9E28-1491-57C5-D952B0543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BFDB77-9DB6-DA3B-B74E-B2BEE251C53B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5730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83110-DC5B-2CC8-0EAE-1444BF7DD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5183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E0BBC8-8963-8ED0-98AA-C6EEF217E398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 descr="Free OpenAI New Logo Vector Download | Logowik">
            <a:extLst>
              <a:ext uri="{FF2B5EF4-FFF2-40B4-BE49-F238E27FC236}">
                <a16:creationId xmlns:a16="http://schemas.microsoft.com/office/drawing/2014/main" id="{7B2CD1C3-D49C-8755-E2FB-D89ACE1D6C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52"/>
          <a:stretch>
            <a:fillRect/>
          </a:stretch>
        </p:blipFill>
        <p:spPr>
          <a:xfrm>
            <a:off x="4876206" y="5718366"/>
            <a:ext cx="1929223" cy="1062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50BD1-0CA5-959C-E094-B1E27E165C53}"/>
              </a:ext>
            </a:extLst>
          </p:cNvPr>
          <p:cNvSpPr txBox="1"/>
          <p:nvPr/>
        </p:nvSpPr>
        <p:spPr>
          <a:xfrm>
            <a:off x="5024182" y="6527145"/>
            <a:ext cx="2143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GPT-6 Astra medium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940079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52271-2086-B58B-15A5-9A343B83B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05B781-1CB1-80AF-6A09-7F842A6652AB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1600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4D8D3-3A44-9E12-BFB0-CE31728E4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99132-FE33-B9B7-D28B-34D28EA45914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1291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60F1DC-7643-B38C-E406-ACE6D733E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CC1E8C-5209-C927-FD77-8FDF741BDA31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8576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BB46F8-CF5B-1C8B-C33D-829970643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3D2D09-08B9-B575-3B2B-DBE45A08C20B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3156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F52CF-B3CA-090D-C867-D3B9E60FB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E279BC-1906-D36E-65B7-C6E5CC3324E3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9412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7657C-EEDA-06AF-CAFD-EDE4996A0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CFEC1A-07E2-DB4C-65F4-89ED7C741A71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A12E5-9234-F92E-BD07-543C7A701A76}"/>
              </a:ext>
            </a:extLst>
          </p:cNvPr>
          <p:cNvSpPr txBox="1"/>
          <p:nvPr/>
        </p:nvSpPr>
        <p:spPr>
          <a:xfrm>
            <a:off x="633842" y="4689951"/>
            <a:ext cx="5124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400" dirty="0">
                <a:solidFill>
                  <a:schemeClr val="accent1"/>
                </a:solidFill>
              </a:rPr>
              <a:t>Common conclusion for all 3 cases!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9EDEC2-23E3-F760-FE47-7DF6E429F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968" y="3548549"/>
            <a:ext cx="5605130" cy="3206134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4A6DBFD8-18F2-E780-00DD-1EB357E1E985}"/>
              </a:ext>
            </a:extLst>
          </p:cNvPr>
          <p:cNvSpPr/>
          <p:nvPr/>
        </p:nvSpPr>
        <p:spPr>
          <a:xfrm>
            <a:off x="9139786" y="2523744"/>
            <a:ext cx="2692263" cy="1130131"/>
          </a:xfrm>
          <a:prstGeom prst="wedgeEllipseCallout">
            <a:avLst>
              <a:gd name="adj1" fmla="val -58420"/>
              <a:gd name="adj2" fmla="val 797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Prompt in detailed fashion and absolutely vet the results!</a:t>
            </a:r>
          </a:p>
        </p:txBody>
      </p:sp>
    </p:spTree>
    <p:extLst>
      <p:ext uri="{BB962C8B-B14F-4D97-AF65-F5344CB8AC3E}">
        <p14:creationId xmlns:p14="http://schemas.microsoft.com/office/powerpoint/2010/main" val="291539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9410040" y="-1457640"/>
            <a:ext cx="4754520" cy="4754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3" name="Shape 1"/>
          <p:cNvSpPr/>
          <p:nvPr/>
        </p:nvSpPr>
        <p:spPr>
          <a:xfrm>
            <a:off x="-1828800" y="4206240"/>
            <a:ext cx="4205880" cy="42058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 2"/>
          <p:cNvSpPr/>
          <p:nvPr/>
        </p:nvSpPr>
        <p:spPr>
          <a:xfrm>
            <a:off x="822960" y="22860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fr-F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822960" y="324612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4"/>
          <p:cNvSpPr/>
          <p:nvPr/>
        </p:nvSpPr>
        <p:spPr>
          <a:xfrm>
            <a:off x="822960" y="429768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 5"/>
          <p:cNvSpPr/>
          <p:nvPr/>
        </p:nvSpPr>
        <p:spPr>
          <a:xfrm>
            <a:off x="822960" y="429768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mcstas.org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6"/>
          <p:cNvSpPr/>
          <p:nvPr/>
        </p:nvSpPr>
        <p:spPr>
          <a:xfrm>
            <a:off x="2377440" y="429768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 7"/>
          <p:cNvSpPr/>
          <p:nvPr/>
        </p:nvSpPr>
        <p:spPr>
          <a:xfrm>
            <a:off x="2377440" y="429768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mcxtrace.org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8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 9"/>
          <p:cNvSpPr/>
          <p:nvPr/>
        </p:nvSpPr>
        <p:spPr>
          <a:xfrm>
            <a:off x="822960" y="58978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Peter Willendrup   ·   pkwi@fysik.dtu.dk   ·   DTU Physics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0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1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PartnerCard"/>
          <p:cNvSpPr/>
          <p:nvPr/>
        </p:nvSpPr>
        <p:spPr>
          <a:xfrm>
            <a:off x="6603840" y="4165560"/>
            <a:ext cx="4952520" cy="157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PartnerLabel"/>
          <p:cNvSpPr/>
          <p:nvPr/>
        </p:nvSpPr>
        <p:spPr>
          <a:xfrm>
            <a:off x="6921360" y="4368960"/>
            <a:ext cx="4317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1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SUPPORTED BY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6" name="Picture 15"/>
          <p:cNvPicPr/>
          <p:nvPr/>
        </p:nvPicPr>
        <p:blipFill>
          <a:blip r:embed="rId3"/>
          <a:stretch/>
        </p:blipFill>
        <p:spPr>
          <a:xfrm>
            <a:off x="6921360" y="4749840"/>
            <a:ext cx="431748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Copied Picture 17"/>
          <p:cNvPicPr/>
          <p:nvPr/>
        </p:nvPicPr>
        <p:blipFill>
          <a:blip r:embed="rId4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LogoCard"/>
          <p:cNvSpPr/>
          <p:nvPr/>
        </p:nvSpPr>
        <p:spPr>
          <a:xfrm>
            <a:off x="7375680" y="2105640"/>
            <a:ext cx="3809520" cy="149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09" name="Group 18"/>
          <p:cNvGrpSpPr/>
          <p:nvPr/>
        </p:nvGrpSpPr>
        <p:grpSpPr>
          <a:xfrm>
            <a:off x="7882560" y="2194200"/>
            <a:ext cx="2796120" cy="1321200"/>
            <a:chOff x="7882560" y="2194200"/>
            <a:chExt cx="2796120" cy="1321200"/>
          </a:xfrm>
        </p:grpSpPr>
        <p:grpSp>
          <p:nvGrpSpPr>
            <p:cNvPr id="410" name="Group 19"/>
            <p:cNvGrpSpPr/>
            <p:nvPr/>
          </p:nvGrpSpPr>
          <p:grpSpPr>
            <a:xfrm>
              <a:off x="9289440" y="2194200"/>
              <a:ext cx="1389240" cy="1258200"/>
              <a:chOff x="9289440" y="2194200"/>
              <a:chExt cx="1389240" cy="1258200"/>
            </a:xfrm>
          </p:grpSpPr>
          <p:pic>
            <p:nvPicPr>
              <p:cNvPr id="411" name="Picture 21"/>
              <p:cNvPicPr/>
              <p:nvPr/>
            </p:nvPicPr>
            <p:blipFill>
              <a:blip r:embed="rId5"/>
              <a:srcRect l="48137"/>
              <a:stretch/>
            </p:blipFill>
            <p:spPr>
              <a:xfrm>
                <a:off x="9339120" y="2194200"/>
                <a:ext cx="1294200" cy="775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12" name="Picture 22" descr="Synchrotron SOLEIL"/>
              <p:cNvPicPr/>
              <p:nvPr/>
            </p:nvPicPr>
            <p:blipFill>
              <a:blip r:embed="rId6"/>
              <a:stretch/>
            </p:blipFill>
            <p:spPr>
              <a:xfrm>
                <a:off x="9289440" y="2922840"/>
                <a:ext cx="963000" cy="465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13" name="Picture 23" descr="DTU Physics"/>
              <p:cNvPicPr/>
              <p:nvPr/>
            </p:nvPicPr>
            <p:blipFill>
              <a:blip r:embed="rId7"/>
              <a:stretch/>
            </p:blipFill>
            <p:spPr>
              <a:xfrm>
                <a:off x="10325160" y="2931480"/>
                <a:ext cx="353520" cy="520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414" name="Picture 20"/>
            <p:cNvPicPr/>
            <p:nvPr/>
          </p:nvPicPr>
          <p:blipFill>
            <a:blip r:embed="rId8"/>
            <a:stretch/>
          </p:blipFill>
          <p:spPr>
            <a:xfrm>
              <a:off x="7882560" y="2198880"/>
              <a:ext cx="1294200" cy="1316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2101</Words>
  <Application>Microsoft Macintosh PowerPoint</Application>
  <PresentationFormat>Widescreen</PresentationFormat>
  <Paragraphs>162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</vt:lpstr>
      <vt:lpstr>Helvetica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Peter Willendrup</cp:lastModifiedBy>
  <cp:revision>61</cp:revision>
  <dcterms:created xsi:type="dcterms:W3CDTF">2026-08-07T06:27:43Z</dcterms:created>
  <dcterms:modified xsi:type="dcterms:W3CDTF">2026-09-14T13:18:09Z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