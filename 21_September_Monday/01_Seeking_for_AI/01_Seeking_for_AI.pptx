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webextensions/taskpanes.xml" ContentType="application/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4.xml" ContentType="application/vnd.openxmlformats-officedocument.theme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_rels/presentation.xml.rels" ContentType="application/vnd.openxmlformats-package.relationships+xml"/>
  <Override PartName="/ppt/media/image1.jpeg" ContentType="image/jpeg"/>
  <Override PartName="/ppt/media/image6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gif" ContentType="image/gif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microsoft.com/office/2011/relationships/webextensiontaskpanes" Target="ppt/webextensions/taskpanes.xml"/><Relationship Id="rId5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fr-F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Cliquez pour déplacer la diapo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Cliquez pour modifier le format des notes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&lt;en-tête&gt;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&lt;date/heure&gt;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6A6B957-7FA4-4B37-AF94-8C0D0E2A218C}" type="slidenum"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D0744F6-99A8-455A-B74D-5916CC368BAD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b="0" lang="fr-FR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92C4F97-A299-416D-849B-E8A6D6342965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b="0" lang="fr-FR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C363B45-95F7-497D-9430-C451829F28F7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b="0" lang="fr-FR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2834131-A786-4D1F-AD60-18D46722D9A6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b="0" lang="fr-FR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1F391A1-C91F-4029-B3F9-0A0FC139E963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b="0" lang="fr-FR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F584802-63CD-4F18-A4D0-C5FF4B4ED0BB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b="0" lang="fr-FR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558122D-F703-449A-A8A8-1C6C535E70A0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b="0" lang="fr-FR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C96F2DC-E5DC-4CCB-8F09-E5AA3CD442F2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b="0" lang="fr-FR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4C745CD-2591-40C7-A08C-011FCC347757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b="0" lang="fr-FR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168247-6272-4E14-AD51-4092B572EE20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b="0" lang="fr-FR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Text 14"/>
          <p:cNvSpPr/>
          <p:nvPr/>
        </p:nvSpPr>
        <p:spPr>
          <a:xfrm>
            <a:off x="548640" y="644688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Seeking for AI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Text 15"/>
          <p:cNvSpPr/>
          <p:nvPr/>
        </p:nvSpPr>
        <p:spPr>
          <a:xfrm>
            <a:off x="11185920" y="6446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" name="Copied Picture 1" descr=""/>
          <p:cNvPicPr/>
          <p:nvPr/>
        </p:nvPicPr>
        <p:blipFill>
          <a:blip r:embed="rId2"/>
          <a:srcRect l="11719" t="16991" r="0" b="0"/>
          <a:stretch/>
        </p:blipFill>
        <p:spPr>
          <a:xfrm>
            <a:off x="10375920" y="356040"/>
            <a:ext cx="1267920" cy="649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_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4"/>
          <p:cNvSpPr/>
          <p:nvPr/>
        </p:nvSpPr>
        <p:spPr>
          <a:xfrm>
            <a:off x="548640" y="644688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Seeking for AI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Text 15"/>
          <p:cNvSpPr/>
          <p:nvPr/>
        </p:nvSpPr>
        <p:spPr>
          <a:xfrm>
            <a:off x="11185920" y="6446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" name="Copied Picture 1" descr=""/>
          <p:cNvPicPr/>
          <p:nvPr/>
        </p:nvPicPr>
        <p:blipFill>
          <a:blip r:embed="rId2"/>
          <a:srcRect l="11719" t="16991" r="0" b="0"/>
          <a:stretch/>
        </p:blipFill>
        <p:spPr>
          <a:xfrm>
            <a:off x="10375920" y="356040"/>
            <a:ext cx="1267920" cy="649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__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14"/>
          <p:cNvSpPr/>
          <p:nvPr/>
        </p:nvSpPr>
        <p:spPr>
          <a:xfrm>
            <a:off x="548640" y="644688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Seeking for AI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5"/>
          <p:cNvSpPr/>
          <p:nvPr/>
        </p:nvSpPr>
        <p:spPr>
          <a:xfrm>
            <a:off x="11185920" y="644688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" name="Copied Picture 1" descr=""/>
          <p:cNvPicPr/>
          <p:nvPr/>
        </p:nvPicPr>
        <p:blipFill>
          <a:blip r:embed="rId2"/>
          <a:srcRect l="11719" t="16991" r="0" b="0"/>
          <a:stretch/>
        </p:blipFill>
        <p:spPr>
          <a:xfrm>
            <a:off x="10375920" y="356040"/>
            <a:ext cx="1267920" cy="649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gif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hyperlink" Target="mailto:DARTS@SOLEIL" TargetMode="External"/><Relationship Id="rId2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gif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hape 0"/>
          <p:cNvSpPr/>
          <p:nvPr/>
        </p:nvSpPr>
        <p:spPr>
          <a:xfrm>
            <a:off x="9392760" y="-1425960"/>
            <a:ext cx="4752720" cy="475272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Shape 1"/>
          <p:cNvSpPr/>
          <p:nvPr/>
        </p:nvSpPr>
        <p:spPr>
          <a:xfrm>
            <a:off x="-1828800" y="4206240"/>
            <a:ext cx="4204080" cy="420408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Text 3"/>
          <p:cNvSpPr/>
          <p:nvPr/>
        </p:nvSpPr>
        <p:spPr>
          <a:xfrm>
            <a:off x="777240" y="1828800"/>
            <a:ext cx="10513440" cy="155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4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Seeking for AI</a:t>
            </a:r>
            <a:endParaRPr b="0" lang="fr-FR" sz="5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4"/>
          <p:cNvSpPr/>
          <p:nvPr/>
        </p:nvSpPr>
        <p:spPr>
          <a:xfrm>
            <a:off x="822960" y="3246120"/>
            <a:ext cx="634788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US" sz="1900" strike="noStrike" u="none">
                <a:solidFill>
                  <a:srgbClr val="c7d3f0"/>
                </a:solidFill>
                <a:effectLst/>
                <a:uFillTx/>
                <a:latin typeface="Calibri"/>
                <a:ea typeface="Calibri"/>
              </a:rPr>
              <a:t>Realistic Datasets for Photons and Neutrons AI methodologies</a:t>
            </a:r>
            <a:endParaRPr b="0" lang="fr-FR" sz="1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5"/>
          <p:cNvSpPr/>
          <p:nvPr/>
        </p:nvSpPr>
        <p:spPr>
          <a:xfrm>
            <a:off x="822960" y="4160520"/>
            <a:ext cx="1415160" cy="3088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Text 6"/>
          <p:cNvSpPr/>
          <p:nvPr/>
        </p:nvSpPr>
        <p:spPr>
          <a:xfrm>
            <a:off x="822960" y="4160520"/>
            <a:ext cx="141516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McStas — neutrons</a:t>
            </a:r>
            <a:endParaRPr b="0" lang="fr-F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7"/>
          <p:cNvSpPr/>
          <p:nvPr/>
        </p:nvSpPr>
        <p:spPr>
          <a:xfrm>
            <a:off x="2377440" y="4160520"/>
            <a:ext cx="1415160" cy="3088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Text 8"/>
          <p:cNvSpPr/>
          <p:nvPr/>
        </p:nvSpPr>
        <p:spPr>
          <a:xfrm>
            <a:off x="2377440" y="4160520"/>
            <a:ext cx="141516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McXtrace — X-rays</a:t>
            </a:r>
            <a:endParaRPr b="0" lang="fr-F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9"/>
          <p:cNvSpPr/>
          <p:nvPr/>
        </p:nvSpPr>
        <p:spPr>
          <a:xfrm>
            <a:off x="822960" y="5806440"/>
            <a:ext cx="2926080" cy="360"/>
          </a:xfrm>
          <a:prstGeom prst="line">
            <a:avLst/>
          </a:prstGeom>
          <a:ln w="12700">
            <a:solidFill>
              <a:srgbClr val="3c4a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Text 10"/>
          <p:cNvSpPr/>
          <p:nvPr/>
        </p:nvSpPr>
        <p:spPr>
          <a:xfrm>
            <a:off x="822960" y="5897880"/>
            <a:ext cx="5484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aab6de"/>
                </a:solidFill>
                <a:effectLst/>
                <a:uFillTx/>
                <a:latin typeface="Calibri"/>
                <a:ea typeface="Calibri"/>
              </a:rPr>
              <a:t>Emmanuel FARHI   ·   Synchrotron SOLEIL – Sept 2026</a:t>
            </a:r>
            <a:endParaRPr b="0" lang="fr-F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LogoCard"/>
          <p:cNvSpPr/>
          <p:nvPr/>
        </p:nvSpPr>
        <p:spPr>
          <a:xfrm>
            <a:off x="7429680" y="3759120"/>
            <a:ext cx="3807720" cy="1496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horzOverflow="clip" vertOverflow="clip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" name="SchoolCredit"/>
          <p:cNvSpPr/>
          <p:nvPr/>
        </p:nvSpPr>
        <p:spPr>
          <a:xfrm>
            <a:off x="7429680" y="5384880"/>
            <a:ext cx="380772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300" strike="noStrike" u="none">
                <a:solidFill>
                  <a:srgbClr val="c9d2ee"/>
                </a:solidFill>
                <a:effectLst/>
                <a:uFillTx/>
                <a:latin typeface="Calibri"/>
              </a:rPr>
              <a:t>PaNRAID School  ·  supported by PEPR DIADEM</a:t>
            </a:r>
            <a:endParaRPr b="0" lang="fr-F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" name="Picture 17" descr=""/>
          <p:cNvPicPr/>
          <p:nvPr/>
        </p:nvPicPr>
        <p:blipFill>
          <a:blip r:embed="rId1"/>
          <a:srcRect l="11719" t="16991" r="0" b="0"/>
          <a:stretch/>
        </p:blipFill>
        <p:spPr>
          <a:xfrm>
            <a:off x="825480" y="457200"/>
            <a:ext cx="1395000" cy="714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" name="Picture 15" descr=""/>
          <p:cNvPicPr/>
          <p:nvPr/>
        </p:nvPicPr>
        <p:blipFill>
          <a:blip r:embed="rId2"/>
          <a:stretch/>
        </p:blipFill>
        <p:spPr>
          <a:xfrm>
            <a:off x="7429680" y="478800"/>
            <a:ext cx="4537440" cy="6714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5" name="Group 16"/>
          <p:cNvGrpSpPr/>
          <p:nvPr/>
        </p:nvGrpSpPr>
        <p:grpSpPr>
          <a:xfrm>
            <a:off x="7936200" y="3847680"/>
            <a:ext cx="2794320" cy="1319400"/>
            <a:chOff x="7936200" y="3847680"/>
            <a:chExt cx="2794320" cy="1319400"/>
          </a:xfrm>
        </p:grpSpPr>
        <p:grpSp>
          <p:nvGrpSpPr>
            <p:cNvPr id="36" name="Group 18"/>
            <p:cNvGrpSpPr/>
            <p:nvPr/>
          </p:nvGrpSpPr>
          <p:grpSpPr>
            <a:xfrm>
              <a:off x="9343440" y="3847680"/>
              <a:ext cx="1387080" cy="1256400"/>
              <a:chOff x="9343440" y="3847680"/>
              <a:chExt cx="1387080" cy="1256400"/>
            </a:xfrm>
          </p:grpSpPr>
          <p:pic>
            <p:nvPicPr>
              <p:cNvPr id="37" name="Picture 20" descr=""/>
              <p:cNvPicPr/>
              <p:nvPr/>
            </p:nvPicPr>
            <p:blipFill>
              <a:blip r:embed="rId3"/>
              <a:srcRect l="48137" t="0" r="0" b="0"/>
              <a:stretch/>
            </p:blipFill>
            <p:spPr>
              <a:xfrm>
                <a:off x="9392760" y="3847680"/>
                <a:ext cx="1292400" cy="77400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38" name="Picture 21" descr="Synchrotron SOLEIL"/>
              <p:cNvPicPr/>
              <p:nvPr/>
            </p:nvPicPr>
            <p:blipFill>
              <a:blip r:embed="rId4"/>
              <a:stretch/>
            </p:blipFill>
            <p:spPr>
              <a:xfrm>
                <a:off x="9343440" y="4576320"/>
                <a:ext cx="961200" cy="46332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39" name="Picture 22" descr="DTU Physics"/>
              <p:cNvPicPr/>
              <p:nvPr/>
            </p:nvPicPr>
            <p:blipFill>
              <a:blip r:embed="rId5"/>
              <a:stretch/>
            </p:blipFill>
            <p:spPr>
              <a:xfrm>
                <a:off x="10378800" y="4584960"/>
                <a:ext cx="351720" cy="519120"/>
              </a:xfrm>
              <a:prstGeom prst="rect">
                <a:avLst/>
              </a:prstGeom>
              <a:noFill/>
              <a:ln w="0">
                <a:noFill/>
              </a:ln>
            </p:spPr>
          </p:pic>
        </p:grpSp>
        <p:pic>
          <p:nvPicPr>
            <p:cNvPr id="40" name="Picture 19" descr=""/>
            <p:cNvPicPr/>
            <p:nvPr/>
          </p:nvPicPr>
          <p:blipFill>
            <a:blip r:embed="rId6"/>
            <a:stretch/>
          </p:blipFill>
          <p:spPr>
            <a:xfrm>
              <a:off x="7936200" y="3852360"/>
              <a:ext cx="1292400" cy="131472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 0"/>
          <p:cNvSpPr/>
          <p:nvPr/>
        </p:nvSpPr>
        <p:spPr>
          <a:xfrm>
            <a:off x="548640" y="384120"/>
            <a:ext cx="91418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TARGET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"/>
          <p:cNvSpPr/>
          <p:nvPr/>
        </p:nvSpPr>
        <p:spPr>
          <a:xfrm>
            <a:off x="548640" y="658440"/>
            <a:ext cx="1106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This school’s objective</a:t>
            </a:r>
            <a:endParaRPr b="0" lang="fr-F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27"/>
          <p:cNvSpPr/>
          <p:nvPr/>
        </p:nvSpPr>
        <p:spPr>
          <a:xfrm>
            <a:off x="1118592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540000" y="1480680"/>
            <a:ext cx="11518560" cy="301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Explore how AI can leverage simulated photon and neutron datasets to: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Solve inverse problems (measurement → parameters)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Optimize experiments (find best parameters)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Train surrogate models (parameters → measurement)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For all this, we encourage you to use AI chats/agents.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12"/>
          <p:cNvSpPr/>
          <p:nvPr/>
        </p:nvSpPr>
        <p:spPr>
          <a:xfrm>
            <a:off x="548640" y="384120"/>
            <a:ext cx="91418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X/n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3"/>
          <p:cNvSpPr/>
          <p:nvPr/>
        </p:nvSpPr>
        <p:spPr>
          <a:xfrm>
            <a:off x="548640" y="658440"/>
            <a:ext cx="1106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Why "Photons and Neutrons"?</a:t>
            </a:r>
            <a:endParaRPr b="0" lang="fr-F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4"/>
          <p:cNvSpPr/>
          <p:nvPr/>
        </p:nvSpPr>
        <p:spPr>
          <a:xfrm>
            <a:off x="1118592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476280" y="1930680"/>
            <a:ext cx="1123812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Shared X/n Physics and Simulation Capabilities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Similar Interaction Processes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br>
              <a:rPr sz="2400"/>
            </a:b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1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Absorption</a:t>
            </a: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Energy transfer to the material (e.g., photoelectric effect for X-rays, neutron capture).</a:t>
            </a:r>
            <a:endParaRPr b="0" lang="fr-FR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1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Scattering</a:t>
            </a: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fr-FR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216000">
              <a:lnSpc>
                <a:spcPct val="100000"/>
              </a:lnSpc>
              <a:buClr>
                <a:srgbClr val="000000"/>
              </a:buClr>
              <a:buFont typeface="OpenSymbol"/>
              <a:buChar char="►"/>
            </a:pPr>
            <a:r>
              <a:rPr b="0" i="1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Elastic</a:t>
            </a: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Structure analysis (e.g., Bragg diffraction for X-rays, neutron diffraction).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216000">
              <a:lnSpc>
                <a:spcPct val="100000"/>
              </a:lnSpc>
              <a:buClr>
                <a:srgbClr val="000000"/>
              </a:buClr>
              <a:buFont typeface="OpenSymbol"/>
              <a:buChar char="►"/>
            </a:pPr>
            <a:r>
              <a:rPr b="0" i="1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Inelastic</a:t>
            </a: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Dynamics analysis (e.g., Raman scattering for X-rays, neutron inelastic scattering).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1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Decay</a:t>
            </a: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Time-resolved studies (e.g., fluorescence, neutron activation).</a:t>
            </a:r>
            <a:endParaRPr b="0" lang="fr-FR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 15"/>
          <p:cNvSpPr/>
          <p:nvPr/>
        </p:nvSpPr>
        <p:spPr>
          <a:xfrm>
            <a:off x="548640" y="384120"/>
            <a:ext cx="91418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X/n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6"/>
          <p:cNvSpPr/>
          <p:nvPr/>
        </p:nvSpPr>
        <p:spPr>
          <a:xfrm>
            <a:off x="548640" y="658440"/>
            <a:ext cx="1106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Why "Photons and Neutrons"?</a:t>
            </a:r>
            <a:endParaRPr b="0" lang="fr-F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7"/>
          <p:cNvSpPr/>
          <p:nvPr/>
        </p:nvSpPr>
        <p:spPr>
          <a:xfrm>
            <a:off x="1118592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540000" y="1800000"/>
            <a:ext cx="11117880" cy="449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The Real World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1" lang="fr-FR" sz="2100" strike="noStrike" u="none">
                <a:solidFill>
                  <a:srgbClr val="ff00ff"/>
                </a:solidFill>
                <a:effectLst/>
                <a:uFillTx/>
                <a:latin typeface="Courier New"/>
              </a:rPr>
              <a:t>Parameters → [Instrument] → “Measurement”</a:t>
            </a:r>
            <a:endParaRPr b="0" lang="fr-FR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spcBef>
                <a:spcPts val="420"/>
              </a:spcBef>
              <a:tabLst>
                <a:tab algn="l" pos="0"/>
              </a:tabLst>
            </a:pPr>
            <a:endParaRPr b="0" lang="fr-FR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Simulation Tools</a:t>
            </a:r>
            <a:r>
              <a:rPr b="0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: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34308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1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McStas</a:t>
            </a: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Monte Carlo simulator for neutron scattering instruments.</a:t>
            </a:r>
            <a:endParaRPr b="0" lang="fr-FR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34308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1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McXtrace</a:t>
            </a: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Monte Carlo simulator for X-ray instruments.</a:t>
            </a:r>
            <a:endParaRPr b="0" lang="fr-FR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34308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Both enable realistic modeling of beamlines, detectors, and sample interactions.</a:t>
            </a:r>
            <a:endParaRPr b="0" lang="fr-FR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tabLst>
                <a:tab algn="l" pos="0"/>
              </a:tabLst>
            </a:pPr>
            <a:endParaRPr b="0" lang="fr-FR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Why Simulations Matter</a:t>
            </a:r>
            <a:r>
              <a:rPr b="0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: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34308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1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Realism</a:t>
            </a: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Capture complex instrument geometries and material responses.</a:t>
            </a:r>
            <a:endParaRPr b="0" lang="fr-FR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34308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1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Flexibility</a:t>
            </a: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Test hypothetical setups.</a:t>
            </a:r>
            <a:endParaRPr b="0" lang="fr-FR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34308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1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Cost-Effective</a:t>
            </a: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Avoid expensive trial-and-error on real instruments/BL.</a:t>
            </a:r>
            <a:endParaRPr b="0" lang="fr-FR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tabLst>
                <a:tab algn="l" pos="0"/>
              </a:tabLst>
            </a:pPr>
            <a:endParaRPr b="0" lang="fr-FR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18"/>
          <p:cNvSpPr/>
          <p:nvPr/>
        </p:nvSpPr>
        <p:spPr>
          <a:xfrm>
            <a:off x="548640" y="384120"/>
            <a:ext cx="91418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Realistic datasets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9"/>
          <p:cNvSpPr/>
          <p:nvPr/>
        </p:nvSpPr>
        <p:spPr>
          <a:xfrm>
            <a:off x="548640" y="658440"/>
            <a:ext cx="1106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Why Realistic AI Datasets?</a:t>
            </a:r>
            <a:endParaRPr b="0" lang="fr-F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0"/>
          <p:cNvSpPr/>
          <p:nvPr/>
        </p:nvSpPr>
        <p:spPr>
          <a:xfrm>
            <a:off x="1118592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540000" y="1800000"/>
            <a:ext cx="10660680" cy="38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343080">
              <a:lnSpc>
                <a:spcPct val="100000"/>
              </a:lnSpc>
              <a:spcBef>
                <a:spcPts val="2999"/>
              </a:spcBef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The Problem with Experimental Data</a:t>
            </a:r>
            <a:br>
              <a:rPr sz="2400"/>
            </a:b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Lack of Annotations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Raw data often lacks metadata (e.g., sample composition, instrument settings).</a:t>
            </a:r>
            <a:endParaRPr b="0" lang="fr-FR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Manual annotation is time-consuming and error-prone.</a:t>
            </a:r>
            <a:br>
              <a:rPr sz="2100"/>
            </a:b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b="0" lang="fr-FR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Publications as Implicit Annotations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Publications describe experimental conditions, but formats vary widely.</a:t>
            </a:r>
            <a:endParaRPr b="0" lang="fr-FR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Not machine-readable or standardized for AI training.</a:t>
            </a:r>
            <a:endParaRPr b="0" lang="fr-FR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21"/>
          <p:cNvSpPr/>
          <p:nvPr/>
        </p:nvSpPr>
        <p:spPr>
          <a:xfrm>
            <a:off x="548640" y="384120"/>
            <a:ext cx="91418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Realistic datasets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22"/>
          <p:cNvSpPr/>
          <p:nvPr/>
        </p:nvSpPr>
        <p:spPr>
          <a:xfrm>
            <a:off x="548640" y="658440"/>
            <a:ext cx="1106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Why Realistic AI Datasets?</a:t>
            </a:r>
            <a:endParaRPr b="0" lang="fr-F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3"/>
          <p:cNvSpPr/>
          <p:nvPr/>
        </p:nvSpPr>
        <p:spPr>
          <a:xfrm>
            <a:off x="1118592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540000" y="1800000"/>
            <a:ext cx="9475920" cy="46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343080">
              <a:lnSpc>
                <a:spcPct val="100000"/>
              </a:lnSpc>
              <a:spcBef>
                <a:spcPts val="2999"/>
              </a:spcBef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The Power of Simulated Data</a:t>
            </a:r>
            <a:br>
              <a:rPr sz="2400"/>
            </a:b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Controlled Parameters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Every input (e.g., sample thickness, detector angle) is known and adjustable.</a:t>
            </a:r>
            <a:endParaRPr b="0" lang="fr-FR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Outputs (e.g., scattering patterns, spectra) are directly linked to inputs.</a:t>
            </a:r>
            <a:endParaRPr b="0" lang="fr-FR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Pipeline Workflow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1" lang="fr-FR" sz="2100" strike="noStrike" u="none">
                <a:solidFill>
                  <a:srgbClr val="ff00ff"/>
                </a:solidFill>
                <a:effectLst/>
                <a:uFillTx/>
                <a:latin typeface="Courier New"/>
              </a:rPr>
              <a:t>Parameters → [Simulation] → Virtual “Measurement”</a:t>
            </a:r>
            <a:endParaRPr b="0" lang="fr-FR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spcBef>
                <a:spcPts val="420"/>
              </a:spcBef>
              <a:tabLst>
                <a:tab algn="l" pos="0"/>
              </a:tabLst>
            </a:pPr>
            <a:endParaRPr b="0" lang="fr-FR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Example: Simulate an experiment with varying incident energy.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52"/>
          <p:cNvSpPr/>
          <p:nvPr/>
        </p:nvSpPr>
        <p:spPr>
          <a:xfrm>
            <a:off x="548640" y="384120"/>
            <a:ext cx="91418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Realistic datasets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3"/>
          <p:cNvSpPr/>
          <p:nvPr/>
        </p:nvSpPr>
        <p:spPr>
          <a:xfrm>
            <a:off x="548640" y="658440"/>
            <a:ext cx="1106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Why Realistic AI Datasets?</a:t>
            </a:r>
            <a:endParaRPr b="0" lang="fr-F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54"/>
          <p:cNvSpPr/>
          <p:nvPr/>
        </p:nvSpPr>
        <p:spPr>
          <a:xfrm>
            <a:off x="1118592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4" name=""/>
          <p:cNvGraphicFramePr/>
          <p:nvPr/>
        </p:nvGraphicFramePr>
        <p:xfrm>
          <a:off x="2736000" y="2052000"/>
          <a:ext cx="5364000" cy="4068000"/>
        </p:xfrm>
        <a:graphic>
          <a:graphicData uri="http://schemas.openxmlformats.org/drawingml/2006/table">
            <a:tbl>
              <a:tblPr/>
              <a:tblGrid>
                <a:gridCol w="1788120"/>
                <a:gridCol w="1788120"/>
                <a:gridCol w="1787760"/>
              </a:tblGrid>
              <a:tr h="1355760">
                <a:tc>
                  <a:txBody>
                    <a:bodyPr lIns="36000" rIns="36000" tIns="36000" bIns="36000" anchor="t">
                      <a:noAutofit/>
                    </a:bodyPr>
                    <a:p>
                      <a:endParaRPr b="0" lang="fr-FR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1" lang="fr-FR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Input X=Parameters</a:t>
                      </a:r>
                      <a:endParaRPr b="1" lang="fr-FR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>
                      <a:noFill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1" lang="fr-FR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Input X=Measurements</a:t>
                      </a:r>
                      <a:endParaRPr b="1" lang="fr-FR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solidFill>
                      <a:srgbClr val="c0c0c0"/>
                    </a:solidFill>
                  </a:tcPr>
                </a:tc>
              </a:tr>
              <a:tr h="135576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1" lang="fr-FR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Output Y=Parameters</a:t>
                      </a:r>
                      <a:endParaRPr b="1" lang="fr-FR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fr-FR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Optimisation</a:t>
                      </a:r>
                      <a:endParaRPr b="0" lang="fr-FR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>
                      <a:noFill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fr-FR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Inverse problem</a:t>
                      </a:r>
                      <a:endParaRPr b="0" lang="fr-FR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35648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1" lang="fr-FR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Output Y=Measurements</a:t>
                      </a:r>
                      <a:endParaRPr b="1" lang="fr-FR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fr-FR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Simulation, Surrogate</a:t>
                      </a:r>
                      <a:endParaRPr b="0" lang="fr-FR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>
                      <a:noFill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fr-FR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De-noising, de-convolution</a:t>
                      </a:r>
                      <a:endParaRPr b="0" lang="fr-FR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 24"/>
          <p:cNvSpPr/>
          <p:nvPr/>
        </p:nvSpPr>
        <p:spPr>
          <a:xfrm>
            <a:off x="548640" y="384120"/>
            <a:ext cx="91418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Realistic datasets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5"/>
          <p:cNvSpPr/>
          <p:nvPr/>
        </p:nvSpPr>
        <p:spPr>
          <a:xfrm>
            <a:off x="548640" y="658440"/>
            <a:ext cx="1106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Why Realistic AI Datasets?</a:t>
            </a:r>
            <a:endParaRPr b="0" lang="fr-F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6"/>
          <p:cNvSpPr/>
          <p:nvPr/>
        </p:nvSpPr>
        <p:spPr>
          <a:xfrm>
            <a:off x="1118592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540000" y="1800000"/>
            <a:ext cx="9475920" cy="352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Inverse Problem</a:t>
            </a:r>
            <a:r>
              <a:rPr b="0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:</a:t>
            </a:r>
            <a:br>
              <a:rPr sz="2400"/>
            </a:b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Goal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Reconstruct input parameters from measured data.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AI Approach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br>
              <a:rPr sz="2400"/>
            </a:b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defTabSz="343080">
              <a:lnSpc>
                <a:spcPct val="100000"/>
              </a:lnSpc>
              <a:spcBef>
                <a:spcPts val="420"/>
              </a:spcBef>
              <a:tabLst>
                <a:tab algn="l" pos="0"/>
              </a:tabLst>
            </a:pPr>
            <a:r>
              <a:rPr b="1" lang="fr-FR" sz="2100" strike="noStrike" u="none">
                <a:solidFill>
                  <a:srgbClr val="ff00ff"/>
                </a:solidFill>
                <a:effectLst/>
                <a:uFillTx/>
                <a:latin typeface="Courier New"/>
              </a:rPr>
              <a:t>Measurement → [AI Algorithm] → Parameters</a:t>
            </a:r>
            <a:br>
              <a:rPr sz="2100"/>
            </a:br>
            <a:endParaRPr b="0" lang="fr-FR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Example: Predict sample composition from a scattering pattern.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 28"/>
          <p:cNvSpPr/>
          <p:nvPr/>
        </p:nvSpPr>
        <p:spPr>
          <a:xfrm>
            <a:off x="548640" y="384120"/>
            <a:ext cx="91418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Realistic datasets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29"/>
          <p:cNvSpPr/>
          <p:nvPr/>
        </p:nvSpPr>
        <p:spPr>
          <a:xfrm>
            <a:off x="548640" y="658440"/>
            <a:ext cx="1106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Why Realistic AI Datasets?</a:t>
            </a:r>
            <a:endParaRPr b="0" lang="fr-F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30"/>
          <p:cNvSpPr/>
          <p:nvPr/>
        </p:nvSpPr>
        <p:spPr>
          <a:xfrm>
            <a:off x="1118592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540000" y="1800000"/>
            <a:ext cx="10978560" cy="316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Surrogate Models</a:t>
            </a:r>
            <a:r>
              <a:rPr b="0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:</a:t>
            </a:r>
            <a:br>
              <a:rPr sz="2400"/>
            </a:b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Purpose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Replace slow simulations with fast AI models.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Pipeline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br>
              <a:rPr sz="2400"/>
            </a:b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defTabSz="343080">
              <a:lnSpc>
                <a:spcPct val="100000"/>
              </a:lnSpc>
              <a:spcBef>
                <a:spcPts val="420"/>
              </a:spcBef>
              <a:tabLst>
                <a:tab algn="l" pos="0"/>
              </a:tabLst>
            </a:pPr>
            <a:r>
              <a:rPr b="1" lang="fr-FR" sz="2100" strike="noStrike" u="none">
                <a:solidFill>
                  <a:srgbClr val="ff00ff"/>
                </a:solidFill>
                <a:effectLst/>
                <a:uFillTx/>
                <a:latin typeface="Courier New"/>
              </a:rPr>
              <a:t>Parameters → [AI Model] → Virtual "Measurement" (faster)</a:t>
            </a:r>
            <a:br>
              <a:rPr sz="2100"/>
            </a:br>
            <a:endParaRPr b="0" lang="fr-FR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Use Case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Fast phase-space exploration.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 31"/>
          <p:cNvSpPr/>
          <p:nvPr/>
        </p:nvSpPr>
        <p:spPr>
          <a:xfrm>
            <a:off x="548640" y="384120"/>
            <a:ext cx="91418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Realistic datasets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32"/>
          <p:cNvSpPr/>
          <p:nvPr/>
        </p:nvSpPr>
        <p:spPr>
          <a:xfrm>
            <a:off x="548640" y="658440"/>
            <a:ext cx="1106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Why Realistic AI Datasets?</a:t>
            </a:r>
            <a:endParaRPr b="0" lang="fr-F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33"/>
          <p:cNvSpPr/>
          <p:nvPr/>
        </p:nvSpPr>
        <p:spPr>
          <a:xfrm>
            <a:off x="1118592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540000" y="1800000"/>
            <a:ext cx="10978560" cy="316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Model optimization</a:t>
            </a:r>
            <a:r>
              <a:rPr b="0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:</a:t>
            </a:r>
            <a:br>
              <a:rPr sz="2400"/>
            </a:b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Purpose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Find best parameters to get min/max signal.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Pipeline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br>
              <a:rPr sz="2400"/>
            </a:b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defTabSz="343080">
              <a:lnSpc>
                <a:spcPct val="100000"/>
              </a:lnSpc>
              <a:spcBef>
                <a:spcPts val="420"/>
              </a:spcBef>
              <a:tabLst>
                <a:tab algn="l" pos="0"/>
              </a:tabLst>
            </a:pPr>
            <a:r>
              <a:rPr b="1" lang="fr-FR" sz="2100" strike="noStrike" u="none">
                <a:solidFill>
                  <a:srgbClr val="ff00ff"/>
                </a:solidFill>
                <a:effectLst/>
                <a:uFillTx/>
                <a:latin typeface="Courier New"/>
              </a:rPr>
              <a:t>Parameters → [Optimizer] → Best Parameters</a:t>
            </a:r>
            <a:br>
              <a:rPr sz="2100"/>
            </a:br>
            <a:endParaRPr b="0" lang="fr-FR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Use Case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Optimization of beamline configurations.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 34"/>
          <p:cNvSpPr/>
          <p:nvPr/>
        </p:nvSpPr>
        <p:spPr>
          <a:xfrm>
            <a:off x="548640" y="384120"/>
            <a:ext cx="91418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General AI Methodology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35"/>
          <p:cNvSpPr/>
          <p:nvPr/>
        </p:nvSpPr>
        <p:spPr>
          <a:xfrm>
            <a:off x="548640" y="658440"/>
            <a:ext cx="1106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General AI Methodology</a:t>
            </a:r>
            <a:endParaRPr b="0" lang="fr-F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36"/>
          <p:cNvSpPr/>
          <p:nvPr/>
        </p:nvSpPr>
        <p:spPr>
          <a:xfrm>
            <a:off x="1118592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540000" y="1800000"/>
            <a:ext cx="10978560" cy="46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AI as a Universal Function Approximator</a:t>
            </a:r>
            <a:r>
              <a:rPr b="0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: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Black Box Concept:</a:t>
            </a:r>
            <a:br>
              <a:rPr sz="2400"/>
            </a:b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 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defTabSz="343080">
              <a:lnSpc>
                <a:spcPct val="100000"/>
              </a:lnSpc>
              <a:tabLst>
                <a:tab algn="l" pos="0"/>
              </a:tabLst>
            </a:pPr>
            <a:r>
              <a:rPr b="1" lang="fr-FR" sz="2400" strike="noStrike" u="none">
                <a:solidFill>
                  <a:srgbClr val="ff00ff"/>
                </a:solidFill>
                <a:effectLst/>
                <a:uFillTx/>
                <a:latin typeface="FreeMono"/>
              </a:rPr>
              <a:t>Input → [AI Model] → Output</a:t>
            </a:r>
            <a:br>
              <a:rPr sz="2400"/>
            </a:b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Unifont"/>
              </a:rPr>
              <a:t>Universal Approximation Theorem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Unifont"/>
              </a:rPr>
              <a:t>: A neural network can </a:t>
            </a:r>
            <a:r>
              <a:rPr b="0" lang="fr-FR" sz="2400" strike="noStrike" u="none">
                <a:solidFill>
                  <a:srgbClr val="008000"/>
                </a:solidFill>
                <a:effectLst/>
                <a:uFillTx/>
                <a:latin typeface="Calibri"/>
                <a:ea typeface="Unifont"/>
              </a:rPr>
              <a:t>approximate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Unifont"/>
              </a:rPr>
              <a:t> </a:t>
            </a:r>
            <a:r>
              <a:rPr b="0" lang="fr-FR" sz="2400" strike="noStrike" u="none">
                <a:solidFill>
                  <a:srgbClr val="008000"/>
                </a:solidFill>
                <a:effectLst/>
                <a:uFillTx/>
                <a:latin typeface="Calibri"/>
                <a:ea typeface="Unifont"/>
              </a:rPr>
              <a:t>any continuous function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Unifont"/>
              </a:rPr>
              <a:t> given sufficient data and complexity.</a:t>
            </a:r>
            <a:br>
              <a:rPr sz="2400"/>
            </a:b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Unifont"/>
              </a:rPr>
              <a:t> 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Unifont"/>
              </a:rPr>
              <a:t>General Behavior: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OpenSymbol"/>
              <a:buChar char="►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Unifont"/>
              </a:rPr>
              <a:t>All AI methods (CNNs, RNNs, SVMs) follow the same principle: map inputs to outputs via learned weights.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OpenSymbol"/>
              <a:buChar char="►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Unifont"/>
              </a:rPr>
              <a:t>Differences lie in architecture, training efficiency, and interpretability.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 37"/>
          <p:cNvSpPr/>
          <p:nvPr/>
        </p:nvSpPr>
        <p:spPr>
          <a:xfrm>
            <a:off x="548640" y="384120"/>
            <a:ext cx="91418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General AI Methodology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38"/>
          <p:cNvSpPr/>
          <p:nvPr/>
        </p:nvSpPr>
        <p:spPr>
          <a:xfrm>
            <a:off x="548640" y="658440"/>
            <a:ext cx="1106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General AI Methodology</a:t>
            </a:r>
            <a:endParaRPr b="0" lang="fr-F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39"/>
          <p:cNvSpPr/>
          <p:nvPr/>
        </p:nvSpPr>
        <p:spPr>
          <a:xfrm>
            <a:off x="1118592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540000" y="1800000"/>
            <a:ext cx="10978560" cy="46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Training: The Core Process</a:t>
            </a:r>
            <a:br>
              <a:rPr sz="2400"/>
            </a:b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Objective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: Minimize the loss function (e.g., Mean Squared Error, Cross-Entropy).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Loss Function: Measures the difference between predicted and actual outputs.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Steps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: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Forward Pass: Compute predictions for a batch of training data.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Loss Calculation: Evaluate how far predictions are from true values.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Backpropagation: Compute gradients of the loss with respect to weights.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Optimization: Update weights using an optimizer (e.g., Adam, SGD).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tabLst>
                <a:tab algn="l" pos="0"/>
              </a:tabLst>
            </a:pP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 40"/>
          <p:cNvSpPr/>
          <p:nvPr/>
        </p:nvSpPr>
        <p:spPr>
          <a:xfrm>
            <a:off x="548640" y="383760"/>
            <a:ext cx="91418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General AI Methodology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41"/>
          <p:cNvSpPr/>
          <p:nvPr/>
        </p:nvSpPr>
        <p:spPr>
          <a:xfrm>
            <a:off x="548640" y="658080"/>
            <a:ext cx="1106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General AI Methodology</a:t>
            </a:r>
            <a:endParaRPr b="0" lang="fr-F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42"/>
          <p:cNvSpPr/>
          <p:nvPr/>
        </p:nvSpPr>
        <p:spPr>
          <a:xfrm>
            <a:off x="11185920" y="644616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540000" y="1799640"/>
            <a:ext cx="10978560" cy="27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Training: The Core Process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tabLst>
                <a:tab algn="l" pos="0"/>
              </a:tabLst>
            </a:pP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Key Factors for Success: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Data Quality: High-fidelity simulations with diverse parameters.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Model Architecture: Match complexity to the problem (e.g., CNNs for images, Transformers for sequences).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Hyperparameters: Learning rate, batch size, number of epochs.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 46"/>
          <p:cNvSpPr/>
          <p:nvPr/>
        </p:nvSpPr>
        <p:spPr>
          <a:xfrm>
            <a:off x="548640" y="383760"/>
            <a:ext cx="91418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Lessons and praticals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47"/>
          <p:cNvSpPr/>
          <p:nvPr/>
        </p:nvSpPr>
        <p:spPr>
          <a:xfrm>
            <a:off x="548640" y="658080"/>
            <a:ext cx="1106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What You Will Learn and Practice</a:t>
            </a:r>
            <a:endParaRPr b="0" lang="fr-F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48"/>
          <p:cNvSpPr/>
          <p:nvPr/>
        </p:nvSpPr>
        <p:spPr>
          <a:xfrm>
            <a:off x="11185920" y="644616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540000" y="1799640"/>
            <a:ext cx="10978560" cy="43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Hands-on skills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tabLst>
                <a:tab algn="l" pos="0"/>
              </a:tabLst>
            </a:pPr>
            <a:endParaRPr b="0" lang="fr-F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Setting Up Simulations: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Configure beamlines/instruments in McStas (neutrons) and McXtrace (X-rays).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Define sample properties (e.g., crystal structure, composition).</a:t>
            </a:r>
            <a:br>
              <a:rPr sz="2400"/>
            </a:b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 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Characterizing Models: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Check geometry (e.g., detector positions, slit sizes).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Extract parameters (e.g., resolution, flux) and results (e.g., spectra, diffraction patterns).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 43"/>
          <p:cNvSpPr/>
          <p:nvPr/>
        </p:nvSpPr>
        <p:spPr>
          <a:xfrm>
            <a:off x="548640" y="383760"/>
            <a:ext cx="91418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Lessons and praticals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44"/>
          <p:cNvSpPr/>
          <p:nvPr/>
        </p:nvSpPr>
        <p:spPr>
          <a:xfrm>
            <a:off x="548640" y="658080"/>
            <a:ext cx="1106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What You Will Learn and Practice</a:t>
            </a:r>
            <a:endParaRPr b="0" lang="fr-F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45"/>
          <p:cNvSpPr/>
          <p:nvPr/>
        </p:nvSpPr>
        <p:spPr>
          <a:xfrm>
            <a:off x="11185920" y="644616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540000" y="1799640"/>
            <a:ext cx="10978560" cy="433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Hands-on skills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tabLst>
                <a:tab algn="l" pos="0"/>
              </a:tabLst>
            </a:pPr>
            <a:endParaRPr b="0" lang="fr-F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Generating Datasets: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Automate simulations across </a:t>
            </a:r>
            <a:r>
              <a:rPr b="0" i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parameter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 ranges (e.g., vary samples).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Output: Labeled datasets of [</a:t>
            </a:r>
            <a:r>
              <a:rPr b="0" i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parameters, virtual_measurements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].</a:t>
            </a:r>
            <a:br>
              <a:rPr sz="1000"/>
            </a:br>
            <a:r>
              <a:rPr b="0" lang="fr-FR" sz="10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 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Apply AI :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Surrogate Modeling: generate </a:t>
            </a:r>
            <a:r>
              <a:rPr b="0" i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virtual_measurements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 faster.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Solving Inverse Problems: get </a:t>
            </a:r>
            <a:r>
              <a:rPr b="0" i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parameters 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from</a:t>
            </a:r>
            <a:r>
              <a:rPr b="0" i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 measurements.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43080" defTabSz="34308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Optimization: search fpr best </a:t>
            </a:r>
            <a:r>
              <a:rPr b="0" i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parameters.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49"/>
          <p:cNvSpPr/>
          <p:nvPr/>
        </p:nvSpPr>
        <p:spPr>
          <a:xfrm>
            <a:off x="548640" y="383760"/>
            <a:ext cx="91418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Resources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50"/>
          <p:cNvSpPr/>
          <p:nvPr/>
        </p:nvSpPr>
        <p:spPr>
          <a:xfrm>
            <a:off x="548640" y="658080"/>
            <a:ext cx="1106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What You Will Use</a:t>
            </a:r>
            <a:endParaRPr b="0" lang="fr-F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51"/>
          <p:cNvSpPr/>
          <p:nvPr/>
        </p:nvSpPr>
        <p:spPr>
          <a:xfrm>
            <a:off x="11185920" y="644616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540000" y="1799640"/>
            <a:ext cx="10978560" cy="27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Your Laptop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High Performance Computing (MesoNET)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Remote Computing Service (</a:t>
            </a:r>
            <a:r>
              <a:rPr b="1" lang="fr-FR" sz="2400" strike="noStrike" u="non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DARTS@SOLEIL</a:t>
            </a: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)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Your Brain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tabLst>
                <a:tab algn="l" pos="0"/>
              </a:tabLst>
            </a:pPr>
            <a:endParaRPr b="0" lang="fr-F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0"/>
          <p:cNvSpPr/>
          <p:nvPr/>
        </p:nvSpPr>
        <p:spPr>
          <a:xfrm>
            <a:off x="9410040" y="-1457640"/>
            <a:ext cx="4752720" cy="475272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Shape 1"/>
          <p:cNvSpPr/>
          <p:nvPr/>
        </p:nvSpPr>
        <p:spPr>
          <a:xfrm>
            <a:off x="-1828800" y="4206240"/>
            <a:ext cx="4204080" cy="420408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Text 2"/>
          <p:cNvSpPr/>
          <p:nvPr/>
        </p:nvSpPr>
        <p:spPr>
          <a:xfrm>
            <a:off x="822960" y="2286000"/>
            <a:ext cx="914184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Thank you</a:t>
            </a:r>
            <a:endParaRPr b="0" lang="fr-FR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3"/>
          <p:cNvSpPr/>
          <p:nvPr/>
        </p:nvSpPr>
        <p:spPr>
          <a:xfrm>
            <a:off x="822960" y="3246120"/>
            <a:ext cx="91418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trike="noStrike" u="none">
                <a:solidFill>
                  <a:srgbClr val="c7d3f0"/>
                </a:solidFill>
                <a:effectLst/>
                <a:uFillTx/>
                <a:latin typeface="Calibri"/>
                <a:ea typeface="Calibri"/>
              </a:rPr>
              <a:t>Questions?</a:t>
            </a:r>
            <a:endParaRPr b="0" lang="fr-FR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4"/>
          <p:cNvSpPr/>
          <p:nvPr/>
        </p:nvSpPr>
        <p:spPr>
          <a:xfrm>
            <a:off x="822960" y="4297680"/>
            <a:ext cx="1415160" cy="3088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 5"/>
          <p:cNvSpPr/>
          <p:nvPr/>
        </p:nvSpPr>
        <p:spPr>
          <a:xfrm>
            <a:off x="822960" y="4297680"/>
            <a:ext cx="141516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mcstas.org</a:t>
            </a:r>
            <a:endParaRPr b="0" lang="fr-F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6"/>
          <p:cNvSpPr/>
          <p:nvPr/>
        </p:nvSpPr>
        <p:spPr>
          <a:xfrm>
            <a:off x="2377440" y="4297680"/>
            <a:ext cx="1415160" cy="3088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7"/>
          <p:cNvSpPr/>
          <p:nvPr/>
        </p:nvSpPr>
        <p:spPr>
          <a:xfrm>
            <a:off x="2377440" y="4297680"/>
            <a:ext cx="141516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mcxtrace.org</a:t>
            </a:r>
            <a:endParaRPr b="0" lang="fr-F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8"/>
          <p:cNvSpPr/>
          <p:nvPr/>
        </p:nvSpPr>
        <p:spPr>
          <a:xfrm>
            <a:off x="822960" y="5806440"/>
            <a:ext cx="2926080" cy="360"/>
          </a:xfrm>
          <a:prstGeom prst="line">
            <a:avLst/>
          </a:prstGeom>
          <a:ln w="12700">
            <a:solidFill>
              <a:srgbClr val="3c4a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" name="Text 9"/>
          <p:cNvSpPr/>
          <p:nvPr/>
        </p:nvSpPr>
        <p:spPr>
          <a:xfrm>
            <a:off x="822960" y="5897880"/>
            <a:ext cx="73130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aab6de"/>
                </a:solidFill>
                <a:effectLst/>
                <a:uFillTx/>
                <a:latin typeface="Calibri"/>
                <a:ea typeface="Calibri"/>
              </a:rPr>
              <a:t>Peter Willendrup   ·   pkwi@fysik.dtu.dk   ·   DTU Physics</a:t>
            </a:r>
            <a:endParaRPr b="0" lang="fr-FR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0"/>
          <p:cNvSpPr/>
          <p:nvPr/>
        </p:nvSpPr>
        <p:spPr>
          <a:xfrm>
            <a:off x="548640" y="6446520"/>
            <a:ext cx="6398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{presentation title</a:t>
            </a:r>
            <a:endParaRPr b="0" lang="fr-FR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1"/>
          <p:cNvSpPr/>
          <p:nvPr/>
        </p:nvSpPr>
        <p:spPr>
          <a:xfrm>
            <a:off x="11185920" y="6446520"/>
            <a:ext cx="455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b="0" lang="fr-FR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PartnerCard"/>
          <p:cNvSpPr/>
          <p:nvPr/>
        </p:nvSpPr>
        <p:spPr>
          <a:xfrm>
            <a:off x="6603840" y="4165560"/>
            <a:ext cx="4950720" cy="1572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horzOverflow="clip" vertOverflow="clip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PartnerLabel"/>
          <p:cNvSpPr/>
          <p:nvPr/>
        </p:nvSpPr>
        <p:spPr>
          <a:xfrm>
            <a:off x="6921360" y="4368960"/>
            <a:ext cx="431568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GB" sz="1100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SUPPORTED BY</a:t>
            </a:r>
            <a:endParaRPr b="0" lang="fr-F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5" name="Picture 15" descr=""/>
          <p:cNvPicPr/>
          <p:nvPr/>
        </p:nvPicPr>
        <p:blipFill>
          <a:blip r:embed="rId1"/>
          <a:stretch/>
        </p:blipFill>
        <p:spPr>
          <a:xfrm>
            <a:off x="6921360" y="4749840"/>
            <a:ext cx="4315680" cy="63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6" name="Copied Picture 17" descr=""/>
          <p:cNvPicPr/>
          <p:nvPr/>
        </p:nvPicPr>
        <p:blipFill>
          <a:blip r:embed="rId2"/>
          <a:srcRect l="11719" t="16991" r="0" b="0"/>
          <a:stretch/>
        </p:blipFill>
        <p:spPr>
          <a:xfrm>
            <a:off x="10375920" y="355680"/>
            <a:ext cx="1267920" cy="649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LogoCard"/>
          <p:cNvSpPr/>
          <p:nvPr/>
        </p:nvSpPr>
        <p:spPr>
          <a:xfrm>
            <a:off x="7375680" y="2105640"/>
            <a:ext cx="3807720" cy="1496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horzOverflow="clip" vertOverflow="clip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118" name="Group 18"/>
          <p:cNvGrpSpPr/>
          <p:nvPr/>
        </p:nvGrpSpPr>
        <p:grpSpPr>
          <a:xfrm>
            <a:off x="7882560" y="2194200"/>
            <a:ext cx="2794320" cy="1319400"/>
            <a:chOff x="7882560" y="2194200"/>
            <a:chExt cx="2794320" cy="1319400"/>
          </a:xfrm>
        </p:grpSpPr>
        <p:grpSp>
          <p:nvGrpSpPr>
            <p:cNvPr id="119" name="Group 19"/>
            <p:cNvGrpSpPr/>
            <p:nvPr/>
          </p:nvGrpSpPr>
          <p:grpSpPr>
            <a:xfrm>
              <a:off x="9289440" y="2194200"/>
              <a:ext cx="1387440" cy="1256400"/>
              <a:chOff x="9289440" y="2194200"/>
              <a:chExt cx="1387440" cy="1256400"/>
            </a:xfrm>
          </p:grpSpPr>
          <p:pic>
            <p:nvPicPr>
              <p:cNvPr id="120" name="Picture 21" descr=""/>
              <p:cNvPicPr/>
              <p:nvPr/>
            </p:nvPicPr>
            <p:blipFill>
              <a:blip r:embed="rId3"/>
              <a:srcRect l="48137" t="0" r="0" b="0"/>
              <a:stretch/>
            </p:blipFill>
            <p:spPr>
              <a:xfrm>
                <a:off x="9339120" y="2194200"/>
                <a:ext cx="1292400" cy="77400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121" name="Picture 22" descr="Synchrotron SOLEIL"/>
              <p:cNvPicPr/>
              <p:nvPr/>
            </p:nvPicPr>
            <p:blipFill>
              <a:blip r:embed="rId4"/>
              <a:stretch/>
            </p:blipFill>
            <p:spPr>
              <a:xfrm>
                <a:off x="9289440" y="2922840"/>
                <a:ext cx="961200" cy="46332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122" name="Picture 23" descr="DTU Physics"/>
              <p:cNvPicPr/>
              <p:nvPr/>
            </p:nvPicPr>
            <p:blipFill>
              <a:blip r:embed="rId5"/>
              <a:stretch/>
            </p:blipFill>
            <p:spPr>
              <a:xfrm>
                <a:off x="10325160" y="2931480"/>
                <a:ext cx="351720" cy="519120"/>
              </a:xfrm>
              <a:prstGeom prst="rect">
                <a:avLst/>
              </a:prstGeom>
              <a:noFill/>
              <a:ln w="0">
                <a:noFill/>
              </a:ln>
            </p:spPr>
          </p:pic>
        </p:grpSp>
        <p:pic>
          <p:nvPicPr>
            <p:cNvPr id="123" name="Picture 20" descr=""/>
            <p:cNvPicPr/>
            <p:nvPr/>
          </p:nvPicPr>
          <p:blipFill>
            <a:blip r:embed="rId6"/>
            <a:stretch/>
          </p:blipFill>
          <p:spPr>
            <a:xfrm>
              <a:off x="7882560" y="2198880"/>
              <a:ext cx="1292400" cy="131472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304</TotalTime>
  <Application>LibreOffice/25.2.3.2$Linux_X86_64 LibreOffice_project/520$Build-2</Application>
  <AppVersion>15.0000</AppVersion>
  <Words>1713</Words>
  <Paragraphs>325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2026-09-04T14:34:15Z</dcterms:created>
  <dc:creator>Emmanuel FARHI</dc:creator>
  <dc:description/>
  <dc:language>fr-FR</dc:language>
  <cp:lastModifiedBy>Emmanuel FARHI</cp:lastModifiedBy>
  <dcterms:modified xsi:type="dcterms:W3CDTF">2026-09-15T11:58:17Z</dcterms:modified>
  <cp:revision>58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18</vt:i4>
  </property>
  <property fmtid="{D5CDD505-2E9C-101B-9397-08002B2CF9AE}" pid="3" name="PresentationFormat">
    <vt:lpwstr>Widescreen</vt:lpwstr>
  </property>
  <property fmtid="{D5CDD505-2E9C-101B-9397-08002B2CF9AE}" pid="4" name="Slides">
    <vt:i4>18</vt:i4>
  </property>
</Properties>
</file>