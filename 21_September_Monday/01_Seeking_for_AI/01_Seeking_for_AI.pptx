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webextensions/taskpanes.xml" ContentType="application/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4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gif" ContentType="image/gif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11/relationships/webextensiontaskpanes" Target="ppt/webextensions/taskpanes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F995BE8-B528-4282-8B7C-869B171C3BF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F83150-C22C-4A09-A537-DEC7245341F1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BEF3CED-0B16-4DF7-AF13-2DB3EDF07EDC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627BA7-BEEC-488D-B887-12C9D2ADDA71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7D2AC8-2FDF-459A-9000-BAABA3E4DFAA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620420-CDDB-4682-9260-73B376803C27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D20ABC-F516-438E-A830-88E79E905F32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F22BCD-8E94-4EAF-AE21-DD67E45DD5F8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040A6D-C9CB-4103-89A2-16D2B0343026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5110A74-B3D0-4670-A1EC-2CC850767035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-720" y="-72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887AEF-C24E-496B-97FD-8CD36D274F38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9F13BA-4CB3-4457-B00F-3469ABC1D983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 14"/>
          <p:cNvSpPr/>
          <p:nvPr/>
        </p:nvSpPr>
        <p:spPr>
          <a:xfrm>
            <a:off x="548640" y="6446880"/>
            <a:ext cx="63979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Seeking for AI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Text 15"/>
          <p:cNvSpPr/>
          <p:nvPr/>
        </p:nvSpPr>
        <p:spPr>
          <a:xfrm>
            <a:off x="11185920" y="644688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Copied Picture 1" descr=""/>
          <p:cNvPicPr/>
          <p:nvPr/>
        </p:nvPicPr>
        <p:blipFill>
          <a:blip r:embed="rId2"/>
          <a:srcRect l="11719" t="16991" r="0" b="0"/>
          <a:stretch/>
        </p:blipFill>
        <p:spPr>
          <a:xfrm>
            <a:off x="10375920" y="356040"/>
            <a:ext cx="1267200" cy="64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the title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4"/>
          <p:cNvSpPr/>
          <p:nvPr/>
        </p:nvSpPr>
        <p:spPr>
          <a:xfrm>
            <a:off x="548640" y="6446880"/>
            <a:ext cx="63979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Seeking for AI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 15"/>
          <p:cNvSpPr/>
          <p:nvPr/>
        </p:nvSpPr>
        <p:spPr>
          <a:xfrm>
            <a:off x="11185920" y="644688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Copied Picture 1" descr=""/>
          <p:cNvPicPr/>
          <p:nvPr/>
        </p:nvPicPr>
        <p:blipFill>
          <a:blip r:embed="rId2"/>
          <a:srcRect l="11719" t="16991" r="0" b="0"/>
          <a:stretch/>
        </p:blipFill>
        <p:spPr>
          <a:xfrm>
            <a:off x="10375920" y="356040"/>
            <a:ext cx="1267200" cy="64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the title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__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4"/>
          <p:cNvSpPr/>
          <p:nvPr/>
        </p:nvSpPr>
        <p:spPr>
          <a:xfrm>
            <a:off x="548640" y="6446880"/>
            <a:ext cx="63979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Seeking for AI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5"/>
          <p:cNvSpPr/>
          <p:nvPr/>
        </p:nvSpPr>
        <p:spPr>
          <a:xfrm>
            <a:off x="11185920" y="644688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Copied Picture 1" descr=""/>
          <p:cNvPicPr/>
          <p:nvPr/>
        </p:nvPicPr>
        <p:blipFill>
          <a:blip r:embed="rId2"/>
          <a:srcRect l="11719" t="16991" r="0" b="0"/>
          <a:stretch/>
        </p:blipFill>
        <p:spPr>
          <a:xfrm>
            <a:off x="10375920" y="356040"/>
            <a:ext cx="1267200" cy="64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the title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gif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mailto:DARTS@SOLEIL" TargetMode="External"/><Relationship Id="rId2" Type="http://schemas.openxmlformats.org/officeDocument/2006/relationships/hyperlink" Target="https://data-analysis.synchrotron-soleil.fr/" TargetMode="External"/><Relationship Id="rId3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gif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9392760" y="-1425960"/>
            <a:ext cx="4752000" cy="475200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-1828800" y="4206240"/>
            <a:ext cx="4203360" cy="420336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3"/>
          <p:cNvSpPr/>
          <p:nvPr/>
        </p:nvSpPr>
        <p:spPr>
          <a:xfrm>
            <a:off x="777240" y="1828800"/>
            <a:ext cx="10512720" cy="15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Seeking for AI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822960" y="3246120"/>
            <a:ext cx="63471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900" strike="noStrike" u="none">
                <a:solidFill>
                  <a:srgbClr val="c7d3f0"/>
                </a:solidFill>
                <a:effectLst/>
                <a:uFillTx/>
                <a:latin typeface="Calibri"/>
                <a:ea typeface="Calibri"/>
              </a:rPr>
              <a:t>Realistic Datasets for Photons and Neutrons AI methodologies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822960" y="4160520"/>
            <a:ext cx="1414440" cy="30816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22960" y="4160520"/>
            <a:ext cx="141444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McStas — neutrons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2377440" y="4160520"/>
            <a:ext cx="1414440" cy="30816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Text 8"/>
          <p:cNvSpPr/>
          <p:nvPr/>
        </p:nvSpPr>
        <p:spPr>
          <a:xfrm>
            <a:off x="2377440" y="4160520"/>
            <a:ext cx="141444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McXtrace — X-rays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822960" y="5806440"/>
            <a:ext cx="2926080" cy="360"/>
          </a:xfrm>
          <a:prstGeom prst="line">
            <a:avLst/>
          </a:prstGeom>
          <a:ln w="12700">
            <a:solidFill>
              <a:srgbClr val="3c4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822960" y="5897880"/>
            <a:ext cx="5483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aab6de"/>
                </a:solidFill>
                <a:effectLst/>
                <a:uFillTx/>
                <a:latin typeface="Calibri"/>
                <a:ea typeface="Calibri"/>
              </a:rPr>
              <a:t>Emmanuel FARHI   ·   Synchrotron SOLEIL – Sept 2026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LogoCard"/>
          <p:cNvSpPr/>
          <p:nvPr/>
        </p:nvSpPr>
        <p:spPr>
          <a:xfrm>
            <a:off x="7429680" y="3759120"/>
            <a:ext cx="3807000" cy="149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clip" vertOverflow="clip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" name="SchoolCredit"/>
          <p:cNvSpPr/>
          <p:nvPr/>
        </p:nvSpPr>
        <p:spPr>
          <a:xfrm>
            <a:off x="7429680" y="5384880"/>
            <a:ext cx="380700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300" strike="noStrike" u="none">
                <a:solidFill>
                  <a:srgbClr val="c9d2ee"/>
                </a:solidFill>
                <a:effectLst/>
                <a:uFillTx/>
                <a:latin typeface="Calibri"/>
              </a:rPr>
              <a:t>PaNRAID School  ·  supported by PEPR DIADEM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Picture 17" descr=""/>
          <p:cNvPicPr/>
          <p:nvPr/>
        </p:nvPicPr>
        <p:blipFill>
          <a:blip r:embed="rId1"/>
          <a:srcRect l="11719" t="16991" r="0" b="0"/>
          <a:stretch/>
        </p:blipFill>
        <p:spPr>
          <a:xfrm>
            <a:off x="825480" y="457200"/>
            <a:ext cx="1394280" cy="71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Picture 15" descr=""/>
          <p:cNvPicPr/>
          <p:nvPr/>
        </p:nvPicPr>
        <p:blipFill>
          <a:blip r:embed="rId2"/>
          <a:stretch/>
        </p:blipFill>
        <p:spPr>
          <a:xfrm>
            <a:off x="7429680" y="478800"/>
            <a:ext cx="4536720" cy="670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" name="Group 16"/>
          <p:cNvGrpSpPr/>
          <p:nvPr/>
        </p:nvGrpSpPr>
        <p:grpSpPr>
          <a:xfrm>
            <a:off x="7936200" y="3847680"/>
            <a:ext cx="2793600" cy="1318680"/>
            <a:chOff x="7936200" y="3847680"/>
            <a:chExt cx="2793600" cy="1318680"/>
          </a:xfrm>
        </p:grpSpPr>
        <p:grpSp>
          <p:nvGrpSpPr>
            <p:cNvPr id="36" name="Group 18"/>
            <p:cNvGrpSpPr/>
            <p:nvPr/>
          </p:nvGrpSpPr>
          <p:grpSpPr>
            <a:xfrm>
              <a:off x="9343440" y="3847680"/>
              <a:ext cx="1386360" cy="1255680"/>
              <a:chOff x="9343440" y="3847680"/>
              <a:chExt cx="1386360" cy="1255680"/>
            </a:xfrm>
          </p:grpSpPr>
          <p:pic>
            <p:nvPicPr>
              <p:cNvPr id="37" name="Picture 20" descr=""/>
              <p:cNvPicPr/>
              <p:nvPr/>
            </p:nvPicPr>
            <p:blipFill>
              <a:blip r:embed="rId3"/>
              <a:srcRect l="48137" t="0" r="0" b="0"/>
              <a:stretch/>
            </p:blipFill>
            <p:spPr>
              <a:xfrm>
                <a:off x="9392760" y="3847680"/>
                <a:ext cx="1291680" cy="7732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8" name="Picture 21" descr="Synchrotron SOLEIL"/>
              <p:cNvPicPr/>
              <p:nvPr/>
            </p:nvPicPr>
            <p:blipFill>
              <a:blip r:embed="rId4"/>
              <a:stretch/>
            </p:blipFill>
            <p:spPr>
              <a:xfrm>
                <a:off x="9343440" y="4576320"/>
                <a:ext cx="960480" cy="462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9" name="Picture 22" descr="DTU Physics"/>
              <p:cNvPicPr/>
              <p:nvPr/>
            </p:nvPicPr>
            <p:blipFill>
              <a:blip r:embed="rId5"/>
              <a:stretch/>
            </p:blipFill>
            <p:spPr>
              <a:xfrm>
                <a:off x="10378800" y="4584960"/>
                <a:ext cx="351000" cy="5184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40" name="Picture 19" descr=""/>
            <p:cNvPicPr/>
            <p:nvPr/>
          </p:nvPicPr>
          <p:blipFill>
            <a:blip r:embed="rId6"/>
            <a:stretch/>
          </p:blipFill>
          <p:spPr>
            <a:xfrm>
              <a:off x="7936200" y="3852360"/>
              <a:ext cx="1291680" cy="1314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548640" y="384120"/>
            <a:ext cx="91411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TARGET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548640" y="658440"/>
            <a:ext cx="1106136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This school’s objective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11185920" y="644652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40000" y="1480680"/>
            <a:ext cx="11517840" cy="30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Explore how AI can leverage simulated photon and neutron datasets to: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Solve inverse problems (measurement → parameters)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Optimize experiments (find best parameters)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Train surrogate models (parameters → measurement)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 all this, we encourage you to use AI chats/agents.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12"/>
          <p:cNvSpPr/>
          <p:nvPr/>
        </p:nvSpPr>
        <p:spPr>
          <a:xfrm>
            <a:off x="548640" y="384120"/>
            <a:ext cx="91411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X/n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548640" y="658440"/>
            <a:ext cx="1106136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"Photons and Neutrons"?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11185920" y="644652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476280" y="1930680"/>
            <a:ext cx="1123740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Shared X/n Physics and Simulation Capabilities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Similar Interaction Processes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br>
              <a:rPr sz="2400"/>
            </a:b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Absorption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Energy transfer to the material (e.g., photoelectric effect for X-rays, neutron capture).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Scattering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Font typeface="OpenSymbol"/>
              <a:buChar char="►"/>
            </a:pPr>
            <a:r>
              <a:rPr b="0" i="1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Elastic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Structure analysis (e.g., Bragg diffraction for X-rays, neutron diffraction).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Font typeface="OpenSymbol"/>
              <a:buChar char="►"/>
            </a:pPr>
            <a:r>
              <a:rPr b="0" i="1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Inelastic</a:t>
            </a: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Dynamics analysis (e.g., Raman scattering for X-rays, neutron inelastic scattering).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Decay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Time-resolved studies (e.g., fluorescence, neutron activation).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15"/>
          <p:cNvSpPr/>
          <p:nvPr/>
        </p:nvSpPr>
        <p:spPr>
          <a:xfrm>
            <a:off x="548640" y="384120"/>
            <a:ext cx="91411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X/n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6"/>
          <p:cNvSpPr/>
          <p:nvPr/>
        </p:nvSpPr>
        <p:spPr>
          <a:xfrm>
            <a:off x="548640" y="658440"/>
            <a:ext cx="1106136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"Photons and Neutrons"?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11185920" y="644652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40000" y="1800000"/>
            <a:ext cx="11117160" cy="44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The Real World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1" lang="fr-FR" sz="2100" strike="noStrike" u="none">
                <a:solidFill>
                  <a:srgbClr val="ff00ff"/>
                </a:solidFill>
                <a:effectLst/>
                <a:uFillTx/>
                <a:latin typeface="Courier New"/>
              </a:rPr>
              <a:t>Parameters → [Instrument] → “Measurement”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Simulation Tools</a:t>
            </a:r>
            <a:r>
              <a:rPr b="0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McStas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Monte Carlo simulator for neutron scattering instruments.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McXtrace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Monte Carlo simulator for X-ray instruments.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Both enable realistic modeling of beamlines, detectors, and sample interactions.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tabLst>
                <a:tab algn="l" pos="0"/>
              </a:tabLst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Why Simulations Matter</a:t>
            </a:r>
            <a:r>
              <a:rPr b="0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Realism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Capture complex instrument geometries and material responses.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Flexibility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Test hypothetical setups.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34308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1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Cost-Effective</a:t>
            </a: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Avoid expensive trial-and-error on real instruments/BL.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tabLst>
                <a:tab algn="l" pos="0"/>
              </a:tabLst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18"/>
          <p:cNvSpPr/>
          <p:nvPr/>
        </p:nvSpPr>
        <p:spPr>
          <a:xfrm>
            <a:off x="548640" y="384120"/>
            <a:ext cx="91411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Realistic datasets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9"/>
          <p:cNvSpPr/>
          <p:nvPr/>
        </p:nvSpPr>
        <p:spPr>
          <a:xfrm>
            <a:off x="548640" y="658440"/>
            <a:ext cx="1106136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Realistic AI Datasets?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11185920" y="644652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540000" y="1800000"/>
            <a:ext cx="10659960" cy="38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2999"/>
              </a:spcBef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The Problem with Experimental Data</a:t>
            </a:r>
            <a:br>
              <a:rPr sz="2400"/>
            </a:b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Lack of Annotations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Raw data often lacks metadata (e.g., sample composition, instrument settings).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Manual annotation is time-consuming and error-prone.</a:t>
            </a:r>
            <a:br>
              <a:rPr sz="2100"/>
            </a:b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Publications as Implicit Annotations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Publications describe experimental conditions, but formats vary widely.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Not machine-readable or standardized for AI training.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21"/>
          <p:cNvSpPr/>
          <p:nvPr/>
        </p:nvSpPr>
        <p:spPr>
          <a:xfrm>
            <a:off x="548640" y="384120"/>
            <a:ext cx="91411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Realistic datasets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2"/>
          <p:cNvSpPr/>
          <p:nvPr/>
        </p:nvSpPr>
        <p:spPr>
          <a:xfrm>
            <a:off x="548640" y="658440"/>
            <a:ext cx="1106136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Why Realistic AI Datasets?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3"/>
          <p:cNvSpPr/>
          <p:nvPr/>
        </p:nvSpPr>
        <p:spPr>
          <a:xfrm>
            <a:off x="11185920" y="644652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540000" y="1800000"/>
            <a:ext cx="9475200" cy="46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2999"/>
              </a:spcBef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The Power of Simulated Data</a:t>
            </a:r>
            <a:br>
              <a:rPr sz="2400"/>
            </a:b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Controlled Parameters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Every input (e.g., sample thickness, detector angle) is known and adjustable.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Outputs (e.g., scattering patterns, spectra) are directly linked to inputs.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Pipeline Workflow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1" lang="fr-FR" sz="2100" strike="noStrike" u="none">
                <a:solidFill>
                  <a:srgbClr val="ff00ff"/>
                </a:solidFill>
                <a:effectLst/>
                <a:uFillTx/>
                <a:latin typeface="Courier New"/>
              </a:rPr>
              <a:t>Parameters → [Simulation] → Virtual “Measurement”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Example: Simulate an experiment with varying incident energy.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34"/>
          <p:cNvSpPr/>
          <p:nvPr/>
        </p:nvSpPr>
        <p:spPr>
          <a:xfrm>
            <a:off x="548640" y="384120"/>
            <a:ext cx="91411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General AI Methodology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5"/>
          <p:cNvSpPr/>
          <p:nvPr/>
        </p:nvSpPr>
        <p:spPr>
          <a:xfrm>
            <a:off x="548640" y="658440"/>
            <a:ext cx="1106136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General AI Methodology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6"/>
          <p:cNvSpPr/>
          <p:nvPr/>
        </p:nvSpPr>
        <p:spPr>
          <a:xfrm>
            <a:off x="11185920" y="644652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540000" y="1800000"/>
            <a:ext cx="10977840" cy="46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AI as a Universal Function Approximator</a:t>
            </a:r>
            <a:r>
              <a:rPr b="0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Black Box Concept:</a:t>
            </a:r>
            <a:br>
              <a:rPr sz="2400"/>
            </a:b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defTabSz="343080">
              <a:lnSpc>
                <a:spcPct val="100000"/>
              </a:lnSpc>
              <a:tabLst>
                <a:tab algn="l" pos="0"/>
              </a:tabLst>
            </a:pPr>
            <a:r>
              <a:rPr b="1" lang="fr-FR" sz="2400" strike="noStrike" u="none">
                <a:solidFill>
                  <a:srgbClr val="ff00ff"/>
                </a:solidFill>
                <a:effectLst/>
                <a:uFillTx/>
                <a:latin typeface="FreeMono"/>
              </a:rPr>
              <a:t>X=Input → [AI Model] → Y=Output</a:t>
            </a:r>
            <a:br>
              <a:rPr sz="2400"/>
            </a:b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Unifont"/>
              </a:rPr>
              <a:t>Universal Approximation Theorem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Unifont"/>
              </a:rPr>
              <a:t>: A neural network can </a:t>
            </a:r>
            <a:r>
              <a:rPr b="0" lang="fr-FR" sz="2400" strike="noStrike" u="none">
                <a:solidFill>
                  <a:srgbClr val="008000"/>
                </a:solidFill>
                <a:effectLst/>
                <a:uFillTx/>
                <a:latin typeface="Calibri"/>
                <a:ea typeface="Unifont"/>
              </a:rPr>
              <a:t>approximate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Unifont"/>
              </a:rPr>
              <a:t> </a:t>
            </a:r>
            <a:r>
              <a:rPr b="0" lang="fr-FR" sz="2400" strike="noStrike" u="none">
                <a:solidFill>
                  <a:srgbClr val="008000"/>
                </a:solidFill>
                <a:effectLst/>
                <a:uFillTx/>
                <a:latin typeface="Calibri"/>
                <a:ea typeface="Unifont"/>
              </a:rPr>
              <a:t>any continuous function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Unifont"/>
              </a:rPr>
              <a:t> given sufficient data and complexity.</a:t>
            </a:r>
            <a:br>
              <a:rPr sz="2400"/>
            </a:b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Unifont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Unifont"/>
              </a:rPr>
              <a:t>General Behavior: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34308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Unifont"/>
              </a:rPr>
              <a:t>All AI methods (CNNs, RNNs, SVMs) follow the same principle: map inputs to outputs via learned weights.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34308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Unifont"/>
              </a:rPr>
              <a:t>Differences lie in architecture, training efficiency, and interpretability.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52"/>
          <p:cNvSpPr/>
          <p:nvPr/>
        </p:nvSpPr>
        <p:spPr>
          <a:xfrm>
            <a:off x="548640" y="384120"/>
            <a:ext cx="91411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General AI Methodology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3"/>
          <p:cNvSpPr/>
          <p:nvPr/>
        </p:nvSpPr>
        <p:spPr>
          <a:xfrm>
            <a:off x="548640" y="658440"/>
            <a:ext cx="1106136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General AI Methodology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4"/>
          <p:cNvSpPr/>
          <p:nvPr/>
        </p:nvSpPr>
        <p:spPr>
          <a:xfrm>
            <a:off x="11185920" y="644652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8" name=""/>
          <p:cNvGraphicFramePr/>
          <p:nvPr/>
        </p:nvGraphicFramePr>
        <p:xfrm>
          <a:off x="2971800" y="2610360"/>
          <a:ext cx="8878320" cy="4068000"/>
        </p:xfrm>
        <a:graphic>
          <a:graphicData uri="http://schemas.openxmlformats.org/drawingml/2006/table">
            <a:tbl>
              <a:tblPr/>
              <a:tblGrid>
                <a:gridCol w="2959200"/>
                <a:gridCol w="2959200"/>
                <a:gridCol w="2960280"/>
              </a:tblGrid>
              <a:tr h="1355760">
                <a:tc>
                  <a:txBody>
                    <a:bodyPr lIns="36000" rIns="36000" anchor="t">
                      <a:noAutofit/>
                    </a:bodyPr>
                    <a:p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Input X=Parameters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12240">
                      <a:noFill/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Input X=Measurements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135576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Output Y=Parameters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Optimisation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12240">
                      <a:noFill/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Inverse problem : classification, regression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13564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Output Y=Measurements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Simulation, Surrogate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12240">
                      <a:noFill/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De-noising, de-convolution, segmentation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</a:tbl>
          </a:graphicData>
        </a:graphic>
      </p:graphicFrame>
      <p:sp>
        <p:nvSpPr>
          <p:cNvPr id="69" name=""/>
          <p:cNvSpPr/>
          <p:nvPr/>
        </p:nvSpPr>
        <p:spPr>
          <a:xfrm>
            <a:off x="540000" y="1800000"/>
            <a:ext cx="9475200" cy="11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2999"/>
              </a:spcBef>
              <a:tabLst>
                <a:tab algn="l" pos="0"/>
              </a:tabLst>
            </a:pPr>
            <a:r>
              <a:rPr b="1" lang="fr-FR" sz="2100" strike="noStrike" u="none">
                <a:solidFill>
                  <a:srgbClr val="ff00ff"/>
                </a:solidFill>
                <a:effectLst/>
                <a:uFillTx/>
                <a:latin typeface="Courier New"/>
              </a:rPr>
              <a:t>Parameters → [Simulation] → Virtual “Measurement”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spcBef>
                <a:spcPts val="2999"/>
              </a:spcBef>
              <a:tabLst>
                <a:tab algn="l" pos="0"/>
              </a:tabLst>
            </a:pPr>
            <a:r>
              <a:rPr b="0" lang="fr-FR" sz="2100" strike="noStrike" u="none">
                <a:solidFill>
                  <a:srgbClr val="ff00ff"/>
                </a:solidFill>
                <a:effectLst/>
                <a:uFillTx/>
                <a:latin typeface="Arial"/>
                <a:ea typeface="Unifont"/>
              </a:rPr>
              <a:t>X </a:t>
            </a:r>
            <a:r>
              <a:rPr b="1" lang="fr-FR" sz="2100" strike="noStrike" u="none">
                <a:solidFill>
                  <a:srgbClr val="ff00ff"/>
                </a:solidFill>
                <a:effectLst/>
                <a:uFillTx/>
                <a:latin typeface="Courier New"/>
                <a:ea typeface="Unifont"/>
              </a:rPr>
              <a:t>→ [AI] → 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24"/>
          <p:cNvSpPr/>
          <p:nvPr/>
        </p:nvSpPr>
        <p:spPr>
          <a:xfrm>
            <a:off x="548640" y="384120"/>
            <a:ext cx="91411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AI Methodology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5"/>
          <p:cNvSpPr/>
          <p:nvPr/>
        </p:nvSpPr>
        <p:spPr>
          <a:xfrm>
            <a:off x="548640" y="658440"/>
            <a:ext cx="1106136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AI algorithm types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6"/>
          <p:cNvSpPr/>
          <p:nvPr/>
        </p:nvSpPr>
        <p:spPr>
          <a:xfrm>
            <a:off x="11185920" y="644652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40000" y="1800000"/>
            <a:ext cx="9475200" cy="43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Inverse Problem</a:t>
            </a:r>
            <a:r>
              <a:rPr b="0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br>
              <a:rPr sz="2400"/>
            </a:b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Goal</a:t>
            </a:r>
            <a:r>
              <a:rPr b="0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Reconstruct input parameters from measured data.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Approach</a:t>
            </a:r>
            <a:r>
              <a:rPr b="0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br>
              <a:rPr sz="2400"/>
            </a:br>
            <a:r>
              <a:rPr b="0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defTabSz="34308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1" sz="2100" strike="noStrike" u="none">
                <a:solidFill>
                  <a:srgbClr val="ff00ff"/>
                </a:solidFill>
                <a:effectLst/>
                <a:uFillTx/>
                <a:latin typeface="Courier New"/>
              </a:rPr>
              <a:t>X=Measurement → [AI Algorithm] → Y=Parameters</a:t>
            </a:r>
            <a:br>
              <a:rPr sz="2100"/>
            </a:b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inferred </a:t>
            </a:r>
            <a:r>
              <a:rPr b="0" i="1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Parameters</a:t>
            </a:r>
            <a:r>
              <a:rPr b="0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can be discrete (class) or continuous (regression).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sz="24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Example</a:t>
            </a:r>
            <a:r>
              <a:rPr b="0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Predict sample composition from a scattering pattern.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28"/>
          <p:cNvSpPr/>
          <p:nvPr/>
        </p:nvSpPr>
        <p:spPr>
          <a:xfrm>
            <a:off x="548640" y="384120"/>
            <a:ext cx="91411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AI Methodology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9"/>
          <p:cNvSpPr/>
          <p:nvPr/>
        </p:nvSpPr>
        <p:spPr>
          <a:xfrm>
            <a:off x="548640" y="658440"/>
            <a:ext cx="1106136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AI algorithm types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0"/>
          <p:cNvSpPr/>
          <p:nvPr/>
        </p:nvSpPr>
        <p:spPr>
          <a:xfrm>
            <a:off x="11185920" y="644652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540000" y="1800000"/>
            <a:ext cx="10977840" cy="31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Surrogate Models</a:t>
            </a:r>
            <a:r>
              <a:rPr b="0" lang="en-US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br>
              <a:rPr sz="2400"/>
            </a:b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Purpose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Replace slow simulations with fast AI models.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Pipeline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br>
              <a:rPr sz="2400"/>
            </a:b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defTabSz="34308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1" lang="en-US" sz="2100" strike="noStrike" u="none">
                <a:solidFill>
                  <a:srgbClr val="ff00ff"/>
                </a:solidFill>
                <a:effectLst/>
                <a:uFillTx/>
                <a:latin typeface="Courier New"/>
              </a:rPr>
              <a:t>X=Parameters → [AI Model] → Y="Measurement" (faster)</a:t>
            </a:r>
            <a:br>
              <a:rPr sz="2100"/>
            </a:b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 Case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Fast phase-space exploration, Bayesian analysis.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31"/>
          <p:cNvSpPr/>
          <p:nvPr/>
        </p:nvSpPr>
        <p:spPr>
          <a:xfrm>
            <a:off x="548640" y="384120"/>
            <a:ext cx="91411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AI Methodology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2"/>
          <p:cNvSpPr/>
          <p:nvPr/>
        </p:nvSpPr>
        <p:spPr>
          <a:xfrm>
            <a:off x="548640" y="658440"/>
            <a:ext cx="1106136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AI algorithm types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3"/>
          <p:cNvSpPr/>
          <p:nvPr/>
        </p:nvSpPr>
        <p:spPr>
          <a:xfrm>
            <a:off x="11185920" y="644652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40000" y="1800000"/>
            <a:ext cx="10977840" cy="31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Model optimization</a:t>
            </a:r>
            <a:r>
              <a:rPr b="0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br>
              <a:rPr sz="2400"/>
            </a:b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Purpose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Find best parameters to get min/max signal.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Pipeline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br>
              <a:rPr sz="2400"/>
            </a:b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defTabSz="34308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1" lang="fr-FR" sz="2100" strike="noStrike" u="none">
                <a:solidFill>
                  <a:srgbClr val="ff00ff"/>
                </a:solidFill>
                <a:effectLst/>
                <a:uFillTx/>
                <a:latin typeface="Courier New"/>
              </a:rPr>
              <a:t>X=Parameters → [Optimizer] → Y=Best Parameters</a:t>
            </a:r>
            <a:br>
              <a:rPr sz="2100"/>
            </a:b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 Case</a:t>
            </a: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Optimization of beamline configurations.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55"/>
          <p:cNvSpPr/>
          <p:nvPr/>
        </p:nvSpPr>
        <p:spPr>
          <a:xfrm>
            <a:off x="548640" y="384120"/>
            <a:ext cx="91411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AI Methodology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6"/>
          <p:cNvSpPr/>
          <p:nvPr/>
        </p:nvSpPr>
        <p:spPr>
          <a:xfrm>
            <a:off x="548640" y="658440"/>
            <a:ext cx="1106136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AI algorithm types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7"/>
          <p:cNvSpPr/>
          <p:nvPr/>
        </p:nvSpPr>
        <p:spPr>
          <a:xfrm>
            <a:off x="11185920" y="644652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540000" y="1800000"/>
            <a:ext cx="9475200" cy="316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4308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Data Processing</a:t>
            </a:r>
            <a:r>
              <a:rPr b="0" lang="en-US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:</a:t>
            </a:r>
            <a:br>
              <a:rPr sz="2400"/>
            </a:b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Goal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process measured data.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Approach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br>
              <a:rPr sz="2400"/>
            </a:b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defTabSz="343080">
              <a:lnSpc>
                <a:spcPct val="100000"/>
              </a:lnSpc>
              <a:spcBef>
                <a:spcPts val="420"/>
              </a:spcBef>
              <a:tabLst>
                <a:tab algn="l" pos="0"/>
              </a:tabLst>
            </a:pPr>
            <a:r>
              <a:rPr b="1" lang="en-US" sz="2100" strike="noStrike" u="none">
                <a:solidFill>
                  <a:srgbClr val="ff00ff"/>
                </a:solidFill>
                <a:effectLst/>
                <a:uFillTx/>
                <a:latin typeface="Courier New"/>
                <a:ea typeface="Unifont"/>
              </a:rPr>
              <a:t>X=Measurement → [AI Algorithm] → Y=</a:t>
            </a:r>
            <a:r>
              <a:rPr b="1" lang="en-US" sz="2100" strike="noStrike" u="none">
                <a:solidFill>
                  <a:srgbClr val="ff00ff"/>
                </a:solidFill>
                <a:effectLst/>
                <a:uFillTx/>
                <a:latin typeface="Courier New"/>
              </a:rPr>
              <a:t>Measurement</a:t>
            </a:r>
            <a:br>
              <a:rPr sz="2100"/>
            </a:b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Calibri"/>
              </a:rPr>
              <a:t>Example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filter noise, super-resolution, segmentation.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37"/>
          <p:cNvSpPr/>
          <p:nvPr/>
        </p:nvSpPr>
        <p:spPr>
          <a:xfrm>
            <a:off x="548640" y="384120"/>
            <a:ext cx="91411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General AI Methodology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8"/>
          <p:cNvSpPr/>
          <p:nvPr/>
        </p:nvSpPr>
        <p:spPr>
          <a:xfrm>
            <a:off x="548640" y="658440"/>
            <a:ext cx="1106136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General AI Methodology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9"/>
          <p:cNvSpPr/>
          <p:nvPr/>
        </p:nvSpPr>
        <p:spPr>
          <a:xfrm>
            <a:off x="11185920" y="644652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540000" y="1800000"/>
            <a:ext cx="10977840" cy="46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Training: The Core Process</a:t>
            </a:r>
            <a:br>
              <a:rPr sz="2400"/>
            </a:b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Objective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: Minimize the loss function (e.g., Mean Squared Error, Cross-Entropy).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34308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Loss Function: Measures the difference between predicted and actual outputs.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Steps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34308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Forward Pass: Compute predictions for a batch of training data.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34308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Loss Calculation: Evaluate how far predictions are from true values.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34308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Backpropagation: Compute gradients of the loss with respect to weights.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34308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Optimization: Update weights using an optimizer (e.g., Adam, SGD).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40"/>
          <p:cNvSpPr/>
          <p:nvPr/>
        </p:nvSpPr>
        <p:spPr>
          <a:xfrm>
            <a:off x="548640" y="383760"/>
            <a:ext cx="91411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General AI Methodology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1"/>
          <p:cNvSpPr/>
          <p:nvPr/>
        </p:nvSpPr>
        <p:spPr>
          <a:xfrm>
            <a:off x="548640" y="658080"/>
            <a:ext cx="1106136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General AI Methodology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2"/>
          <p:cNvSpPr/>
          <p:nvPr/>
        </p:nvSpPr>
        <p:spPr>
          <a:xfrm>
            <a:off x="11185920" y="644616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540000" y="1799640"/>
            <a:ext cx="10977840" cy="277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Training: The Core Process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Key Factors for Success: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Data Quality: High-fidelity simulations with diverse parameters.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Model Architecture: Match complexity to the problem (e.g., CNNs for images, Transformers for sequences, trees for classification).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Hyperparameters: Learning rate, batch size, number of epochs.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46"/>
          <p:cNvSpPr/>
          <p:nvPr/>
        </p:nvSpPr>
        <p:spPr>
          <a:xfrm>
            <a:off x="548640" y="383760"/>
            <a:ext cx="91411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Lessons and praticals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7"/>
          <p:cNvSpPr/>
          <p:nvPr/>
        </p:nvSpPr>
        <p:spPr>
          <a:xfrm>
            <a:off x="548640" y="658080"/>
            <a:ext cx="1106136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What You Will Learn and Practice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8"/>
          <p:cNvSpPr/>
          <p:nvPr/>
        </p:nvSpPr>
        <p:spPr>
          <a:xfrm>
            <a:off x="11185920" y="644616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540000" y="1799640"/>
            <a:ext cx="10977840" cy="43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Hands-on skills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Setting Up Simulations: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34308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Configure beamlines/instruments in McStas (neutrons) and McXtrace (X-rays).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34308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Define sample properties (e.g., crystal structure, composition).</a:t>
            </a:r>
            <a:br>
              <a:rPr sz="2400"/>
            </a:b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Characterizing Models: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34308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Check geometry (e.g., detector positions, slit sizes).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34308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  <a:tabLst>
                <a:tab algn="l" pos="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Unifont"/>
              </a:rPr>
              <a:t>Extract parameters (e.g., resolution, flux) and results (e.g., spectra, diffraction patterns).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49"/>
          <p:cNvSpPr/>
          <p:nvPr/>
        </p:nvSpPr>
        <p:spPr>
          <a:xfrm>
            <a:off x="548640" y="383760"/>
            <a:ext cx="91411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1200" spc="201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Resources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0"/>
          <p:cNvSpPr/>
          <p:nvPr/>
        </p:nvSpPr>
        <p:spPr>
          <a:xfrm>
            <a:off x="548640" y="658080"/>
            <a:ext cx="11061360" cy="8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GB" sz="3000" strike="noStrike" u="none">
                <a:solidFill>
                  <a:srgbClr val="20242b"/>
                </a:solidFill>
                <a:effectLst/>
                <a:uFillTx/>
                <a:latin typeface="Cambria"/>
              </a:rPr>
              <a:t>What You Will Use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1"/>
          <p:cNvSpPr/>
          <p:nvPr/>
        </p:nvSpPr>
        <p:spPr>
          <a:xfrm>
            <a:off x="11185920" y="644616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540000" y="1799640"/>
            <a:ext cx="10977840" cy="29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Your Laptop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High Performance Computing (MesoNET)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Remote Computing Service (</a:t>
            </a:r>
            <a:r>
              <a:rPr b="1" lang="fr-FR" sz="2400" strike="noStrike" u="none">
                <a:solidFill>
                  <a:srgbClr val="0563c1"/>
                </a:solidFill>
                <a:effectLst/>
                <a:uFillTx/>
                <a:latin typeface="Calibri"/>
                <a:hlinkClick r:id="rId1"/>
              </a:rPr>
              <a:t>DARTS@SOLEIL</a:t>
            </a: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https://data-analysis.synchrotron-soleil.fr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Mono"/>
              </a:rPr>
              <a:t>herculesd/Synchrotron-S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Mono"/>
                <a:ea typeface="FreeMono"/>
              </a:rPr>
              <a:t>Ø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Mono"/>
              </a:rPr>
              <a:t>LEIL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fr-FR" sz="2400" strike="noStrike" u="none">
                <a:solidFill>
                  <a:srgbClr val="0000ff"/>
                </a:solidFill>
                <a:effectLst/>
                <a:uFillTx/>
                <a:latin typeface="Calibri"/>
              </a:rPr>
              <a:t>Your Brain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4308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9410040" y="-1457640"/>
            <a:ext cx="4752000" cy="475200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Shape 1"/>
          <p:cNvSpPr/>
          <p:nvPr/>
        </p:nvSpPr>
        <p:spPr>
          <a:xfrm>
            <a:off x="-1828800" y="4206240"/>
            <a:ext cx="4203360" cy="420336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822960" y="2286000"/>
            <a:ext cx="9141120" cy="10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822960" y="3246120"/>
            <a:ext cx="914112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c7d3f0"/>
                </a:solidFill>
                <a:effectLst/>
                <a:uFillTx/>
                <a:latin typeface="Calibri"/>
                <a:ea typeface="Calibri"/>
              </a:rPr>
              <a:t>Questions?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4"/>
          <p:cNvSpPr/>
          <p:nvPr/>
        </p:nvSpPr>
        <p:spPr>
          <a:xfrm>
            <a:off x="822960" y="4297680"/>
            <a:ext cx="1414440" cy="30816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822960" y="4297680"/>
            <a:ext cx="141444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mcstas.org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6"/>
          <p:cNvSpPr/>
          <p:nvPr/>
        </p:nvSpPr>
        <p:spPr>
          <a:xfrm>
            <a:off x="2377440" y="4297680"/>
            <a:ext cx="1414440" cy="30816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2377440" y="4297680"/>
            <a:ext cx="141444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d97a2b"/>
                </a:solidFill>
                <a:effectLst/>
                <a:uFillTx/>
                <a:latin typeface="Calibri"/>
                <a:ea typeface="Calibri"/>
              </a:rPr>
              <a:t>mcxtrace.org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8"/>
          <p:cNvSpPr/>
          <p:nvPr/>
        </p:nvSpPr>
        <p:spPr>
          <a:xfrm>
            <a:off x="822960" y="5806440"/>
            <a:ext cx="2926080" cy="360"/>
          </a:xfrm>
          <a:prstGeom prst="line">
            <a:avLst/>
          </a:prstGeom>
          <a:ln w="12700">
            <a:solidFill>
              <a:srgbClr val="3c4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822960" y="5897880"/>
            <a:ext cx="73123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aab6de"/>
                </a:solidFill>
                <a:effectLst/>
                <a:uFillTx/>
                <a:latin typeface="Calibri"/>
                <a:ea typeface="Calibri"/>
              </a:rPr>
              <a:t>Emmanuel Farhi – Synchrotron SOLEIL – PaNRAID Sept 2026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0"/>
          <p:cNvSpPr/>
          <p:nvPr/>
        </p:nvSpPr>
        <p:spPr>
          <a:xfrm>
            <a:off x="548640" y="6446520"/>
            <a:ext cx="63979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{presentation title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11185920" y="6446520"/>
            <a:ext cx="4543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e7580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PartnerCard"/>
          <p:cNvSpPr/>
          <p:nvPr/>
        </p:nvSpPr>
        <p:spPr>
          <a:xfrm>
            <a:off x="6603840" y="4165560"/>
            <a:ext cx="4950000" cy="1571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clip" vertOverflow="clip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PartnerLabel"/>
          <p:cNvSpPr/>
          <p:nvPr/>
        </p:nvSpPr>
        <p:spPr>
          <a:xfrm>
            <a:off x="6921360" y="4368960"/>
            <a:ext cx="431496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GB" sz="1100" strike="noStrike" u="none">
                <a:solidFill>
                  <a:srgbClr val="1c7293"/>
                </a:solidFill>
                <a:effectLst/>
                <a:uFillTx/>
                <a:latin typeface="Calibri"/>
              </a:rPr>
              <a:t>SUPPORTED BY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Picture 15" descr=""/>
          <p:cNvPicPr/>
          <p:nvPr/>
        </p:nvPicPr>
        <p:blipFill>
          <a:blip r:embed="rId1"/>
          <a:stretch/>
        </p:blipFill>
        <p:spPr>
          <a:xfrm>
            <a:off x="6921360" y="4749840"/>
            <a:ext cx="4314960" cy="63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Copied Picture 17" descr=""/>
          <p:cNvPicPr/>
          <p:nvPr/>
        </p:nvPicPr>
        <p:blipFill>
          <a:blip r:embed="rId2"/>
          <a:srcRect l="11719" t="16991" r="0" b="0"/>
          <a:stretch/>
        </p:blipFill>
        <p:spPr>
          <a:xfrm>
            <a:off x="10375920" y="355680"/>
            <a:ext cx="1267200" cy="64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LogoCard"/>
          <p:cNvSpPr/>
          <p:nvPr/>
        </p:nvSpPr>
        <p:spPr>
          <a:xfrm>
            <a:off x="7375680" y="2105640"/>
            <a:ext cx="3807000" cy="149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horzOverflow="clip" vertOverflow="clip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119" name="Group 18"/>
          <p:cNvGrpSpPr/>
          <p:nvPr/>
        </p:nvGrpSpPr>
        <p:grpSpPr>
          <a:xfrm>
            <a:off x="7882560" y="2194200"/>
            <a:ext cx="2793600" cy="1318680"/>
            <a:chOff x="7882560" y="2194200"/>
            <a:chExt cx="2793600" cy="1318680"/>
          </a:xfrm>
        </p:grpSpPr>
        <p:grpSp>
          <p:nvGrpSpPr>
            <p:cNvPr id="120" name="Group 19"/>
            <p:cNvGrpSpPr/>
            <p:nvPr/>
          </p:nvGrpSpPr>
          <p:grpSpPr>
            <a:xfrm>
              <a:off x="9289440" y="2194200"/>
              <a:ext cx="1386720" cy="1255680"/>
              <a:chOff x="9289440" y="2194200"/>
              <a:chExt cx="1386720" cy="1255680"/>
            </a:xfrm>
          </p:grpSpPr>
          <p:pic>
            <p:nvPicPr>
              <p:cNvPr id="121" name="Picture 21" descr=""/>
              <p:cNvPicPr/>
              <p:nvPr/>
            </p:nvPicPr>
            <p:blipFill>
              <a:blip r:embed="rId3"/>
              <a:srcRect l="48137" t="0" r="0" b="0"/>
              <a:stretch/>
            </p:blipFill>
            <p:spPr>
              <a:xfrm>
                <a:off x="9339120" y="2194200"/>
                <a:ext cx="1291680" cy="7732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22" name="Picture 22" descr="Synchrotron SOLEIL"/>
              <p:cNvPicPr/>
              <p:nvPr/>
            </p:nvPicPr>
            <p:blipFill>
              <a:blip r:embed="rId4"/>
              <a:stretch/>
            </p:blipFill>
            <p:spPr>
              <a:xfrm>
                <a:off x="9289440" y="2922840"/>
                <a:ext cx="960480" cy="462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23" name="Picture 23" descr="DTU Physics"/>
              <p:cNvPicPr/>
              <p:nvPr/>
            </p:nvPicPr>
            <p:blipFill>
              <a:blip r:embed="rId5"/>
              <a:stretch/>
            </p:blipFill>
            <p:spPr>
              <a:xfrm>
                <a:off x="10325160" y="2931480"/>
                <a:ext cx="351000" cy="5184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124" name="Picture 20" descr=""/>
            <p:cNvPicPr/>
            <p:nvPr/>
          </p:nvPicPr>
          <p:blipFill>
            <a:blip r:embed="rId6"/>
            <a:stretch/>
          </p:blipFill>
          <p:spPr>
            <a:xfrm>
              <a:off x="7882560" y="2198880"/>
              <a:ext cx="1291680" cy="13140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</TotalTime>
  <Application>LibreOffice/25.2.3.2$Linux_AARCH64 LibreOffice_project/520$Build-2</Application>
  <AppVersion>15.0000</AppVersion>
  <Words>1713</Words>
  <Paragraphs>325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2026-09-04T14:34:15Z</dcterms:created>
  <dc:creator>Emmanuel FARHI</dc:creator>
  <dc:description/>
  <dc:language>fr-FR</dc:language>
  <cp:lastModifiedBy/>
  <dcterms:modified xsi:type="dcterms:W3CDTF">2026-09-16T13:56:48Z</dcterms:modified>
  <cp:revision>77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Widescreen</vt:lpwstr>
  </property>
  <property fmtid="{D5CDD505-2E9C-101B-9397-08002B2CF9AE}" pid="4" name="Slides">
    <vt:i4>18</vt:i4>
  </property>
</Properties>
</file>