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webextensions/taskpanes.xml" ContentType="application/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4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_rels/presentation.xml.rels" ContentType="application/vnd.openxmlformats-package.relationships+xml"/>
  <Override PartName="/ppt/media/image1.jpeg" ContentType="image/jpeg"/>
  <Override PartName="/ppt/media/image6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gif" ContentType="image/gif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11/relationships/webextensiontaskpanes" Target="ppt/webextensions/taskpanes.xml"/><Relationship Id="rId5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C9DB31D-555C-461F-9D45-BD8CD92D9C3E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44846D-4721-45EB-9655-55FCBE05A417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EFD446-17B7-4AB1-8022-B7D77CFBE562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552152-D44F-47BA-B541-F5CAB0A732FD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5A3325-13DF-40E7-8919-AC163F616BBE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001CBD-1396-4E51-815B-E4B38D381888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77B06D-2306-49B8-9E60-475C1CD6C2D5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255A38-9385-41AA-89C6-6AFB0540D153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B194AB-85C3-40F2-8E87-F63BF88099E2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B74336-82B5-4514-BAEC-E0A6EEFB0BDC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38EBB0-F383-424E-97BC-D47039784867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ext 14"/>
          <p:cNvSpPr/>
          <p:nvPr/>
        </p:nvSpPr>
        <p:spPr>
          <a:xfrm>
            <a:off x="548640" y="6446880"/>
            <a:ext cx="6398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Seeking for AI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Text 15"/>
          <p:cNvSpPr/>
          <p:nvPr/>
        </p:nvSpPr>
        <p:spPr>
          <a:xfrm>
            <a:off x="11185920" y="644688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Copied Picture 1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6040"/>
            <a:ext cx="1267560" cy="64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4"/>
          <p:cNvSpPr/>
          <p:nvPr/>
        </p:nvSpPr>
        <p:spPr>
          <a:xfrm>
            <a:off x="548640" y="6446880"/>
            <a:ext cx="6398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Seeking for AI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Text 15"/>
          <p:cNvSpPr/>
          <p:nvPr/>
        </p:nvSpPr>
        <p:spPr>
          <a:xfrm>
            <a:off x="11185920" y="644688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Copied Picture 1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6040"/>
            <a:ext cx="1267560" cy="64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4"/>
          <p:cNvSpPr/>
          <p:nvPr/>
        </p:nvSpPr>
        <p:spPr>
          <a:xfrm>
            <a:off x="548640" y="6446880"/>
            <a:ext cx="6398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Seeking for AI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5"/>
          <p:cNvSpPr/>
          <p:nvPr/>
        </p:nvSpPr>
        <p:spPr>
          <a:xfrm>
            <a:off x="11185920" y="644688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Copied Picture 1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6040"/>
            <a:ext cx="1267560" cy="64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gif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mailto:DARTS@SOLEIL" TargetMode="External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gif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0"/>
          <p:cNvSpPr/>
          <p:nvPr/>
        </p:nvSpPr>
        <p:spPr>
          <a:xfrm>
            <a:off x="9392760" y="-1425960"/>
            <a:ext cx="4752360" cy="475236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Shape 1"/>
          <p:cNvSpPr/>
          <p:nvPr/>
        </p:nvSpPr>
        <p:spPr>
          <a:xfrm>
            <a:off x="-1828800" y="4206240"/>
            <a:ext cx="4203720" cy="42037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Text 3"/>
          <p:cNvSpPr/>
          <p:nvPr/>
        </p:nvSpPr>
        <p:spPr>
          <a:xfrm>
            <a:off x="777240" y="1828800"/>
            <a:ext cx="10513080" cy="15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Seeking for AI</a:t>
            </a:r>
            <a:endParaRPr b="0" lang="en-US" sz="5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822960" y="3246120"/>
            <a:ext cx="63475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900" strike="noStrike" u="non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Realistic Datasets for Photons and Neutrons AI methodologies</a:t>
            </a:r>
            <a:endParaRPr b="0" lang="en-US" sz="1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822960" y="4160520"/>
            <a:ext cx="1414800" cy="30852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Text 6"/>
          <p:cNvSpPr/>
          <p:nvPr/>
        </p:nvSpPr>
        <p:spPr>
          <a:xfrm>
            <a:off x="822960" y="4160520"/>
            <a:ext cx="141480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 — neutrons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2377440" y="4160520"/>
            <a:ext cx="1414800" cy="30852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Text 8"/>
          <p:cNvSpPr/>
          <p:nvPr/>
        </p:nvSpPr>
        <p:spPr>
          <a:xfrm>
            <a:off x="2377440" y="4160520"/>
            <a:ext cx="141480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 — X-rays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9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822960" y="5897880"/>
            <a:ext cx="5483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Emmanuel FARHI   ·   Synchrotron SOLEIL – Sept 2026</a:t>
            </a:r>
            <a:endParaRPr b="0" lang="en-US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LogoCard"/>
          <p:cNvSpPr/>
          <p:nvPr/>
        </p:nvSpPr>
        <p:spPr>
          <a:xfrm>
            <a:off x="7429680" y="3759120"/>
            <a:ext cx="3807360" cy="1496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" name="SchoolCredit"/>
          <p:cNvSpPr/>
          <p:nvPr/>
        </p:nvSpPr>
        <p:spPr>
          <a:xfrm>
            <a:off x="7429680" y="5384880"/>
            <a:ext cx="38073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300" strike="noStrike" u="none">
                <a:solidFill>
                  <a:srgbClr val="c9d2ee"/>
                </a:solidFill>
                <a:effectLst/>
                <a:uFillTx/>
                <a:latin typeface="Calibri"/>
              </a:rPr>
              <a:t>PaNRAID School  ·  supported by PEPR DIADEM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" name="Picture 17" descr=""/>
          <p:cNvPicPr/>
          <p:nvPr/>
        </p:nvPicPr>
        <p:blipFill>
          <a:blip r:embed="rId1"/>
          <a:srcRect l="11719" t="16991" r="0" b="0"/>
          <a:stretch/>
        </p:blipFill>
        <p:spPr>
          <a:xfrm>
            <a:off x="825480" y="457200"/>
            <a:ext cx="1394640" cy="71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" name="Picture 15" descr=""/>
          <p:cNvPicPr/>
          <p:nvPr/>
        </p:nvPicPr>
        <p:blipFill>
          <a:blip r:embed="rId2"/>
          <a:stretch/>
        </p:blipFill>
        <p:spPr>
          <a:xfrm>
            <a:off x="7429680" y="478800"/>
            <a:ext cx="4537080" cy="6710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5" name="Group 16"/>
          <p:cNvGrpSpPr/>
          <p:nvPr/>
        </p:nvGrpSpPr>
        <p:grpSpPr>
          <a:xfrm>
            <a:off x="7936200" y="3847680"/>
            <a:ext cx="2793960" cy="1319040"/>
            <a:chOff x="7936200" y="3847680"/>
            <a:chExt cx="2793960" cy="1319040"/>
          </a:xfrm>
        </p:grpSpPr>
        <p:grpSp>
          <p:nvGrpSpPr>
            <p:cNvPr id="36" name="Group 18"/>
            <p:cNvGrpSpPr/>
            <p:nvPr/>
          </p:nvGrpSpPr>
          <p:grpSpPr>
            <a:xfrm>
              <a:off x="9343440" y="3847680"/>
              <a:ext cx="1386720" cy="1256040"/>
              <a:chOff x="9343440" y="3847680"/>
              <a:chExt cx="1386720" cy="1256040"/>
            </a:xfrm>
          </p:grpSpPr>
          <p:pic>
            <p:nvPicPr>
              <p:cNvPr id="37" name="Picture 20" descr=""/>
              <p:cNvPicPr/>
              <p:nvPr/>
            </p:nvPicPr>
            <p:blipFill>
              <a:blip r:embed="rId3"/>
              <a:srcRect l="48137" t="0" r="0" b="0"/>
              <a:stretch/>
            </p:blipFill>
            <p:spPr>
              <a:xfrm>
                <a:off x="9392760" y="3847680"/>
                <a:ext cx="1292040" cy="77364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38" name="Picture 21" descr="Synchrotron SOLEIL"/>
              <p:cNvPicPr/>
              <p:nvPr/>
            </p:nvPicPr>
            <p:blipFill>
              <a:blip r:embed="rId4"/>
              <a:stretch/>
            </p:blipFill>
            <p:spPr>
              <a:xfrm>
                <a:off x="9343440" y="4576320"/>
                <a:ext cx="960840" cy="46296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39" name="Picture 22" descr="DTU Physics"/>
              <p:cNvPicPr/>
              <p:nvPr/>
            </p:nvPicPr>
            <p:blipFill>
              <a:blip r:embed="rId5"/>
              <a:stretch/>
            </p:blipFill>
            <p:spPr>
              <a:xfrm>
                <a:off x="10378800" y="4584960"/>
                <a:ext cx="351360" cy="51876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40" name="Picture 19" descr=""/>
            <p:cNvPicPr/>
            <p:nvPr/>
          </p:nvPicPr>
          <p:blipFill>
            <a:blip r:embed="rId6"/>
            <a:stretch/>
          </p:blipFill>
          <p:spPr>
            <a:xfrm>
              <a:off x="7936200" y="3852360"/>
              <a:ext cx="1292040" cy="13143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TARGET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This school’s objective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7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540000" y="1480680"/>
            <a:ext cx="11518200" cy="30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Explore how AI can leverage simulated photon and neutron datasets to: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Solve inverse problems (measurement → parameters)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Optimize experiments (find best parameters)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Train surrogate models (parameters → measurement)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 all this, we encourage you to use AI chats/agents.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12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X/n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"Photons and Neutrons"?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476280" y="1930680"/>
            <a:ext cx="1123776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Shared X/n Physics and Simulation Capabilities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Similar Interaction Processes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Absorption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Energy transfer to the material (e.g., photoelectric effect for X-rays, neutron capture).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Scattering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</a:pPr>
            <a:r>
              <a:rPr b="0" i="1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Elastic</a:t>
            </a: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Structure analysis (e.g., Bragg diffraction for X-rays, neutron diffraction).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</a:pPr>
            <a:r>
              <a:rPr b="0" i="1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Inelastic</a:t>
            </a: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Dynamics analysis (e.g., Raman scattering for X-rays, neutron inelastic scattering).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Decay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Time-resolved studies (e.g., fluorescence, neutron activation).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15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X/n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"Photons and Neutrons"?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7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540000" y="1800000"/>
            <a:ext cx="11117520" cy="449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The Real World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[Instrument] → “Measurement”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Simulation Tools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McStas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Monte Carlo simulator for neutron scattering instruments.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McXtrace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Monte Carlo simulator for X-ray instruments.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Both enable realistic modeling of beamlines, detectors, and sample interactions.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Why Simulations Matter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Realism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Capture complex instrument geometries and material responses.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Flexibility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Test hypothetical setups.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Cost-Effective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Avoid expensive trial-and-error on real instruments/BL.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18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540000" y="1800000"/>
            <a:ext cx="10660320" cy="38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299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The Problem with Experimental Data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Lack of Annotations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Raw data often lacks metadata (e.g., sample composition, instrument settings).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Manual annotation is time-consuming and error-prone.</a:t>
            </a:r>
            <a:br>
              <a:rPr sz="2100"/>
            </a:b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Publications as Implicit Annotations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Publications describe experimental conditions, but formats vary widely.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Not machine-readable or standardized for AI training.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21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2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3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540000" y="1800000"/>
            <a:ext cx="9475560" cy="46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299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The Power of Simulated Data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Controlled Parameters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Every input (e.g., sample thickness, detector angle) is known and adjustable.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Outputs (e.g., scattering patterns, spectra) are directly linked to inputs.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Pipeline Workflow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[Simulation] → Virtual “Measurement”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Example: Simulate an experiment with varying incident energy.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52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3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4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4" name=""/>
          <p:cNvGraphicFramePr/>
          <p:nvPr/>
        </p:nvGraphicFramePr>
        <p:xfrm>
          <a:off x="2971800" y="2610360"/>
          <a:ext cx="8878680" cy="4067640"/>
        </p:xfrm>
        <a:graphic>
          <a:graphicData uri="http://schemas.openxmlformats.org/drawingml/2006/table">
            <a:tbl>
              <a:tblPr/>
              <a:tblGrid>
                <a:gridCol w="2959200"/>
                <a:gridCol w="2959200"/>
                <a:gridCol w="2960280"/>
              </a:tblGrid>
              <a:tr h="1355760">
                <a:tc>
                  <a:txBody>
                    <a:bodyPr lIns="36000" rIns="36000" anchor="t">
                      <a:noAutofit/>
                    </a:bodyPr>
                    <a:p>
                      <a:endParaRPr b="0" lang="fr-FR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Input X=Parameters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12240">
                      <a:noFill/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Input X=Measurements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</a:tr>
              <a:tr h="135576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Output Y=Parameters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Optimisation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12240">
                      <a:noFill/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Inverse problem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3564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Output Y=Measurements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Simulation, Surrogate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12240">
                      <a:noFill/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De-noising, de-convolution, segmentation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5" name=""/>
          <p:cNvSpPr/>
          <p:nvPr/>
        </p:nvSpPr>
        <p:spPr>
          <a:xfrm>
            <a:off x="540000" y="1800000"/>
            <a:ext cx="9475560" cy="11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2999"/>
              </a:spcBef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[Simulation] → Virtual “Measurement”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2999"/>
              </a:spcBef>
              <a:tabLst>
                <a:tab algn="l" pos="0"/>
              </a:tabLst>
            </a:pPr>
            <a:r>
              <a:rPr b="0" lang="fr-FR" sz="2100" strike="noStrike" u="none">
                <a:solidFill>
                  <a:srgbClr val="ff00ff"/>
                </a:solidFill>
                <a:effectLst/>
                <a:uFillTx/>
                <a:latin typeface="Arial"/>
                <a:ea typeface="Unifont"/>
              </a:rPr>
              <a:t>X </a:t>
            </a: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→ [AI] → 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24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5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6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540000" y="1800000"/>
            <a:ext cx="9475560" cy="352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Inverse Problem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Goal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Reconstruct input parameters from measured data.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AI Approach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Measurement → [AI Algorithm] → Parameters</a:t>
            </a:r>
            <a:br>
              <a:rPr sz="2100"/>
            </a:b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Example: Predict sample composition from a scattering pattern.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28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9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0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540000" y="1800000"/>
            <a:ext cx="10978200" cy="31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Surrogate Models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Purpose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Replace slow simulations with fast AI models.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Pipeline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[AI Model] → Virtual "Measurement" (faster)</a:t>
            </a:r>
            <a:br>
              <a:rPr sz="2100"/>
            </a:b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Use Case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Fast phase-space exploration.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31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2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33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540000" y="1800000"/>
            <a:ext cx="10978200" cy="31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Model optimization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Purpose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Find best parameters to get min/max signal.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Pipeline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[Optimizer] → Best Parameters</a:t>
            </a:r>
            <a:br>
              <a:rPr sz="2100"/>
            </a:b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Use Case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Optimization of beamline configurations.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34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General AI Methodology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5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General AI Methodology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6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540000" y="1800000"/>
            <a:ext cx="10978200" cy="46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AI as a Universal Function Approximator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Black Box Concept:</a:t>
            </a:r>
            <a:br>
              <a:rPr sz="2400"/>
            </a:b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defTabSz="343080">
              <a:lnSpc>
                <a:spcPct val="100000"/>
              </a:lnSpc>
              <a:tabLst>
                <a:tab algn="l" pos="0"/>
              </a:tabLst>
            </a:pPr>
            <a:r>
              <a:rPr b="1" lang="fr-FR" sz="2400" strike="noStrike" u="none">
                <a:solidFill>
                  <a:srgbClr val="ff00ff"/>
                </a:solidFill>
                <a:effectLst/>
                <a:uFillTx/>
                <a:latin typeface="FreeMono"/>
              </a:rPr>
              <a:t>Input → [AI Model] → Output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Universal Approximation Theorem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: A neural network can </a:t>
            </a:r>
            <a:r>
              <a:rPr b="0" lang="fr-FR" sz="2400" strike="noStrike" u="none">
                <a:solidFill>
                  <a:srgbClr val="008000"/>
                </a:solidFill>
                <a:effectLst/>
                <a:uFillTx/>
                <a:latin typeface="Calibri"/>
                <a:ea typeface="Unifont"/>
              </a:rPr>
              <a:t>approximate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 </a:t>
            </a:r>
            <a:r>
              <a:rPr b="0" lang="fr-FR" sz="2400" strike="noStrike" u="none">
                <a:solidFill>
                  <a:srgbClr val="008000"/>
                </a:solidFill>
                <a:effectLst/>
                <a:uFillTx/>
                <a:latin typeface="Calibri"/>
                <a:ea typeface="Unifont"/>
              </a:rPr>
              <a:t>any continuous function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 given sufficient data and complexity.</a:t>
            </a:r>
            <a:br>
              <a:rPr sz="2400"/>
            </a:b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General Behavior: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All AI methods (CNNs, RNNs, SVMs) follow the same principle: map inputs to outputs via learned weights.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Differences lie in architecture, training efficiency, and interpretability.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37"/>
          <p:cNvSpPr/>
          <p:nvPr/>
        </p:nvSpPr>
        <p:spPr>
          <a:xfrm>
            <a:off x="548640" y="38412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General AI Methodology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8"/>
          <p:cNvSpPr/>
          <p:nvPr/>
        </p:nvSpPr>
        <p:spPr>
          <a:xfrm>
            <a:off x="548640" y="65844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General AI Methodology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39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540000" y="1800000"/>
            <a:ext cx="10978200" cy="46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Training: The Core Process</a:t>
            </a:r>
            <a:br>
              <a:rPr sz="2400"/>
            </a:b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Objective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: Minimize the loss function (e.g., Mean Squared Error, Cross-Entropy).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Loss Function: Measures the difference between predicted and actual outputs.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Steps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Forward Pass: Compute predictions for a batch of training data.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Loss Calculation: Evaluate how far predictions are from true values.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Backpropagation: Compute gradients of the loss with respect to weights.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Optimization: Update weights using an optimizer (e.g., Adam, SGD).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40"/>
          <p:cNvSpPr/>
          <p:nvPr/>
        </p:nvSpPr>
        <p:spPr>
          <a:xfrm>
            <a:off x="548640" y="38376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General AI Methodology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41"/>
          <p:cNvSpPr/>
          <p:nvPr/>
        </p:nvSpPr>
        <p:spPr>
          <a:xfrm>
            <a:off x="548640" y="65808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General AI Methodology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2"/>
          <p:cNvSpPr/>
          <p:nvPr/>
        </p:nvSpPr>
        <p:spPr>
          <a:xfrm>
            <a:off x="11185920" y="644616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540000" y="1799640"/>
            <a:ext cx="10978200" cy="27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Training: The Core Process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Key Factors for Success: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Data Quality: High-fidelity simulations with diverse parameters.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Model Architecture: Match complexity to the problem (e.g., CNNs for images, Transformers for sequences).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Hyperparameters: Learning rate, batch size, number of epochs.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46"/>
          <p:cNvSpPr/>
          <p:nvPr/>
        </p:nvSpPr>
        <p:spPr>
          <a:xfrm>
            <a:off x="548640" y="38376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Lessons and praticals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7"/>
          <p:cNvSpPr/>
          <p:nvPr/>
        </p:nvSpPr>
        <p:spPr>
          <a:xfrm>
            <a:off x="548640" y="65808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What You Will Learn and Practice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48"/>
          <p:cNvSpPr/>
          <p:nvPr/>
        </p:nvSpPr>
        <p:spPr>
          <a:xfrm>
            <a:off x="11185920" y="644616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540000" y="1799640"/>
            <a:ext cx="10978200" cy="43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Hands-on skills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Setting Up Simulations: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Configure beamlines/instruments in McStas (neutrons) and McXtrace (X-rays).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Define sample properties (e.g., crystal structure, composition).</a:t>
            </a:r>
            <a:br>
              <a:rPr sz="2400"/>
            </a:b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Characterizing Models: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Check geometry (e.g., detector positions, slit sizes).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Extract parameters (e.g., resolution, flux) and results (e.g., spectra, diffraction patterns).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43"/>
          <p:cNvSpPr/>
          <p:nvPr/>
        </p:nvSpPr>
        <p:spPr>
          <a:xfrm>
            <a:off x="548640" y="38376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Lessons and praticals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4"/>
          <p:cNvSpPr/>
          <p:nvPr/>
        </p:nvSpPr>
        <p:spPr>
          <a:xfrm>
            <a:off x="548640" y="65808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What You Will Learn and Practice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45"/>
          <p:cNvSpPr/>
          <p:nvPr/>
        </p:nvSpPr>
        <p:spPr>
          <a:xfrm>
            <a:off x="11185920" y="644616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540000" y="1799640"/>
            <a:ext cx="10978200" cy="43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Hands-on skills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Generating Datasets: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Automate simulations across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ranges (e.g., vary samples).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Output: Labeled datasets of [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parameters, virtual_measurements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].</a:t>
            </a:r>
            <a:br>
              <a:rPr sz="1000"/>
            </a:br>
            <a:r>
              <a:rPr b="0" lang="fr-FR" sz="10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Apply AI 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Surrogate Modeling: generate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virtual_measurements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faster.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Solving Inverse Problems: get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parameters 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from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measurements.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Optimization: search fpr best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49"/>
          <p:cNvSpPr/>
          <p:nvPr/>
        </p:nvSpPr>
        <p:spPr>
          <a:xfrm>
            <a:off x="548640" y="383760"/>
            <a:ext cx="9141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Resources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50"/>
          <p:cNvSpPr/>
          <p:nvPr/>
        </p:nvSpPr>
        <p:spPr>
          <a:xfrm>
            <a:off x="548640" y="658080"/>
            <a:ext cx="1106172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What You Will Use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1"/>
          <p:cNvSpPr/>
          <p:nvPr/>
        </p:nvSpPr>
        <p:spPr>
          <a:xfrm>
            <a:off x="11185920" y="644616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540000" y="1799640"/>
            <a:ext cx="10978200" cy="27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Your Laptop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High Performance Computing (MesoNET)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Remote Computing Service (</a:t>
            </a:r>
            <a:r>
              <a:rPr b="1" lang="fr-FR" sz="2400" strike="noStrike" u="non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DARTS@SOLEIL</a:t>
            </a: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Your Brain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9410040" y="-1457640"/>
            <a:ext cx="4752360" cy="475236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1"/>
          <p:cNvSpPr/>
          <p:nvPr/>
        </p:nvSpPr>
        <p:spPr>
          <a:xfrm>
            <a:off x="-1828800" y="4206240"/>
            <a:ext cx="4203720" cy="42037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822960" y="2286000"/>
            <a:ext cx="914148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Thank you</a:t>
            </a:r>
            <a:endParaRPr b="0" lang="en-US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822960" y="3246120"/>
            <a:ext cx="91414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Questions?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4"/>
          <p:cNvSpPr/>
          <p:nvPr/>
        </p:nvSpPr>
        <p:spPr>
          <a:xfrm>
            <a:off x="822960" y="4297680"/>
            <a:ext cx="1414800" cy="30852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822960" y="4297680"/>
            <a:ext cx="141480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mcstas.org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6"/>
          <p:cNvSpPr/>
          <p:nvPr/>
        </p:nvSpPr>
        <p:spPr>
          <a:xfrm>
            <a:off x="2377440" y="4297680"/>
            <a:ext cx="1414800" cy="30852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 7"/>
          <p:cNvSpPr/>
          <p:nvPr/>
        </p:nvSpPr>
        <p:spPr>
          <a:xfrm>
            <a:off x="2377440" y="4297680"/>
            <a:ext cx="141480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mcxtrace.org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8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822960" y="5897880"/>
            <a:ext cx="7312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pkwi@fysik.dtu.dk   ·   DTU Physics</a:t>
            </a:r>
            <a:endParaRPr b="0" lang="en-US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548640" y="6446520"/>
            <a:ext cx="6398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{presentation title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1"/>
          <p:cNvSpPr/>
          <p:nvPr/>
        </p:nvSpPr>
        <p:spPr>
          <a:xfrm>
            <a:off x="11185920" y="6446520"/>
            <a:ext cx="454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PartnerCard"/>
          <p:cNvSpPr/>
          <p:nvPr/>
        </p:nvSpPr>
        <p:spPr>
          <a:xfrm>
            <a:off x="6603840" y="4165560"/>
            <a:ext cx="4950360" cy="1572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PartnerLabel"/>
          <p:cNvSpPr/>
          <p:nvPr/>
        </p:nvSpPr>
        <p:spPr>
          <a:xfrm>
            <a:off x="6921360" y="4368960"/>
            <a:ext cx="4315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1100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SUPPORTED BY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" name="Picture 15" descr=""/>
          <p:cNvPicPr/>
          <p:nvPr/>
        </p:nvPicPr>
        <p:blipFill>
          <a:blip r:embed="rId1"/>
          <a:stretch/>
        </p:blipFill>
        <p:spPr>
          <a:xfrm>
            <a:off x="6921360" y="4749840"/>
            <a:ext cx="4315320" cy="63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Copied Picture 17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5680"/>
            <a:ext cx="1267560" cy="64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LogoCard"/>
          <p:cNvSpPr/>
          <p:nvPr/>
        </p:nvSpPr>
        <p:spPr>
          <a:xfrm>
            <a:off x="7375680" y="2105640"/>
            <a:ext cx="3807360" cy="1496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19" name="Group 18"/>
          <p:cNvGrpSpPr/>
          <p:nvPr/>
        </p:nvGrpSpPr>
        <p:grpSpPr>
          <a:xfrm>
            <a:off x="7882560" y="2194200"/>
            <a:ext cx="2793960" cy="1319040"/>
            <a:chOff x="7882560" y="2194200"/>
            <a:chExt cx="2793960" cy="1319040"/>
          </a:xfrm>
        </p:grpSpPr>
        <p:grpSp>
          <p:nvGrpSpPr>
            <p:cNvPr id="120" name="Group 19"/>
            <p:cNvGrpSpPr/>
            <p:nvPr/>
          </p:nvGrpSpPr>
          <p:grpSpPr>
            <a:xfrm>
              <a:off x="9289440" y="2194200"/>
              <a:ext cx="1387080" cy="1256040"/>
              <a:chOff x="9289440" y="2194200"/>
              <a:chExt cx="1387080" cy="1256040"/>
            </a:xfrm>
          </p:grpSpPr>
          <p:pic>
            <p:nvPicPr>
              <p:cNvPr id="121" name="Picture 21" descr=""/>
              <p:cNvPicPr/>
              <p:nvPr/>
            </p:nvPicPr>
            <p:blipFill>
              <a:blip r:embed="rId3"/>
              <a:srcRect l="48137" t="0" r="0" b="0"/>
              <a:stretch/>
            </p:blipFill>
            <p:spPr>
              <a:xfrm>
                <a:off x="9339120" y="2194200"/>
                <a:ext cx="1292040" cy="77364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122" name="Picture 22" descr="Synchrotron SOLEIL"/>
              <p:cNvPicPr/>
              <p:nvPr/>
            </p:nvPicPr>
            <p:blipFill>
              <a:blip r:embed="rId4"/>
              <a:stretch/>
            </p:blipFill>
            <p:spPr>
              <a:xfrm>
                <a:off x="9289440" y="2922840"/>
                <a:ext cx="960840" cy="46296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123" name="Picture 23" descr="DTU Physics"/>
              <p:cNvPicPr/>
              <p:nvPr/>
            </p:nvPicPr>
            <p:blipFill>
              <a:blip r:embed="rId5"/>
              <a:stretch/>
            </p:blipFill>
            <p:spPr>
              <a:xfrm>
                <a:off x="10325160" y="2931480"/>
                <a:ext cx="351360" cy="51876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124" name="Picture 20" descr=""/>
            <p:cNvPicPr/>
            <p:nvPr/>
          </p:nvPicPr>
          <p:blipFill>
            <a:blip r:embed="rId6"/>
            <a:stretch/>
          </p:blipFill>
          <p:spPr>
            <a:xfrm>
              <a:off x="7882560" y="2198880"/>
              <a:ext cx="1292040" cy="13143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</TotalTime>
  <Application>LibreOffice/25.2.3.2$Linux_AARCH64 LibreOffice_project/520$Build-2</Application>
  <AppVersion>15.0000</AppVersion>
  <Words>1713</Words>
  <Paragraphs>325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2026-09-04T14:34:15Z</dcterms:created>
  <dc:creator>Emmanuel FARHI</dc:creator>
  <dc:description/>
  <dc:language>fr-FR</dc:language>
  <cp:lastModifiedBy/>
  <dcterms:modified xsi:type="dcterms:W3CDTF">2026-09-16T09:58:34Z</dcterms:modified>
  <cp:revision>60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