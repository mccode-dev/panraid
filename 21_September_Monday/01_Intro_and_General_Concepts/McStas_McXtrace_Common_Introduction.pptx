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4" r:id="rId2"/>
    <p:sldId id="275" r:id="rId3"/>
    <p:sldId id="276" r:id="rId4"/>
    <p:sldId id="277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92" r:id="rId16"/>
    <p:sldId id="288" r:id="rId17"/>
    <p:sldId id="289" r:id="rId18"/>
    <p:sldId id="290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232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6447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883C4-2306-6723-E4CB-ACF94257C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FB070D-CEF3-DFDE-2D65-7210B15FF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B11C7F-DD3A-7099-469A-2F774329A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53E84-8009-385F-FAB9-E7E0CCE1E2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608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gif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0.png"/><Relationship Id="rId5" Type="http://schemas.openxmlformats.org/officeDocument/2006/relationships/image" Target="../media/image8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92886" y="-1425959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INTRODUCTION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 &amp; McXtrace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635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ray-tracing for neutron and X-ray instrumentation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— neutrons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77440" y="416052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/>
          <p:nvPr/>
        </p:nvSpPr>
        <p:spPr>
          <a:xfrm>
            <a:off x="2377440" y="416052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— X-rays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580644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DTU Physics</a:t>
            </a:r>
            <a:endParaRPr lang="en-US" sz="1250" dirty="0"/>
          </a:p>
        </p:txBody>
      </p:sp>
      <p:sp>
        <p:nvSpPr>
          <p:cNvPr id="13" name="LogoCard">
            <a:extLst>
              <a:ext uri="{FF2B5EF4-FFF2-40B4-BE49-F238E27FC236}">
                <a16:creationId xmlns:a16="http://schemas.microsoft.com/office/drawing/2014/main" id="{A327E844-7C40-5A40-9D78-CA88F6D9D8E6}"/>
              </a:ext>
            </a:extLst>
          </p:cNvPr>
          <p:cNvSpPr/>
          <p:nvPr/>
        </p:nvSpPr>
        <p:spPr>
          <a:xfrm>
            <a:off x="7429500" y="3759200"/>
            <a:ext cx="3810000" cy="1498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DK"/>
          </a:p>
        </p:txBody>
      </p:sp>
      <p:sp>
        <p:nvSpPr>
          <p:cNvPr id="15" name="SchoolCredit">
            <a:extLst>
              <a:ext uri="{FF2B5EF4-FFF2-40B4-BE49-F238E27FC236}">
                <a16:creationId xmlns:a16="http://schemas.microsoft.com/office/drawing/2014/main" id="{0DE3B876-929B-9046-A5F4-769DEE16FD59}"/>
              </a:ext>
            </a:extLst>
          </p:cNvPr>
          <p:cNvSpPr txBox="1"/>
          <p:nvPr/>
        </p:nvSpPr>
        <p:spPr>
          <a:xfrm>
            <a:off x="7429500" y="5384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GB" sz="1300">
                <a:solidFill>
                  <a:srgbClr val="C9D2EE"/>
                </a:solidFill>
                <a:latin typeface="Calibri"/>
                <a:cs typeface="Calibri"/>
              </a:rPr>
              <a:t>PaNRAID School  ·  supported by PEPR DIADEM</a:t>
            </a:r>
            <a:endParaRPr lang="en-DK" sz="1300">
              <a:solidFill>
                <a:srgbClr val="C9D2EE"/>
              </a:solidFill>
              <a:latin typeface="Calibri"/>
              <a:cs typeface="Calibri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825500" y="457200"/>
            <a:ext cx="1397000" cy="7171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D82F638-2A5C-E4E7-7897-F773C8D20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0" y="478964"/>
            <a:ext cx="4539598" cy="67361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2714F71-B65E-01C7-3ED0-973B6634ADFC}"/>
              </a:ext>
            </a:extLst>
          </p:cNvPr>
          <p:cNvGrpSpPr>
            <a:grpSpLocks noChangeAspect="1"/>
          </p:cNvGrpSpPr>
          <p:nvPr/>
        </p:nvGrpSpPr>
        <p:grpSpPr>
          <a:xfrm>
            <a:off x="7936130" y="3847669"/>
            <a:ext cx="2796739" cy="1321661"/>
            <a:chOff x="8424483" y="116876"/>
            <a:chExt cx="1591152" cy="751934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8E4AC95-08A8-C47E-DEC4-F1FF0BDB7FC9}"/>
                </a:ext>
              </a:extLst>
            </p:cNvPr>
            <p:cNvGrpSpPr/>
            <p:nvPr/>
          </p:nvGrpSpPr>
          <p:grpSpPr>
            <a:xfrm>
              <a:off x="9225045" y="116876"/>
              <a:ext cx="790590" cy="715989"/>
              <a:chOff x="9198715" y="165515"/>
              <a:chExt cx="790590" cy="715989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1C4B1995-1F3A-2175-CEA0-2E1E9E7CC3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48140"/>
              <a:stretch>
                <a:fillRect/>
              </a:stretch>
            </p:blipFill>
            <p:spPr>
              <a:xfrm>
                <a:off x="9226947" y="165515"/>
                <a:ext cx="736600" cy="441669"/>
              </a:xfrm>
              <a:prstGeom prst="rect">
                <a:avLst/>
              </a:prstGeom>
            </p:spPr>
          </p:pic>
          <p:pic>
            <p:nvPicPr>
              <p:cNvPr id="22" name="Picture 21" descr="Synchrotron SOLEIL">
                <a:extLst>
                  <a:ext uri="{FF2B5EF4-FFF2-40B4-BE49-F238E27FC236}">
                    <a16:creationId xmlns:a16="http://schemas.microsoft.com/office/drawing/2014/main" id="{FCBF8479-1DC9-E6F0-00C2-53AC79BC6B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198715" y="580162"/>
                <a:ext cx="548117" cy="264791"/>
              </a:xfrm>
              <a:prstGeom prst="rect">
                <a:avLst/>
              </a:prstGeom>
            </p:spPr>
          </p:pic>
          <p:pic>
            <p:nvPicPr>
              <p:cNvPr id="23" name="Picture 22" descr="DTU Physics">
                <a:extLst>
                  <a:ext uri="{FF2B5EF4-FFF2-40B4-BE49-F238E27FC236}">
                    <a16:creationId xmlns:a16="http://schemas.microsoft.com/office/drawing/2014/main" id="{C2C27E3B-C709-799E-A3D6-231CFA4D2A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87903" y="584997"/>
                <a:ext cx="201402" cy="296507"/>
              </a:xfrm>
              <a:prstGeom prst="rect">
                <a:avLst/>
              </a:prstGeom>
            </p:spPr>
          </p:pic>
        </p:grp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22A63A93-FE72-92A5-7E70-D0E5B0B65DB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24483" y="119510"/>
              <a:ext cx="736600" cy="749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6026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200" b="1" kern="0" spc="200" dirty="0">
                <a:solidFill>
                  <a:srgbClr val="1C7293"/>
                </a:solidFill>
                <a:latin typeface="Calibri" pitchFamily="34" charset="0"/>
              </a:rPr>
              <a:t>PANRAID SCHOOL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GB" sz="3000" b="1" dirty="0">
                <a:solidFill>
                  <a:srgbClr val="20242B"/>
                </a:solidFill>
                <a:latin typeface="Cambria" pitchFamily="34" charset="0"/>
              </a:rPr>
              <a:t>Who's behind this school</a:t>
            </a:r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C83A9-DC29-E8F4-1725-71B6CFEFA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51000"/>
            <a:ext cx="7874000" cy="14439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00002C-2D68-DA76-EFBA-50ABFFBCA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99000"/>
            <a:ext cx="7874000" cy="1168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28F40B-DAB0-0948-B03C-9894F69A4E07}"/>
              </a:ext>
            </a:extLst>
          </p:cNvPr>
          <p:cNvSpPr txBox="1"/>
          <p:nvPr/>
        </p:nvSpPr>
        <p:spPr>
          <a:xfrm>
            <a:off x="548640" y="3327400"/>
            <a:ext cx="104140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GB" sz="1600">
                <a:solidFill>
                  <a:srgbClr val="4A5160"/>
                </a:solidFill>
                <a:latin typeface="Calibri"/>
                <a:cs typeface="Calibri"/>
              </a:rPr>
              <a:t>PaNRAID is organised with support from the France 2030 PEPR DIADEM programme, training researchers to combine McStas and McXtrace ray-tracing simulations with AI methods.</a:t>
            </a:r>
            <a:endParaRPr lang="en-DK" sz="1600">
              <a:solidFill>
                <a:srgbClr val="4A5160"/>
              </a:solidFill>
              <a:latin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FCDD69-F709-B442-84B6-540523A95D06}"/>
              </a:ext>
            </a:extLst>
          </p:cNvPr>
          <p:cNvSpPr txBox="1"/>
          <p:nvPr/>
        </p:nvSpPr>
        <p:spPr>
          <a:xfrm>
            <a:off x="548640" y="42164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GB" sz="1200" b="1">
                <a:solidFill>
                  <a:srgbClr val="1C7293"/>
                </a:solidFill>
                <a:latin typeface="Calibri"/>
                <a:cs typeface="Calibri"/>
              </a:rPr>
              <a:t>PARTNERS &amp; SUPPORTING ORGANISATIONS</a:t>
            </a:r>
            <a:endParaRPr lang="en-DK" sz="1200" b="1">
              <a:solidFill>
                <a:srgbClr val="1C7293"/>
              </a:solidFill>
              <a:latin typeface="Calibri"/>
              <a:cs typeface="Calibri"/>
            </a:endParaRPr>
          </a:p>
        </p:txBody>
      </p:sp>
      <p:pic>
        <p:nvPicPr>
          <p:cNvPr id="30" name="Copied Picture 30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807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78992" y="166420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origins &amp; philosophy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78992" y="202082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family, two physics engines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384048" cy="384048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63550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85432" y="166420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Monte Carlo ray-tracing idea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85432" y="202082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rays, weights, and randomness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548640" y="3154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78992" y="308152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simulation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78992" y="343814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Instruments, components, and the ray state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3154680"/>
            <a:ext cx="384048" cy="384048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85432" y="308152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885432" y="343814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DSL, code generation, and coordinate placement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384048" cy="384048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1" name="Text 19"/>
          <p:cNvSpPr/>
          <p:nvPr/>
        </p:nvSpPr>
        <p:spPr>
          <a:xfrm>
            <a:off x="548640" y="4572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78992" y="449884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Neutrons vs. X-rays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78992" y="485546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two probes really differ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55080" y="4572000"/>
            <a:ext cx="384048" cy="384048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5" name="Text 23"/>
          <p:cNvSpPr/>
          <p:nvPr/>
        </p:nvSpPr>
        <p:spPr>
          <a:xfrm>
            <a:off x="6355080" y="4572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885432" y="449884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Community, use &amp; getting started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885432" y="485546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License, ecosystem, and next steps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3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30" name="Copied Picture 30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B3A2934-DF72-FF6B-34D3-CCA5D5AC1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473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ORIGINS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family, two probes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was built on proven McStas technology — same architecture, adapted for X-rays.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005840" y="3246120"/>
            <a:ext cx="10149840" cy="0"/>
          </a:xfrm>
          <a:prstGeom prst="line">
            <a:avLst/>
          </a:prstGeom>
          <a:noFill/>
          <a:ln w="254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Shape 4"/>
          <p:cNvSpPr/>
          <p:nvPr/>
        </p:nvSpPr>
        <p:spPr>
          <a:xfrm>
            <a:off x="1362456" y="3145536"/>
            <a:ext cx="201168" cy="20116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777240" y="26791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3447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is born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" y="3959352"/>
            <a:ext cx="2103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Nielsen &amp; K. Lefmann, Risø.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for triple-axis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simulation.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62856" y="3145536"/>
            <a:ext cx="201168" cy="20116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3977640" y="26791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447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into a general tool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11880" y="3959352"/>
            <a:ext cx="2103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by DTU Physics, ILL,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PSI, University of Copenhagen,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 DMSC. GPL open source.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54696" y="3145536"/>
            <a:ext cx="201168" cy="201168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5" name="Text 13"/>
          <p:cNvSpPr/>
          <p:nvPr/>
        </p:nvSpPr>
        <p:spPr>
          <a:xfrm>
            <a:off x="7269480" y="26791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2009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3447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forks off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903720" y="3959352"/>
            <a:ext cx="2103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“Powered by McStas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technology.” Re-targeted at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 optics &amp; beamlines.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780776" y="3145536"/>
            <a:ext cx="201168" cy="201168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9" name="Text 17"/>
          <p:cNvSpPr/>
          <p:nvPr/>
        </p:nvSpPr>
        <p:spPr>
          <a:xfrm>
            <a:off x="10195560" y="26791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829800" y="3447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development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829800" y="3959352"/>
            <a:ext cx="2103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kernel philosophy,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physics &amp; component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libraries, active communities.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72476" y="1778638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3" name="Text 21"/>
          <p:cNvSpPr/>
          <p:nvPr/>
        </p:nvSpPr>
        <p:spPr>
          <a:xfrm>
            <a:off x="601076" y="1778638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Commonality:  </a:t>
            </a: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domain-specific language, same component-based architecture, same open, community-driven development model.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4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6" name="Copied Picture 26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0BD8330-E6AE-44D7-9116-97302854A9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BAE991F-EF6F-C843-3CBC-4A58921A55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7519" y="5157216"/>
            <a:ext cx="1270001" cy="85872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8078D3C4-BCBE-1092-28E6-E5848D027363}"/>
              </a:ext>
            </a:extLst>
          </p:cNvPr>
          <p:cNvGrpSpPr/>
          <p:nvPr/>
        </p:nvGrpSpPr>
        <p:grpSpPr>
          <a:xfrm>
            <a:off x="8424483" y="116876"/>
            <a:ext cx="1591152" cy="751934"/>
            <a:chOff x="8424483" y="116876"/>
            <a:chExt cx="1591152" cy="751934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D14071F-E8AD-203A-290B-81D2D367195D}"/>
                </a:ext>
              </a:extLst>
            </p:cNvPr>
            <p:cNvGrpSpPr/>
            <p:nvPr/>
          </p:nvGrpSpPr>
          <p:grpSpPr>
            <a:xfrm>
              <a:off x="9225045" y="116876"/>
              <a:ext cx="790590" cy="715989"/>
              <a:chOff x="9198715" y="165515"/>
              <a:chExt cx="790590" cy="715989"/>
            </a:xfrm>
          </p:grpSpPr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834E52CA-CC1C-7859-C38D-67CC9CFF99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48140"/>
              <a:stretch>
                <a:fillRect/>
              </a:stretch>
            </p:blipFill>
            <p:spPr>
              <a:xfrm>
                <a:off x="9226947" y="165515"/>
                <a:ext cx="736600" cy="441669"/>
              </a:xfrm>
              <a:prstGeom prst="rect">
                <a:avLst/>
              </a:prstGeom>
            </p:spPr>
          </p:pic>
          <p:pic>
            <p:nvPicPr>
              <p:cNvPr id="30" name="Picture 29" descr="Synchrotron SOLEIL">
                <a:extLst>
                  <a:ext uri="{FF2B5EF4-FFF2-40B4-BE49-F238E27FC236}">
                    <a16:creationId xmlns:a16="http://schemas.microsoft.com/office/drawing/2014/main" id="{0BED68E3-56D0-D144-FB9D-2766AA8728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198715" y="580162"/>
                <a:ext cx="548117" cy="264791"/>
              </a:xfrm>
              <a:prstGeom prst="rect">
                <a:avLst/>
              </a:prstGeom>
            </p:spPr>
          </p:pic>
          <p:pic>
            <p:nvPicPr>
              <p:cNvPr id="31" name="Picture 30" descr="DTU Physics">
                <a:extLst>
                  <a:ext uri="{FF2B5EF4-FFF2-40B4-BE49-F238E27FC236}">
                    <a16:creationId xmlns:a16="http://schemas.microsoft.com/office/drawing/2014/main" id="{A85B7DBF-0CA9-C174-1944-15DDF4E779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787903" y="584997"/>
                <a:ext cx="201402" cy="296507"/>
              </a:xfrm>
              <a:prstGeom prst="rect">
                <a:avLst/>
              </a:prstGeom>
            </p:spPr>
          </p:pic>
        </p:grp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AF63781-724E-C5AF-1E5B-58A44F109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24483" y="119510"/>
              <a:ext cx="736600" cy="749300"/>
            </a:xfrm>
            <a:prstGeom prst="rect">
              <a:avLst/>
            </a:prstGeom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87C6BD29-A22B-BFA1-A46F-9BE9B88BB1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4408" y="5328203"/>
            <a:ext cx="2029519" cy="129844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6B41B72-8D75-B23A-0F3C-395228A7EA5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53630" y="5353320"/>
            <a:ext cx="2391619" cy="1280149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6AD752E5-1752-9141-D8AC-C0FC18145FFD}"/>
              </a:ext>
            </a:extLst>
          </p:cNvPr>
          <p:cNvGrpSpPr/>
          <p:nvPr/>
        </p:nvGrpSpPr>
        <p:grpSpPr>
          <a:xfrm>
            <a:off x="8366156" y="5248656"/>
            <a:ext cx="790590" cy="715989"/>
            <a:chOff x="9377445" y="269276"/>
            <a:chExt cx="790590" cy="715989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EF27FFB-0D0B-5A7C-FCCB-A618E441A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8140"/>
            <a:stretch>
              <a:fillRect/>
            </a:stretch>
          </p:blipFill>
          <p:spPr>
            <a:xfrm>
              <a:off x="9405677" y="269276"/>
              <a:ext cx="736600" cy="441669"/>
            </a:xfrm>
            <a:prstGeom prst="rect">
              <a:avLst/>
            </a:prstGeom>
          </p:spPr>
        </p:pic>
        <p:pic>
          <p:nvPicPr>
            <p:cNvPr id="39" name="Picture 38" descr="Synchrotron SOLEIL">
              <a:extLst>
                <a:ext uri="{FF2B5EF4-FFF2-40B4-BE49-F238E27FC236}">
                  <a16:creationId xmlns:a16="http://schemas.microsoft.com/office/drawing/2014/main" id="{D2D9A958-E24D-1D4D-72E2-6EFACF0B1E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377445" y="683923"/>
              <a:ext cx="548117" cy="264791"/>
            </a:xfrm>
            <a:prstGeom prst="rect">
              <a:avLst/>
            </a:prstGeom>
          </p:spPr>
        </p:pic>
        <p:pic>
          <p:nvPicPr>
            <p:cNvPr id="40" name="Picture 39" descr="DTU Physics">
              <a:extLst>
                <a:ext uri="{FF2B5EF4-FFF2-40B4-BE49-F238E27FC236}">
                  <a16:creationId xmlns:a16="http://schemas.microsoft.com/office/drawing/2014/main" id="{01FA497A-B984-7580-C8EA-88AE7376C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66633" y="688758"/>
              <a:ext cx="201402" cy="29650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76797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 ray-tracing, in a nutshell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statistical method born at Los Alamos in the 1940s </a:t>
            </a:r>
            <a:r>
              <a:rPr lang="en-US" sz="13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(von Neumann, Ulam, Metropolis)</a:t>
            </a: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solving particle-transport problems by numerical experiment.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4864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codes trace many independent rays (neutrons or photons) one at a time through the instrument.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in free space is deterministic — straight lines (plus gravity, for slow neutrons).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5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2" name="Copied Picture 22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sp>
        <p:nvSpPr>
          <p:cNvPr id="25" name="Text 3">
            <a:extLst>
              <a:ext uri="{FF2B5EF4-FFF2-40B4-BE49-F238E27FC236}">
                <a16:creationId xmlns:a16="http://schemas.microsoft.com/office/drawing/2014/main" id="{5F7F4958-FFD4-2241-5759-FF258D1F1189}"/>
              </a:ext>
            </a:extLst>
          </p:cNvPr>
          <p:cNvSpPr/>
          <p:nvPr/>
        </p:nvSpPr>
        <p:spPr>
          <a:xfrm>
            <a:off x="6126480" y="2492156"/>
            <a:ext cx="54864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physics is probabilistic — scattering, absorption, reflection — outcomes are Monte Carlo sampled.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ray carries a statistical weight rather than representing one real particle, so rare but important events can be sampled efficiently.</a:t>
            </a:r>
            <a:endParaRPr lang="en-US" sz="12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B09B40-F30E-1E0C-DE5E-324C82AA5AE5}"/>
              </a:ext>
            </a:extLst>
          </p:cNvPr>
          <p:cNvGrpSpPr/>
          <p:nvPr/>
        </p:nvGrpSpPr>
        <p:grpSpPr>
          <a:xfrm>
            <a:off x="1955912" y="3748690"/>
            <a:ext cx="8249696" cy="2834990"/>
            <a:chOff x="1848897" y="3720252"/>
            <a:chExt cx="8249696" cy="3093885"/>
          </a:xfrm>
        </p:grpSpPr>
        <p:sp>
          <p:nvSpPr>
            <p:cNvPr id="6" name="Shape 4"/>
            <p:cNvSpPr/>
            <p:nvPr/>
          </p:nvSpPr>
          <p:spPr>
            <a:xfrm>
              <a:off x="1848897" y="3720252"/>
              <a:ext cx="8249696" cy="3000588"/>
            </a:xfrm>
            <a:prstGeom prst="roundRect">
              <a:avLst>
                <a:gd name="adj" fmla="val 2174"/>
              </a:avLst>
            </a:prstGeom>
            <a:solidFill>
              <a:srgbClr val="F7F8FA"/>
            </a:solidFill>
            <a:ln w="9525">
              <a:solidFill>
                <a:srgbClr val="DDE1E6"/>
              </a:solidFill>
              <a:prstDash val="solid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 5"/>
            <p:cNvSpPr/>
            <p:nvPr/>
          </p:nvSpPr>
          <p:spPr>
            <a:xfrm>
              <a:off x="3451860" y="3720252"/>
              <a:ext cx="51663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50" b="1" dirty="0">
                  <a:solidFill>
                    <a:srgbClr val="6E75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single ray, one weight at a time</a:t>
              </a:r>
              <a:endParaRPr lang="en-US" sz="115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632228" y="6274694"/>
              <a:ext cx="4526280" cy="53944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6E75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Weight p is adjusted multiplicatively at every interaction — the physical result is recovered statistically over many rays.</a:t>
              </a:r>
              <a:endParaRPr lang="en-US" sz="1100" dirty="0"/>
            </a:p>
          </p:txBody>
        </p:sp>
        <p:pic>
          <p:nvPicPr>
            <p:cNvPr id="26" name="Image" descr="Image">
              <a:extLst>
                <a:ext uri="{FF2B5EF4-FFF2-40B4-BE49-F238E27FC236}">
                  <a16:creationId xmlns:a16="http://schemas.microsoft.com/office/drawing/2014/main" id="{EF56EE88-3FCE-C1D8-D850-C3D289DBA0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94100" y="4099365"/>
              <a:ext cx="7398540" cy="2141831"/>
            </a:xfrm>
            <a:prstGeom prst="rect">
              <a:avLst/>
            </a:prstGeom>
            <a:ln w="12700">
              <a:miter lim="400000"/>
            </a:ln>
          </p:spPr>
        </p:pic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6C130A28-4FE7-F3F0-13CB-85BA0B95A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000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simulation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instrument is an ordered chain of components in a shared lab coordinate system. Rays flow through it, changing state at each stop.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548640" y="299923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4930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rays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935224" y="3429000"/>
            <a:ext cx="47945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9" name="Shape 7"/>
          <p:cNvSpPr/>
          <p:nvPr/>
        </p:nvSpPr>
        <p:spPr>
          <a:xfrm>
            <a:off x="3469538" y="274320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/>
          <p:nvPr/>
        </p:nvSpPr>
        <p:spPr>
          <a:xfrm>
            <a:off x="3469538" y="299923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Optics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69538" y="34930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 the beam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856122" y="3429000"/>
            <a:ext cx="47945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3" name="Shape 11"/>
          <p:cNvSpPr/>
          <p:nvPr/>
        </p:nvSpPr>
        <p:spPr>
          <a:xfrm>
            <a:off x="6390437" y="274320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7A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4" name="Text 12"/>
          <p:cNvSpPr/>
          <p:nvPr/>
        </p:nvSpPr>
        <p:spPr>
          <a:xfrm>
            <a:off x="6390437" y="299923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90437" y="34930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 of interest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777021" y="3429000"/>
            <a:ext cx="47945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7" name="Shape 15"/>
          <p:cNvSpPr/>
          <p:nvPr/>
        </p:nvSpPr>
        <p:spPr>
          <a:xfrm>
            <a:off x="9311335" y="274320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024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8" name="Text 16"/>
          <p:cNvSpPr/>
          <p:nvPr/>
        </p:nvSpPr>
        <p:spPr>
          <a:xfrm>
            <a:off x="9311335" y="299923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311335" y="34930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result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Instrument:  </a:t>
            </a:r>
            <a:r>
              <a:rPr lang="en-US" sz="12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lab coordinate system.   </a:t>
            </a: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Components:  </a:t>
            </a:r>
            <a:r>
              <a:rPr lang="en-US" sz="12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devices/features available in the instrument, each with its own function.   </a:t>
            </a: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Rays:  </a:t>
            </a:r>
            <a:r>
              <a:rPr lang="en-US" sz="12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from one component to the next, changing state along the way.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chain — and the DSL that describes it — is identical in McStas and McXtrace.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6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4" name="Copied Picture 24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4E83B69-6486-D267-83C4-F9A012908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365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COMMONALITY &amp;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travels through the beamline: the ray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868680" y="1801368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Neutron ray  ·  McStas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965960" y="2377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(x, y, z)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965960" y="292608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vector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47472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65960" y="34747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402336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65960" y="4023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/ polarisation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457200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965960" y="45720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weight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160020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6492240" y="1801368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Photon ray  ·  McXtrace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92240" y="237744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0" y="2377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(x, y, z)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29260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589520" y="292608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vector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347472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φ, 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0" y="34747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&amp; polarisation (E-field)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02336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89520" y="4023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457200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0" y="45720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weight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9" name="Text 27"/>
          <p:cNvSpPr/>
          <p:nvPr/>
        </p:nvSpPr>
        <p:spPr>
          <a:xfrm>
            <a:off x="777240" y="58978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idea, different carrier:  </a:t>
            </a: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rays are position + time + statistical weight. The neutron adds mass, velocity and spin; the photon adds a wave vector, phase and field polarisation.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7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32" name="Copied Picture 32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8FBDC23-7E2B-E632-E0E6-9DBEBB3AD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340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TAXONOMY, DIFFERENT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 classes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instrument, in either code, is built from the same four component classes.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48640" y="1920240"/>
          <a:ext cx="11064240" cy="32918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McStas (neutrons)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McXtrace (X-rays)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59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Reactor / spallation moderator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Undulator, wiggler, bending magnet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Guides, mirrors, choppers, collimators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Mirrors, monochromator crystals, multilayers, slits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Powders, crystals, liquids, magnetism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Powders, crystals, multilayers, absorbing phantoms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PSD / histograms / event lists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PSD / histograms / event lists  (same concept)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to all components:  </a:t>
            </a: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set, manipulate, or measure the state of the ray — and each is written as a self-contained, reusable code module.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5" name="Text 5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8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9" name="Copied Picture 9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E89A71-94F6-FF81-D12C-2768E2767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9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droppedImage.png" descr="droppedImage.png">
            <a:extLst>
              <a:ext uri="{FF2B5EF4-FFF2-40B4-BE49-F238E27FC236}">
                <a16:creationId xmlns:a16="http://schemas.microsoft.com/office/drawing/2014/main" id="{3BBC15BB-6C9C-46FE-1354-6E918EE4C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921" y="2991662"/>
            <a:ext cx="1709937" cy="1237438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instrument file to running simulation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548640" y="20939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.instr file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4414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DSL describing the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(readable text)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2384" y="2491740"/>
            <a:ext cx="29657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8" name="Shape 6"/>
          <p:cNvSpPr/>
          <p:nvPr/>
        </p:nvSpPr>
        <p:spPr>
          <a:xfrm>
            <a:off x="3423818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3423818" y="20939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60978" y="24414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 &amp; Yacc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technology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7562" y="2491740"/>
            <a:ext cx="29657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2" name="Shape 10"/>
          <p:cNvSpPr/>
          <p:nvPr/>
        </p:nvSpPr>
        <p:spPr>
          <a:xfrm>
            <a:off x="6298997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6298997" y="20939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C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36157" y="24414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ISO-C code,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you use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822741" y="2491740"/>
            <a:ext cx="29657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6" name="Shape 14"/>
          <p:cNvSpPr/>
          <p:nvPr/>
        </p:nvSpPr>
        <p:spPr>
          <a:xfrm>
            <a:off x="9174175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9174175" y="20939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311335" y="24414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for your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hardware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toolchain in both codes — the DSL grammar and code generator are shared.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48640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levels of code, three audiences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20624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3" name="Shape 21"/>
          <p:cNvSpPr/>
          <p:nvPr/>
        </p:nvSpPr>
        <p:spPr>
          <a:xfrm>
            <a:off x="548640" y="4206240"/>
            <a:ext cx="3611880" cy="7315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4" name="Text 22"/>
          <p:cNvSpPr/>
          <p:nvPr/>
        </p:nvSpPr>
        <p:spPr>
          <a:xfrm>
            <a:off x="777240" y="440740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file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77240" y="47365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USERS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5102352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examples, GUI-assisted, or written from scratch in the DSL.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97680" y="420624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D97A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8" name="Shape 26"/>
          <p:cNvSpPr/>
          <p:nvPr/>
        </p:nvSpPr>
        <p:spPr>
          <a:xfrm>
            <a:off x="4297680" y="4206240"/>
            <a:ext cx="3611880" cy="73152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9" name="Text 27"/>
          <p:cNvSpPr/>
          <p:nvPr/>
        </p:nvSpPr>
        <p:spPr>
          <a:xfrm>
            <a:off x="4526280" y="440740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file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526280" y="47365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USERS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26280" y="5102352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self-contained C code — easy to modify from an existing component.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046720" y="420624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2024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33" name="Shape 31"/>
          <p:cNvSpPr/>
          <p:nvPr/>
        </p:nvSpPr>
        <p:spPr>
          <a:xfrm>
            <a:off x="8046720" y="4206240"/>
            <a:ext cx="3611880" cy="73152"/>
          </a:xfrm>
          <a:prstGeom prst="rect">
            <a:avLst/>
          </a:prstGeom>
          <a:solidFill>
            <a:srgbClr val="2024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4" name="Text 32"/>
          <p:cNvSpPr/>
          <p:nvPr/>
        </p:nvSpPr>
        <p:spPr>
          <a:xfrm>
            <a:off x="8275320" y="440740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275320" y="47365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DEV TEAM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275320" y="5102352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Propagation, intersections, and the runtime library shared by all components.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9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39" name="Copied Picture 39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EE5A9184-FD12-ECE7-AB47-41174E5075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876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58">
            <a:extLst>
              <a:ext uri="{FF2B5EF4-FFF2-40B4-BE49-F238E27FC236}">
                <a16:creationId xmlns:a16="http://schemas.microsoft.com/office/drawing/2014/main" id="{89161A8A-D7DE-2D42-FACA-14F6BB71F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SYNTAX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 components in space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is placed with the same two statements, in both codes: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66928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5120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(x, y, z) RELATIVE &lt;ref&gt;
</a:t>
            </a:r>
            <a:r>
              <a:rPr lang="en-US" sz="150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ROTATED (rx, ry, rz) RELATIVE &lt;ref&gt;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&lt;ref&gt; can be ABSOLUTE (the lab frame), another component's name, or PREVIOUS.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runs along the beam, y is vertical, x completes a right-handed frame.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authors choose whatever local origin is physically natural — the kernel handles the coordinate transforms between them.</a:t>
            </a:r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cs typeface="Calibri" pitchFamily="34" charset="-120"/>
              </a:rPr>
              <a:t>AT and ROTATED can be fully decoupled, referring to different RELATIVE  &lt;ref&gt;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75120" y="1601470"/>
            <a:ext cx="4937760" cy="5256530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 dirty="0"/>
          </a:p>
        </p:txBody>
      </p:sp>
      <p:sp>
        <p:nvSpPr>
          <p:cNvPr id="9" name="Text 7"/>
          <p:cNvSpPr/>
          <p:nvPr/>
        </p:nvSpPr>
        <p:spPr>
          <a:xfrm>
            <a:off x="6675120" y="17373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Right-handed lab frame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418320" y="4023360"/>
            <a:ext cx="0" cy="0"/>
          </a:xfrm>
          <a:prstGeom prst="line">
            <a:avLst/>
          </a:prstGeom>
          <a:noFill/>
          <a:ln w="28575">
            <a:solidFill>
              <a:srgbClr val="D97A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10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19" name="Copied Picture 19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20" name="Right Handed.PNG" descr="Right Handed.PNG">
            <a:extLst>
              <a:ext uri="{FF2B5EF4-FFF2-40B4-BE49-F238E27FC236}">
                <a16:creationId xmlns:a16="http://schemas.microsoft.com/office/drawing/2014/main" id="{0056FA74-2BA6-5F72-C80F-B51DB6B0B5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511" y="4229735"/>
            <a:ext cx="2626977" cy="2594140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Oval">
            <a:extLst>
              <a:ext uri="{FF2B5EF4-FFF2-40B4-BE49-F238E27FC236}">
                <a16:creationId xmlns:a16="http://schemas.microsoft.com/office/drawing/2014/main" id="{62C2D1E9-5872-3D26-CEA7-C87B88624030}"/>
              </a:ext>
            </a:extLst>
          </p:cNvPr>
          <p:cNvSpPr/>
          <p:nvPr/>
        </p:nvSpPr>
        <p:spPr>
          <a:xfrm>
            <a:off x="7372046" y="2516242"/>
            <a:ext cx="284714" cy="150196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6799" tIns="46799" rIns="46799" bIns="46799" anchor="ctr"/>
          <a:lstStyle/>
          <a:p>
            <a:endParaRPr/>
          </a:p>
        </p:txBody>
      </p:sp>
      <p:sp>
        <p:nvSpPr>
          <p:cNvPr id="34" name="Line">
            <a:extLst>
              <a:ext uri="{FF2B5EF4-FFF2-40B4-BE49-F238E27FC236}">
                <a16:creationId xmlns:a16="http://schemas.microsoft.com/office/drawing/2014/main" id="{0887CCBF-FEF2-9D3E-CDE0-862744C12694}"/>
              </a:ext>
            </a:extLst>
          </p:cNvPr>
          <p:cNvSpPr/>
          <p:nvPr/>
        </p:nvSpPr>
        <p:spPr>
          <a:xfrm flipV="1">
            <a:off x="7514402" y="1888077"/>
            <a:ext cx="1" cy="1391518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5" name="Line">
            <a:extLst>
              <a:ext uri="{FF2B5EF4-FFF2-40B4-BE49-F238E27FC236}">
                <a16:creationId xmlns:a16="http://schemas.microsoft.com/office/drawing/2014/main" id="{CCC8D51E-E946-6450-B32F-0870B6481A93}"/>
              </a:ext>
            </a:extLst>
          </p:cNvPr>
          <p:cNvSpPr/>
          <p:nvPr/>
        </p:nvSpPr>
        <p:spPr>
          <a:xfrm>
            <a:off x="7513831" y="3267288"/>
            <a:ext cx="1138321" cy="1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6" name="Line">
            <a:extLst>
              <a:ext uri="{FF2B5EF4-FFF2-40B4-BE49-F238E27FC236}">
                <a16:creationId xmlns:a16="http://schemas.microsoft.com/office/drawing/2014/main" id="{1816E2F4-6D31-DD83-7FAB-D0066B392DB2}"/>
              </a:ext>
            </a:extLst>
          </p:cNvPr>
          <p:cNvSpPr/>
          <p:nvPr/>
        </p:nvSpPr>
        <p:spPr>
          <a:xfrm flipV="1">
            <a:off x="7505755" y="2573967"/>
            <a:ext cx="679817" cy="685247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  <a:tailEnd type="triangle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EFB50C94-2E48-2497-72CD-29F1FF4D10C7}"/>
              </a:ext>
            </a:extLst>
          </p:cNvPr>
          <p:cNvSpPr/>
          <p:nvPr/>
        </p:nvSpPr>
        <p:spPr>
          <a:xfrm>
            <a:off x="7580252" y="3175158"/>
            <a:ext cx="127001" cy="1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8" name="Line">
            <a:extLst>
              <a:ext uri="{FF2B5EF4-FFF2-40B4-BE49-F238E27FC236}">
                <a16:creationId xmlns:a16="http://schemas.microsoft.com/office/drawing/2014/main" id="{F0890B24-E6C0-2DC1-EA59-8B2C01309DDC}"/>
              </a:ext>
            </a:extLst>
          </p:cNvPr>
          <p:cNvSpPr/>
          <p:nvPr/>
        </p:nvSpPr>
        <p:spPr>
          <a:xfrm flipV="1">
            <a:off x="7603431" y="3168949"/>
            <a:ext cx="106042" cy="106232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9" name="Line">
            <a:extLst>
              <a:ext uri="{FF2B5EF4-FFF2-40B4-BE49-F238E27FC236}">
                <a16:creationId xmlns:a16="http://schemas.microsoft.com/office/drawing/2014/main" id="{0B23F0B7-2764-5614-E99C-31C8AD479C20}"/>
              </a:ext>
            </a:extLst>
          </p:cNvPr>
          <p:cNvSpPr/>
          <p:nvPr/>
        </p:nvSpPr>
        <p:spPr>
          <a:xfrm flipV="1">
            <a:off x="7509658" y="3028783"/>
            <a:ext cx="106042" cy="106232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0" name="Line">
            <a:extLst>
              <a:ext uri="{FF2B5EF4-FFF2-40B4-BE49-F238E27FC236}">
                <a16:creationId xmlns:a16="http://schemas.microsoft.com/office/drawing/2014/main" id="{BD99EEB3-AB52-CCD7-0CC8-68F7334C7BC6}"/>
              </a:ext>
            </a:extLst>
          </p:cNvPr>
          <p:cNvSpPr/>
          <p:nvPr/>
        </p:nvSpPr>
        <p:spPr>
          <a:xfrm flipV="1">
            <a:off x="7603131" y="3031326"/>
            <a:ext cx="1" cy="101146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1" name="Rectangle">
            <a:extLst>
              <a:ext uri="{FF2B5EF4-FFF2-40B4-BE49-F238E27FC236}">
                <a16:creationId xmlns:a16="http://schemas.microsoft.com/office/drawing/2014/main" id="{606D3A17-75F8-5D6F-B8C1-DD8604050C0E}"/>
              </a:ext>
            </a:extLst>
          </p:cNvPr>
          <p:cNvSpPr/>
          <p:nvPr/>
        </p:nvSpPr>
        <p:spPr>
          <a:xfrm>
            <a:off x="7511879" y="3146345"/>
            <a:ext cx="101601" cy="125108"/>
          </a:xfrm>
          <a:prstGeom prst="rect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</a:ln>
        </p:spPr>
        <p:txBody>
          <a:bodyPr lIns="46799" tIns="46799" rIns="46799" bIns="46799" anchor="ctr"/>
          <a:lstStyle/>
          <a:p>
            <a:endParaRPr/>
          </a:p>
        </p:txBody>
      </p:sp>
      <p:sp>
        <p:nvSpPr>
          <p:cNvPr id="42" name="x">
            <a:extLst>
              <a:ext uri="{FF2B5EF4-FFF2-40B4-BE49-F238E27FC236}">
                <a16:creationId xmlns:a16="http://schemas.microsoft.com/office/drawing/2014/main" id="{099EBFDC-6CB0-2F19-C5E4-45E2CBBFD0D8}"/>
              </a:ext>
            </a:extLst>
          </p:cNvPr>
          <p:cNvSpPr txBox="1"/>
          <p:nvPr/>
        </p:nvSpPr>
        <p:spPr>
          <a:xfrm>
            <a:off x="8130823" y="2193329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r>
              <a:t>x</a:t>
            </a:r>
          </a:p>
        </p:txBody>
      </p:sp>
      <p:sp>
        <p:nvSpPr>
          <p:cNvPr id="43" name="y">
            <a:extLst>
              <a:ext uri="{FF2B5EF4-FFF2-40B4-BE49-F238E27FC236}">
                <a16:creationId xmlns:a16="http://schemas.microsoft.com/office/drawing/2014/main" id="{5C1F787F-FDF7-E2DE-7023-89CD2CB5BD46}"/>
              </a:ext>
            </a:extLst>
          </p:cNvPr>
          <p:cNvSpPr txBox="1"/>
          <p:nvPr/>
        </p:nvSpPr>
        <p:spPr>
          <a:xfrm>
            <a:off x="7327875" y="1743078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r>
              <a:t>y</a:t>
            </a:r>
          </a:p>
        </p:txBody>
      </p:sp>
      <p:sp>
        <p:nvSpPr>
          <p:cNvPr id="44" name="z">
            <a:extLst>
              <a:ext uri="{FF2B5EF4-FFF2-40B4-BE49-F238E27FC236}">
                <a16:creationId xmlns:a16="http://schemas.microsoft.com/office/drawing/2014/main" id="{7C0F4A45-58A7-31F4-46A1-2051D22082EB}"/>
              </a:ext>
            </a:extLst>
          </p:cNvPr>
          <p:cNvSpPr txBox="1"/>
          <p:nvPr/>
        </p:nvSpPr>
        <p:spPr>
          <a:xfrm>
            <a:off x="8408479" y="3326461"/>
            <a:ext cx="1270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r>
              <a:t>z</a:t>
            </a:r>
          </a:p>
        </p:txBody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10B740DE-C6E2-A6E3-EB2F-829A1CB18E4A}"/>
              </a:ext>
            </a:extLst>
          </p:cNvPr>
          <p:cNvSpPr/>
          <p:nvPr/>
        </p:nvSpPr>
        <p:spPr>
          <a:xfrm>
            <a:off x="7830511" y="3493643"/>
            <a:ext cx="127315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cs typeface="Calibri" pitchFamily="34" charset="-120"/>
              </a:rPr>
              <a:t>Particle beam</a:t>
            </a:r>
            <a:endParaRPr lang="en-US" sz="1200" dirty="0"/>
          </a:p>
        </p:txBody>
      </p:sp>
      <p:sp>
        <p:nvSpPr>
          <p:cNvPr id="58" name="Text 7">
            <a:extLst>
              <a:ext uri="{FF2B5EF4-FFF2-40B4-BE49-F238E27FC236}">
                <a16:creationId xmlns:a16="http://schemas.microsoft.com/office/drawing/2014/main" id="{6ADD0F3F-0786-138D-5E5E-CB30A2C12682}"/>
              </a:ext>
            </a:extLst>
          </p:cNvPr>
          <p:cNvSpPr/>
          <p:nvPr/>
        </p:nvSpPr>
        <p:spPr>
          <a:xfrm>
            <a:off x="6806369" y="1556735"/>
            <a:ext cx="127315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cs typeface="Calibri" pitchFamily="34" charset="-120"/>
              </a:rPr>
              <a:t>Vertical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296165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DIVERGE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Neutrons vs. X-rays: key differences at a glance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548640" y="1691640"/>
          <a:ext cx="11064240" cy="27432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Neutrons  ·  McStas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X-rays  ·  McXtrace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59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 particle — mass, spin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Massless electromagnetic wave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facility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Reactor or spallation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Synchrotron or free-electron laser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scale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meV  (thermal / cold)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  (hard X-ray)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 interaction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&amp; magnetic scattering; deep penetration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 scattering; surface-sensitive, strongly absorbed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822960" y="49377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the same:  </a:t>
            </a: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ray-tracing method, the DSL, the component architecture, and the statistical-weight formalism are identical — only the physics inside the components differs.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11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12" name="Copied Picture 12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004B1DE-7F70-086B-74A0-99C65F1DAA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481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&amp; PRACTICALITIES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Open, portable, community-built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548640" y="19933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license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both packages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3383280" y="19933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20440" y="26974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Platforms: Linux,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macOS, Windows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6217920" y="19933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55080" y="26974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in the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shared-style libraries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Text 12"/>
          <p:cNvSpPr/>
          <p:nvPr/>
        </p:nvSpPr>
        <p:spPr>
          <a:xfrm>
            <a:off x="9052560" y="19933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30–40%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89720" y="26974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new components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from users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84048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everywhere from a laptop to HPC clusters and GPUs (OpenACC) — the same generated C code, recompiled per target.</a:t>
            </a:r>
            <a:endParaRPr lang="en-US" sz="12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components automatically fit the framework once written in structured, standard C.</a:t>
            </a:r>
            <a:endParaRPr lang="en-US" sz="12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 require at least one test instrument and a documented header — then they join the shared contrib/ library.</a:t>
            </a:r>
            <a:endParaRPr lang="en-US" sz="12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staff at DTU Physics maintain the core; a wider network of institutes and students keeps both libraries growing.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12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19" name="Copied Picture 19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3D5BCDE-F21F-AB07-6EEF-ADC3A3450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032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CORE TEAM, TWO NETWORKS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builds &amp; maintains them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core team at DTU Physics, plus partner institutes around each package.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 partner network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617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DTU Physics (core development)</a:t>
            </a:r>
          </a:p>
          <a:p>
            <a:pPr marL="177800" indent="-177800">
              <a:spcAft>
                <a:spcPts val="8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Spallation Source (ESS DMSC)</a:t>
            </a:r>
          </a:p>
          <a:p>
            <a:pPr marL="177800" indent="-177800">
              <a:spcAft>
                <a:spcPts val="8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Copenhagen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Laue-Langevin (ILL), Grenoble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Scherrer Institute (PSI)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96596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McXtrace partner network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617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Synchrotron SOLEIL</a:t>
            </a: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DTU Physics (core development)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DTU Space</a:t>
            </a: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Copenhagen</a:t>
            </a: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8592" y="57250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both codes benefit from the greater network of users across a plethora of use-cases and applications.</a:t>
            </a:r>
          </a:p>
          <a:p>
            <a:pPr marL="0" indent="0">
              <a:buNone/>
            </a:pPr>
            <a:endParaRPr lang="en-US" sz="1200" i="1" dirty="0">
              <a:solidFill>
                <a:srgbClr val="1250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i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developers work across both projects — shared infrastructure means fixes and features often benefit both codes at once.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13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14" name="Copied Picture 14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DA9902F-AA15-C68A-6A33-61DC40FED7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4157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they used for?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1335024" y="2286000"/>
            <a:ext cx="512064" cy="51206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1335024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design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and optimising new beamlines before they're built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98064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Shape 8"/>
          <p:cNvSpPr/>
          <p:nvPr/>
        </p:nvSpPr>
        <p:spPr>
          <a:xfrm>
            <a:off x="3584448" y="2286000"/>
            <a:ext cx="512064" cy="51206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3584448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935224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support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62656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Verifying components and layouts during commissioning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47488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5" name="Shape 13"/>
          <p:cNvSpPr/>
          <p:nvPr/>
        </p:nvSpPr>
        <p:spPr>
          <a:xfrm>
            <a:off x="5833872" y="2286000"/>
            <a:ext cx="512064" cy="51206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5833872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84648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experiments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Letting prospective users try an experiment before travelling to a facility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296912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0" name="Shape 18"/>
          <p:cNvSpPr/>
          <p:nvPr/>
        </p:nvSpPr>
        <p:spPr>
          <a:xfrm>
            <a:off x="8083296" y="2286000"/>
            <a:ext cx="512064" cy="51206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1" name="Text 19"/>
          <p:cNvSpPr/>
          <p:nvPr/>
        </p:nvSpPr>
        <p:spPr>
          <a:xfrm>
            <a:off x="8083296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34072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61504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measured data against simulated instrument response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46336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5" name="Shape 23"/>
          <p:cNvSpPr/>
          <p:nvPr/>
        </p:nvSpPr>
        <p:spPr>
          <a:xfrm>
            <a:off x="10332720" y="2286000"/>
            <a:ext cx="512064" cy="51206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6" name="Text 24"/>
          <p:cNvSpPr/>
          <p:nvPr/>
        </p:nvSpPr>
        <p:spPr>
          <a:xfrm>
            <a:off x="10332720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683496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710928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students and new users in instrumentation &amp; scattering methods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communities use their code across the full lifecycle — from first sketch to published data.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14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32" name="Copied Picture 32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D9C0426-238B-D590-F351-4C81B974E2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305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4785A-F4A1-3288-604F-E5E3E026E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E121A3-AC8B-5461-E1FE-9D0D3FA13244}"/>
              </a:ext>
            </a:extLst>
          </p:cNvPr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B1363F1-30B5-D70E-4790-8F3A4C16162D}"/>
              </a:ext>
            </a:extLst>
          </p:cNvPr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shared, interoperable ecosystem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995D224-65E6-B7E0-67A2-005F87E6916E}"/>
              </a:ext>
            </a:extLst>
          </p:cNvPr>
          <p:cNvSpPr/>
          <p:nvPr/>
        </p:nvSpPr>
        <p:spPr>
          <a:xfrm>
            <a:off x="548640" y="17830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85218B3-9A32-6392-2863-7DC785FF56B1}"/>
              </a:ext>
            </a:extLst>
          </p:cNvPr>
          <p:cNvSpPr/>
          <p:nvPr/>
        </p:nvSpPr>
        <p:spPr>
          <a:xfrm>
            <a:off x="822960" y="2039112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C760D90-A67E-9F2E-D54D-2DB53C19B105}"/>
              </a:ext>
            </a:extLst>
          </p:cNvPr>
          <p:cNvSpPr/>
          <p:nvPr/>
        </p:nvSpPr>
        <p:spPr>
          <a:xfrm>
            <a:off x="822960" y="2039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6D32681-29DE-6F62-7B0C-BC53F2011744}"/>
              </a:ext>
            </a:extLst>
          </p:cNvPr>
          <p:cNvSpPr/>
          <p:nvPr/>
        </p:nvSpPr>
        <p:spPr>
          <a:xfrm>
            <a:off x="1463040" y="2057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MCPL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C908418-09A1-04E5-D6DA-46B210D8E1C4}"/>
              </a:ext>
            </a:extLst>
          </p:cNvPr>
          <p:cNvSpPr/>
          <p:nvPr/>
        </p:nvSpPr>
        <p:spPr>
          <a:xfrm>
            <a:off x="868680" y="2679192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Monte Carlo Particle List format lets McStas, McXtrace and other transport codes (MCNP, Geant4, PHITS, …) exchange rays and couple simulations together.</a:t>
            </a:r>
            <a:endParaRPr lang="en-US" sz="11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ED696C6-7969-A25A-00A8-EEDBB46D65FB}"/>
              </a:ext>
            </a:extLst>
          </p:cNvPr>
          <p:cNvSpPr/>
          <p:nvPr/>
        </p:nvSpPr>
        <p:spPr>
          <a:xfrm>
            <a:off x="6217920" y="17830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9A90C14-3D0B-1BE9-F5B5-FD8B9B52F06F}"/>
              </a:ext>
            </a:extLst>
          </p:cNvPr>
          <p:cNvSpPr/>
          <p:nvPr/>
        </p:nvSpPr>
        <p:spPr>
          <a:xfrm>
            <a:off x="6492240" y="2039112"/>
            <a:ext cx="457200" cy="457200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9AC604D-DC8C-6C7C-C5C5-8CB33E1B4C81}"/>
              </a:ext>
            </a:extLst>
          </p:cNvPr>
          <p:cNvSpPr/>
          <p:nvPr/>
        </p:nvSpPr>
        <p:spPr>
          <a:xfrm>
            <a:off x="6492240" y="2039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6B53BC2-6461-7D26-7541-B8812BA1D866}"/>
              </a:ext>
            </a:extLst>
          </p:cNvPr>
          <p:cNvSpPr/>
          <p:nvPr/>
        </p:nvSpPr>
        <p:spPr>
          <a:xfrm>
            <a:off x="7132320" y="2057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interface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7F110B6-0604-B938-8B7B-CC06327517C2}"/>
              </a:ext>
            </a:extLst>
          </p:cNvPr>
          <p:cNvSpPr/>
          <p:nvPr/>
        </p:nvSpPr>
        <p:spPr>
          <a:xfrm>
            <a:off x="6537960" y="2679192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Python-based GUI supports building, running and browsing results for instruments in either code.</a:t>
            </a:r>
            <a:endParaRPr lang="en-US" sz="11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6301550-9792-989F-6419-DB959DC4E9C2}"/>
              </a:ext>
            </a:extLst>
          </p:cNvPr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6143259B-806C-B80E-CF90-5AD8BEDDE580}"/>
              </a:ext>
            </a:extLst>
          </p:cNvPr>
          <p:cNvSpPr/>
          <p:nvPr/>
        </p:nvSpPr>
        <p:spPr>
          <a:xfrm>
            <a:off x="822960" y="4279392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52C3E7B-8885-C080-E8E2-F081E5902BFD}"/>
              </a:ext>
            </a:extLst>
          </p:cNvPr>
          <p:cNvSpPr/>
          <p:nvPr/>
        </p:nvSpPr>
        <p:spPr>
          <a:xfrm>
            <a:off x="822960" y="4279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931158D-E912-1AAA-BB9C-D732B5BB836B}"/>
              </a:ext>
            </a:extLst>
          </p:cNvPr>
          <p:cNvSpPr/>
          <p:nvPr/>
        </p:nvSpPr>
        <p:spPr>
          <a:xfrm>
            <a:off x="1463040" y="42976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tools</a:t>
            </a:r>
            <a:endParaRPr lang="en-US" sz="15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861F43E-E398-53AB-AC36-281B6BDF1158}"/>
              </a:ext>
            </a:extLst>
          </p:cNvPr>
          <p:cNvSpPr/>
          <p:nvPr/>
        </p:nvSpPr>
        <p:spPr>
          <a:xfrm>
            <a:off x="868680" y="4919472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plotting toolchain (HTML/D3, pyqtgraph, matplotlib backends) visualises monitor output from both packages.</a:t>
            </a:r>
            <a:endParaRPr lang="en-US" sz="11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151A815A-0235-6804-4D92-E7D056058CE3}"/>
              </a:ext>
            </a:extLst>
          </p:cNvPr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FD6CC0E-2CBF-3E08-CC02-F5C7AF34A18A}"/>
              </a:ext>
            </a:extLst>
          </p:cNvPr>
          <p:cNvSpPr/>
          <p:nvPr/>
        </p:nvSpPr>
        <p:spPr>
          <a:xfrm>
            <a:off x="6492240" y="4279392"/>
            <a:ext cx="457200" cy="457200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63ABA2A-DCED-7DC1-72B7-56AC31985EC8}"/>
              </a:ext>
            </a:extLst>
          </p:cNvPr>
          <p:cNvSpPr/>
          <p:nvPr/>
        </p:nvSpPr>
        <p:spPr>
          <a:xfrm>
            <a:off x="6492240" y="4279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6A4BC67-F2AC-D2C0-71B1-1E502058777F}"/>
              </a:ext>
            </a:extLst>
          </p:cNvPr>
          <p:cNvSpPr/>
          <p:nvPr/>
        </p:nvSpPr>
        <p:spPr>
          <a:xfrm>
            <a:off x="7132320" y="42976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5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B6D66E6-52FA-6E3B-C0B6-304FB679E3C3}"/>
              </a:ext>
            </a:extLst>
          </p:cNvPr>
          <p:cNvSpPr/>
          <p:nvPr/>
        </p:nvSpPr>
        <p:spPr>
          <a:xfrm>
            <a:off x="6537960" y="4919472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Conda-forge distributions and cross-platform installers keep both codes easy to install on Linux, macOS and Windows.</a:t>
            </a:r>
            <a:endParaRPr lang="en-US" sz="11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D3D6E573-0B95-A516-3E64-1D7D6DE027B8}"/>
              </a:ext>
            </a:extLst>
          </p:cNvPr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4BB8E327-FF44-5C30-D4CC-8454C3D56A7E}"/>
              </a:ext>
            </a:extLst>
          </p:cNvPr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15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6" name="Copied Picture 26">
            <a:extLst>
              <a:ext uri="{FF2B5EF4-FFF2-40B4-BE49-F238E27FC236}">
                <a16:creationId xmlns:a16="http://schemas.microsoft.com/office/drawing/2014/main" id="{025F2B64-0FD4-A5CA-98A0-FD1D0364BE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A684F2A-A376-5FB1-633C-BC78F0E0E4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761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4664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interfaces, tools and utilities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15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6" name="Copied Picture 26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3ABE5C9-C836-CE70-22F6-870297E24F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  <p:grpSp>
        <p:nvGrpSpPr>
          <p:cNvPr id="28" name="Group">
            <a:extLst>
              <a:ext uri="{FF2B5EF4-FFF2-40B4-BE49-F238E27FC236}">
                <a16:creationId xmlns:a16="http://schemas.microsoft.com/office/drawing/2014/main" id="{AF13E511-2C9F-6FB0-6033-278FD97BE5ED}"/>
              </a:ext>
            </a:extLst>
          </p:cNvPr>
          <p:cNvGrpSpPr>
            <a:grpSpLocks noChangeAspect="1"/>
          </p:cNvGrpSpPr>
          <p:nvPr/>
        </p:nvGrpSpPr>
        <p:grpSpPr>
          <a:xfrm>
            <a:off x="908461" y="1124838"/>
            <a:ext cx="10375077" cy="5508631"/>
            <a:chOff x="0" y="0"/>
            <a:chExt cx="16261443" cy="8633987"/>
          </a:xfrm>
        </p:grpSpPr>
        <p:pic>
          <p:nvPicPr>
            <p:cNvPr id="29" name="Screenshot 2023-05-18 at 10.36.19.png" descr="Screenshot 2023-05-18 at 10.36.19.png">
              <a:extLst>
                <a:ext uri="{FF2B5EF4-FFF2-40B4-BE49-F238E27FC236}">
                  <a16:creationId xmlns:a16="http://schemas.microsoft.com/office/drawing/2014/main" id="{7763D29B-9FC0-1848-EBD2-D1852CD8E8F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0"/>
              <a:ext cx="8575015" cy="838925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0" name="Group" descr="Group">
              <a:extLst>
                <a:ext uri="{FF2B5EF4-FFF2-40B4-BE49-F238E27FC236}">
                  <a16:creationId xmlns:a16="http://schemas.microsoft.com/office/drawing/2014/main" id="{8E822AA8-BEA7-B9EA-1CA0-5116E408F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60438" y="806310"/>
              <a:ext cx="8001006" cy="78276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  <p:extLst>
      <p:ext uri="{BB962C8B-B14F-4D97-AF65-F5344CB8AC3E}">
        <p14:creationId xmlns:p14="http://schemas.microsoft.com/office/powerpoint/2010/main" val="4267245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57800" cy="3749040"/>
          </a:xfrm>
          <a:prstGeom prst="roundRect">
            <a:avLst>
              <a:gd name="adj" fmla="val 2439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868680" y="20574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mcstas.org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355848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 LIST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68680" y="36301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mcstas-users@mcstas.org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4105656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4379976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conda-forge  ·  cross-platform installers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855464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68680" y="5129784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—  McStasMcXtrace/McCode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828800"/>
            <a:ext cx="5257800" cy="3749040"/>
          </a:xfrm>
          <a:prstGeom prst="roundRect">
            <a:avLst>
              <a:gd name="adj" fmla="val 2439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Text 13"/>
          <p:cNvSpPr/>
          <p:nvPr/>
        </p:nvSpPr>
        <p:spPr>
          <a:xfrm>
            <a:off x="6492240" y="20574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McXtrace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260604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8803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mcxtrace.org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92240" y="3355848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 LIST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0" y="36301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mcxtrace-users@mcxtrace.org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92240" y="4105656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92240" y="4379976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conda-forge  ·  cross-platform installers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92240" y="4855464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5129784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—  McStasMcXtrace/McCode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16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6" name="Copied Picture 26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AA0D806-09E9-8869-198B-D701EF031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083" y="6473952"/>
            <a:ext cx="2150018" cy="3190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778A11B-01A1-5E6D-28CB-9B18DF4F40B6}"/>
              </a:ext>
            </a:extLst>
          </p:cNvPr>
          <p:cNvSpPr txBox="1"/>
          <p:nvPr/>
        </p:nvSpPr>
        <p:spPr>
          <a:xfrm>
            <a:off x="3177540" y="5852160"/>
            <a:ext cx="5651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micromamba env create – n panraid mcstas mcxtrace -y</a:t>
            </a:r>
          </a:p>
        </p:txBody>
      </p:sp>
    </p:spTree>
    <p:extLst>
      <p:ext uri="{BB962C8B-B14F-4D97-AF65-F5344CB8AC3E}">
        <p14:creationId xmlns:p14="http://schemas.microsoft.com/office/powerpoint/2010/main" val="4065855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0193" y="-1457675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7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42976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mcstas.org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42976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2377440" y="429768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mcxtrace.org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580644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822960" y="58978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pkwi@fysik.dtu.dk   ·   DTU Physics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17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sp>
        <p:nvSpPr>
          <p:cNvPr id="14" name="PartnerCard">
            <a:extLst>
              <a:ext uri="{FF2B5EF4-FFF2-40B4-BE49-F238E27FC236}">
                <a16:creationId xmlns:a16="http://schemas.microsoft.com/office/drawing/2014/main" id="{56CF4BB5-77D7-E44A-AC6F-CB2B36EE64FF}"/>
              </a:ext>
            </a:extLst>
          </p:cNvPr>
          <p:cNvSpPr/>
          <p:nvPr/>
        </p:nvSpPr>
        <p:spPr>
          <a:xfrm>
            <a:off x="6604000" y="4165600"/>
            <a:ext cx="4953000" cy="15748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DK"/>
          </a:p>
        </p:txBody>
      </p:sp>
      <p:sp>
        <p:nvSpPr>
          <p:cNvPr id="15" name="PartnerLabel">
            <a:extLst>
              <a:ext uri="{FF2B5EF4-FFF2-40B4-BE49-F238E27FC236}">
                <a16:creationId xmlns:a16="http://schemas.microsoft.com/office/drawing/2014/main" id="{A4D07EA8-407F-3B42-9B3B-F3044103BC88}"/>
              </a:ext>
            </a:extLst>
          </p:cNvPr>
          <p:cNvSpPr txBox="1"/>
          <p:nvPr/>
        </p:nvSpPr>
        <p:spPr>
          <a:xfrm>
            <a:off x="6921500" y="4368800"/>
            <a:ext cx="4318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GB" sz="1100" b="1">
                <a:solidFill>
                  <a:srgbClr val="1C7293"/>
                </a:solidFill>
                <a:latin typeface="Calibri"/>
                <a:cs typeface="Calibri"/>
              </a:rPr>
              <a:t>SUPPORTED BY</a:t>
            </a:r>
            <a:endParaRPr lang="en-DK" sz="1100" b="1">
              <a:solidFill>
                <a:srgbClr val="1C7293"/>
              </a:solidFill>
              <a:latin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5B36919-269A-C72C-8860-71E614353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0" y="4749800"/>
            <a:ext cx="4318000" cy="640609"/>
          </a:xfrm>
          <a:prstGeom prst="rect">
            <a:avLst/>
          </a:prstGeom>
        </p:spPr>
      </p:pic>
      <p:pic>
        <p:nvPicPr>
          <p:cNvPr id="17" name="Copied Picture 17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  <p:sp>
        <p:nvSpPr>
          <p:cNvPr id="18" name="LogoCard">
            <a:extLst>
              <a:ext uri="{FF2B5EF4-FFF2-40B4-BE49-F238E27FC236}">
                <a16:creationId xmlns:a16="http://schemas.microsoft.com/office/drawing/2014/main" id="{43FCA9E4-FE53-9770-866A-69BD74D27A0B}"/>
              </a:ext>
            </a:extLst>
          </p:cNvPr>
          <p:cNvSpPr/>
          <p:nvPr/>
        </p:nvSpPr>
        <p:spPr>
          <a:xfrm>
            <a:off x="7375855" y="2105660"/>
            <a:ext cx="3810000" cy="1498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DK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AFF1637-3776-19F4-C2BF-C8A792464BAB}"/>
              </a:ext>
            </a:extLst>
          </p:cNvPr>
          <p:cNvGrpSpPr>
            <a:grpSpLocks noChangeAspect="1"/>
          </p:cNvGrpSpPr>
          <p:nvPr/>
        </p:nvGrpSpPr>
        <p:grpSpPr>
          <a:xfrm>
            <a:off x="7882485" y="2194129"/>
            <a:ext cx="2796739" cy="1321661"/>
            <a:chOff x="8424483" y="116876"/>
            <a:chExt cx="1591152" cy="75193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2E9DF56-F934-B503-5BC1-AB1E0626EF87}"/>
                </a:ext>
              </a:extLst>
            </p:cNvPr>
            <p:cNvGrpSpPr/>
            <p:nvPr/>
          </p:nvGrpSpPr>
          <p:grpSpPr>
            <a:xfrm>
              <a:off x="9225045" y="116876"/>
              <a:ext cx="790590" cy="715989"/>
              <a:chOff x="9198715" y="165515"/>
              <a:chExt cx="790590" cy="715989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FCE6B836-1674-13D5-AEC8-35C69BC1EB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48140"/>
              <a:stretch>
                <a:fillRect/>
              </a:stretch>
            </p:blipFill>
            <p:spPr>
              <a:xfrm>
                <a:off x="9226947" y="165515"/>
                <a:ext cx="736600" cy="441669"/>
              </a:xfrm>
              <a:prstGeom prst="rect">
                <a:avLst/>
              </a:prstGeom>
            </p:spPr>
          </p:pic>
          <p:pic>
            <p:nvPicPr>
              <p:cNvPr id="23" name="Picture 22" descr="Synchrotron SOLEIL">
                <a:extLst>
                  <a:ext uri="{FF2B5EF4-FFF2-40B4-BE49-F238E27FC236}">
                    <a16:creationId xmlns:a16="http://schemas.microsoft.com/office/drawing/2014/main" id="{3D803075-2756-B905-7457-9843895124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198715" y="580162"/>
                <a:ext cx="548117" cy="264791"/>
              </a:xfrm>
              <a:prstGeom prst="rect">
                <a:avLst/>
              </a:prstGeom>
            </p:spPr>
          </p:pic>
          <p:pic>
            <p:nvPicPr>
              <p:cNvPr id="24" name="Picture 23" descr="DTU Physics">
                <a:extLst>
                  <a:ext uri="{FF2B5EF4-FFF2-40B4-BE49-F238E27FC236}">
                    <a16:creationId xmlns:a16="http://schemas.microsoft.com/office/drawing/2014/main" id="{2501FE40-6F55-3E26-4852-118F58348A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87903" y="584997"/>
                <a:ext cx="201402" cy="296507"/>
              </a:xfrm>
              <a:prstGeom prst="rect">
                <a:avLst/>
              </a:prstGeom>
            </p:spPr>
          </p:pic>
        </p:grp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FD7261C-4B8B-3050-5C1C-55C88AC9D4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24483" y="119510"/>
              <a:ext cx="736600" cy="749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299403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cStas_McXtrace_Common_Introduction" id="{5F94ABFD-5182-BC41-84EB-902932F6BE43}" vid="{BC8BECC1-EEDE-3D40-9020-2FF048A749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91AA810-CEB2-B14A-A7FD-A5C4FE3BE734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1ed95ab4-71bb-4cdb-a98c-82b69db493b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</TotalTime>
  <Words>1713</Words>
  <Application>Microsoft Macintosh PowerPoint</Application>
  <PresentationFormat>Widescreen</PresentationFormat>
  <Paragraphs>325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Peter Willendrup</cp:lastModifiedBy>
  <cp:revision>21</cp:revision>
  <dcterms:created xsi:type="dcterms:W3CDTF">2026-08-07T06:27:43Z</dcterms:created>
  <dcterms:modified xsi:type="dcterms:W3CDTF">2026-08-21T09:07:54Z</dcterms:modified>
</cp:coreProperties>
</file>