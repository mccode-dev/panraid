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6447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INTRODUCTION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McStas &amp; McXtrace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635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ray-tracing for neutron and X-ray instrumentation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— neutrons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416052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Text 8"/>
          <p:cNvSpPr/>
          <p:nvPr/>
        </p:nvSpPr>
        <p:spPr>
          <a:xfrm>
            <a:off x="2377440" y="416052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— X-rays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5806440"/>
            <a:ext cx="2926080" cy="0"/>
          </a:xfrm>
          <a:prstGeom prst="line">
            <a:avLst/>
          </a:prstGeom>
          <a:noFill/>
          <a:ln w="12700">
            <a:solidFill>
              <a:srgbClr val="3C4A8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Text 10"/>
          <p:cNvSpPr/>
          <p:nvPr/>
        </p:nvSpPr>
        <p:spPr>
          <a:xfrm>
            <a:off x="822960" y="5897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Willendrup   ·   DTU Physics</a:t>
            </a:r>
            <a:endParaRPr lang="en-US" sz="1250" dirty="0"/>
          </a:p>
        </p:txBody>
      </p:sp>
      <p:sp>
        <p:nvSpPr>
          <p:cNvPr id="13" name="LogoCard">
            <a:extLst>
              <a:ext uri="{FF2B5EF4-FFF2-40B4-BE49-F238E27FC236}">
                <a16:creationId xmlns:a16="http://schemas.microsoft.com/office/drawing/2014/main" id="{A327E844-7C40-5A40-9D78-CA88F6D9D8E6}"/>
              </a:ext>
            </a:extLst>
          </p:cNvPr>
          <p:cNvSpPr/>
          <p:nvPr/>
        </p:nvSpPr>
        <p:spPr>
          <a:xfrm>
            <a:off x="7429500" y="3759200"/>
            <a:ext cx="3810000" cy="14986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K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6DBB71B-0EDB-27E8-F7F5-7BBCD5423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700" y="4019550"/>
            <a:ext cx="3149600" cy="979381"/>
          </a:xfrm>
          <a:prstGeom prst="rect">
            <a:avLst/>
          </a:prstGeom>
        </p:spPr>
      </p:pic>
      <p:sp>
        <p:nvSpPr>
          <p:cNvPr id="15" name="SchoolCredit">
            <a:extLst>
              <a:ext uri="{FF2B5EF4-FFF2-40B4-BE49-F238E27FC236}">
                <a16:creationId xmlns:a16="http://schemas.microsoft.com/office/drawing/2014/main" id="{0DE3B876-929B-9046-A5F4-769DEE16FD59}"/>
              </a:ext>
            </a:extLst>
          </p:cNvPr>
          <p:cNvSpPr txBox="1"/>
          <p:nvPr/>
        </p:nvSpPr>
        <p:spPr>
          <a:xfrm>
            <a:off x="7429500" y="5384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GB" sz="1300">
                <a:solidFill>
                  <a:srgbClr val="C9D2EE"/>
                </a:solidFill>
                <a:latin typeface="Calibri"/>
                <a:cs typeface="Calibri"/>
              </a:rPr>
              <a:t>PaNRAID School  ·  supported by PEPR DIADEM</a:t>
            </a:r>
            <a:endParaRPr lang="en-DK" sz="1300">
              <a:solidFill>
                <a:srgbClr val="C9D2EE"/>
              </a:solidFill>
              <a:latin typeface="Calibri"/>
              <a:cs typeface="Calibri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DEC48BB-8467-1333-917D-E20FBFB776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719" t="16994"/>
          <a:stretch>
            <a:fillRect/>
          </a:stretch>
        </p:blipFill>
        <p:spPr>
          <a:xfrm>
            <a:off x="825500" y="457200"/>
            <a:ext cx="1397000" cy="71714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82F638-2A5C-E4E7-7897-F773C8D20A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478964"/>
            <a:ext cx="4539598" cy="67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026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200" b="1" kern="0" spc="200" dirty="0">
                <a:solidFill>
                  <a:srgbClr val="1C7293"/>
                </a:solidFill>
                <a:latin typeface="Calibri" pitchFamily="34" charset="0"/>
              </a:rPr>
              <a:t>PANRAID SCHOOL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GB" sz="3000" b="1" dirty="0">
                <a:solidFill>
                  <a:srgbClr val="20242B"/>
                </a:solidFill>
                <a:latin typeface="Cambria" pitchFamily="34" charset="0"/>
              </a:rPr>
              <a:t>Who's behind this school</a:t>
            </a:r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Common Introduction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FC83A9-DC29-E8F4-1725-71B6CFEFA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51000"/>
            <a:ext cx="7874000" cy="1443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00002C-2D68-DA76-EFBA-50ABFFBCA1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99000"/>
            <a:ext cx="7874000" cy="1168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28F40B-DAB0-0948-B03C-9894F69A4E07}"/>
              </a:ext>
            </a:extLst>
          </p:cNvPr>
          <p:cNvSpPr txBox="1"/>
          <p:nvPr/>
        </p:nvSpPr>
        <p:spPr>
          <a:xfrm>
            <a:off x="548640" y="3327400"/>
            <a:ext cx="10414000" cy="660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GB" sz="1600">
                <a:solidFill>
                  <a:srgbClr val="4A5160"/>
                </a:solidFill>
                <a:latin typeface="Calibri"/>
                <a:cs typeface="Calibri"/>
              </a:rPr>
              <a:t>PaNRAID is organised with support from the France 2030 PEPR DIADEM programme, training researchers to combine McStas and McXtrace ray-tracing simulations with AI methods.</a:t>
            </a:r>
            <a:endParaRPr lang="en-DK" sz="1600">
              <a:solidFill>
                <a:srgbClr val="4A5160"/>
              </a:solidFill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FCDD69-F709-B442-84B6-540523A95D06}"/>
              </a:ext>
            </a:extLst>
          </p:cNvPr>
          <p:cNvSpPr txBox="1"/>
          <p:nvPr/>
        </p:nvSpPr>
        <p:spPr>
          <a:xfrm>
            <a:off x="548640" y="42164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 b="1">
                <a:solidFill>
                  <a:srgbClr val="1C7293"/>
                </a:solidFill>
                <a:latin typeface="Calibri"/>
                <a:cs typeface="Calibri"/>
              </a:rPr>
              <a:t>PARTNERS &amp; SUPPORTING ORGANISATIONS</a:t>
            </a:r>
            <a:endParaRPr lang="en-DK" sz="1200" b="1">
              <a:solidFill>
                <a:srgbClr val="1C7293"/>
              </a:solidFill>
              <a:latin typeface="Calibri"/>
              <a:cs typeface="Calibri"/>
            </a:endParaRPr>
          </a:p>
        </p:txBody>
      </p:sp>
      <p:pic>
        <p:nvPicPr>
          <p:cNvPr id="30" name="Copied Picture 30">
            <a:extLst>
              <a:ext uri="{FF2B5EF4-FFF2-40B4-BE49-F238E27FC236}">
                <a16:creationId xmlns:a16="http://schemas.microsoft.com/office/drawing/2014/main" id="{EDEC48BB-8467-1333-917D-E20FBFB776C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719" t="16994"/>
          <a:stretch>
            <a:fillRect/>
          </a:stretch>
        </p:blipFill>
        <p:spPr>
          <a:xfrm>
            <a:off x="10375900" y="355600"/>
            <a:ext cx="1270000" cy="65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807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78992" y="166420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origins &amp; philosophy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78992" y="2020824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family, two physics engines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737360"/>
            <a:ext cx="384048" cy="384048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7"/>
          <p:cNvSpPr/>
          <p:nvPr/>
        </p:nvSpPr>
        <p:spPr>
          <a:xfrm>
            <a:off x="635508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85432" y="166420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Monte Carlo ray-tracing idea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885432" y="2020824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rays, weights, and randomness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384048" cy="384048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3" name="Text 11"/>
          <p:cNvSpPr/>
          <p:nvPr/>
        </p:nvSpPr>
        <p:spPr>
          <a:xfrm>
            <a:off x="54864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78992" y="308152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simulation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78992" y="3438144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Instruments, components, and the ray state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3154680"/>
            <a:ext cx="384048" cy="384048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7" name="Text 15"/>
          <p:cNvSpPr/>
          <p:nvPr/>
        </p:nvSpPr>
        <p:spPr>
          <a:xfrm>
            <a:off x="635508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85432" y="308152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885432" y="3438144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DSL, code generation, and coordinate placement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384048" cy="384048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1" name="Text 19"/>
          <p:cNvSpPr/>
          <p:nvPr/>
        </p:nvSpPr>
        <p:spPr>
          <a:xfrm>
            <a:off x="54864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78992" y="449884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Neutrons vs. X-rays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78992" y="4855464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two probes really differ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4572000"/>
            <a:ext cx="384048" cy="384048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5" name="Text 23"/>
          <p:cNvSpPr/>
          <p:nvPr/>
        </p:nvSpPr>
        <p:spPr>
          <a:xfrm>
            <a:off x="635508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85432" y="449884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Community, use &amp; getting started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885432" y="4855464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License, ecosystem, and next steps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Common Introduction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580"/>
                </a:solidFill>
                <a:latin typeface="Calibri"/>
                <a:ea typeface="Calibri" pitchFamily="34" charset="-122"/>
                <a:cs typeface="Calibri"/>
              </a:rPr>
              <a:t>3</a:t>
            </a:r>
            <a:endParaRPr lang="en-US" sz="900" dirty="0">
              <a:solidFill>
                <a:srgbClr val="6E7580"/>
              </a:solidFill>
              <a:latin typeface="Calibri"/>
              <a:cs typeface="Calibri"/>
            </a:endParaRPr>
          </a:p>
        </p:txBody>
      </p:sp>
      <p:pic>
        <p:nvPicPr>
          <p:cNvPr id="30" name="Copied Picture 30">
            <a:extLst>
              <a:ext uri="{FF2B5EF4-FFF2-40B4-BE49-F238E27FC236}">
                <a16:creationId xmlns:a16="http://schemas.microsoft.com/office/drawing/2014/main" id="{EDEC48BB-8467-1333-917D-E20FBFB776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19" t="16994"/>
          <a:stretch>
            <a:fillRect/>
          </a:stretch>
        </p:blipFill>
        <p:spPr>
          <a:xfrm>
            <a:off x="10375900" y="355600"/>
            <a:ext cx="1270000" cy="65151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B3A2934-DF72-FF6B-34D3-CCA5D5AC1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1083" y="6473952"/>
            <a:ext cx="2150018" cy="31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473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ORIGINS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family, two probes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was built on proven McStas technology — same architecture, adapted for X-rays.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05840" y="3246120"/>
            <a:ext cx="10149840" cy="0"/>
          </a:xfrm>
          <a:prstGeom prst="line">
            <a:avLst/>
          </a:prstGeom>
          <a:noFill/>
          <a:ln w="254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" name="Shape 4"/>
          <p:cNvSpPr/>
          <p:nvPr/>
        </p:nvSpPr>
        <p:spPr>
          <a:xfrm>
            <a:off x="1362456" y="3145536"/>
            <a:ext cx="201168" cy="20116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5"/>
          <p:cNvSpPr/>
          <p:nvPr/>
        </p:nvSpPr>
        <p:spPr>
          <a:xfrm>
            <a:off x="777240" y="26791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1998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344728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is born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3959352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Nielsen &amp; K. Lefmann, Risø.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for triple-axis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spectrometer simulation.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62856" y="3145536"/>
            <a:ext cx="201168" cy="201168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3977640" y="26791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11880" y="344728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into a general tool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11880" y="3959352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by DTU Physics, ILL,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PSI, University of Copenhagen,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 DMSC. GPL open source.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54696" y="3145536"/>
            <a:ext cx="201168" cy="201168"/>
          </a:xfrm>
          <a:prstGeom prst="ellipse">
            <a:avLst/>
          </a:prstGeom>
          <a:solidFill>
            <a:srgbClr val="D97A2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5" name="Text 13"/>
          <p:cNvSpPr/>
          <p:nvPr/>
        </p:nvSpPr>
        <p:spPr>
          <a:xfrm>
            <a:off x="7269480" y="26791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2009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03720" y="344728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forks off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03720" y="3959352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“Powered by McStas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technology.” Re-targeted at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optics &amp; beamlines.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780776" y="3145536"/>
            <a:ext cx="201168" cy="201168"/>
          </a:xfrm>
          <a:prstGeom prst="ellipse">
            <a:avLst/>
          </a:prstGeom>
          <a:solidFill>
            <a:srgbClr val="D97A2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9" name="Text 17"/>
          <p:cNvSpPr/>
          <p:nvPr/>
        </p:nvSpPr>
        <p:spPr>
          <a:xfrm>
            <a:off x="10195560" y="26791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829800" y="344728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development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829800" y="3959352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kernel philosophy,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physics &amp; component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libraries, active communities.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80644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3" name="Text 21"/>
          <p:cNvSpPr/>
          <p:nvPr/>
        </p:nvSpPr>
        <p:spPr>
          <a:xfrm>
            <a:off x="777240" y="580644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Commonality:  </a:t>
            </a:r>
            <a:r>
              <a:rPr lang="en-US" sz="12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domain-specific language, same component-based architecture, same open, community-driven development model.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Common Introduction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580"/>
                </a:solidFill>
                <a:latin typeface="Calibri"/>
                <a:ea typeface="Calibri" pitchFamily="34" charset="-122"/>
                <a:cs typeface="Calibri"/>
              </a:rPr>
              <a:t>4</a:t>
            </a:r>
            <a:endParaRPr lang="en-US" sz="900" dirty="0">
              <a:solidFill>
                <a:srgbClr val="6E7580"/>
              </a:solidFill>
              <a:latin typeface="Calibri"/>
              <a:cs typeface="Calibri"/>
            </a:endParaRPr>
          </a:p>
        </p:txBody>
      </p:sp>
      <p:pic>
        <p:nvPicPr>
          <p:cNvPr id="26" name="Copied Picture 26">
            <a:extLst>
              <a:ext uri="{FF2B5EF4-FFF2-40B4-BE49-F238E27FC236}">
                <a16:creationId xmlns:a16="http://schemas.microsoft.com/office/drawing/2014/main" id="{EDEC48BB-8467-1333-917D-E20FBFB776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19" t="16994"/>
          <a:stretch>
            <a:fillRect/>
          </a:stretch>
        </p:blipFill>
        <p:spPr>
          <a:xfrm>
            <a:off x="10375900" y="355600"/>
            <a:ext cx="1270000" cy="65151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0BD8330-E6AE-44D7-9116-97302854A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1083" y="6473952"/>
            <a:ext cx="2150018" cy="31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797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Monte Carlo ray-tracing, in a nutshell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method born at Los Alamos in the 1940s </a:t>
            </a:r>
            <a:r>
              <a:rPr lang="en-US" sz="135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(von Neumann, Ulam, Metropolis)</a:t>
            </a:r>
            <a:r>
              <a:rPr lang="en-US" sz="13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solving particle-transport problems by numerical experiment.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5486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codes trace many independent rays (neutrons or photons) one at a time through the instrument.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in free space is deterministic — straight lines (plus gravity, for slow neutrons).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Common Introduction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580"/>
                </a:solidFill>
                <a:latin typeface="Calibri"/>
                <a:ea typeface="Calibri" pitchFamily="34" charset="-122"/>
                <a:cs typeface="Calibri"/>
              </a:rPr>
              <a:t>5</a:t>
            </a:r>
            <a:endParaRPr lang="en-US" sz="900" dirty="0">
              <a:solidFill>
                <a:srgbClr val="6E7580"/>
              </a:solidFill>
              <a:latin typeface="Calibri"/>
              <a:cs typeface="Calibri"/>
            </a:endParaRPr>
          </a:p>
        </p:txBody>
      </p:sp>
      <p:pic>
        <p:nvPicPr>
          <p:cNvPr id="22" name="Copied Picture 22">
            <a:extLst>
              <a:ext uri="{FF2B5EF4-FFF2-40B4-BE49-F238E27FC236}">
                <a16:creationId xmlns:a16="http://schemas.microsoft.com/office/drawing/2014/main" id="{EDEC48BB-8467-1333-917D-E20FBFB776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19" t="16994"/>
          <a:stretch>
            <a:fillRect/>
          </a:stretch>
        </p:blipFill>
        <p:spPr>
          <a:xfrm>
            <a:off x="10375900" y="355600"/>
            <a:ext cx="1270000" cy="651510"/>
          </a:xfrm>
          <a:prstGeom prst="rect">
            <a:avLst/>
          </a:prstGeom>
        </p:spPr>
      </p:pic>
      <p:sp>
        <p:nvSpPr>
          <p:cNvPr id="25" name="Text 3">
            <a:extLst>
              <a:ext uri="{FF2B5EF4-FFF2-40B4-BE49-F238E27FC236}">
                <a16:creationId xmlns:a16="http://schemas.microsoft.com/office/drawing/2014/main" id="{5F7F4958-FFD4-2241-5759-FF258D1F1189}"/>
              </a:ext>
            </a:extLst>
          </p:cNvPr>
          <p:cNvSpPr/>
          <p:nvPr/>
        </p:nvSpPr>
        <p:spPr>
          <a:xfrm>
            <a:off x="6126480" y="2492156"/>
            <a:ext cx="5486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physics is probabilistic — scattering, absorption, reflection — outcomes are Monte Carlo sampled.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ray carries a statistical weight rather than representing one real particle, so rare but important events can be sampled efficiently.</a:t>
            </a:r>
            <a:endParaRPr lang="en-US" sz="125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5B09B40-F30E-1E0C-DE5E-324C82AA5AE5}"/>
              </a:ext>
            </a:extLst>
          </p:cNvPr>
          <p:cNvGrpSpPr/>
          <p:nvPr/>
        </p:nvGrpSpPr>
        <p:grpSpPr>
          <a:xfrm>
            <a:off x="1955912" y="3748690"/>
            <a:ext cx="8249696" cy="2834990"/>
            <a:chOff x="1848897" y="3720252"/>
            <a:chExt cx="8249696" cy="3093885"/>
          </a:xfrm>
        </p:grpSpPr>
        <p:sp>
          <p:nvSpPr>
            <p:cNvPr id="6" name="Shape 4"/>
            <p:cNvSpPr/>
            <p:nvPr/>
          </p:nvSpPr>
          <p:spPr>
            <a:xfrm>
              <a:off x="1848897" y="3720252"/>
              <a:ext cx="8249696" cy="3000588"/>
            </a:xfrm>
            <a:prstGeom prst="roundRect">
              <a:avLst>
                <a:gd name="adj" fmla="val 2174"/>
              </a:avLst>
            </a:prstGeom>
            <a:solidFill>
              <a:srgbClr val="F7F8FA"/>
            </a:solidFill>
            <a:ln w="9525">
              <a:solidFill>
                <a:srgbClr val="DDE1E6"/>
              </a:solidFill>
              <a:prstDash val="solid"/>
            </a:ln>
          </p:spPr>
          <p:txBody>
            <a:bodyPr/>
            <a:lstStyle/>
            <a:p>
              <a:endParaRPr lang="en-DK"/>
            </a:p>
          </p:txBody>
        </p:sp>
        <p:sp>
          <p:nvSpPr>
            <p:cNvPr id="7" name="Text 5"/>
            <p:cNvSpPr/>
            <p:nvPr/>
          </p:nvSpPr>
          <p:spPr>
            <a:xfrm>
              <a:off x="3451860" y="3720252"/>
              <a:ext cx="51663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50" b="1" dirty="0">
                  <a:solidFill>
                    <a:srgbClr val="6E75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single ray, one weight at a time</a:t>
              </a:r>
              <a:endParaRPr lang="en-US" sz="11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3632228" y="6274694"/>
              <a:ext cx="4526280" cy="53944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i="1" dirty="0">
                  <a:solidFill>
                    <a:srgbClr val="6E75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Weight p is adjusted multiplicatively at every interaction — the physical result is recovered statistically over many rays.</a:t>
              </a:r>
              <a:endParaRPr lang="en-US" sz="1100" dirty="0"/>
            </a:p>
          </p:txBody>
        </p:sp>
        <p:pic>
          <p:nvPicPr>
            <p:cNvPr id="26" name="Image" descr="Image">
              <a:extLst>
                <a:ext uri="{FF2B5EF4-FFF2-40B4-BE49-F238E27FC236}">
                  <a16:creationId xmlns:a16="http://schemas.microsoft.com/office/drawing/2014/main" id="{EF56EE88-3FCE-C1D8-D850-C3D289DBA0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94100" y="4099365"/>
              <a:ext cx="7398540" cy="2141831"/>
            </a:xfrm>
            <a:prstGeom prst="rect">
              <a:avLst/>
            </a:prstGeom>
            <a:ln w="12700">
              <a:miter lim="400000"/>
            </a:ln>
          </p:spPr>
        </p:pic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6C130A28-4FE7-F3F0-13CB-85BA0B95A5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1083" y="6473952"/>
            <a:ext cx="2150018" cy="31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000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simulation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instrument is an ordered chain of components in a shared lab coordinate system. Rays flow through it, changing state at each stop.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548640" y="29992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4930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rays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35224" y="3429000"/>
            <a:ext cx="479450" cy="0"/>
          </a:xfrm>
          <a:prstGeom prst="line">
            <a:avLst/>
          </a:prstGeom>
          <a:noFill/>
          <a:ln w="19050">
            <a:solidFill>
              <a:srgbClr val="6E7580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9" name="Shape 7"/>
          <p:cNvSpPr/>
          <p:nvPr/>
        </p:nvSpPr>
        <p:spPr>
          <a:xfrm>
            <a:off x="3469538" y="274320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Text 8"/>
          <p:cNvSpPr/>
          <p:nvPr/>
        </p:nvSpPr>
        <p:spPr>
          <a:xfrm>
            <a:off x="3469538" y="29992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Optics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69538" y="34930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the beam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56122" y="3429000"/>
            <a:ext cx="479450" cy="0"/>
          </a:xfrm>
          <a:prstGeom prst="line">
            <a:avLst/>
          </a:prstGeom>
          <a:noFill/>
          <a:ln w="19050">
            <a:solidFill>
              <a:srgbClr val="6E7580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3" name="Shape 11"/>
          <p:cNvSpPr/>
          <p:nvPr/>
        </p:nvSpPr>
        <p:spPr>
          <a:xfrm>
            <a:off x="6390437" y="274320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D97A2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2"/>
          <p:cNvSpPr/>
          <p:nvPr/>
        </p:nvSpPr>
        <p:spPr>
          <a:xfrm>
            <a:off x="6390437" y="29992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90437" y="34930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physics of interest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77021" y="3429000"/>
            <a:ext cx="479450" cy="0"/>
          </a:xfrm>
          <a:prstGeom prst="line">
            <a:avLst/>
          </a:prstGeom>
          <a:noFill/>
          <a:ln w="19050">
            <a:solidFill>
              <a:srgbClr val="6E7580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7" name="Shape 15"/>
          <p:cNvSpPr/>
          <p:nvPr/>
        </p:nvSpPr>
        <p:spPr>
          <a:xfrm>
            <a:off x="9311335" y="274320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0242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8" name="Text 16"/>
          <p:cNvSpPr/>
          <p:nvPr/>
        </p:nvSpPr>
        <p:spPr>
          <a:xfrm>
            <a:off x="9311335" y="29992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311335" y="349300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the result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Instrument:  </a:t>
            </a:r>
            <a:r>
              <a:rPr lang="en-US" sz="12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lab coordinate system.   </a:t>
            </a:r>
            <a:r>
              <a:rPr lang="en-US" sz="12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 </a:t>
            </a:r>
            <a:r>
              <a:rPr lang="en-US" sz="12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devices/features available in the instrument, each with its own function.   </a:t>
            </a:r>
            <a:r>
              <a:rPr lang="en-US" sz="12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Rays:  </a:t>
            </a:r>
            <a:r>
              <a:rPr lang="en-US" sz="12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from one component to the next, changing state along the way.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chain — and the DSL that describes it — is identical in McStas and McXtrace.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Common Introduction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580"/>
                </a:solidFill>
                <a:latin typeface="Calibri"/>
                <a:ea typeface="Calibri" pitchFamily="34" charset="-122"/>
                <a:cs typeface="Calibri"/>
              </a:rPr>
              <a:t>6</a:t>
            </a:r>
            <a:endParaRPr lang="en-US" sz="900" dirty="0">
              <a:solidFill>
                <a:srgbClr val="6E7580"/>
              </a:solidFill>
              <a:latin typeface="Calibri"/>
              <a:cs typeface="Calibri"/>
            </a:endParaRPr>
          </a:p>
        </p:txBody>
      </p:sp>
      <p:pic>
        <p:nvPicPr>
          <p:cNvPr id="24" name="Copied Picture 24">
            <a:extLst>
              <a:ext uri="{FF2B5EF4-FFF2-40B4-BE49-F238E27FC236}">
                <a16:creationId xmlns:a16="http://schemas.microsoft.com/office/drawing/2014/main" id="{EDEC48BB-8467-1333-917D-E20FBFB776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19" t="16994"/>
          <a:stretch>
            <a:fillRect/>
          </a:stretch>
        </p:blipFill>
        <p:spPr>
          <a:xfrm>
            <a:off x="10375900" y="355600"/>
            <a:ext cx="1270000" cy="65151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4E83B69-6486-D267-83C4-F9A012908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1083" y="6473952"/>
            <a:ext cx="2150018" cy="31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365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COMMONALITY &amp; DIFFERENCE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travels through the beamline: the ray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5" name="Text 3"/>
          <p:cNvSpPr/>
          <p:nvPr/>
        </p:nvSpPr>
        <p:spPr>
          <a:xfrm>
            <a:off x="868680" y="1801368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Neutron ray  ·  McStas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65960" y="23774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(x, y, z)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65960" y="29260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vector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4747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65960" y="34747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0233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65960" y="40233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/ polarisation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457200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965960" y="4572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weight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160020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7" name="Text 15"/>
          <p:cNvSpPr/>
          <p:nvPr/>
        </p:nvSpPr>
        <p:spPr>
          <a:xfrm>
            <a:off x="6492240" y="1801368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Photon ray  ·  McXtrace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92240" y="237744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89520" y="23774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(x, y, z)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292608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589520" y="29260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vector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347472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φ, 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89520" y="34747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&amp; polarisation (E-field)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40233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589520" y="40233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457200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89520" y="45720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weight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89788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9" name="Text 27"/>
          <p:cNvSpPr/>
          <p:nvPr/>
        </p:nvSpPr>
        <p:spPr>
          <a:xfrm>
            <a:off x="777240" y="58978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different carrier:  </a:t>
            </a:r>
            <a:r>
              <a:rPr lang="en-US" sz="11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rays are position + time + statistical weight. The neutron adds mass, velocity and spin; the photon adds a wave vector, phase and field polarisation.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Common Introduction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580"/>
                </a:solidFill>
                <a:latin typeface="Calibri"/>
                <a:ea typeface="Calibri" pitchFamily="34" charset="-122"/>
                <a:cs typeface="Calibri"/>
              </a:rPr>
              <a:t>7</a:t>
            </a:r>
            <a:endParaRPr lang="en-US" sz="900" dirty="0">
              <a:solidFill>
                <a:srgbClr val="6E7580"/>
              </a:solidFill>
              <a:latin typeface="Calibri"/>
              <a:cs typeface="Calibri"/>
            </a:endParaRPr>
          </a:p>
        </p:txBody>
      </p:sp>
      <p:pic>
        <p:nvPicPr>
          <p:cNvPr id="32" name="Copied Picture 32">
            <a:extLst>
              <a:ext uri="{FF2B5EF4-FFF2-40B4-BE49-F238E27FC236}">
                <a16:creationId xmlns:a16="http://schemas.microsoft.com/office/drawing/2014/main" id="{EDEC48BB-8467-1333-917D-E20FBFB776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19" t="16994"/>
          <a:stretch>
            <a:fillRect/>
          </a:stretch>
        </p:blipFill>
        <p:spPr>
          <a:xfrm>
            <a:off x="10375900" y="355600"/>
            <a:ext cx="1270000" cy="65151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8FBDC23-7E2B-E632-E0E6-9DBEBB3AD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1083" y="6473952"/>
            <a:ext cx="2150018" cy="31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340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TAXONOMY, DIFFERENT PHYSICS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classes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instrument, in either code, is built from the same four component classes.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1920240"/>
          <a:ext cx="11064240" cy="32918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McStas (neutrons)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McXtrace (X-rays)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Reactor / spallation moderator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Undulator, wiggler, bending magnet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Guides, mirrors, choppers, collimators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Mirrors, monochromator crystals, multilayers, slits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Powders, crystals, liquids, magnetism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Powders, crystals, multilayers, absorbing phantoms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PSD / histograms / event lists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PSD / histograms / event lists  (same concept)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to all components:  </a:t>
            </a:r>
            <a:r>
              <a:rPr lang="en-US" sz="12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set, manipulate, or measure the state of the ray — and each is written as a self-contained, reusable code module.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Common Introduction</a:t>
            </a:r>
            <a:endParaRPr lang="en-US" sz="900" dirty="0"/>
          </a:p>
        </p:txBody>
      </p:sp>
      <p:sp>
        <p:nvSpPr>
          <p:cNvPr id="5" name="Text 5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580"/>
                </a:solidFill>
                <a:latin typeface="Calibri"/>
                <a:ea typeface="Calibri" pitchFamily="34" charset="-122"/>
                <a:cs typeface="Calibri"/>
              </a:rPr>
              <a:t>8</a:t>
            </a:r>
            <a:endParaRPr lang="en-US" sz="900" dirty="0">
              <a:solidFill>
                <a:srgbClr val="6E7580"/>
              </a:solidFill>
              <a:latin typeface="Calibri"/>
              <a:cs typeface="Calibri"/>
            </a:endParaRPr>
          </a:p>
        </p:txBody>
      </p:sp>
      <p:pic>
        <p:nvPicPr>
          <p:cNvPr id="9" name="Copied Picture 9">
            <a:extLst>
              <a:ext uri="{FF2B5EF4-FFF2-40B4-BE49-F238E27FC236}">
                <a16:creationId xmlns:a16="http://schemas.microsoft.com/office/drawing/2014/main" id="{EDEC48BB-8467-1333-917D-E20FBFB776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19" t="16994"/>
          <a:stretch>
            <a:fillRect/>
          </a:stretch>
        </p:blipFill>
        <p:spPr>
          <a:xfrm>
            <a:off x="10375900" y="355600"/>
            <a:ext cx="1270000" cy="6515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E89A71-94F6-FF81-D12C-2768E2767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1083" y="6473952"/>
            <a:ext cx="2150018" cy="31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99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droppedImage.png" descr="droppedImage.png">
            <a:extLst>
              <a:ext uri="{FF2B5EF4-FFF2-40B4-BE49-F238E27FC236}">
                <a16:creationId xmlns:a16="http://schemas.microsoft.com/office/drawing/2014/main" id="{3BBC15BB-6C9C-46FE-1354-6E918EE4C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921" y="2991662"/>
            <a:ext cx="1709937" cy="1237438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instrument file to running simulation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7F8FA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5" name="Text 3"/>
          <p:cNvSpPr/>
          <p:nvPr/>
        </p:nvSpPr>
        <p:spPr>
          <a:xfrm>
            <a:off x="548640" y="20939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.instr file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4414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DSL describing the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(readable text)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72384" y="2491740"/>
            <a:ext cx="296570" cy="0"/>
          </a:xfrm>
          <a:prstGeom prst="line">
            <a:avLst/>
          </a:prstGeom>
          <a:noFill/>
          <a:ln w="19050">
            <a:solidFill>
              <a:srgbClr val="6E7580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8" name="Shape 6"/>
          <p:cNvSpPr/>
          <p:nvPr/>
        </p:nvSpPr>
        <p:spPr>
          <a:xfrm>
            <a:off x="3423818" y="19659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7F8FA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9" name="Text 7"/>
          <p:cNvSpPr/>
          <p:nvPr/>
        </p:nvSpPr>
        <p:spPr>
          <a:xfrm>
            <a:off x="3423818" y="20939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60978" y="24414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 &amp; Yacc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technology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7562" y="2491740"/>
            <a:ext cx="296570" cy="0"/>
          </a:xfrm>
          <a:prstGeom prst="line">
            <a:avLst/>
          </a:prstGeom>
          <a:noFill/>
          <a:ln w="19050">
            <a:solidFill>
              <a:srgbClr val="6E7580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2" name="Shape 10"/>
          <p:cNvSpPr/>
          <p:nvPr/>
        </p:nvSpPr>
        <p:spPr>
          <a:xfrm>
            <a:off x="6298997" y="19659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7F8FA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3" name="Text 11"/>
          <p:cNvSpPr/>
          <p:nvPr/>
        </p:nvSpPr>
        <p:spPr>
          <a:xfrm>
            <a:off x="6298997" y="20939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36157" y="24414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ISO-C code,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you use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822741" y="2491740"/>
            <a:ext cx="296570" cy="0"/>
          </a:xfrm>
          <a:prstGeom prst="line">
            <a:avLst/>
          </a:prstGeom>
          <a:noFill/>
          <a:ln w="19050">
            <a:solidFill>
              <a:srgbClr val="6E7580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6" name="Shape 14"/>
          <p:cNvSpPr/>
          <p:nvPr/>
        </p:nvSpPr>
        <p:spPr>
          <a:xfrm>
            <a:off x="9174175" y="19659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7" name="Text 15"/>
          <p:cNvSpPr/>
          <p:nvPr/>
        </p:nvSpPr>
        <p:spPr>
          <a:xfrm>
            <a:off x="9174175" y="20939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311335" y="24414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E7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for your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E7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hardware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200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toolchain in both codes — the DSL grammar and code generator are shared.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48640" y="3703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levels of code, three audiences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361188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4" name="Text 22"/>
          <p:cNvSpPr/>
          <p:nvPr/>
        </p:nvSpPr>
        <p:spPr>
          <a:xfrm>
            <a:off x="777240" y="440740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file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77240" y="473659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USERS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77240" y="5102352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examples, GUI-assisted, or written from scratch in the DSL.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97680" y="420624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D97A2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8" name="Shape 26"/>
          <p:cNvSpPr/>
          <p:nvPr/>
        </p:nvSpPr>
        <p:spPr>
          <a:xfrm>
            <a:off x="4297680" y="4206240"/>
            <a:ext cx="3611880" cy="73152"/>
          </a:xfrm>
          <a:prstGeom prst="rect">
            <a:avLst/>
          </a:prstGeom>
          <a:solidFill>
            <a:srgbClr val="D97A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9" name="Text 27"/>
          <p:cNvSpPr/>
          <p:nvPr/>
        </p:nvSpPr>
        <p:spPr>
          <a:xfrm>
            <a:off x="4526280" y="440740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file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526280" y="473659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USERS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26280" y="5102352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self-contained C code — easy to modify from an existing component.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46720" y="420624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20242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3" name="Shape 31"/>
          <p:cNvSpPr/>
          <p:nvPr/>
        </p:nvSpPr>
        <p:spPr>
          <a:xfrm>
            <a:off x="8046720" y="4206240"/>
            <a:ext cx="3611880" cy="73152"/>
          </a:xfrm>
          <a:prstGeom prst="rect">
            <a:avLst/>
          </a:prstGeom>
          <a:solidFill>
            <a:srgbClr val="2024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4" name="Text 32"/>
          <p:cNvSpPr/>
          <p:nvPr/>
        </p:nvSpPr>
        <p:spPr>
          <a:xfrm>
            <a:off x="8275320" y="440740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8275320" y="473659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DEV TEAM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275320" y="5102352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Propagation, intersections, and the runtime library shared by all components.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Common Introduction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580"/>
                </a:solidFill>
                <a:latin typeface="Calibri"/>
                <a:ea typeface="Calibri" pitchFamily="34" charset="-122"/>
                <a:cs typeface="Calibri"/>
              </a:rPr>
              <a:t>9</a:t>
            </a:r>
            <a:endParaRPr lang="en-US" sz="900" dirty="0">
              <a:solidFill>
                <a:srgbClr val="6E7580"/>
              </a:solidFill>
              <a:latin typeface="Calibri"/>
              <a:cs typeface="Calibri"/>
            </a:endParaRPr>
          </a:p>
        </p:txBody>
      </p:sp>
      <p:pic>
        <p:nvPicPr>
          <p:cNvPr id="39" name="Copied Picture 39">
            <a:extLst>
              <a:ext uri="{FF2B5EF4-FFF2-40B4-BE49-F238E27FC236}">
                <a16:creationId xmlns:a16="http://schemas.microsoft.com/office/drawing/2014/main" id="{EDEC48BB-8467-1333-917D-E20FBFB776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719" t="16994"/>
          <a:stretch>
            <a:fillRect/>
          </a:stretch>
        </p:blipFill>
        <p:spPr>
          <a:xfrm>
            <a:off x="10375900" y="355600"/>
            <a:ext cx="1270000" cy="65151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E5A9184-FD12-ECE7-AB47-41174E5075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1083" y="6473952"/>
            <a:ext cx="2150018" cy="31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876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8">
            <a:extLst>
              <a:ext uri="{FF2B5EF4-FFF2-40B4-BE49-F238E27FC236}">
                <a16:creationId xmlns:a16="http://schemas.microsoft.com/office/drawing/2014/main" id="{89161A8A-D7DE-2D42-FACA-14F6BB71F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1083" y="6473952"/>
            <a:ext cx="2150018" cy="31903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SYNTAX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Placing components in space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is placed with the same two statements, in both codes: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(x, y, z) RELATIVE &lt;ref&gt;
</a:t>
            </a:r>
            <a:r>
              <a:rPr lang="en-US" sz="150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ROTATED (rx, ry, rz) RELATIVE &lt;ref&gt;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5669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&lt;ref&gt; can be ABSOLUTE (the lab frame), another component's name, or PREVIOUS.</a:t>
            </a:r>
            <a:endParaRPr lang="en-US" sz="12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runs along the beam, y is vertical, x completes a right-handed frame.</a:t>
            </a:r>
            <a:endParaRPr lang="en-US" sz="12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authors choose whatever local origin is physically natural — the kernel handles the coordinate transforms between them.</a:t>
            </a:r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cs typeface="Calibri" pitchFamily="34" charset="-120"/>
              </a:rPr>
              <a:t>AT and ROTATED can be fully decoupled, referring to different RELATIVE  &lt;ref&gt;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0" y="1601470"/>
            <a:ext cx="4937760" cy="5256530"/>
          </a:xfrm>
          <a:prstGeom prst="roundRect">
            <a:avLst>
              <a:gd name="adj" fmla="val 2000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 dirty="0"/>
          </a:p>
        </p:txBody>
      </p:sp>
      <p:sp>
        <p:nvSpPr>
          <p:cNvPr id="9" name="Text 7"/>
          <p:cNvSpPr/>
          <p:nvPr/>
        </p:nvSpPr>
        <p:spPr>
          <a:xfrm>
            <a:off x="6675120" y="1737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Right-handed lab frame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418320" y="4023360"/>
            <a:ext cx="0" cy="0"/>
          </a:xfrm>
          <a:prstGeom prst="line">
            <a:avLst/>
          </a:prstGeom>
          <a:noFill/>
          <a:ln w="28575">
            <a:solidFill>
              <a:srgbClr val="D97A2B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Common Introduction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580"/>
                </a:solidFill>
                <a:latin typeface="Calibri"/>
                <a:ea typeface="Calibri" pitchFamily="34" charset="-122"/>
                <a:cs typeface="Calibri"/>
              </a:rPr>
              <a:t>10</a:t>
            </a:r>
            <a:endParaRPr lang="en-US" sz="900" dirty="0">
              <a:solidFill>
                <a:srgbClr val="6E7580"/>
              </a:solidFill>
              <a:latin typeface="Calibri"/>
              <a:cs typeface="Calibri"/>
            </a:endParaRPr>
          </a:p>
        </p:txBody>
      </p:sp>
      <p:pic>
        <p:nvPicPr>
          <p:cNvPr id="19" name="Copied Picture 19">
            <a:extLst>
              <a:ext uri="{FF2B5EF4-FFF2-40B4-BE49-F238E27FC236}">
                <a16:creationId xmlns:a16="http://schemas.microsoft.com/office/drawing/2014/main" id="{EDEC48BB-8467-1333-917D-E20FBFB776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719" t="16994"/>
          <a:stretch>
            <a:fillRect/>
          </a:stretch>
        </p:blipFill>
        <p:spPr>
          <a:xfrm>
            <a:off x="10375900" y="355600"/>
            <a:ext cx="1270000" cy="651510"/>
          </a:xfrm>
          <a:prstGeom prst="rect">
            <a:avLst/>
          </a:prstGeom>
        </p:spPr>
      </p:pic>
      <p:pic>
        <p:nvPicPr>
          <p:cNvPr id="20" name="Right Handed.PNG" descr="Right Handed.PNG">
            <a:extLst>
              <a:ext uri="{FF2B5EF4-FFF2-40B4-BE49-F238E27FC236}">
                <a16:creationId xmlns:a16="http://schemas.microsoft.com/office/drawing/2014/main" id="{0056FA74-2BA6-5F72-C80F-B51DB6B0B5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0511" y="4229735"/>
            <a:ext cx="2626977" cy="2594140"/>
          </a:xfrm>
          <a:prstGeom prst="rect">
            <a:avLst/>
          </a:prstGeom>
          <a:ln w="12700">
            <a:miter lim="400000"/>
          </a:ln>
        </p:spPr>
      </p:pic>
      <p:sp>
        <p:nvSpPr>
          <p:cNvPr id="33" name="Oval">
            <a:extLst>
              <a:ext uri="{FF2B5EF4-FFF2-40B4-BE49-F238E27FC236}">
                <a16:creationId xmlns:a16="http://schemas.microsoft.com/office/drawing/2014/main" id="{62C2D1E9-5872-3D26-CEA7-C87B88624030}"/>
              </a:ext>
            </a:extLst>
          </p:cNvPr>
          <p:cNvSpPr/>
          <p:nvPr/>
        </p:nvSpPr>
        <p:spPr>
          <a:xfrm>
            <a:off x="7372046" y="2516242"/>
            <a:ext cx="284714" cy="150196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6799" tIns="46799" rIns="46799" bIns="46799" anchor="ctr"/>
          <a:lstStyle/>
          <a:p>
            <a:endParaRPr/>
          </a:p>
        </p:txBody>
      </p:sp>
      <p:sp>
        <p:nvSpPr>
          <p:cNvPr id="34" name="Line">
            <a:extLst>
              <a:ext uri="{FF2B5EF4-FFF2-40B4-BE49-F238E27FC236}">
                <a16:creationId xmlns:a16="http://schemas.microsoft.com/office/drawing/2014/main" id="{0887CCBF-FEF2-9D3E-CDE0-862744C12694}"/>
              </a:ext>
            </a:extLst>
          </p:cNvPr>
          <p:cNvSpPr/>
          <p:nvPr/>
        </p:nvSpPr>
        <p:spPr>
          <a:xfrm flipV="1">
            <a:off x="7514402" y="1888077"/>
            <a:ext cx="1" cy="1391518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5" name="Line">
            <a:extLst>
              <a:ext uri="{FF2B5EF4-FFF2-40B4-BE49-F238E27FC236}">
                <a16:creationId xmlns:a16="http://schemas.microsoft.com/office/drawing/2014/main" id="{CCC8D51E-E946-6450-B32F-0870B6481A93}"/>
              </a:ext>
            </a:extLst>
          </p:cNvPr>
          <p:cNvSpPr/>
          <p:nvPr/>
        </p:nvSpPr>
        <p:spPr>
          <a:xfrm>
            <a:off x="7513831" y="3267288"/>
            <a:ext cx="1138321" cy="1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6" name="Line">
            <a:extLst>
              <a:ext uri="{FF2B5EF4-FFF2-40B4-BE49-F238E27FC236}">
                <a16:creationId xmlns:a16="http://schemas.microsoft.com/office/drawing/2014/main" id="{1816E2F4-6D31-DD83-7FAB-D0066B392DB2}"/>
              </a:ext>
            </a:extLst>
          </p:cNvPr>
          <p:cNvSpPr/>
          <p:nvPr/>
        </p:nvSpPr>
        <p:spPr>
          <a:xfrm flipV="1">
            <a:off x="7505755" y="2573967"/>
            <a:ext cx="679817" cy="685247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7" name="Line">
            <a:extLst>
              <a:ext uri="{FF2B5EF4-FFF2-40B4-BE49-F238E27FC236}">
                <a16:creationId xmlns:a16="http://schemas.microsoft.com/office/drawing/2014/main" id="{EFB50C94-2E48-2497-72CD-29F1FF4D10C7}"/>
              </a:ext>
            </a:extLst>
          </p:cNvPr>
          <p:cNvSpPr/>
          <p:nvPr/>
        </p:nvSpPr>
        <p:spPr>
          <a:xfrm>
            <a:off x="7580252" y="3175158"/>
            <a:ext cx="127001" cy="1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8" name="Line">
            <a:extLst>
              <a:ext uri="{FF2B5EF4-FFF2-40B4-BE49-F238E27FC236}">
                <a16:creationId xmlns:a16="http://schemas.microsoft.com/office/drawing/2014/main" id="{F0890B24-E6C0-2DC1-EA59-8B2C01309DDC}"/>
              </a:ext>
            </a:extLst>
          </p:cNvPr>
          <p:cNvSpPr/>
          <p:nvPr/>
        </p:nvSpPr>
        <p:spPr>
          <a:xfrm flipV="1">
            <a:off x="7603431" y="3168949"/>
            <a:ext cx="106042" cy="106232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39" name="Line">
            <a:extLst>
              <a:ext uri="{FF2B5EF4-FFF2-40B4-BE49-F238E27FC236}">
                <a16:creationId xmlns:a16="http://schemas.microsoft.com/office/drawing/2014/main" id="{0B23F0B7-2764-5614-E99C-31C8AD479C20}"/>
              </a:ext>
            </a:extLst>
          </p:cNvPr>
          <p:cNvSpPr/>
          <p:nvPr/>
        </p:nvSpPr>
        <p:spPr>
          <a:xfrm flipV="1">
            <a:off x="7509658" y="3028783"/>
            <a:ext cx="106042" cy="106232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0" name="Line">
            <a:extLst>
              <a:ext uri="{FF2B5EF4-FFF2-40B4-BE49-F238E27FC236}">
                <a16:creationId xmlns:a16="http://schemas.microsoft.com/office/drawing/2014/main" id="{BD99EEB3-AB52-CCD7-0CC8-68F7334C7BC6}"/>
              </a:ext>
            </a:extLst>
          </p:cNvPr>
          <p:cNvSpPr/>
          <p:nvPr/>
        </p:nvSpPr>
        <p:spPr>
          <a:xfrm flipV="1">
            <a:off x="7603131" y="3031326"/>
            <a:ext cx="1" cy="101146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  <p:sp>
        <p:nvSpPr>
          <p:cNvPr id="41" name="Rectangle">
            <a:extLst>
              <a:ext uri="{FF2B5EF4-FFF2-40B4-BE49-F238E27FC236}">
                <a16:creationId xmlns:a16="http://schemas.microsoft.com/office/drawing/2014/main" id="{606D3A17-75F8-5D6F-B8C1-DD8604050C0E}"/>
              </a:ext>
            </a:extLst>
          </p:cNvPr>
          <p:cNvSpPr/>
          <p:nvPr/>
        </p:nvSpPr>
        <p:spPr>
          <a:xfrm>
            <a:off x="7511879" y="3146345"/>
            <a:ext cx="101601" cy="125108"/>
          </a:xfrm>
          <a:prstGeom prst="rect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</a:ln>
        </p:spPr>
        <p:txBody>
          <a:bodyPr lIns="46799" tIns="46799" rIns="46799" bIns="46799" anchor="ctr"/>
          <a:lstStyle/>
          <a:p>
            <a:endParaRPr/>
          </a:p>
        </p:txBody>
      </p:sp>
      <p:sp>
        <p:nvSpPr>
          <p:cNvPr id="42" name="x">
            <a:extLst>
              <a:ext uri="{FF2B5EF4-FFF2-40B4-BE49-F238E27FC236}">
                <a16:creationId xmlns:a16="http://schemas.microsoft.com/office/drawing/2014/main" id="{099EBFDC-6CB0-2F19-C5E4-45E2CBBFD0D8}"/>
              </a:ext>
            </a:extLst>
          </p:cNvPr>
          <p:cNvSpPr txBox="1"/>
          <p:nvPr/>
        </p:nvSpPr>
        <p:spPr>
          <a:xfrm>
            <a:off x="8130823" y="2193329"/>
            <a:ext cx="12700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r>
              <a:t>x</a:t>
            </a:r>
          </a:p>
        </p:txBody>
      </p:sp>
      <p:sp>
        <p:nvSpPr>
          <p:cNvPr id="43" name="y">
            <a:extLst>
              <a:ext uri="{FF2B5EF4-FFF2-40B4-BE49-F238E27FC236}">
                <a16:creationId xmlns:a16="http://schemas.microsoft.com/office/drawing/2014/main" id="{5C1F787F-FDF7-E2DE-7023-89CD2CB5BD46}"/>
              </a:ext>
            </a:extLst>
          </p:cNvPr>
          <p:cNvSpPr txBox="1"/>
          <p:nvPr/>
        </p:nvSpPr>
        <p:spPr>
          <a:xfrm>
            <a:off x="7327875" y="1743078"/>
            <a:ext cx="12700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r>
              <a:t>y</a:t>
            </a:r>
          </a:p>
        </p:txBody>
      </p:sp>
      <p:sp>
        <p:nvSpPr>
          <p:cNvPr id="44" name="z">
            <a:extLst>
              <a:ext uri="{FF2B5EF4-FFF2-40B4-BE49-F238E27FC236}">
                <a16:creationId xmlns:a16="http://schemas.microsoft.com/office/drawing/2014/main" id="{7C0F4A45-58A7-31F4-46A1-2051D22082EB}"/>
              </a:ext>
            </a:extLst>
          </p:cNvPr>
          <p:cNvSpPr txBox="1"/>
          <p:nvPr/>
        </p:nvSpPr>
        <p:spPr>
          <a:xfrm>
            <a:off x="8408479" y="3326461"/>
            <a:ext cx="1270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r>
              <a:t>z</a:t>
            </a:r>
          </a:p>
        </p:txBody>
      </p:sp>
      <p:sp>
        <p:nvSpPr>
          <p:cNvPr id="57" name="Text 7">
            <a:extLst>
              <a:ext uri="{FF2B5EF4-FFF2-40B4-BE49-F238E27FC236}">
                <a16:creationId xmlns:a16="http://schemas.microsoft.com/office/drawing/2014/main" id="{10B740DE-C6E2-A6E3-EB2F-829A1CB18E4A}"/>
              </a:ext>
            </a:extLst>
          </p:cNvPr>
          <p:cNvSpPr/>
          <p:nvPr/>
        </p:nvSpPr>
        <p:spPr>
          <a:xfrm>
            <a:off x="7830511" y="3493643"/>
            <a:ext cx="127315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580"/>
                </a:solidFill>
                <a:latin typeface="Calibri" pitchFamily="34" charset="0"/>
                <a:cs typeface="Calibri" pitchFamily="34" charset="-120"/>
              </a:rPr>
              <a:t>Particle beam</a:t>
            </a:r>
            <a:endParaRPr lang="en-US" sz="1200" dirty="0"/>
          </a:p>
        </p:txBody>
      </p:sp>
      <p:sp>
        <p:nvSpPr>
          <p:cNvPr id="58" name="Text 7">
            <a:extLst>
              <a:ext uri="{FF2B5EF4-FFF2-40B4-BE49-F238E27FC236}">
                <a16:creationId xmlns:a16="http://schemas.microsoft.com/office/drawing/2014/main" id="{6ADD0F3F-0786-138D-5E5E-CB30A2C12682}"/>
              </a:ext>
            </a:extLst>
          </p:cNvPr>
          <p:cNvSpPr/>
          <p:nvPr/>
        </p:nvSpPr>
        <p:spPr>
          <a:xfrm>
            <a:off x="6806369" y="1556735"/>
            <a:ext cx="127315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580"/>
                </a:solidFill>
                <a:latin typeface="Calibri" pitchFamily="34" charset="0"/>
                <a:cs typeface="Calibri" pitchFamily="34" charset="-120"/>
              </a:rPr>
              <a:t>Vertical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96165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DIVERGE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Neutrons vs. X-rays: key differences at a glance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48640" y="1691640"/>
          <a:ext cx="11064240" cy="27432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Neutrons  ·  McStas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X-rays  ·  McXtrace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particle — mass, spin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Massless electromagnetic wave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facility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Reactor or spallation 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Synchrotron or free-electron laser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scale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meV  (thermal / cold)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keV  (hard X-ray)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 interaction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 &amp; magnetic scattering; deep penetration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 scattering; surface-sensitive, strongly absorbed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9377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822960" y="493776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the same:  </a:t>
            </a: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ray-tracing method, the DSL, the component architecture, and the statistical-weight formalism are identical — only the physics inside the components differs.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Common Introduction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580"/>
                </a:solidFill>
                <a:latin typeface="Calibri"/>
                <a:ea typeface="Calibri" pitchFamily="34" charset="-122"/>
                <a:cs typeface="Calibri"/>
              </a:rPr>
              <a:t>11</a:t>
            </a:r>
            <a:endParaRPr lang="en-US" sz="900" dirty="0">
              <a:solidFill>
                <a:srgbClr val="6E7580"/>
              </a:solidFill>
              <a:latin typeface="Calibri"/>
              <a:cs typeface="Calibri"/>
            </a:endParaRPr>
          </a:p>
        </p:txBody>
      </p:sp>
      <p:pic>
        <p:nvPicPr>
          <p:cNvPr id="12" name="Copied Picture 12">
            <a:extLst>
              <a:ext uri="{FF2B5EF4-FFF2-40B4-BE49-F238E27FC236}">
                <a16:creationId xmlns:a16="http://schemas.microsoft.com/office/drawing/2014/main" id="{EDEC48BB-8467-1333-917D-E20FBFB776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19" t="16994"/>
          <a:stretch>
            <a:fillRect/>
          </a:stretch>
        </p:blipFill>
        <p:spPr>
          <a:xfrm>
            <a:off x="10375900" y="355600"/>
            <a:ext cx="1270000" cy="6515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04B1DE-7F70-086B-74A0-99C65F1DA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1083" y="6473952"/>
            <a:ext cx="2150018" cy="31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481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PRACTICALITIES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Open, portable, community-built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5" name="Text 3"/>
          <p:cNvSpPr/>
          <p:nvPr/>
        </p:nvSpPr>
        <p:spPr>
          <a:xfrm>
            <a:off x="548640" y="19933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license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both packages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6"/>
          <p:cNvSpPr/>
          <p:nvPr/>
        </p:nvSpPr>
        <p:spPr>
          <a:xfrm>
            <a:off x="3383280" y="19933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20440" y="26974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Platforms: Linux,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macOS, Windows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6217920" y="19933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175+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55080" y="26974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in the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shared-style libraries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2606040" cy="173736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4" name="Text 12"/>
          <p:cNvSpPr/>
          <p:nvPr/>
        </p:nvSpPr>
        <p:spPr>
          <a:xfrm>
            <a:off x="9052560" y="19933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30–40%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89720" y="26974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new components</a:t>
            </a:r>
            <a:endParaRPr lang="en-US" sz="11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from users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everywhere from a laptop to HPC clusters and GPUs (OpenACC) — the same generated C code, recompiled per target.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components automatically fit the framework once written in structured, standard C.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require at least one test instrument and a documented header — then they join the shared contrib/ library.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staff at DTU Physics maintain the core; a wider network of institutes and students keeps both libraries growing.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Common Introduction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580"/>
                </a:solidFill>
                <a:latin typeface="Calibri"/>
                <a:ea typeface="Calibri" pitchFamily="34" charset="-122"/>
                <a:cs typeface="Calibri"/>
              </a:rPr>
              <a:t>12</a:t>
            </a:r>
            <a:endParaRPr lang="en-US" sz="900" dirty="0">
              <a:solidFill>
                <a:srgbClr val="6E7580"/>
              </a:solidFill>
              <a:latin typeface="Calibri"/>
              <a:cs typeface="Calibri"/>
            </a:endParaRPr>
          </a:p>
        </p:txBody>
      </p:sp>
      <p:pic>
        <p:nvPicPr>
          <p:cNvPr id="19" name="Copied Picture 19">
            <a:extLst>
              <a:ext uri="{FF2B5EF4-FFF2-40B4-BE49-F238E27FC236}">
                <a16:creationId xmlns:a16="http://schemas.microsoft.com/office/drawing/2014/main" id="{EDEC48BB-8467-1333-917D-E20FBFB776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19" t="16994"/>
          <a:stretch>
            <a:fillRect/>
          </a:stretch>
        </p:blipFill>
        <p:spPr>
          <a:xfrm>
            <a:off x="10375900" y="355600"/>
            <a:ext cx="1270000" cy="65151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D5BCDE-F21F-AB07-6EEF-ADC3A3450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1083" y="6473952"/>
            <a:ext cx="2150018" cy="31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032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CORE TEAM, TWO NETWORKS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builds &amp; maintains them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core team at DTU Physics, plus partner institutes around each package.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McStas partner network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617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DTU Physics (core development)</a:t>
            </a:r>
          </a:p>
          <a:p>
            <a:pPr marL="177800" indent="-177800">
              <a:spcAft>
                <a:spcPts val="8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Spallation Source (ESS DMSC)</a:t>
            </a:r>
          </a:p>
          <a:p>
            <a:pPr marL="177800" indent="-177800">
              <a:spcAft>
                <a:spcPts val="800"/>
              </a:spcAft>
              <a:buSzPct val="100000"/>
              <a:buFontTx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Copenhagen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Laue-Langevin (ILL), Grenoble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Scherrer Institute (PSI)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McXtrace partner network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92240" y="2697480"/>
            <a:ext cx="4617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Synchrotron SOLEIL</a:t>
            </a:r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DTU Physics (core development)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Copenhagen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8592" y="572504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both codes benefit from the greater network of users across a plethora of use-cases and applications.</a:t>
            </a:r>
          </a:p>
          <a:p>
            <a:pPr marL="0" indent="0">
              <a:buNone/>
            </a:pPr>
            <a:endParaRPr lang="en-US" sz="1200" i="1" dirty="0">
              <a:solidFill>
                <a:srgbClr val="12506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i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developers work across both projects — shared infrastructure means fixes and features often benefit both codes at once.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Common Introduction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580"/>
                </a:solidFill>
                <a:latin typeface="Calibri"/>
                <a:ea typeface="Calibri" pitchFamily="34" charset="-122"/>
                <a:cs typeface="Calibri"/>
              </a:rPr>
              <a:t>13</a:t>
            </a:r>
            <a:endParaRPr lang="en-US" sz="900" dirty="0">
              <a:solidFill>
                <a:srgbClr val="6E7580"/>
              </a:solidFill>
              <a:latin typeface="Calibri"/>
              <a:cs typeface="Calibri"/>
            </a:endParaRPr>
          </a:p>
        </p:txBody>
      </p:sp>
      <p:pic>
        <p:nvPicPr>
          <p:cNvPr id="14" name="Copied Picture 14">
            <a:extLst>
              <a:ext uri="{FF2B5EF4-FFF2-40B4-BE49-F238E27FC236}">
                <a16:creationId xmlns:a16="http://schemas.microsoft.com/office/drawing/2014/main" id="{EDEC48BB-8467-1333-917D-E20FBFB776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19" t="16994"/>
          <a:stretch>
            <a:fillRect/>
          </a:stretch>
        </p:blipFill>
        <p:spPr>
          <a:xfrm>
            <a:off x="10375900" y="355600"/>
            <a:ext cx="1270000" cy="6515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DA9902F-AA15-C68A-6A33-61DC40FED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1083" y="6473952"/>
            <a:ext cx="2150018" cy="31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415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they used for?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5" name="Shape 3"/>
          <p:cNvSpPr/>
          <p:nvPr/>
        </p:nvSpPr>
        <p:spPr>
          <a:xfrm>
            <a:off x="1335024" y="2286000"/>
            <a:ext cx="512064" cy="51206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1335024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design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3520440"/>
            <a:ext cx="17556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and optimising new beamlines before they're built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98064" y="201168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Shape 8"/>
          <p:cNvSpPr/>
          <p:nvPr/>
        </p:nvSpPr>
        <p:spPr>
          <a:xfrm>
            <a:off x="3584448" y="2286000"/>
            <a:ext cx="512064" cy="51206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3584448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35224" y="297180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support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62656" y="3520440"/>
            <a:ext cx="17556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components and layouts during commissioning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47488" y="201168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5" name="Shape 13"/>
          <p:cNvSpPr/>
          <p:nvPr/>
        </p:nvSpPr>
        <p:spPr>
          <a:xfrm>
            <a:off x="5833872" y="2286000"/>
            <a:ext cx="512064" cy="51206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6" name="Text 14"/>
          <p:cNvSpPr/>
          <p:nvPr/>
        </p:nvSpPr>
        <p:spPr>
          <a:xfrm>
            <a:off x="5833872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84648" y="297180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experiments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3520440"/>
            <a:ext cx="17556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prospective users try an experiment before travelling to a facility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96912" y="201168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0" name="Shape 18"/>
          <p:cNvSpPr/>
          <p:nvPr/>
        </p:nvSpPr>
        <p:spPr>
          <a:xfrm>
            <a:off x="8083296" y="2286000"/>
            <a:ext cx="512064" cy="51206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1" name="Text 19"/>
          <p:cNvSpPr/>
          <p:nvPr/>
        </p:nvSpPr>
        <p:spPr>
          <a:xfrm>
            <a:off x="8083296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34072" y="297180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61504" y="3520440"/>
            <a:ext cx="17556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measured data against simulated instrument response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46336" y="201168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5" name="Shape 23"/>
          <p:cNvSpPr/>
          <p:nvPr/>
        </p:nvSpPr>
        <p:spPr>
          <a:xfrm>
            <a:off x="10332720" y="2286000"/>
            <a:ext cx="512064" cy="51206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6" name="Text 24"/>
          <p:cNvSpPr/>
          <p:nvPr/>
        </p:nvSpPr>
        <p:spPr>
          <a:xfrm>
            <a:off x="10332720" y="22860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83496" y="297180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10928" y="3520440"/>
            <a:ext cx="175564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students and new users in instrumentation &amp; scattering methods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communities use their code across the full lifecycle — from first sketch to published data.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Common Introduction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580"/>
                </a:solidFill>
                <a:latin typeface="Calibri"/>
                <a:ea typeface="Calibri" pitchFamily="34" charset="-122"/>
                <a:cs typeface="Calibri"/>
              </a:rPr>
              <a:t>14</a:t>
            </a:r>
            <a:endParaRPr lang="en-US" sz="900" dirty="0">
              <a:solidFill>
                <a:srgbClr val="6E7580"/>
              </a:solidFill>
              <a:latin typeface="Calibri"/>
              <a:cs typeface="Calibri"/>
            </a:endParaRPr>
          </a:p>
        </p:txBody>
      </p:sp>
      <p:pic>
        <p:nvPicPr>
          <p:cNvPr id="32" name="Copied Picture 32">
            <a:extLst>
              <a:ext uri="{FF2B5EF4-FFF2-40B4-BE49-F238E27FC236}">
                <a16:creationId xmlns:a16="http://schemas.microsoft.com/office/drawing/2014/main" id="{EDEC48BB-8467-1333-917D-E20FBFB776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19" t="16994"/>
          <a:stretch>
            <a:fillRect/>
          </a:stretch>
        </p:blipFill>
        <p:spPr>
          <a:xfrm>
            <a:off x="10375900" y="355600"/>
            <a:ext cx="1270000" cy="65151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D9C0426-238B-D590-F351-4C81B974E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1083" y="6473952"/>
            <a:ext cx="2150018" cy="31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305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shared, interoperable ecosystem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5" name="Shape 3"/>
          <p:cNvSpPr/>
          <p:nvPr/>
        </p:nvSpPr>
        <p:spPr>
          <a:xfrm>
            <a:off x="822960" y="2039112"/>
            <a:ext cx="457200" cy="457200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822960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0574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679192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Monte Carlo Particle List format lets McStas, McXtrace and other transport codes (MCNP, Geant4, PHITS, …) exchange rays and couple simulations together.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Shape 8"/>
          <p:cNvSpPr/>
          <p:nvPr/>
        </p:nvSpPr>
        <p:spPr>
          <a:xfrm>
            <a:off x="6492240" y="2039112"/>
            <a:ext cx="457200" cy="457200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6492240" y="2039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20574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interface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679192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Python-based GUI supports building, running and browsing results for instruments in either code.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Shape 13"/>
          <p:cNvSpPr/>
          <p:nvPr/>
        </p:nvSpPr>
        <p:spPr>
          <a:xfrm>
            <a:off x="822960" y="4279392"/>
            <a:ext cx="457200" cy="457200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6" name="Text 14"/>
          <p:cNvSpPr/>
          <p:nvPr/>
        </p:nvSpPr>
        <p:spPr>
          <a:xfrm>
            <a:off x="822960" y="4279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2976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tools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919472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plotting toolchain (HTML/D3, pyqtgraph, matplotlib backends) visualises monitor output from both packages.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40233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0" name="Shape 18"/>
          <p:cNvSpPr/>
          <p:nvPr/>
        </p:nvSpPr>
        <p:spPr>
          <a:xfrm>
            <a:off x="6492240" y="4279392"/>
            <a:ext cx="457200" cy="457200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1" name="Text 19"/>
          <p:cNvSpPr/>
          <p:nvPr/>
        </p:nvSpPr>
        <p:spPr>
          <a:xfrm>
            <a:off x="6492240" y="4279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42976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4919472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Conda-forge distributions and cross-platform installers keep both codes easy to install on Linux, macOS and Windows.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Common Introduction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580"/>
                </a:solidFill>
                <a:latin typeface="Calibri"/>
                <a:ea typeface="Calibri" pitchFamily="34" charset="-122"/>
                <a:cs typeface="Calibri"/>
              </a:rPr>
              <a:t>15</a:t>
            </a:r>
            <a:endParaRPr lang="en-US" sz="900" dirty="0">
              <a:solidFill>
                <a:srgbClr val="6E7580"/>
              </a:solidFill>
              <a:latin typeface="Calibri"/>
              <a:cs typeface="Calibri"/>
            </a:endParaRPr>
          </a:p>
        </p:txBody>
      </p:sp>
      <p:pic>
        <p:nvPicPr>
          <p:cNvPr id="26" name="Copied Picture 26">
            <a:extLst>
              <a:ext uri="{FF2B5EF4-FFF2-40B4-BE49-F238E27FC236}">
                <a16:creationId xmlns:a16="http://schemas.microsoft.com/office/drawing/2014/main" id="{EDEC48BB-8467-1333-917D-E20FBFB776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19" t="16994"/>
          <a:stretch>
            <a:fillRect/>
          </a:stretch>
        </p:blipFill>
        <p:spPr>
          <a:xfrm>
            <a:off x="10375900" y="355600"/>
            <a:ext cx="1270000" cy="65151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3ABE5C9-C836-CE70-22F6-870297E24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1083" y="6473952"/>
            <a:ext cx="2150018" cy="31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245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go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McStas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mcstas.org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35584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MAILING LIST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63016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mcstas-users@mcstas.org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4105656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4379976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conda-forge  ·  cross-platform installers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4855464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5129784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—  McStasMcXtrace/McCode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182880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Text 13"/>
          <p:cNvSpPr/>
          <p:nvPr/>
        </p:nvSpPr>
        <p:spPr>
          <a:xfrm>
            <a:off x="6492240" y="20574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McXtrace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260604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0" y="28803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mcxtrace.org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3355848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MAILING LIST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0" y="363016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mcxtrace-users@mcxtrace.org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92240" y="4105656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0" y="4379976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conda-forge  ·  cross-platform installers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92240" y="4855464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92240" y="5129784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—  McStasMcXtrace/McCode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Common Introduction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580"/>
                </a:solidFill>
                <a:latin typeface="Calibri"/>
                <a:ea typeface="Calibri" pitchFamily="34" charset="-122"/>
                <a:cs typeface="Calibri"/>
              </a:rPr>
              <a:t>16</a:t>
            </a:r>
            <a:endParaRPr lang="en-US" sz="900" dirty="0">
              <a:solidFill>
                <a:srgbClr val="6E7580"/>
              </a:solidFill>
              <a:latin typeface="Calibri"/>
              <a:cs typeface="Calibri"/>
            </a:endParaRPr>
          </a:p>
        </p:txBody>
      </p:sp>
      <p:pic>
        <p:nvPicPr>
          <p:cNvPr id="26" name="Copied Picture 26">
            <a:extLst>
              <a:ext uri="{FF2B5EF4-FFF2-40B4-BE49-F238E27FC236}">
                <a16:creationId xmlns:a16="http://schemas.microsoft.com/office/drawing/2014/main" id="{EDEC48BB-8467-1333-917D-E20FBFB776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19" t="16994"/>
          <a:stretch>
            <a:fillRect/>
          </a:stretch>
        </p:blipFill>
        <p:spPr>
          <a:xfrm>
            <a:off x="10375900" y="355600"/>
            <a:ext cx="1270000" cy="65151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AA0D806-09E9-8869-198B-D701EF031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1083" y="6473952"/>
            <a:ext cx="2150018" cy="31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855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mcstas.org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42976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7"/>
          <p:cNvSpPr/>
          <p:nvPr/>
        </p:nvSpPr>
        <p:spPr>
          <a:xfrm>
            <a:off x="2377440" y="429768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mcxtrace.org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5806440"/>
            <a:ext cx="2926080" cy="0"/>
          </a:xfrm>
          <a:prstGeom prst="line">
            <a:avLst/>
          </a:prstGeom>
          <a:noFill/>
          <a:ln w="12700">
            <a:solidFill>
              <a:srgbClr val="3C4A8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822960" y="5897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Willendrup   ·   pkwi@fysik.dtu.dk   ·   DTU Physics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Common Introduction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580"/>
                </a:solidFill>
                <a:latin typeface="Calibri"/>
                <a:ea typeface="Calibri" pitchFamily="34" charset="-122"/>
                <a:cs typeface="Calibri"/>
              </a:rPr>
              <a:t>17</a:t>
            </a:r>
            <a:endParaRPr lang="en-US" sz="900" dirty="0">
              <a:solidFill>
                <a:srgbClr val="6E7580"/>
              </a:solidFill>
              <a:latin typeface="Calibri"/>
              <a:cs typeface="Calibri"/>
            </a:endParaRPr>
          </a:p>
        </p:txBody>
      </p:sp>
      <p:sp>
        <p:nvSpPr>
          <p:cNvPr id="14" name="PartnerCard">
            <a:extLst>
              <a:ext uri="{FF2B5EF4-FFF2-40B4-BE49-F238E27FC236}">
                <a16:creationId xmlns:a16="http://schemas.microsoft.com/office/drawing/2014/main" id="{56CF4BB5-77D7-E44A-AC6F-CB2B36EE64FF}"/>
              </a:ext>
            </a:extLst>
          </p:cNvPr>
          <p:cNvSpPr/>
          <p:nvPr/>
        </p:nvSpPr>
        <p:spPr>
          <a:xfrm>
            <a:off x="6604000" y="4165600"/>
            <a:ext cx="4953000" cy="15748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K"/>
          </a:p>
        </p:txBody>
      </p:sp>
      <p:sp>
        <p:nvSpPr>
          <p:cNvPr id="15" name="PartnerLabel">
            <a:extLst>
              <a:ext uri="{FF2B5EF4-FFF2-40B4-BE49-F238E27FC236}">
                <a16:creationId xmlns:a16="http://schemas.microsoft.com/office/drawing/2014/main" id="{A4D07EA8-407F-3B42-9B3B-F3044103BC88}"/>
              </a:ext>
            </a:extLst>
          </p:cNvPr>
          <p:cNvSpPr txBox="1"/>
          <p:nvPr/>
        </p:nvSpPr>
        <p:spPr>
          <a:xfrm>
            <a:off x="6921500" y="4368800"/>
            <a:ext cx="431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100" b="1">
                <a:solidFill>
                  <a:srgbClr val="1C7293"/>
                </a:solidFill>
                <a:latin typeface="Calibri"/>
                <a:cs typeface="Calibri"/>
              </a:rPr>
              <a:t>SUPPORTED BY</a:t>
            </a:r>
            <a:endParaRPr lang="en-DK" sz="1100" b="1">
              <a:solidFill>
                <a:srgbClr val="1C7293"/>
              </a:solidFill>
              <a:latin typeface="Calibri"/>
              <a:cs typeface="Calibr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5B36919-269A-C72C-8860-71E614353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00" y="4749800"/>
            <a:ext cx="4318000" cy="640609"/>
          </a:xfrm>
          <a:prstGeom prst="rect">
            <a:avLst/>
          </a:prstGeom>
        </p:spPr>
      </p:pic>
      <p:pic>
        <p:nvPicPr>
          <p:cNvPr id="17" name="Copied Picture 17">
            <a:extLst>
              <a:ext uri="{FF2B5EF4-FFF2-40B4-BE49-F238E27FC236}">
                <a16:creationId xmlns:a16="http://schemas.microsoft.com/office/drawing/2014/main" id="{EDEC48BB-8467-1333-917D-E20FBFB776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719" t="16994"/>
          <a:stretch>
            <a:fillRect/>
          </a:stretch>
        </p:blipFill>
        <p:spPr>
          <a:xfrm>
            <a:off x="10375900" y="355600"/>
            <a:ext cx="1270000" cy="65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940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cStas_McXtrace_Common_Introduction" id="{5F94ABFD-5182-BC41-84EB-902932F6BE43}" vid="{BC8BECC1-EEDE-3D40-9020-2FF048A749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91AA810-CEB2-B14A-A7FD-A5C4FE3BE734}">
  <we:reference id="wa200010001" version="1.0.0.1" store="en-GB" storeType="OMEX"/>
  <we:alternateReferences>
    <we:reference id="WA200010001" version="1.0.0.1" store="WA200010001" storeType="OMEX"/>
  </we:alternateReferences>
  <we:properties>
    <we:property name="claude.fileId" value="&quot;1ed95ab4-71bb-4cdb-a98c-82b69db493b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1686</Words>
  <Application>Microsoft Macintosh PowerPoint</Application>
  <PresentationFormat>Widescreen</PresentationFormat>
  <Paragraphs>318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Peter Willendrup</cp:lastModifiedBy>
  <cp:revision>11</cp:revision>
  <dcterms:created xsi:type="dcterms:W3CDTF">2026-08-07T06:27:43Z</dcterms:created>
  <dcterms:modified xsi:type="dcterms:W3CDTF">2026-08-17T11:42:21Z</dcterms:modified>
</cp:coreProperties>
</file>