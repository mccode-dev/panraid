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92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6447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INTRODUCTION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&amp; McXtrace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635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ray-tracing for neutron and X-ray instrumentation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822960" y="41605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77440" y="41605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2377440" y="416052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822960" y="5897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DTU Physics</a:t>
            </a:r>
            <a:endParaRPr lang="en-US" sz="1250" dirty="0"/>
          </a:p>
        </p:txBody>
      </p:sp>
      <p:sp>
        <p:nvSpPr>
          <p:cNvPr id="13" name="LogoCard">
            <a:extLst>
              <a:ext uri="{FF2B5EF4-FFF2-40B4-BE49-F238E27FC236}">
                <a16:creationId xmlns:a16="http://schemas.microsoft.com/office/drawing/2014/main" id="{A327E844-7C40-5A40-9D78-CA88F6D9D8E6}"/>
              </a:ext>
            </a:extLst>
          </p:cNvPr>
          <p:cNvSpPr/>
          <p:nvPr/>
        </p:nvSpPr>
        <p:spPr>
          <a:xfrm>
            <a:off x="7429500" y="3759200"/>
            <a:ext cx="3810000" cy="1498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DK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6DBB71B-0EDB-27E8-F7F5-7BBCD5423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9700" y="4019550"/>
            <a:ext cx="3149600" cy="979381"/>
          </a:xfrm>
          <a:prstGeom prst="rect">
            <a:avLst/>
          </a:prstGeom>
        </p:spPr>
      </p:pic>
      <p:sp>
        <p:nvSpPr>
          <p:cNvPr id="15" name="SchoolCredit">
            <a:extLst>
              <a:ext uri="{FF2B5EF4-FFF2-40B4-BE49-F238E27FC236}">
                <a16:creationId xmlns:a16="http://schemas.microsoft.com/office/drawing/2014/main" id="{0DE3B876-929B-9046-A5F4-769DEE16FD59}"/>
              </a:ext>
            </a:extLst>
          </p:cNvPr>
          <p:cNvSpPr txBox="1"/>
          <p:nvPr/>
        </p:nvSpPr>
        <p:spPr>
          <a:xfrm>
            <a:off x="7429500" y="538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GB" sz="1300">
                <a:solidFill>
                  <a:srgbClr val="C9D2EE"/>
                </a:solidFill>
                <a:latin typeface="Calibri"/>
                <a:cs typeface="Calibri"/>
              </a:rPr>
              <a:t>PaNRAID School  ·  supported by PEPR DIADEM</a:t>
            </a:r>
            <a:endParaRPr lang="en-DK" sz="1300">
              <a:solidFill>
                <a:srgbClr val="C9D2EE"/>
              </a:solidFill>
              <a:latin typeface="Calibri"/>
              <a:cs typeface="Calibri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719" t="16994"/>
          <a:stretch>
            <a:fillRect/>
          </a:stretch>
        </p:blipFill>
        <p:spPr>
          <a:xfrm>
            <a:off x="825500" y="457200"/>
            <a:ext cx="1397000" cy="717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26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200" b="1" kern="0" spc="200" dirty="0">
                <a:solidFill>
                  <a:srgbClr val="1C7293"/>
                </a:solidFill>
                <a:latin typeface="Calibri" pitchFamily="34" charset="0"/>
              </a:rPr>
              <a:t>PANRAID SCHOOL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GB" sz="3000" b="1" dirty="0">
                <a:solidFill>
                  <a:srgbClr val="20242B"/>
                </a:solidFill>
                <a:latin typeface="Cambria" pitchFamily="34" charset="0"/>
              </a:rPr>
              <a:t>Who's behind this school</a:t>
            </a:r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C83A9-DC29-E8F4-1725-71B6CFEFA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51000"/>
            <a:ext cx="7874000" cy="14439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00002C-2D68-DA76-EFBA-50ABFFBCA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99000"/>
            <a:ext cx="7874000" cy="1168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28F40B-DAB0-0948-B03C-9894F69A4E07}"/>
              </a:ext>
            </a:extLst>
          </p:cNvPr>
          <p:cNvSpPr txBox="1"/>
          <p:nvPr/>
        </p:nvSpPr>
        <p:spPr>
          <a:xfrm>
            <a:off x="548640" y="3327400"/>
            <a:ext cx="104140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GB" sz="1600">
                <a:solidFill>
                  <a:srgbClr val="4A5160"/>
                </a:solidFill>
                <a:latin typeface="Calibri"/>
                <a:cs typeface="Calibri"/>
              </a:rPr>
              <a:t>PaNRAID is organised with support from the France 2030 PEPR DIADEM programme, training researchers to combine McStas and McXtrace ray-tracing simulations with AI methods.</a:t>
            </a:r>
            <a:endParaRPr lang="en-DK" sz="1600">
              <a:solidFill>
                <a:srgbClr val="4A5160"/>
              </a:solidFill>
              <a:latin typeface="Calibri"/>
              <a:cs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FCDD69-F709-B442-84B6-540523A95D06}"/>
              </a:ext>
            </a:extLst>
          </p:cNvPr>
          <p:cNvSpPr txBox="1"/>
          <p:nvPr/>
        </p:nvSpPr>
        <p:spPr>
          <a:xfrm>
            <a:off x="548640" y="4216400"/>
            <a:ext cx="889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GB" sz="1200" b="1">
                <a:solidFill>
                  <a:srgbClr val="1C7293"/>
                </a:solidFill>
                <a:latin typeface="Calibri"/>
                <a:cs typeface="Calibri"/>
              </a:rPr>
              <a:t>PARTNERS &amp; SUPPORTING ORGANISATIONS</a:t>
            </a:r>
            <a:endParaRPr lang="en-DK" sz="1200" b="1">
              <a:solidFill>
                <a:srgbClr val="1C7293"/>
              </a:solidFill>
              <a:latin typeface="Calibri"/>
              <a:cs typeface="Calibri"/>
            </a:endParaRPr>
          </a:p>
        </p:txBody>
      </p:sp>
      <p:pic>
        <p:nvPicPr>
          <p:cNvPr id="30" name="Copied Picture 30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807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166420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origins &amp; philosophy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78992" y="202082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family, two physics engines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63550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85432" y="166420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Monte Carlo ray-tracing idea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85432" y="202082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rays, weights, and randomness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78992" y="308152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simulation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78992" y="34381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Instruments, components, and the ray state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15468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85432" y="308152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885432" y="343814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DSL, code generation, and coordinate placement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384048" cy="384048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/>
          <p:cNvSpPr/>
          <p:nvPr/>
        </p:nvSpPr>
        <p:spPr>
          <a:xfrm>
            <a:off x="548640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78992" y="449884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Neutrons vs. X-rays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078992" y="485546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two probes really differ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55080" y="4572000"/>
            <a:ext cx="384048" cy="384048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3"/>
          <p:cNvSpPr/>
          <p:nvPr/>
        </p:nvSpPr>
        <p:spPr>
          <a:xfrm>
            <a:off x="6355080" y="4572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85432" y="449884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Community, use &amp; getting started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885432" y="4855464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License, ecosystem, and next steps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3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0" name="Copied Picture 30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473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ORIGINS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family, two probes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was built on proven McStas technology — same architecture, adapted for X-rays.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005840" y="3246120"/>
            <a:ext cx="10149840" cy="0"/>
          </a:xfrm>
          <a:prstGeom prst="line">
            <a:avLst/>
          </a:prstGeom>
          <a:noFill/>
          <a:ln w="254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1362456" y="3145536"/>
            <a:ext cx="201168" cy="20116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77724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is born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Nielsen &amp; K. Lefmann, Risø.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for triple-axis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simulation.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62856" y="3145536"/>
            <a:ext cx="201168" cy="20116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397764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into a general tool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1188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by DTU Physics, ILL,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PSI, University of Copenhagen,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 DMSC. GPL open source.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54696" y="3145536"/>
            <a:ext cx="201168" cy="201168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726948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forks off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90372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“Powered by McStas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technology.” Re-targeted at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optics &amp; beamlines.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780776" y="3145536"/>
            <a:ext cx="201168" cy="201168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9" name="Text 17"/>
          <p:cNvSpPr/>
          <p:nvPr/>
        </p:nvSpPr>
        <p:spPr>
          <a:xfrm>
            <a:off x="10195560" y="26791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829800" y="3447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development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29800" y="3959352"/>
            <a:ext cx="2103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kernel philosophy,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physics &amp; component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libraries, active communities.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80644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3" name="Text 21"/>
          <p:cNvSpPr/>
          <p:nvPr/>
        </p:nvSpPr>
        <p:spPr>
          <a:xfrm>
            <a:off x="777240" y="580644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Commonality: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domain-specific language, same component-based architecture, same open, community-driven development model.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4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797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 ray-tracing, in a nutshell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method born at Los Alamos in the 1940s </a:t>
            </a:r>
            <a:r>
              <a:rPr lang="en-US" sz="13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(von Neumann, Ulam, Metropolis)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solving particle-transport problems by numerical experiment.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486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codes trace many independent rays (neutrons or photons) one at a time through the instrument.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in free space is deterministic — straight lines (plus gravity, for slow neutrons).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physics is probabilistic — scattering, absorption, reflection — outcomes are Monte Carlo sampled.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ray carries a statistical weight rather than representing one real particle, so rare but important events can be sampled efficiently.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92240" y="1737360"/>
            <a:ext cx="516636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6492240" y="1901952"/>
            <a:ext cx="5166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ray, one weight at a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949440" y="438912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7"/>
          <p:cNvSpPr/>
          <p:nvPr/>
        </p:nvSpPr>
        <p:spPr>
          <a:xfrm>
            <a:off x="8321040" y="3383280"/>
            <a:ext cx="1463040" cy="822960"/>
          </a:xfrm>
          <a:prstGeom prst="line">
            <a:avLst/>
          </a:prstGeom>
          <a:noFill/>
          <a:ln w="25400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10" name="Shape 8"/>
          <p:cNvSpPr/>
          <p:nvPr/>
        </p:nvSpPr>
        <p:spPr>
          <a:xfrm>
            <a:off x="9784080" y="42062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Shape 9"/>
          <p:cNvSpPr/>
          <p:nvPr/>
        </p:nvSpPr>
        <p:spPr>
          <a:xfrm>
            <a:off x="6867144" y="430682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6126480" y="451713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38744" y="3300984"/>
            <a:ext cx="164592" cy="164592"/>
          </a:xfrm>
          <a:prstGeom prst="ellipse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 (p × 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701784" y="4123944"/>
            <a:ext cx="164592" cy="164592"/>
          </a:xfrm>
          <a:prstGeom prst="ellipse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8961120" y="433425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(p × σ)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073384" y="3118104"/>
            <a:ext cx="164592" cy="164592"/>
          </a:xfrm>
          <a:prstGeom prst="ellipse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8" name="Text 16"/>
          <p:cNvSpPr/>
          <p:nvPr/>
        </p:nvSpPr>
        <p:spPr>
          <a:xfrm>
            <a:off x="10332720" y="332841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2280" y="4983480"/>
            <a:ext cx="4526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p is adjusted multiplicatively at every interaction — the physical result is recovered statistically over many rays.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5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2" name="Copied Picture 2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000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simulation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instrument is an ordered chain of components in a shared lab coordinate system. Rays flow through it, changing state at each stop.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548640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rays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35224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9" name="Shape 7"/>
          <p:cNvSpPr/>
          <p:nvPr/>
        </p:nvSpPr>
        <p:spPr>
          <a:xfrm>
            <a:off x="3469538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3469538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Optics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69538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the beam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856122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3" name="Shape 11"/>
          <p:cNvSpPr/>
          <p:nvPr/>
        </p:nvSpPr>
        <p:spPr>
          <a:xfrm>
            <a:off x="6390437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6390437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90437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of interest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777021" y="3429000"/>
            <a:ext cx="47945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7" name="Shape 15"/>
          <p:cNvSpPr/>
          <p:nvPr/>
        </p:nvSpPr>
        <p:spPr>
          <a:xfrm>
            <a:off x="9311335" y="2743200"/>
            <a:ext cx="2331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8" name="Text 16"/>
          <p:cNvSpPr/>
          <p:nvPr/>
        </p:nvSpPr>
        <p:spPr>
          <a:xfrm>
            <a:off x="9311335" y="299923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11335" y="3493008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result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lab coordinate system.   </a:t>
            </a: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devices/features available in the instrument, each with its own function.   </a:t>
            </a: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from one component to the next, changing state along the way.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chain — and the DSL that describes it — is identical in McStas and McXtrace.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6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4" name="Copied Picture 24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365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COMMONALITY &amp;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travels through the beamline: the ray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868680" y="1801368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Neutron ray  ·  McStas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2377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(x, y, z)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65960" y="2926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vector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65960" y="34747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023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/ polarisation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572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65960" y="4572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weight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60020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6492240" y="1801368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Photon ray  ·  McXtrace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92240" y="237744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589520" y="2377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(x, y, z)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292608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9520" y="29260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vector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347472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φ, 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89520" y="34747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&amp; polarisation (E-field)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02336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89520" y="4023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4572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0" y="45720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weight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different carrier:  </a:t>
            </a: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rays are position + time + statistical weight. The neutron adds mass, velocity and spin; the photon adds a wave vector, phase and field polarisation.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7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2" name="Copied Picture 3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340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TAXONOMY, DIFFERENT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classes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instrument, in either code, is built from the same four component classes.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48640" y="1920240"/>
          <a:ext cx="11064240" cy="32918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 (neutrons)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 (X-rays)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Reactor / spallation moderator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Undulator, wiggler, bending magnet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Guides, mirrors, choppers, collimators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Mirrors, monochromator crystals, multilayers, slits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Powders, crystals, liquids, magnetism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Powders, crystals, multilayers, absorbing phantoms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 / histograms / event lists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 / histograms / event lists  (same concept)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components: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set, manipulate, or measure the state of the ray — and each is written as a self-contained, reusable code module.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5" name="Text 5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8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9" name="Copied Picture 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9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instrument file to running simulation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.instr file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DSL describing the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(readable text)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2384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8" name="Shape 6"/>
          <p:cNvSpPr/>
          <p:nvPr/>
        </p:nvSpPr>
        <p:spPr>
          <a:xfrm>
            <a:off x="3423818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3423818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60978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 &amp; Yacc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 technology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7562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10"/>
          <p:cNvSpPr/>
          <p:nvPr/>
        </p:nvSpPr>
        <p:spPr>
          <a:xfrm>
            <a:off x="6298997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6298997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C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36157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ISO-C code,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you use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22741" y="2491740"/>
            <a:ext cx="29657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6" name="Shape 14"/>
          <p:cNvSpPr/>
          <p:nvPr/>
        </p:nvSpPr>
        <p:spPr>
          <a:xfrm>
            <a:off x="9174175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9174175" y="20939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311335" y="24414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for your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7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&amp; hardware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toolchain in both codes — the DSL grammar and code generator are shared.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48640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levels of code, three audiences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3" name="Shape 21"/>
          <p:cNvSpPr/>
          <p:nvPr/>
        </p:nvSpPr>
        <p:spPr>
          <a:xfrm>
            <a:off x="548640" y="4206240"/>
            <a:ext cx="3611880" cy="73152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file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7724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USERS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examples, GUI-assisted, or written from scratch in the DSL.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9768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8" name="Shape 26"/>
          <p:cNvSpPr/>
          <p:nvPr/>
        </p:nvSpPr>
        <p:spPr>
          <a:xfrm>
            <a:off x="4297680" y="4206240"/>
            <a:ext cx="3611880" cy="73152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452628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file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52628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USERS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52628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self-contained C code — easy to modify from an existing component.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046720" y="420624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33" name="Shape 31"/>
          <p:cNvSpPr/>
          <p:nvPr/>
        </p:nvSpPr>
        <p:spPr>
          <a:xfrm>
            <a:off x="8046720" y="4206240"/>
            <a:ext cx="3611880" cy="73152"/>
          </a:xfrm>
          <a:prstGeom prst="rect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4" name="Text 32"/>
          <p:cNvSpPr/>
          <p:nvPr/>
        </p:nvSpPr>
        <p:spPr>
          <a:xfrm>
            <a:off x="8275320" y="440740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275320" y="473659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DEV TEAM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275320" y="5102352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Propagation, intersections, and the runtime library shared by all components.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9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9" name="Copied Picture 3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876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SYNTAX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components in space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is placed with the same two statements, in both codes: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66928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5120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(x, y, z) RELATIVE &lt;ref&gt;
</a:t>
            </a:r>
            <a:r>
              <a:rPr lang="en-US" sz="150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ROTATED (rx, ry, rz) RELATIVE &lt;ref&gt;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&lt;ref&gt; can be ABSOLUTE (the lab frame), another component's name, or PREVIOUS.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runs along the beam, y is vertical, x completes a right-handed frame.</a:t>
            </a:r>
            <a:endParaRPr lang="en-US" sz="12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authors choose whatever local origin is physically natural — the kernel handles the coordinate transforms between them.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75120" y="1554480"/>
            <a:ext cx="4937760" cy="457200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6675120" y="1737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Right-handed lab frame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418320" y="4023360"/>
            <a:ext cx="1828800" cy="0"/>
          </a:xfrm>
          <a:prstGeom prst="line">
            <a:avLst/>
          </a:prstGeom>
          <a:noFill/>
          <a:ln w="2857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10607040" y="4096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 (beam)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18320" y="4023360"/>
            <a:ext cx="0" cy="0"/>
          </a:xfrm>
          <a:prstGeom prst="line">
            <a:avLst/>
          </a:prstGeom>
          <a:noFill/>
          <a:ln w="28575">
            <a:solidFill>
              <a:srgbClr val="D97A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891540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 (vertical)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418320" y="4023360"/>
            <a:ext cx="0" cy="914400"/>
          </a:xfrm>
          <a:prstGeom prst="line">
            <a:avLst/>
          </a:prstGeom>
          <a:noFill/>
          <a:ln w="28575">
            <a:solidFill>
              <a:srgbClr val="20242B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7818120" y="49377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63456" y="3968496"/>
            <a:ext cx="109728" cy="109728"/>
          </a:xfrm>
          <a:prstGeom prst="ellipse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10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9" name="Copied Picture 1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165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DIVERGE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Neutrons vs. X-rays: key differences at a glance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48640" y="1691640"/>
          <a:ext cx="11064240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Neutrons  ·  McStas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X-rays  ·  McXtrace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particle — mass, spin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Massless electromagnetic wave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facility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Reactor or spallation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Synchrotron or free-electron laser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scale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meV  (thermal / cold)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  (hard X-ray)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interaction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&amp; magnetic scattering; deep penetration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 scattering; surface-sensitive, strongly absorbed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22960" y="49377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same: 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ray-tracing method, the DSL, the component architecture, and the statistical-weight formalism are identical — only the physics inside the components differs.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11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2" name="Copied Picture 1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48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PRACTICALITIES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Open, portable, community-built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54864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license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both packages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338328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2044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Platforms: Linux,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macOS, Windows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21792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5508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in the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shared-style libraries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2"/>
          <p:cNvSpPr/>
          <p:nvPr/>
        </p:nvSpPr>
        <p:spPr>
          <a:xfrm>
            <a:off x="9052560" y="1993392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30–40%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89720" y="26974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new components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from users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everywhere from a laptop to HPC clusters and GPUs (OpenACC) — the same generated C code, recompiled per target.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components automatically fit the framework once written in structured, standard C.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 require at least one test instrument and a documented header — then they join the shared contrib/ library.</a:t>
            </a:r>
            <a:endParaRPr lang="en-US" sz="12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staff at DTU Physics maintain the core; a wider network of institutes and students keeps both libraries growing.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12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9" name="Copied Picture 19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032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CORE TEAM, TWO NETWORKS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builds &amp; maintains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core team at DTU Physics, plus partner institutes around each package.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6868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partner network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Physics (core development)</a:t>
            </a:r>
          </a:p>
          <a:p>
            <a:pPr marL="177800" indent="-177800">
              <a:spcAft>
                <a:spcPts val="8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Spallation Source (ESS DMSC)</a:t>
            </a:r>
          </a:p>
          <a:p>
            <a:pPr marL="177800" indent="-177800">
              <a:spcAft>
                <a:spcPts val="8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Copenhagen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Laue-Langevin (ILL), Grenoble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Scherrer Institute (PSI)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 partner network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6177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Synchrotron SOLEIL</a:t>
            </a:r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Physics (core development)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Copenhagen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8592" y="572504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both codes benefit from the greater network of users across a plethora of use-cases and applications.</a:t>
            </a:r>
          </a:p>
          <a:p>
            <a:pPr marL="0" indent="0">
              <a:buNone/>
            </a:pPr>
            <a:endParaRPr lang="en-US" sz="1200" i="1" dirty="0">
              <a:solidFill>
                <a:srgbClr val="12506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i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developers work across both projects — shared infrastructure means fixes and features often benefit both codes at once.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13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415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used for?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1335024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1335024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and optimising new beamlines before they're built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98064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Shape 8"/>
          <p:cNvSpPr/>
          <p:nvPr/>
        </p:nvSpPr>
        <p:spPr>
          <a:xfrm>
            <a:off x="3584448" y="2286000"/>
            <a:ext cx="512064" cy="51206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3584448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935224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support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62656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Verifying components and layouts during commissioning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47488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5" name="Shape 13"/>
          <p:cNvSpPr/>
          <p:nvPr/>
        </p:nvSpPr>
        <p:spPr>
          <a:xfrm>
            <a:off x="5833872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5833872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84648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experiments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Letting prospective users try an experiment before travelling to a facility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296912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0" name="Shape 18"/>
          <p:cNvSpPr/>
          <p:nvPr/>
        </p:nvSpPr>
        <p:spPr>
          <a:xfrm>
            <a:off x="8083296" y="2286000"/>
            <a:ext cx="512064" cy="51206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/>
          <p:cNvSpPr/>
          <p:nvPr/>
        </p:nvSpPr>
        <p:spPr>
          <a:xfrm>
            <a:off x="8083296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34072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61504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measured data against simulated instrument response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546336" y="201168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5" name="Shape 23"/>
          <p:cNvSpPr/>
          <p:nvPr/>
        </p:nvSpPr>
        <p:spPr>
          <a:xfrm>
            <a:off x="10332720" y="2286000"/>
            <a:ext cx="512064" cy="51206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6" name="Text 24"/>
          <p:cNvSpPr/>
          <p:nvPr/>
        </p:nvSpPr>
        <p:spPr>
          <a:xfrm>
            <a:off x="10332720" y="22860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83496" y="297180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10928" y="3520440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students and new users in instrumentation &amp; scattering methods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communities use their code across the full lifecycle — from first sketch to published data.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14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32" name="Copied Picture 32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305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shared, interoperable ecosystem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Shape 3"/>
          <p:cNvSpPr/>
          <p:nvPr/>
        </p:nvSpPr>
        <p:spPr>
          <a:xfrm>
            <a:off x="822960" y="2039112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822960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67919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Monte Carlo Particle List format lets McStas, McXtrace and other transport codes (MCNP, Geant4, PHITS, …) exchange rays and couple simulations together.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Shape 8"/>
          <p:cNvSpPr/>
          <p:nvPr/>
        </p:nvSpPr>
        <p:spPr>
          <a:xfrm>
            <a:off x="6492240" y="2039112"/>
            <a:ext cx="457200" cy="457200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492240" y="2039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interface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67919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Python-based GUI supports building, running and browsing results for instruments in either code.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3"/>
          <p:cNvSpPr/>
          <p:nvPr/>
        </p:nvSpPr>
        <p:spPr>
          <a:xfrm>
            <a:off x="822960" y="4279392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822960" y="4279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297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tools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491947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plotting toolchain (HTML/D3, pyqtgraph, matplotlib backends) visualises monitor output from both packages.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Shape 18"/>
          <p:cNvSpPr/>
          <p:nvPr/>
        </p:nvSpPr>
        <p:spPr>
          <a:xfrm>
            <a:off x="6492240" y="4279392"/>
            <a:ext cx="457200" cy="457200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1" name="Text 19"/>
          <p:cNvSpPr/>
          <p:nvPr/>
        </p:nvSpPr>
        <p:spPr>
          <a:xfrm>
            <a:off x="6492240" y="4279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97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91947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distributions and cross-platform installers keep both codes easy to install on Linux, macOS and Windows.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15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245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57800" cy="3749040"/>
          </a:xfrm>
          <a:prstGeom prst="roundRect">
            <a:avLst>
              <a:gd name="adj" fmla="val 2439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060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8803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mcstas.org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35584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LIST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68680" y="36301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mcstas-users@mcstas.org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10565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437997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 ·  cross-platform installers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85546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51297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—  McStasMcXtrace/McCode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828800"/>
            <a:ext cx="5257800" cy="3749040"/>
          </a:xfrm>
          <a:prstGeom prst="roundRect">
            <a:avLst>
              <a:gd name="adj" fmla="val 2439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260604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8803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mcxtrace.org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92240" y="335584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MAILING LIST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0" y="36301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mcxtrace-users@mcxtrace.org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410565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92240" y="437997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conda-forge  ·  cross-platform installers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92240" y="485546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92240" y="51297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—  McStasMcXtrace/McCode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16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pic>
        <p:nvPicPr>
          <p:cNvPr id="26" name="Copied Picture 26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855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22860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42976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mcstas.org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42976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7"/>
          <p:cNvSpPr/>
          <p:nvPr/>
        </p:nvSpPr>
        <p:spPr>
          <a:xfrm>
            <a:off x="2377440" y="429768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mcxtrace.org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822960" y="58978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pkwi@fysik.dtu.dk   ·   DTU Physics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Common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580"/>
                </a:solidFill>
                <a:latin typeface="Calibri"/>
                <a:ea typeface="Calibri" pitchFamily="34" charset="-122"/>
                <a:cs typeface="Calibri"/>
              </a:rPr>
              <a:t>17</a:t>
            </a:r>
            <a:endParaRPr lang="en-US" sz="900" dirty="0">
              <a:solidFill>
                <a:srgbClr val="6E7580"/>
              </a:solidFill>
              <a:latin typeface="Calibri"/>
              <a:cs typeface="Calibri"/>
            </a:endParaRPr>
          </a:p>
        </p:txBody>
      </p:sp>
      <p:sp>
        <p:nvSpPr>
          <p:cNvPr id="14" name="PartnerCard">
            <a:extLst>
              <a:ext uri="{FF2B5EF4-FFF2-40B4-BE49-F238E27FC236}">
                <a16:creationId xmlns:a16="http://schemas.microsoft.com/office/drawing/2014/main" id="{56CF4BB5-77D7-E44A-AC6F-CB2B36EE64FF}"/>
              </a:ext>
            </a:extLst>
          </p:cNvPr>
          <p:cNvSpPr/>
          <p:nvPr/>
        </p:nvSpPr>
        <p:spPr>
          <a:xfrm>
            <a:off x="6604000" y="4165600"/>
            <a:ext cx="4953000" cy="15748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DK"/>
          </a:p>
        </p:txBody>
      </p:sp>
      <p:sp>
        <p:nvSpPr>
          <p:cNvPr id="15" name="PartnerLabel">
            <a:extLst>
              <a:ext uri="{FF2B5EF4-FFF2-40B4-BE49-F238E27FC236}">
                <a16:creationId xmlns:a16="http://schemas.microsoft.com/office/drawing/2014/main" id="{A4D07EA8-407F-3B42-9B3B-F3044103BC88}"/>
              </a:ext>
            </a:extLst>
          </p:cNvPr>
          <p:cNvSpPr txBox="1"/>
          <p:nvPr/>
        </p:nvSpPr>
        <p:spPr>
          <a:xfrm>
            <a:off x="6921500" y="4368800"/>
            <a:ext cx="4318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GB" sz="1100" b="1">
                <a:solidFill>
                  <a:srgbClr val="1C7293"/>
                </a:solidFill>
                <a:latin typeface="Calibri"/>
                <a:cs typeface="Calibri"/>
              </a:rPr>
              <a:t>SUPPORTED BY</a:t>
            </a:r>
            <a:endParaRPr lang="en-DK" sz="1100" b="1">
              <a:solidFill>
                <a:srgbClr val="1C7293"/>
              </a:solidFill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5B36919-269A-C72C-8860-71E614353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0" y="4749800"/>
            <a:ext cx="4318000" cy="640609"/>
          </a:xfrm>
          <a:prstGeom prst="rect">
            <a:avLst/>
          </a:prstGeom>
        </p:spPr>
      </p:pic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EDEC48BB-8467-1333-917D-E20FBFB776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719" t="16994"/>
          <a:stretch>
            <a:fillRect/>
          </a:stretch>
        </p:blipFill>
        <p:spPr>
          <a:xfrm>
            <a:off x="10375900" y="355600"/>
            <a:ext cx="1270000" cy="6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9403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91AA810-CEB2-B14A-A7FD-A5C4FE3BE734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1ed95ab4-71bb-4cdb-a98c-82b69db493b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1688</Words>
  <Application>Microsoft Macintosh PowerPoint</Application>
  <PresentationFormat>Widescreen</PresentationFormat>
  <Paragraphs>319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Peter Willendrup</cp:lastModifiedBy>
  <cp:revision>3</cp:revision>
  <dcterms:created xsi:type="dcterms:W3CDTF">2026-08-07T06:27:43Z</dcterms:created>
  <dcterms:modified xsi:type="dcterms:W3CDTF">2026-08-07T07:26:30Z</dcterms:modified>
</cp:coreProperties>
</file>